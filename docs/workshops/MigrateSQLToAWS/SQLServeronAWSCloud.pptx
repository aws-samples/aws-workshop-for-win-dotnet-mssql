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81" r:id="rId1"/>
  </p:sldMasterIdLst>
  <p:notesMasterIdLst>
    <p:notesMasterId r:id="rId70"/>
  </p:notesMasterIdLst>
  <p:sldIdLst>
    <p:sldId id="285" r:id="rId2"/>
    <p:sldId id="846" r:id="rId3"/>
    <p:sldId id="839" r:id="rId4"/>
    <p:sldId id="820" r:id="rId5"/>
    <p:sldId id="490" r:id="rId6"/>
    <p:sldId id="844" r:id="rId7"/>
    <p:sldId id="845" r:id="rId8"/>
    <p:sldId id="303" r:id="rId9"/>
    <p:sldId id="843" r:id="rId10"/>
    <p:sldId id="718" r:id="rId11"/>
    <p:sldId id="2246" r:id="rId12"/>
    <p:sldId id="2245" r:id="rId13"/>
    <p:sldId id="2226" r:id="rId14"/>
    <p:sldId id="2238" r:id="rId15"/>
    <p:sldId id="332" r:id="rId16"/>
    <p:sldId id="333" r:id="rId17"/>
    <p:sldId id="836" r:id="rId18"/>
    <p:sldId id="329" r:id="rId19"/>
    <p:sldId id="330" r:id="rId20"/>
    <p:sldId id="841" r:id="rId21"/>
    <p:sldId id="555" r:id="rId22"/>
    <p:sldId id="331" r:id="rId23"/>
    <p:sldId id="842" r:id="rId24"/>
    <p:sldId id="557" r:id="rId25"/>
    <p:sldId id="562" r:id="rId26"/>
    <p:sldId id="316" r:id="rId27"/>
    <p:sldId id="835" r:id="rId28"/>
    <p:sldId id="349" r:id="rId29"/>
    <p:sldId id="2247" r:id="rId30"/>
    <p:sldId id="299" r:id="rId31"/>
    <p:sldId id="711" r:id="rId32"/>
    <p:sldId id="549" r:id="rId33"/>
    <p:sldId id="849" r:id="rId34"/>
    <p:sldId id="851" r:id="rId35"/>
    <p:sldId id="852" r:id="rId36"/>
    <p:sldId id="853" r:id="rId37"/>
    <p:sldId id="854" r:id="rId38"/>
    <p:sldId id="862" r:id="rId39"/>
    <p:sldId id="838" r:id="rId40"/>
    <p:sldId id="856" r:id="rId41"/>
    <p:sldId id="702" r:id="rId42"/>
    <p:sldId id="1532" r:id="rId43"/>
    <p:sldId id="857" r:id="rId44"/>
    <p:sldId id="863" r:id="rId45"/>
    <p:sldId id="864" r:id="rId46"/>
    <p:sldId id="859" r:id="rId47"/>
    <p:sldId id="860" r:id="rId48"/>
    <p:sldId id="865" r:id="rId49"/>
    <p:sldId id="869" r:id="rId50"/>
    <p:sldId id="866" r:id="rId51"/>
    <p:sldId id="1519" r:id="rId52"/>
    <p:sldId id="1533" r:id="rId53"/>
    <p:sldId id="692" r:id="rId54"/>
    <p:sldId id="2228" r:id="rId55"/>
    <p:sldId id="2233" r:id="rId56"/>
    <p:sldId id="2234" r:id="rId57"/>
    <p:sldId id="2235" r:id="rId58"/>
    <p:sldId id="840" r:id="rId59"/>
    <p:sldId id="834" r:id="rId60"/>
    <p:sldId id="571" r:id="rId61"/>
    <p:sldId id="861" r:id="rId62"/>
    <p:sldId id="827" r:id="rId63"/>
    <p:sldId id="525" r:id="rId64"/>
    <p:sldId id="2241" r:id="rId65"/>
    <p:sldId id="1559" r:id="rId66"/>
    <p:sldId id="2244" r:id="rId67"/>
    <p:sldId id="395" r:id="rId68"/>
    <p:sldId id="323" r:id="rId6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4">
          <p15:clr>
            <a:srgbClr val="A4A3A4"/>
          </p15:clr>
        </p15:guide>
        <p15:guide id="2" orient="horz" pos="2898">
          <p15:clr>
            <a:srgbClr val="A4A3A4"/>
          </p15:clr>
        </p15:guide>
        <p15:guide id="3" orient="horz" pos="2412">
          <p15:clr>
            <a:srgbClr val="A4A3A4"/>
          </p15:clr>
        </p15:guide>
        <p15:guide id="4" orient="horz" pos="3196">
          <p15:clr>
            <a:srgbClr val="A4A3A4"/>
          </p15:clr>
        </p15:guide>
        <p15:guide id="5" orient="horz" pos="1350">
          <p15:clr>
            <a:srgbClr val="A4A3A4"/>
          </p15:clr>
        </p15:guide>
        <p15:guide id="6" orient="horz" pos="1378">
          <p15:clr>
            <a:srgbClr val="A4A3A4"/>
          </p15:clr>
        </p15:guide>
        <p15:guide id="7" orient="horz" pos="2078">
          <p15:clr>
            <a:srgbClr val="A4A3A4"/>
          </p15:clr>
        </p15:guide>
        <p15:guide id="8" orient="horz" pos="125">
          <p15:clr>
            <a:srgbClr val="A4A3A4"/>
          </p15:clr>
        </p15:guide>
        <p15:guide id="9" orient="horz" pos="2106">
          <p15:clr>
            <a:srgbClr val="A4A3A4"/>
          </p15:clr>
        </p15:guide>
        <p15:guide id="10" orient="horz" pos="2859">
          <p15:clr>
            <a:srgbClr val="A4A3A4"/>
          </p15:clr>
        </p15:guide>
        <p15:guide id="11" pos="960">
          <p15:clr>
            <a:srgbClr val="A4A3A4"/>
          </p15:clr>
        </p15:guide>
        <p15:guide id="12" pos="1755">
          <p15:clr>
            <a:srgbClr val="A4A3A4"/>
          </p15:clr>
        </p15:guide>
        <p15:guide id="13" pos="2883">
          <p15:clr>
            <a:srgbClr val="A4A3A4"/>
          </p15:clr>
        </p15:guide>
        <p15:guide id="14" pos="2519">
          <p15:clr>
            <a:srgbClr val="A4A3A4"/>
          </p15:clr>
        </p15:guide>
        <p15:guide id="15" pos="4790">
          <p15:clr>
            <a:srgbClr val="A4A3A4"/>
          </p15:clr>
        </p15:guide>
        <p15:guide id="16" pos="2487">
          <p15:clr>
            <a:srgbClr val="A4A3A4"/>
          </p15:clr>
        </p15:guide>
        <p15:guide id="17" pos="1722">
          <p15:clr>
            <a:srgbClr val="A4A3A4"/>
          </p15:clr>
        </p15:guide>
        <p15:guide id="18" pos="987">
          <p15:clr>
            <a:srgbClr val="A4A3A4"/>
          </p15:clr>
        </p15:guide>
        <p15:guide id="19" pos="4818">
          <p15:clr>
            <a:srgbClr val="A4A3A4"/>
          </p15:clr>
        </p15:guide>
        <p15:guide id="20" pos="3257">
          <p15:clr>
            <a:srgbClr val="A4A3A4"/>
          </p15:clr>
        </p15:guide>
        <p15:guide id="21">
          <p15:clr>
            <a:srgbClr val="A4A3A4"/>
          </p15:clr>
        </p15:guide>
        <p15:guide id="22" pos="3285">
          <p15:clr>
            <a:srgbClr val="A4A3A4"/>
          </p15:clr>
        </p15:guide>
        <p15:guide id="23" pos="4022">
          <p15:clr>
            <a:srgbClr val="A4A3A4"/>
          </p15:clr>
        </p15:guide>
        <p15:guide id="24" pos="4053">
          <p15:clr>
            <a:srgbClr val="A4A3A4"/>
          </p15:clr>
        </p15:guide>
        <p15:guide id="25" pos="5544">
          <p15:clr>
            <a:srgbClr val="A4A3A4"/>
          </p15:clr>
        </p15:guide>
        <p15:guide id="26" pos="220">
          <p15:clr>
            <a:srgbClr val="A4A3A4"/>
          </p15:clr>
        </p15:guide>
        <p15:guide id="27" pos="348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FFFFFF"/>
    <a:srgbClr val="595A5D"/>
    <a:srgbClr val="0D2836"/>
    <a:srgbClr val="414042"/>
    <a:srgbClr val="323232"/>
    <a:srgbClr val="DCDCDC"/>
    <a:srgbClr val="4F81BD"/>
    <a:srgbClr val="0C9B2E"/>
    <a:srgbClr val="FFFAD0"/>
    <a:srgbClr val="FFF8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4" autoAdjust="0"/>
    <p:restoredTop sz="89425" autoAdjust="0"/>
  </p:normalViewPr>
  <p:slideViewPr>
    <p:cSldViewPr snapToGrid="0" showGuides="1">
      <p:cViewPr varScale="1">
        <p:scale>
          <a:sx n="122" d="100"/>
          <a:sy n="122" d="100"/>
        </p:scale>
        <p:origin x="1320" y="96"/>
      </p:cViewPr>
      <p:guideLst>
        <p:guide orient="horz" pos="644"/>
        <p:guide orient="horz" pos="2898"/>
        <p:guide orient="horz" pos="2412"/>
        <p:guide orient="horz" pos="3196"/>
        <p:guide orient="horz" pos="1350"/>
        <p:guide orient="horz" pos="1378"/>
        <p:guide orient="horz" pos="2078"/>
        <p:guide orient="horz" pos="125"/>
        <p:guide orient="horz" pos="2106"/>
        <p:guide orient="horz" pos="2859"/>
        <p:guide pos="960"/>
        <p:guide pos="1755"/>
        <p:guide pos="2883"/>
        <p:guide pos="2519"/>
        <p:guide pos="4790"/>
        <p:guide pos="2487"/>
        <p:guide pos="1722"/>
        <p:guide pos="987"/>
        <p:guide pos="4818"/>
        <p:guide pos="3257"/>
        <p:guide/>
        <p:guide pos="3285"/>
        <p:guide pos="4022"/>
        <p:guide pos="4053"/>
        <p:guide pos="5544"/>
        <p:guide pos="220"/>
        <p:guide pos="348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1"/>
                </a:solidFill>
                <a:latin typeface="Amazon Ember" panose="020B0603020204020204"/>
                <a:ea typeface="+mn-ea"/>
                <a:cs typeface="+mn-cs"/>
              </a:defRPr>
            </a:pPr>
            <a:r>
              <a:rPr lang="en-US" sz="1200">
                <a:solidFill>
                  <a:schemeClr val="bg1"/>
                </a:solidFill>
                <a:latin typeface="Amazon Ember" panose="020B0603020204020204"/>
              </a:rPr>
              <a:t>AWS versus Azure Large* Configuration (TPM)</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Amazon Ember" panose="020B0603020204020204"/>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val>
            <c:numRef>
              <c:f>Sheet1!$B$2:$B$11</c:f>
              <c:numCache>
                <c:formatCode>General</c:formatCode>
                <c:ptCount val="10"/>
                <c:pt idx="0">
                  <c:v>169.24</c:v>
                </c:pt>
                <c:pt idx="1">
                  <c:v>322.2</c:v>
                </c:pt>
                <c:pt idx="2">
                  <c:v>520.4</c:v>
                </c:pt>
                <c:pt idx="3">
                  <c:v>701.63</c:v>
                </c:pt>
                <c:pt idx="4">
                  <c:v>822.27</c:v>
                </c:pt>
                <c:pt idx="5">
                  <c:v>902.62</c:v>
                </c:pt>
                <c:pt idx="6">
                  <c:v>1013.79</c:v>
                </c:pt>
                <c:pt idx="7">
                  <c:v>922.88</c:v>
                </c:pt>
                <c:pt idx="8">
                  <c:v>981.79</c:v>
                </c:pt>
                <c:pt idx="9">
                  <c:v>1118.98</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AWS</c:v>
                      </c:pt>
                    </c:strCache>
                  </c:strRef>
                </c15:tx>
              </c15:filteredSeriesTitle>
            </c:ext>
            <c:ext xmlns:c15="http://schemas.microsoft.com/office/drawing/2012/chart" uri="{02D57815-91ED-43cb-92C2-25804820EDAC}">
              <c15:filteredCategoryTitle>
                <c15:cat>
                  <c:numRef>
                    <c:extLst>
                      <c:ext uri="{02D57815-91ED-43cb-92C2-25804820EDAC}">
                        <c15:formulaRef>
                          <c15:sqref>Sheet1!$A$2:$A$11</c15:sqref>
                        </c15:formulaRef>
                      </c:ext>
                    </c:extLst>
                    <c:numCache>
                      <c:formatCode>General</c:formatCode>
                      <c:ptCount val="10"/>
                      <c:pt idx="0">
                        <c:v>3</c:v>
                      </c:pt>
                      <c:pt idx="1">
                        <c:v>5</c:v>
                      </c:pt>
                      <c:pt idx="2">
                        <c:v>8</c:v>
                      </c:pt>
                      <c:pt idx="3">
                        <c:v>13</c:v>
                      </c:pt>
                      <c:pt idx="4">
                        <c:v>21</c:v>
                      </c:pt>
                      <c:pt idx="5">
                        <c:v>34</c:v>
                      </c:pt>
                      <c:pt idx="6">
                        <c:v>55</c:v>
                      </c:pt>
                      <c:pt idx="7">
                        <c:v>89</c:v>
                      </c:pt>
                      <c:pt idx="8">
                        <c:v>144</c:v>
                      </c:pt>
                      <c:pt idx="9">
                        <c:v>233</c:v>
                      </c:pt>
                    </c:numCache>
                  </c:numRef>
                </c15:cat>
              </c15:filteredCategoryTitle>
            </c:ext>
            <c:ext xmlns:c16="http://schemas.microsoft.com/office/drawing/2014/chart" uri="{C3380CC4-5D6E-409C-BE32-E72D297353CC}">
              <c16:uniqueId val="{00000000-4DFE-534C-A1AB-C22EF6A94C25}"/>
            </c:ext>
          </c:extLst>
        </c:ser>
        <c:ser>
          <c:idx val="1"/>
          <c:order val="1"/>
          <c:spPr>
            <a:solidFill>
              <a:schemeClr val="accent2"/>
            </a:solidFill>
            <a:ln>
              <a:noFill/>
            </a:ln>
            <a:effectLst/>
          </c:spPr>
          <c:invertIfNegative val="0"/>
          <c:val>
            <c:numRef>
              <c:f>Sheet1!$C$2:$C$11</c:f>
              <c:numCache>
                <c:formatCode>General</c:formatCode>
                <c:ptCount val="10"/>
                <c:pt idx="0">
                  <c:v>71.11</c:v>
                </c:pt>
                <c:pt idx="1">
                  <c:v>119.83</c:v>
                </c:pt>
                <c:pt idx="2">
                  <c:v>192.68</c:v>
                </c:pt>
                <c:pt idx="3">
                  <c:v>251.23</c:v>
                </c:pt>
                <c:pt idx="4">
                  <c:v>308.08</c:v>
                </c:pt>
                <c:pt idx="5">
                  <c:v>359.95</c:v>
                </c:pt>
                <c:pt idx="6">
                  <c:v>406.17</c:v>
                </c:pt>
                <c:pt idx="7">
                  <c:v>453.63</c:v>
                </c:pt>
                <c:pt idx="8">
                  <c:v>504.74</c:v>
                </c:pt>
                <c:pt idx="9">
                  <c:v>528.58000000000004</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Azure </c:v>
                      </c:pt>
                    </c:strCache>
                  </c:strRef>
                </c15:tx>
              </c15:filteredSeriesTitle>
            </c:ext>
            <c:ext xmlns:c15="http://schemas.microsoft.com/office/drawing/2012/chart" uri="{02D57815-91ED-43cb-92C2-25804820EDAC}">
              <c15:filteredCategoryTitle>
                <c15:cat>
                  <c:numRef>
                    <c:extLst>
                      <c:ext uri="{02D57815-91ED-43cb-92C2-25804820EDAC}">
                        <c15:formulaRef>
                          <c15:sqref>Sheet1!$A$2:$A$11</c15:sqref>
                        </c15:formulaRef>
                      </c:ext>
                    </c:extLst>
                    <c:numCache>
                      <c:formatCode>General</c:formatCode>
                      <c:ptCount val="10"/>
                      <c:pt idx="0">
                        <c:v>3</c:v>
                      </c:pt>
                      <c:pt idx="1">
                        <c:v>5</c:v>
                      </c:pt>
                      <c:pt idx="2">
                        <c:v>8</c:v>
                      </c:pt>
                      <c:pt idx="3">
                        <c:v>13</c:v>
                      </c:pt>
                      <c:pt idx="4">
                        <c:v>21</c:v>
                      </c:pt>
                      <c:pt idx="5">
                        <c:v>34</c:v>
                      </c:pt>
                      <c:pt idx="6">
                        <c:v>55</c:v>
                      </c:pt>
                      <c:pt idx="7">
                        <c:v>89</c:v>
                      </c:pt>
                      <c:pt idx="8">
                        <c:v>144</c:v>
                      </c:pt>
                      <c:pt idx="9">
                        <c:v>233</c:v>
                      </c:pt>
                    </c:numCache>
                  </c:numRef>
                </c15:cat>
              </c15:filteredCategoryTitle>
            </c:ext>
            <c:ext xmlns:c16="http://schemas.microsoft.com/office/drawing/2014/chart" uri="{C3380CC4-5D6E-409C-BE32-E72D297353CC}">
              <c16:uniqueId val="{00000001-4DFE-534C-A1AB-C22EF6A94C25}"/>
            </c:ext>
          </c:extLst>
        </c:ser>
        <c:dLbls>
          <c:showLegendKey val="0"/>
          <c:showVal val="0"/>
          <c:showCatName val="0"/>
          <c:showSerName val="0"/>
          <c:showPercent val="0"/>
          <c:showBubbleSize val="0"/>
        </c:dLbls>
        <c:gapWidth val="219"/>
        <c:overlap val="-27"/>
        <c:axId val="-1464061088"/>
        <c:axId val="-1464058768"/>
      </c:barChart>
      <c:catAx>
        <c:axId val="-1464061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464058768"/>
        <c:crosses val="autoZero"/>
        <c:auto val="1"/>
        <c:lblAlgn val="ctr"/>
        <c:lblOffset val="100"/>
        <c:noMultiLvlLbl val="0"/>
      </c:catAx>
      <c:valAx>
        <c:axId val="-1464058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64061088"/>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bg1"/>
                </a:solidFill>
                <a:latin typeface="Amazon Ember" panose="020B0603020204020204"/>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bg1"/>
                </a:solidFill>
                <a:latin typeface="Amazon Ember" panose="020B0603020204020204"/>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mazon Ember" panose="020B0603020204020204"/>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r>
              <a:rPr lang="en-US" sz="1200" b="0" i="0" u="none" strike="noStrike" baseline="0" dirty="0">
                <a:solidFill>
                  <a:schemeClr val="bg1"/>
                </a:solidFill>
                <a:effectLst/>
                <a:latin typeface="Amazon Ember" panose="020B0603020204020204" pitchFamily="34" charset="0"/>
                <a:ea typeface="Amazon Ember" panose="020B0603020204020204" pitchFamily="34" charset="0"/>
                <a:cs typeface="Amazon Ember" panose="020B0603020204020204" pitchFamily="34" charset="0"/>
              </a:rPr>
              <a:t>Costs per 1 Billion Transactions Per Month</a:t>
            </a:r>
            <a:endParaRPr lang="en-US" sz="1200" b="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spPr>
            <a:solidFill>
              <a:srgbClr val="FF9900"/>
            </a:solidFill>
            <a:ln>
              <a:noFill/>
            </a:ln>
            <a:effectLst/>
          </c:spPr>
          <c:invertIfNegative val="0"/>
          <c:val>
            <c:numRef>
              <c:f>Sheet1!$H$9:$J$9</c:f>
              <c:numCache>
                <c:formatCode>"$"#,##0.00_);[Red]\("$"#,##0.00\)</c:formatCode>
                <c:ptCount val="3"/>
                <c:pt idx="0">
                  <c:v>42.82</c:v>
                </c:pt>
                <c:pt idx="1">
                  <c:v>70.98</c:v>
                </c:pt>
                <c:pt idx="2">
                  <c:v>231.61</c:v>
                </c:pt>
              </c:numCache>
            </c:numRef>
          </c:val>
          <c:extLst>
            <c:ext xmlns:c15="http://schemas.microsoft.com/office/drawing/2012/chart" uri="{02D57815-91ED-43cb-92C2-25804820EDAC}">
              <c15:filteredSeriesTitle>
                <c15:tx>
                  <c:strRef>
                    <c:extLst>
                      <c:ext uri="{02D57815-91ED-43cb-92C2-25804820EDAC}">
                        <c15:formulaRef>
                          <c15:sqref>Sheet1!$G$9</c15:sqref>
                        </c15:formulaRef>
                      </c:ext>
                    </c:extLst>
                    <c:strCache>
                      <c:ptCount val="1"/>
                      <c:pt idx="0">
                        <c:v>AWS</c:v>
                      </c:pt>
                    </c:strCache>
                  </c:strRef>
                </c15:tx>
              </c15:filteredSeriesTitle>
            </c:ext>
            <c:ext xmlns:c15="http://schemas.microsoft.com/office/drawing/2012/chart" uri="{02D57815-91ED-43cb-92C2-25804820EDAC}">
              <c15:filteredCategoryTitle>
                <c15:cat>
                  <c:strRef>
                    <c:extLst>
                      <c:ext uri="{02D57815-91ED-43cb-92C2-25804820EDAC}">
                        <c15:formulaRef>
                          <c15:sqref>Sheet1!$H$8:$J$8</c15:sqref>
                        </c15:formulaRef>
                      </c:ext>
                    </c:extLst>
                    <c:strCache>
                      <c:ptCount val="3"/>
                      <c:pt idx="0">
                        <c:v>Small</c:v>
                      </c:pt>
                      <c:pt idx="1">
                        <c:v>Medium</c:v>
                      </c:pt>
                      <c:pt idx="2">
                        <c:v>Large</c:v>
                      </c:pt>
                    </c:strCache>
                  </c:strRef>
                </c15:cat>
              </c15:filteredCategoryTitle>
            </c:ext>
            <c:ext xmlns:c16="http://schemas.microsoft.com/office/drawing/2014/chart" uri="{C3380CC4-5D6E-409C-BE32-E72D297353CC}">
              <c16:uniqueId val="{00000000-5E2D-4945-BAA2-1280BEF7E34C}"/>
            </c:ext>
          </c:extLst>
        </c:ser>
        <c:ser>
          <c:idx val="1"/>
          <c:order val="1"/>
          <c:spPr>
            <a:solidFill>
              <a:srgbClr val="00A0C8"/>
            </a:solidFill>
            <a:ln>
              <a:noFill/>
            </a:ln>
            <a:effectLst/>
          </c:spPr>
          <c:invertIfNegative val="0"/>
          <c:val>
            <c:numRef>
              <c:f>Sheet1!$H$10:$J$10</c:f>
              <c:numCache>
                <c:formatCode>"$"#,##0.00_);[Red]\("$"#,##0.00\)</c:formatCode>
                <c:ptCount val="3"/>
                <c:pt idx="0">
                  <c:v>127.53</c:v>
                </c:pt>
                <c:pt idx="1">
                  <c:v>263.12</c:v>
                </c:pt>
                <c:pt idx="2">
                  <c:v>547.58000000000004</c:v>
                </c:pt>
              </c:numCache>
            </c:numRef>
          </c:val>
          <c:extLst>
            <c:ext xmlns:c15="http://schemas.microsoft.com/office/drawing/2012/chart" uri="{02D57815-91ED-43cb-92C2-25804820EDAC}">
              <c15:filteredSeriesTitle>
                <c15:tx>
                  <c:strRef>
                    <c:extLst>
                      <c:ext uri="{02D57815-91ED-43cb-92C2-25804820EDAC}">
                        <c15:formulaRef>
                          <c15:sqref>Sheet1!$G$10</c15:sqref>
                        </c15:formulaRef>
                      </c:ext>
                    </c:extLst>
                    <c:strCache>
                      <c:ptCount val="1"/>
                      <c:pt idx="0">
                        <c:v>Azure</c:v>
                      </c:pt>
                    </c:strCache>
                  </c:strRef>
                </c15:tx>
              </c15:filteredSeriesTitle>
            </c:ext>
            <c:ext xmlns:c15="http://schemas.microsoft.com/office/drawing/2012/chart" uri="{02D57815-91ED-43cb-92C2-25804820EDAC}">
              <c15:filteredCategoryTitle>
                <c15:cat>
                  <c:strRef>
                    <c:extLst>
                      <c:ext uri="{02D57815-91ED-43cb-92C2-25804820EDAC}">
                        <c15:formulaRef>
                          <c15:sqref>Sheet1!$H$8:$J$8</c15:sqref>
                        </c15:formulaRef>
                      </c:ext>
                    </c:extLst>
                    <c:strCache>
                      <c:ptCount val="3"/>
                      <c:pt idx="0">
                        <c:v>Small</c:v>
                      </c:pt>
                      <c:pt idx="1">
                        <c:v>Medium</c:v>
                      </c:pt>
                      <c:pt idx="2">
                        <c:v>Large</c:v>
                      </c:pt>
                    </c:strCache>
                  </c:strRef>
                </c15:cat>
              </c15:filteredCategoryTitle>
            </c:ext>
            <c:ext xmlns:c16="http://schemas.microsoft.com/office/drawing/2014/chart" uri="{C3380CC4-5D6E-409C-BE32-E72D297353CC}">
              <c16:uniqueId val="{00000001-5E2D-4945-BAA2-1280BEF7E34C}"/>
            </c:ext>
          </c:extLst>
        </c:ser>
        <c:dLbls>
          <c:showLegendKey val="0"/>
          <c:showVal val="0"/>
          <c:showCatName val="0"/>
          <c:showSerName val="0"/>
          <c:showPercent val="0"/>
          <c:showBubbleSize val="0"/>
        </c:dLbls>
        <c:gapWidth val="219"/>
        <c:overlap val="-27"/>
        <c:axId val="477064464"/>
        <c:axId val="477066144"/>
      </c:barChart>
      <c:catAx>
        <c:axId val="477064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crossAx val="477066144"/>
        <c:crosses val="autoZero"/>
        <c:auto val="1"/>
        <c:lblAlgn val="ctr"/>
        <c:lblOffset val="100"/>
        <c:noMultiLvlLbl val="0"/>
      </c:catAx>
      <c:valAx>
        <c:axId val="477066144"/>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crossAx val="4770644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200" b="0" i="0" u="none" strike="noStrike" kern="120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legendEntry>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2/20/2020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mazon Ember Regular" charset="0"/>
        <a:ea typeface="+mn-ea"/>
        <a:cs typeface="+mn-cs"/>
      </a:defRPr>
    </a:lvl1pPr>
    <a:lvl2pPr marL="457200" algn="l" defTabSz="457200" rtl="0" eaLnBrk="1" latinLnBrk="0" hangingPunct="1">
      <a:defRPr sz="1200" b="0" i="0" kern="1200">
        <a:solidFill>
          <a:schemeClr val="tx1"/>
        </a:solidFill>
        <a:latin typeface="Amazon Ember Regular" charset="0"/>
        <a:ea typeface="+mn-ea"/>
        <a:cs typeface="+mn-cs"/>
      </a:defRPr>
    </a:lvl2pPr>
    <a:lvl3pPr marL="914400" algn="l" defTabSz="457200" rtl="0" eaLnBrk="1" latinLnBrk="0" hangingPunct="1">
      <a:defRPr sz="1200" b="0" i="0" kern="1200">
        <a:solidFill>
          <a:schemeClr val="tx1"/>
        </a:solidFill>
        <a:latin typeface="Amazon Ember Regular" charset="0"/>
        <a:ea typeface="+mn-ea"/>
        <a:cs typeface="+mn-cs"/>
      </a:defRPr>
    </a:lvl3pPr>
    <a:lvl4pPr marL="1371600" algn="l" defTabSz="457200" rtl="0" eaLnBrk="1" latinLnBrk="0" hangingPunct="1">
      <a:defRPr sz="1200" b="0" i="0" kern="1200">
        <a:solidFill>
          <a:schemeClr val="tx1"/>
        </a:solidFill>
        <a:latin typeface="Amazon Ember Regular" charset="0"/>
        <a:ea typeface="+mn-ea"/>
        <a:cs typeface="+mn-cs"/>
      </a:defRPr>
    </a:lvl4pPr>
    <a:lvl5pPr marL="1828800" algn="l" defTabSz="457200" rtl="0" eaLnBrk="1" latinLnBrk="0" hangingPunct="1">
      <a:defRPr sz="1200" b="0" i="0" kern="1200">
        <a:solidFill>
          <a:schemeClr val="tx1"/>
        </a:solidFill>
        <a:latin typeface="Amazon Ember Regular"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615324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fld id="{69C3F2ED-74C5-7D4F-8560-0CC253E9A436}"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2853503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i="0" baseline="0" dirty="0"/>
              <a:t>Let’s talk about the options available for running SQL Server on AWS</a:t>
            </a: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1593552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i="0" u="sng" strike="noStrike" kern="1200" dirty="0">
                <a:solidFill>
                  <a:schemeClr val="tx1"/>
                </a:solidFill>
                <a:effectLst/>
                <a:latin typeface="Amazon Ember Regular" charset="0"/>
                <a:ea typeface="+mn-ea"/>
                <a:cs typeface="+mn-cs"/>
              </a:rPr>
              <a:t>Push-Button Scaling</a:t>
            </a:r>
            <a:endParaRPr lang="en-US" sz="1400" b="1" i="0" u="sng" kern="1200" dirty="0">
              <a:solidFill>
                <a:schemeClr val="tx1"/>
              </a:solidFill>
              <a:effectLst/>
              <a:latin typeface="Amazon Ember Regular" charset="0"/>
              <a:ea typeface="+mn-ea"/>
              <a:cs typeface="+mn-cs"/>
            </a:endParaRPr>
          </a:p>
          <a:p>
            <a:pPr marL="285750" indent="-285750">
              <a:buFont typeface="Arial" panose="020B0604020202020204" pitchFamily="34" charset="0"/>
              <a:buChar char="•"/>
            </a:pPr>
            <a:r>
              <a:rPr lang="en-US" sz="1400" b="1" i="1" kern="1200" dirty="0">
                <a:solidFill>
                  <a:schemeClr val="tx1"/>
                </a:solidFill>
                <a:effectLst/>
                <a:latin typeface="Amazon Ember Regular" charset="0"/>
                <a:ea typeface="+mn-ea"/>
                <a:cs typeface="+mn-cs"/>
              </a:rPr>
              <a:t>DB Instance Class </a:t>
            </a:r>
            <a:r>
              <a:rPr lang="en-US" sz="1200" b="0" i="0" kern="1200" dirty="0">
                <a:solidFill>
                  <a:schemeClr val="tx1"/>
                </a:solidFill>
                <a:effectLst/>
                <a:latin typeface="Amazon Ember Regular" charset="0"/>
                <a:ea typeface="+mn-ea"/>
                <a:cs typeface="+mn-cs"/>
              </a:rPr>
              <a:t>– Using a few clicks of the AWS Management Console, you can scale the compute and memory resources powering your deployment up or down. Scaling operations typically complete within a few minutes.</a:t>
            </a:r>
          </a:p>
          <a:p>
            <a:pPr marL="285750" indent="-285750">
              <a:buFont typeface="Arial" panose="020B0604020202020204" pitchFamily="34" charset="0"/>
              <a:buChar char="•"/>
            </a:pPr>
            <a:r>
              <a:rPr lang="en-US" sz="1400" b="1" i="1" kern="1200" dirty="0">
                <a:solidFill>
                  <a:schemeClr val="tx1"/>
                </a:solidFill>
                <a:effectLst/>
                <a:latin typeface="Amazon Ember Regular" charset="0"/>
                <a:ea typeface="+mn-ea"/>
                <a:cs typeface="+mn-cs"/>
              </a:rPr>
              <a:t>Storage and IOPS </a:t>
            </a:r>
            <a:r>
              <a:rPr lang="en-US" sz="1200" b="0" i="0" kern="1200" dirty="0">
                <a:solidFill>
                  <a:schemeClr val="tx1"/>
                </a:solidFill>
                <a:effectLst/>
                <a:latin typeface="Amazon Ember Regular" charset="0"/>
                <a:ea typeface="+mn-ea"/>
                <a:cs typeface="+mn-cs"/>
              </a:rPr>
              <a:t>– As your storage requirements grow you can provision additional storage on-the-fly with zero downtime.  </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5</a:t>
            </a:fld>
            <a:endParaRPr lang="en-US" dirty="0"/>
          </a:p>
        </p:txBody>
      </p:sp>
    </p:spTree>
    <p:extLst>
      <p:ext uri="{BB962C8B-B14F-4D97-AF65-F5344CB8AC3E}">
        <p14:creationId xmlns:p14="http://schemas.microsoft.com/office/powerpoint/2010/main" val="3834362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1027812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2232736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We have an exhaustive user-guide, here are some highlights</a:t>
            </a:r>
          </a:p>
          <a:p>
            <a:endParaRPr lang="en-US" baseline="0" dirty="0"/>
          </a:p>
          <a:p>
            <a:r>
              <a:rPr lang="en-US" baseline="0" dirty="0"/>
              <a:t>EC2 is supported with either bring your own software or pre-configured AMIs (virtual machines).  The pre-configured options will not have as many versions or editions supported as a custom-built solution that you build yourself.</a:t>
            </a:r>
          </a:p>
          <a:p>
            <a:endParaRPr lang="en-US" baseline="0" dirty="0"/>
          </a:p>
          <a:p>
            <a:r>
              <a:rPr lang="en-US" baseline="0" dirty="0"/>
              <a:t>How many of you have struggled, either because of expense or just the technical challenges, in setting up a multi-site high availability option for your SQL Server instance?</a:t>
            </a:r>
          </a:p>
          <a:p>
            <a:endParaRPr lang="en-US" baseline="0" dirty="0"/>
          </a:p>
          <a:p>
            <a:r>
              <a:rPr lang="en-US" baseline="0" dirty="0"/>
              <a:t>With Amazon RDS for SQL Server it is a simple as checking a checkbox when you launch an Amazon RDS instance, to setup a multi-AZ SQL Server cluster, that leverages synchronous replication between to AZs using database mirroring.</a:t>
            </a:r>
          </a:p>
          <a:p>
            <a:endParaRPr lang="en-US" baseline="0" dirty="0"/>
          </a:p>
          <a:p>
            <a:r>
              <a:rPr lang="en-US" baseline="0" dirty="0"/>
              <a:t>If you need a different HA solution like AlwaysOn, or log shipping, then choose SQL Server on Amazon EC2 and manage that yourself.</a:t>
            </a:r>
          </a:p>
          <a:p>
            <a:endParaRPr lang="en-US" baseline="0" dirty="0"/>
          </a:p>
          <a:p>
            <a:r>
              <a:rPr lang="en-US" baseline="0" dirty="0"/>
              <a:t>Both platforms support storage encryption for all editions using KMS.  And for those of you running enterprise edition, you can use transparent data encryption on both platforms.</a:t>
            </a:r>
          </a:p>
          <a:p>
            <a:endParaRPr lang="en-US" baseline="0" dirty="0"/>
          </a:p>
          <a:p>
            <a:r>
              <a:rPr lang="en-US" baseline="0" dirty="0"/>
              <a:t>If you need to install 3</a:t>
            </a:r>
            <a:r>
              <a:rPr lang="en-US" baseline="30000" dirty="0"/>
              <a:t>rd</a:t>
            </a:r>
            <a:r>
              <a:rPr lang="en-US" baseline="0" dirty="0"/>
              <a:t> party tools or run specific database maintenance plans, then run SQL Server on Amazon EC2, otherwise we take care of all of that for you.</a:t>
            </a:r>
          </a:p>
          <a:p>
            <a:endParaRPr lang="en-US" baseline="0" dirty="0"/>
          </a:p>
          <a:p>
            <a:r>
              <a:rPr lang="en-US" baseline="0" dirty="0"/>
              <a:t>If you want to take advantage of automated software patching, then choose Amazon RDS for SQL Server otherwise you need to manage these tedious maintenance tasks yourself with SQL Server on Amazon EC2.</a:t>
            </a:r>
          </a:p>
          <a:p>
            <a:endParaRPr lang="en-US" baseline="0"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8</a:t>
            </a:fld>
            <a:endParaRPr lang="en-US" dirty="0"/>
          </a:p>
        </p:txBody>
      </p:sp>
    </p:spTree>
    <p:extLst>
      <p:ext uri="{BB962C8B-B14F-4D97-AF65-F5344CB8AC3E}">
        <p14:creationId xmlns:p14="http://schemas.microsoft.com/office/powerpoint/2010/main" val="400409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285750" indent="-285750">
              <a:buClr>
                <a:schemeClr val="accent1"/>
              </a:buClr>
              <a:buFont typeface="Arial" panose="020B0604020202020204" pitchFamily="34" charset="0"/>
              <a:buChar char="•"/>
            </a:pPr>
            <a:r>
              <a:rPr lang="en-US" sz="1600" dirty="0"/>
              <a:t>Integration Services (SSIS), Reporting Services (SSRS), and Analysis Services (SSAS) CANNOT be installed on RDS Instance</a:t>
            </a:r>
          </a:p>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SQL Agent: Running replication jobs and running command-line scripts by using ActiveX, Windows command shell, or Windows PowerShell are not supported.</a:t>
            </a:r>
            <a:endParaRPr lang="en-US" sz="1800" dirty="0"/>
          </a:p>
          <a:p>
            <a:pPr>
              <a:buFontTx/>
              <a:buNone/>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1951677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This is a “decision matrix” to assist you in selecting appropriate service.</a:t>
            </a:r>
          </a:p>
        </p:txBody>
      </p:sp>
      <p:sp>
        <p:nvSpPr>
          <p:cNvPr id="4" name="Slide Number Placeholder 3"/>
          <p:cNvSpPr>
            <a:spLocks noGrp="1"/>
          </p:cNvSpPr>
          <p:nvPr>
            <p:ph type="sldNum" sz="quarter" idx="10"/>
          </p:nvPr>
        </p:nvSpPr>
        <p:spPr/>
        <p:txBody>
          <a:bodyPr/>
          <a:lstStyle/>
          <a:p>
            <a:fld id="{7437B989-AC4F-4194-A2BD-95B65B83F808}" type="slidenum">
              <a:rPr lang="en-US" smtClean="0"/>
              <a:t>10</a:t>
            </a:fld>
            <a:endParaRPr lang="en-US" dirty="0"/>
          </a:p>
        </p:txBody>
      </p:sp>
    </p:spTree>
    <p:extLst>
      <p:ext uri="{BB962C8B-B14F-4D97-AF65-F5344CB8AC3E}">
        <p14:creationId xmlns:p14="http://schemas.microsoft.com/office/powerpoint/2010/main" val="2045720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14</a:t>
            </a:fld>
            <a:endParaRPr lang="en-US" dirty="0"/>
          </a:p>
        </p:txBody>
      </p:sp>
    </p:spTree>
    <p:extLst>
      <p:ext uri="{BB962C8B-B14F-4D97-AF65-F5344CB8AC3E}">
        <p14:creationId xmlns:p14="http://schemas.microsoft.com/office/powerpoint/2010/main" val="3026134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15</a:t>
            </a:fld>
            <a:endParaRPr lang="en-US" dirty="0"/>
          </a:p>
        </p:txBody>
      </p:sp>
    </p:spTree>
    <p:extLst>
      <p:ext uri="{BB962C8B-B14F-4D97-AF65-F5344CB8AC3E}">
        <p14:creationId xmlns:p14="http://schemas.microsoft.com/office/powerpoint/2010/main" val="276930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18</a:t>
            </a:fld>
            <a:endParaRPr lang="en-US" dirty="0"/>
          </a:p>
        </p:txBody>
      </p:sp>
    </p:spTree>
    <p:extLst>
      <p:ext uri="{BB962C8B-B14F-4D97-AF65-F5344CB8AC3E}">
        <p14:creationId xmlns:p14="http://schemas.microsoft.com/office/powerpoint/2010/main" val="2975486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19</a:t>
            </a:fld>
            <a:endParaRPr lang="en-US" dirty="0"/>
          </a:p>
        </p:txBody>
      </p:sp>
    </p:spTree>
    <p:extLst>
      <p:ext uri="{BB962C8B-B14F-4D97-AF65-F5344CB8AC3E}">
        <p14:creationId xmlns:p14="http://schemas.microsoft.com/office/powerpoint/2010/main" val="2291530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20</a:t>
            </a:fld>
            <a:endParaRPr lang="en-US" dirty="0"/>
          </a:p>
        </p:txBody>
      </p:sp>
    </p:spTree>
    <p:extLst>
      <p:ext uri="{BB962C8B-B14F-4D97-AF65-F5344CB8AC3E}">
        <p14:creationId xmlns:p14="http://schemas.microsoft.com/office/powerpoint/2010/main" val="1677015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21</a:t>
            </a:fld>
            <a:endParaRPr lang="en-US" dirty="0"/>
          </a:p>
        </p:txBody>
      </p:sp>
    </p:spTree>
    <p:extLst>
      <p:ext uri="{BB962C8B-B14F-4D97-AF65-F5344CB8AC3E}">
        <p14:creationId xmlns:p14="http://schemas.microsoft.com/office/powerpoint/2010/main" val="2939719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22</a:t>
            </a:fld>
            <a:endParaRPr lang="en-US" dirty="0"/>
          </a:p>
        </p:txBody>
      </p:sp>
    </p:spTree>
    <p:extLst>
      <p:ext uri="{BB962C8B-B14F-4D97-AF65-F5344CB8AC3E}">
        <p14:creationId xmlns:p14="http://schemas.microsoft.com/office/powerpoint/2010/main" val="3772823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i="1" dirty="0" err="1"/>
              <a:t>TempDB</a:t>
            </a:r>
            <a:r>
              <a:rPr lang="en-US" dirty="0"/>
              <a:t> on Instance storage is </a:t>
            </a:r>
            <a:r>
              <a:rPr lang="en-US" b="1" i="1" dirty="0"/>
              <a:t>not</a:t>
            </a:r>
            <a:r>
              <a:rPr lang="en-US" b="1" i="1" baseline="0" dirty="0"/>
              <a:t> encrypted</a:t>
            </a:r>
            <a:r>
              <a:rPr lang="en-US" baseline="0" dirty="0"/>
              <a:t>!</a:t>
            </a: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23</a:t>
            </a:fld>
            <a:endParaRPr lang="en-US" dirty="0"/>
          </a:p>
        </p:txBody>
      </p:sp>
    </p:spTree>
    <p:extLst>
      <p:ext uri="{BB962C8B-B14F-4D97-AF65-F5344CB8AC3E}">
        <p14:creationId xmlns:p14="http://schemas.microsoft.com/office/powerpoint/2010/main" val="2754375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24</a:t>
            </a:fld>
            <a:endParaRPr lang="en-US" dirty="0"/>
          </a:p>
        </p:txBody>
      </p:sp>
    </p:spTree>
    <p:extLst>
      <p:ext uri="{BB962C8B-B14F-4D97-AF65-F5344CB8AC3E}">
        <p14:creationId xmlns:p14="http://schemas.microsoft.com/office/powerpoint/2010/main" val="902323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Useful for the case when we need to allocate </a:t>
            </a:r>
            <a:r>
              <a:rPr lang="en-US" sz="1400" b="1" i="1" dirty="0" err="1"/>
              <a:t>tempdb</a:t>
            </a:r>
            <a:r>
              <a:rPr lang="en-US" sz="1400" dirty="0"/>
              <a:t> files on </a:t>
            </a:r>
            <a:r>
              <a:rPr lang="en-US" sz="1400" b="1" i="1" dirty="0"/>
              <a:t>Instance Storage </a:t>
            </a:r>
            <a:r>
              <a:rPr lang="en-US" sz="1400" dirty="0"/>
              <a:t>or when </a:t>
            </a:r>
            <a:r>
              <a:rPr lang="en-US" sz="1400" b="1" i="1" dirty="0"/>
              <a:t>DB/Log </a:t>
            </a:r>
            <a:r>
              <a:rPr lang="en-US" sz="1400" dirty="0"/>
              <a:t>configured with </a:t>
            </a:r>
            <a:r>
              <a:rPr lang="en-US" sz="1400" b="1" i="1" dirty="0" err="1"/>
              <a:t>AutoGrowth</a:t>
            </a:r>
            <a:r>
              <a:rPr lang="en-US" sz="1400" dirty="0"/>
              <a:t>.</a:t>
            </a:r>
          </a:p>
        </p:txBody>
      </p:sp>
      <p:sp>
        <p:nvSpPr>
          <p:cNvPr id="4" name="Slide Number Placeholder 3"/>
          <p:cNvSpPr>
            <a:spLocks noGrp="1"/>
          </p:cNvSpPr>
          <p:nvPr>
            <p:ph type="sldNum" sz="quarter" idx="10"/>
          </p:nvPr>
        </p:nvSpPr>
        <p:spPr/>
        <p:txBody>
          <a:bodyPr/>
          <a:lstStyle/>
          <a:p>
            <a:fld id="{69C3F2ED-74C5-7D4F-8560-0CC253E9A436}" type="slidenum">
              <a:rPr lang="en-US" smtClean="0"/>
              <a:pPr/>
              <a:t>25</a:t>
            </a:fld>
            <a:endParaRPr lang="en-US" dirty="0"/>
          </a:p>
        </p:txBody>
      </p:sp>
    </p:spTree>
    <p:extLst>
      <p:ext uri="{BB962C8B-B14F-4D97-AF65-F5344CB8AC3E}">
        <p14:creationId xmlns:p14="http://schemas.microsoft.com/office/powerpoint/2010/main" val="3391306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26</a:t>
            </a:fld>
            <a:endParaRPr lang="en-US" dirty="0"/>
          </a:p>
        </p:txBody>
      </p:sp>
    </p:spTree>
    <p:extLst>
      <p:ext uri="{BB962C8B-B14F-4D97-AF65-F5344CB8AC3E}">
        <p14:creationId xmlns:p14="http://schemas.microsoft.com/office/powerpoint/2010/main" val="3158902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u="sng" dirty="0"/>
              <a:t>Instance types differ in:</a:t>
            </a:r>
          </a:p>
          <a:p>
            <a:pPr marL="171450" indent="-171450">
              <a:buFont typeface="Arial" panose="020B0604020202020204" pitchFamily="34" charset="0"/>
              <a:buChar char="•"/>
            </a:pPr>
            <a:r>
              <a:rPr lang="en-US" sz="1600" dirty="0"/>
              <a:t>Range of available </a:t>
            </a:r>
            <a:r>
              <a:rPr lang="en-US" sz="1600" b="1" i="1" dirty="0"/>
              <a:t>memory</a:t>
            </a:r>
          </a:p>
          <a:p>
            <a:pPr marL="171450" indent="-171450">
              <a:buFont typeface="Arial" panose="020B0604020202020204" pitchFamily="34" charset="0"/>
              <a:buChar char="•"/>
            </a:pPr>
            <a:r>
              <a:rPr lang="en-US" sz="1600" dirty="0"/>
              <a:t>Range of available </a:t>
            </a:r>
            <a:r>
              <a:rPr lang="en-US" sz="1600" b="1" i="1" dirty="0"/>
              <a:t>storage</a:t>
            </a:r>
          </a:p>
          <a:p>
            <a:pPr marL="171450" indent="-171450">
              <a:buFont typeface="Arial" panose="020B0604020202020204" pitchFamily="34" charset="0"/>
              <a:buChar char="•"/>
            </a:pPr>
            <a:r>
              <a:rPr lang="en-US" sz="1600" dirty="0"/>
              <a:t>Types of available storage (</a:t>
            </a:r>
            <a:r>
              <a:rPr lang="en-US" sz="1600" b="1" i="1" dirty="0"/>
              <a:t>Instance Storage vs. EBS</a:t>
            </a:r>
            <a:r>
              <a:rPr lang="en-US" sz="1600" dirty="0"/>
              <a:t>)</a:t>
            </a:r>
          </a:p>
          <a:p>
            <a:pPr marL="171450" indent="-171450">
              <a:buFont typeface="Arial" panose="020B0604020202020204" pitchFamily="34" charset="0"/>
              <a:buChar char="•"/>
            </a:pPr>
            <a:r>
              <a:rPr lang="en-US" sz="1600" dirty="0"/>
              <a:t>Number of </a:t>
            </a:r>
            <a:r>
              <a:rPr lang="en-US" sz="1600" b="1" i="1" dirty="0"/>
              <a:t>CPUs</a:t>
            </a:r>
          </a:p>
          <a:p>
            <a:pPr marL="171450" indent="-171450">
              <a:buFont typeface="Arial" panose="020B0604020202020204" pitchFamily="34" charset="0"/>
              <a:buChar char="•"/>
            </a:pPr>
            <a:r>
              <a:rPr lang="en-US" sz="1600" dirty="0"/>
              <a:t>Amount of </a:t>
            </a:r>
            <a:r>
              <a:rPr lang="en-US" sz="1600" b="1" i="1" dirty="0"/>
              <a:t>RAM</a:t>
            </a:r>
          </a:p>
        </p:txBody>
      </p:sp>
      <p:sp>
        <p:nvSpPr>
          <p:cNvPr id="4" name="Slide Number Placeholder 3"/>
          <p:cNvSpPr>
            <a:spLocks noGrp="1"/>
          </p:cNvSpPr>
          <p:nvPr>
            <p:ph type="sldNum" sz="quarter" idx="10"/>
          </p:nvPr>
        </p:nvSpPr>
        <p:spPr/>
        <p:txBody>
          <a:bodyPr/>
          <a:lstStyle/>
          <a:p>
            <a:fld id="{69C3F2ED-74C5-7D4F-8560-0CC253E9A436}" type="slidenum">
              <a:rPr lang="en-US" smtClean="0"/>
              <a:pPr/>
              <a:t>28</a:t>
            </a:fld>
            <a:endParaRPr lang="en-US" dirty="0"/>
          </a:p>
        </p:txBody>
      </p:sp>
    </p:spTree>
    <p:extLst>
      <p:ext uri="{BB962C8B-B14F-4D97-AF65-F5344CB8AC3E}">
        <p14:creationId xmlns:p14="http://schemas.microsoft.com/office/powerpoint/2010/main" val="3629148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u="sng" dirty="0"/>
              <a:t>Instance types differ in:</a:t>
            </a:r>
          </a:p>
          <a:p>
            <a:pPr marL="171450" indent="-171450">
              <a:buFont typeface="Arial" panose="020B0604020202020204" pitchFamily="34" charset="0"/>
              <a:buChar char="•"/>
            </a:pPr>
            <a:r>
              <a:rPr lang="en-US" sz="1600" dirty="0"/>
              <a:t>Range of available </a:t>
            </a:r>
            <a:r>
              <a:rPr lang="en-US" sz="1600" b="1" i="1" dirty="0"/>
              <a:t>memory</a:t>
            </a:r>
          </a:p>
          <a:p>
            <a:pPr marL="171450" indent="-171450">
              <a:buFont typeface="Arial" panose="020B0604020202020204" pitchFamily="34" charset="0"/>
              <a:buChar char="•"/>
            </a:pPr>
            <a:r>
              <a:rPr lang="en-US" sz="1600" dirty="0"/>
              <a:t>Range of available </a:t>
            </a:r>
            <a:r>
              <a:rPr lang="en-US" sz="1600" b="1" i="1" dirty="0"/>
              <a:t>storage</a:t>
            </a:r>
          </a:p>
          <a:p>
            <a:pPr marL="171450" indent="-171450">
              <a:buFont typeface="Arial" panose="020B0604020202020204" pitchFamily="34" charset="0"/>
              <a:buChar char="•"/>
            </a:pPr>
            <a:r>
              <a:rPr lang="en-US" sz="1600" dirty="0"/>
              <a:t>Types of available storage (</a:t>
            </a:r>
            <a:r>
              <a:rPr lang="en-US" sz="1600" b="1" i="1" dirty="0"/>
              <a:t>Instance Storage vs. EBS</a:t>
            </a:r>
            <a:r>
              <a:rPr lang="en-US" sz="1600" dirty="0"/>
              <a:t>)</a:t>
            </a:r>
          </a:p>
          <a:p>
            <a:pPr marL="171450" indent="-171450">
              <a:buFont typeface="Arial" panose="020B0604020202020204" pitchFamily="34" charset="0"/>
              <a:buChar char="•"/>
            </a:pPr>
            <a:r>
              <a:rPr lang="en-US" sz="1600" dirty="0"/>
              <a:t>Number of </a:t>
            </a:r>
            <a:r>
              <a:rPr lang="en-US" sz="1600" b="1" i="1" dirty="0"/>
              <a:t>CPUs</a:t>
            </a:r>
          </a:p>
          <a:p>
            <a:pPr marL="171450" indent="-171450">
              <a:buFont typeface="Arial" panose="020B0604020202020204" pitchFamily="34" charset="0"/>
              <a:buChar char="•"/>
            </a:pPr>
            <a:r>
              <a:rPr lang="en-US" sz="1600" dirty="0"/>
              <a:t>Amount of </a:t>
            </a:r>
            <a:r>
              <a:rPr lang="en-US" sz="1600" b="1" i="1" dirty="0"/>
              <a:t>RAM</a:t>
            </a:r>
          </a:p>
        </p:txBody>
      </p:sp>
      <p:sp>
        <p:nvSpPr>
          <p:cNvPr id="4" name="Slide Number Placeholder 3"/>
          <p:cNvSpPr>
            <a:spLocks noGrp="1"/>
          </p:cNvSpPr>
          <p:nvPr>
            <p:ph type="sldNum" sz="quarter" idx="10"/>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16017820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Full customization (and administration)</a:t>
            </a:r>
            <a:r>
              <a:rPr lang="en-US" baseline="0" dirty="0"/>
              <a:t> </a:t>
            </a:r>
            <a:r>
              <a:rPr lang="en-US" dirty="0"/>
              <a:t>of failover and disaster recovery for EC2</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Multi-region:</a:t>
            </a:r>
            <a:r>
              <a:rPr lang="en-US" baseline="0" dirty="0"/>
              <a:t> cross-region peering</a:t>
            </a:r>
            <a:endParaRPr lang="en-US" dirty="0"/>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FCI:</a:t>
            </a:r>
            <a:r>
              <a:rPr lang="en-US" baseline="0" dirty="0"/>
              <a:t> SIOS DataKeeper or SoftNAS – EBS block storage replication simulates shared storage</a:t>
            </a:r>
            <a:endParaRPr lang="en-US" dirty="0"/>
          </a:p>
        </p:txBody>
      </p:sp>
    </p:spTree>
    <p:extLst>
      <p:ext uri="{BB962C8B-B14F-4D97-AF65-F5344CB8AC3E}">
        <p14:creationId xmlns:p14="http://schemas.microsoft.com/office/powerpoint/2010/main" val="1727839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600"/>
              </a:spcBef>
              <a:spcAft>
                <a:spcPts val="1200"/>
              </a:spcAft>
              <a:buFontTx/>
              <a:buNone/>
            </a:pPr>
            <a:r>
              <a:rPr lang="en-US" sz="1600" dirty="0"/>
              <a:t>Many businesses have chosen </a:t>
            </a:r>
            <a:r>
              <a:rPr lang="en-US" sz="1600" b="1" dirty="0"/>
              <a:t>SQL Server Enterprise Edition </a:t>
            </a:r>
            <a:r>
              <a:rPr lang="en-US" sz="1600" dirty="0"/>
              <a:t>because of their </a:t>
            </a:r>
            <a:r>
              <a:rPr lang="en-US" sz="1600" b="1" dirty="0"/>
              <a:t>HA requirements</a:t>
            </a:r>
          </a:p>
          <a:p>
            <a:pPr marL="0" indent="0">
              <a:spcBef>
                <a:spcPts val="600"/>
              </a:spcBef>
              <a:spcAft>
                <a:spcPts val="1200"/>
              </a:spcAft>
              <a:buFontTx/>
              <a:buNone/>
            </a:pPr>
            <a:r>
              <a:rPr lang="en-US" sz="1600" dirty="0"/>
              <a:t>Enterprise Edition could cost as much as </a:t>
            </a:r>
            <a:r>
              <a:rPr lang="en-US" sz="1600" b="1" dirty="0"/>
              <a:t>10x</a:t>
            </a:r>
            <a:r>
              <a:rPr lang="en-US" sz="1600" dirty="0"/>
              <a:t> of Standard Edition</a:t>
            </a:r>
          </a:p>
          <a:p>
            <a:pPr marL="0" indent="0">
              <a:spcBef>
                <a:spcPts val="600"/>
              </a:spcBef>
              <a:spcAft>
                <a:spcPts val="1200"/>
              </a:spcAft>
              <a:buFontTx/>
              <a:buNone/>
            </a:pPr>
            <a:r>
              <a:rPr lang="en-US" sz="1600" dirty="0"/>
              <a:t>SQL Server 2016+ provide </a:t>
            </a:r>
            <a:r>
              <a:rPr lang="en-US" sz="1600" b="1" dirty="0"/>
              <a:t>HA options for Standard Edition </a:t>
            </a:r>
            <a:r>
              <a:rPr lang="en-US" sz="1600" dirty="0"/>
              <a:t>that previously used to be exclusive to Enterprise Edition</a:t>
            </a:r>
          </a:p>
          <a:p>
            <a:pPr marL="0" indent="0">
              <a:spcBef>
                <a:spcPts val="600"/>
              </a:spcBef>
              <a:spcAft>
                <a:spcPts val="1200"/>
              </a:spcAft>
              <a:buFontTx/>
              <a:buNone/>
            </a:pPr>
            <a:r>
              <a:rPr lang="en-US" sz="1600" dirty="0"/>
              <a:t>These features can potentially be leveraged to </a:t>
            </a:r>
            <a:r>
              <a:rPr lang="en-US" sz="1600" b="1" dirty="0"/>
              <a:t>reduce costs</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949500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59061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r>
              <a:rPr lang="en-US" sz="1600" b="0" i="0" dirty="0"/>
              <a:t>Contrary to Basic AG, </a:t>
            </a:r>
            <a:r>
              <a:rPr lang="en-US" sz="1600" b="1" i="1" dirty="0"/>
              <a:t>replicas</a:t>
            </a:r>
            <a:r>
              <a:rPr lang="en-US" sz="1600" b="0" i="0" dirty="0"/>
              <a:t> could be made </a:t>
            </a:r>
            <a:r>
              <a:rPr lang="en-US" sz="1600" b="1" i="1" dirty="0"/>
              <a:t>readable:</a:t>
            </a:r>
          </a:p>
          <a:p>
            <a:pPr marL="171450" indent="-171450">
              <a:buClr>
                <a:schemeClr val="accent1"/>
              </a:buClr>
              <a:buFont typeface="Arial" panose="020B0604020202020204" pitchFamily="34" charset="0"/>
              <a:buChar char="•"/>
            </a:pPr>
            <a:r>
              <a:rPr lang="en-US" sz="1600" b="1" i="1" dirty="0"/>
              <a:t>Read Scale-out </a:t>
            </a:r>
            <a:r>
              <a:rPr lang="en-US" sz="1600" dirty="0"/>
              <a:t>AG with multiple read replicas</a:t>
            </a:r>
          </a:p>
          <a:p>
            <a:pPr marL="171450" indent="-171450">
              <a:buClr>
                <a:schemeClr val="accent1"/>
              </a:buClr>
              <a:buFont typeface="Arial" panose="020B0604020202020204" pitchFamily="34" charset="0"/>
              <a:buChar char="•"/>
            </a:pPr>
            <a:r>
              <a:rPr lang="en-US" sz="1600" b="1" i="1" dirty="0"/>
              <a:t>Backup</a:t>
            </a:r>
            <a:r>
              <a:rPr lang="en-US" sz="1600" dirty="0"/>
              <a:t> from replica</a:t>
            </a:r>
          </a:p>
          <a:p>
            <a:pPr marL="171450" indent="-171450">
              <a:buClr>
                <a:schemeClr val="accent1"/>
              </a:buClr>
              <a:buFont typeface="Arial" panose="020B0604020202020204" pitchFamily="34" charset="0"/>
              <a:buChar char="•"/>
            </a:pPr>
            <a:r>
              <a:rPr lang="en-US" sz="1600" b="1" i="1" dirty="0"/>
              <a:t>Synchronous</a:t>
            </a:r>
            <a:r>
              <a:rPr lang="en-US" sz="1600" dirty="0"/>
              <a:t> – automatic failover available</a:t>
            </a:r>
          </a:p>
          <a:p>
            <a:pPr marL="171450" indent="-171450">
              <a:buClr>
                <a:schemeClr val="accent1"/>
              </a:buClr>
              <a:buFont typeface="Arial" panose="020B0604020202020204" pitchFamily="34" charset="0"/>
              <a:buChar char="•"/>
            </a:pPr>
            <a:r>
              <a:rPr lang="en-US" sz="1600" b="1" i="1" dirty="0"/>
              <a:t>Asynchronous</a:t>
            </a:r>
            <a:r>
              <a:rPr lang="en-US" sz="1600" dirty="0"/>
              <a:t> – ONLY manual failover</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990200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977987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r>
              <a:rPr lang="en-US" sz="1600" b="1" u="sng" dirty="0"/>
              <a:t>Many other configurations available (starting with SQL 2016/Windows 2016)</a:t>
            </a:r>
            <a:r>
              <a:rPr lang="en-US" sz="1600" dirty="0"/>
              <a:t>:</a:t>
            </a:r>
          </a:p>
          <a:p>
            <a:pPr marL="285750" indent="-285750">
              <a:buClr>
                <a:schemeClr val="accent1"/>
              </a:buClr>
              <a:buFont typeface="Arial" panose="020B0604020202020204" pitchFamily="34" charset="0"/>
              <a:buChar char="•"/>
            </a:pPr>
            <a:r>
              <a:rPr lang="en-US" sz="1600" b="1" i="1" dirty="0"/>
              <a:t>Multiple</a:t>
            </a:r>
            <a:r>
              <a:rPr lang="en-US" sz="1600" b="0" i="0" dirty="0"/>
              <a:t> Availability groups across same set of servers</a:t>
            </a:r>
          </a:p>
          <a:p>
            <a:pPr marL="285750" indent="-285750">
              <a:buClr>
                <a:schemeClr val="accent1"/>
              </a:buClr>
              <a:buFont typeface="Arial" panose="020B0604020202020204" pitchFamily="34" charset="0"/>
              <a:buChar char="•"/>
            </a:pPr>
            <a:r>
              <a:rPr lang="en-US" sz="1600" b="1" i="1" dirty="0"/>
              <a:t>Distributed</a:t>
            </a:r>
            <a:r>
              <a:rPr lang="en-US" sz="1600" dirty="0"/>
              <a:t> Availability Groups</a:t>
            </a:r>
          </a:p>
          <a:p>
            <a:pPr marL="285750" marR="0" lvl="0" indent="-285750" algn="l" defTabSz="4572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600" b="1" i="1" kern="1200" dirty="0">
                <a:solidFill>
                  <a:schemeClr val="bg1"/>
                </a:solidFill>
                <a:latin typeface="Amazon Ember Regular"/>
                <a:ea typeface="+mn-ea"/>
                <a:cs typeface="+mn-cs"/>
              </a:rPr>
              <a:t>Domain Independent </a:t>
            </a:r>
            <a:r>
              <a:rPr lang="en-US" sz="1600" kern="1200" dirty="0">
                <a:solidFill>
                  <a:schemeClr val="bg1"/>
                </a:solidFill>
                <a:latin typeface="Amazon Ember Regular"/>
                <a:ea typeface="+mn-ea"/>
                <a:cs typeface="+mn-cs"/>
              </a:rPr>
              <a:t>Availability Group (based on </a:t>
            </a:r>
            <a:r>
              <a:rPr lang="en-US" sz="1600" b="1" i="1" kern="1200" dirty="0">
                <a:solidFill>
                  <a:schemeClr val="bg1"/>
                </a:solidFill>
                <a:latin typeface="Amazon Ember Regular"/>
                <a:ea typeface="+mn-ea"/>
                <a:cs typeface="+mn-cs"/>
              </a:rPr>
              <a:t>Workgroup WSFC</a:t>
            </a:r>
            <a:r>
              <a:rPr lang="en-US" sz="1600" b="0" i="0" kern="1200" dirty="0">
                <a:solidFill>
                  <a:schemeClr val="bg1"/>
                </a:solidFill>
                <a:latin typeface="Amazon Ember Regular"/>
                <a:ea typeface="+mn-ea"/>
                <a:cs typeface="+mn-cs"/>
              </a:rPr>
              <a:t>)</a:t>
            </a:r>
          </a:p>
          <a:p>
            <a:pPr marL="285750" marR="0" lvl="0" indent="-285750" algn="l" defTabSz="4572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600" b="1" i="1" kern="1200" dirty="0" err="1">
                <a:solidFill>
                  <a:schemeClr val="bg1"/>
                </a:solidFill>
                <a:latin typeface="Amazon Ember Regular"/>
                <a:ea typeface="+mn-ea"/>
                <a:cs typeface="+mn-cs"/>
              </a:rPr>
              <a:t>Clusterless</a:t>
            </a:r>
            <a:r>
              <a:rPr lang="en-US" sz="1600" b="0" i="0" kern="1200" dirty="0">
                <a:solidFill>
                  <a:schemeClr val="bg1"/>
                </a:solidFill>
                <a:latin typeface="Amazon Ember Regular"/>
                <a:ea typeface="+mn-ea"/>
                <a:cs typeface="+mn-cs"/>
              </a:rPr>
              <a:t> Availability Group (not really and </a:t>
            </a:r>
            <a:r>
              <a:rPr lang="en-US" sz="1600" b="1" i="0" u="sng" kern="1200" dirty="0">
                <a:solidFill>
                  <a:schemeClr val="bg1"/>
                </a:solidFill>
                <a:latin typeface="Amazon Ember Regular"/>
                <a:ea typeface="+mn-ea"/>
                <a:cs typeface="+mn-cs"/>
              </a:rPr>
              <a:t>HA</a:t>
            </a:r>
            <a:r>
              <a:rPr lang="en-US" sz="1600" b="0" i="0" kern="1200" dirty="0">
                <a:solidFill>
                  <a:schemeClr val="bg1"/>
                </a:solidFill>
                <a:latin typeface="Amazon Ember Regular"/>
                <a:ea typeface="+mn-ea"/>
                <a:cs typeface="+mn-cs"/>
              </a:rPr>
              <a:t> option – no automatic failover!)</a:t>
            </a:r>
          </a:p>
          <a:p>
            <a:pPr marL="285750" marR="0" lvl="0" indent="-285750" algn="l" defTabSz="4572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lang="en-US" sz="1600" kern="1200" dirty="0">
              <a:solidFill>
                <a:schemeClr val="bg1"/>
              </a:solidFill>
              <a:latin typeface="Amazon Ember Regular"/>
              <a:ea typeface="+mn-ea"/>
              <a:cs typeface="+mn-cs"/>
            </a:endParaRPr>
          </a:p>
          <a:p>
            <a:pPr marL="0" indent="0">
              <a:buClr>
                <a:schemeClr val="accent1"/>
              </a:buClr>
              <a:buFont typeface="Arial" panose="020B0604020202020204" pitchFamily="34" charset="0"/>
              <a:buNone/>
            </a:pPr>
            <a:endParaRPr lang="en-US" sz="160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3087673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975223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u="sng" dirty="0">
                <a:solidFill>
                  <a:schemeClr val="bg1"/>
                </a:solidFill>
              </a:rPr>
              <a:t>Database Logins</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Risk of </a:t>
            </a:r>
            <a:r>
              <a:rPr lang="en-US" sz="1400" b="1" i="1" dirty="0">
                <a:solidFill>
                  <a:schemeClr val="bg1"/>
                </a:solidFill>
              </a:rPr>
              <a:t>Orphan DB Users</a:t>
            </a:r>
          </a:p>
          <a:p>
            <a:pPr lvl="1"/>
            <a:r>
              <a:rPr lang="en-US" sz="1400" b="0" dirty="0">
                <a:solidFill>
                  <a:schemeClr val="bg1"/>
                </a:solidFill>
              </a:rPr>
              <a:t>SQL Server logins should be </a:t>
            </a:r>
            <a:r>
              <a:rPr lang="en-US" sz="1400" b="1" i="1" dirty="0">
                <a:solidFill>
                  <a:schemeClr val="bg1"/>
                </a:solidFill>
              </a:rPr>
              <a:t>manually propagated </a:t>
            </a:r>
            <a:r>
              <a:rPr lang="en-US" sz="1400" b="0" dirty="0">
                <a:solidFill>
                  <a:schemeClr val="bg1"/>
                </a:solidFill>
              </a:rPr>
              <a:t>preserving SID preferably </a:t>
            </a:r>
            <a:r>
              <a:rPr lang="en-US" sz="1400" b="1" i="1" dirty="0">
                <a:solidFill>
                  <a:schemeClr val="bg1"/>
                </a:solidFill>
              </a:rPr>
              <a:t>before establishing</a:t>
            </a:r>
            <a:r>
              <a:rPr lang="en-US" sz="1400" b="0" dirty="0">
                <a:solidFill>
                  <a:schemeClr val="bg1"/>
                </a:solidFill>
              </a:rPr>
              <a:t> the AG;</a:t>
            </a:r>
          </a:p>
          <a:p>
            <a:pPr lvl="1"/>
            <a:r>
              <a:rPr lang="en-US" sz="1400" b="0" dirty="0">
                <a:solidFill>
                  <a:schemeClr val="bg1"/>
                </a:solidFill>
              </a:rPr>
              <a:t>Does not affect </a:t>
            </a:r>
            <a:r>
              <a:rPr lang="en-US" sz="1400" b="1" i="1" dirty="0">
                <a:solidFill>
                  <a:schemeClr val="bg1"/>
                </a:solidFill>
              </a:rPr>
              <a:t>Windows logins </a:t>
            </a:r>
          </a:p>
          <a:p>
            <a:pPr lvl="1"/>
            <a:endParaRPr lang="en-US" sz="1400" b="0" dirty="0">
              <a:solidFill>
                <a:schemeClr val="bg1"/>
              </a:solidFill>
            </a:endParaRPr>
          </a:p>
          <a:p>
            <a:r>
              <a:rPr lang="en-US" sz="1400" b="1" dirty="0">
                <a:solidFill>
                  <a:schemeClr val="bg1"/>
                </a:solidFill>
              </a:rPr>
              <a:t>SQL Server Agent jobs</a:t>
            </a:r>
          </a:p>
          <a:p>
            <a:pPr lvl="1"/>
            <a:r>
              <a:rPr lang="en-US" sz="1400" b="0" dirty="0">
                <a:solidFill>
                  <a:schemeClr val="bg1"/>
                </a:solidFill>
              </a:rPr>
              <a:t>Require </a:t>
            </a:r>
            <a:r>
              <a:rPr lang="en-US" sz="1400" b="1" i="1" dirty="0">
                <a:solidFill>
                  <a:schemeClr val="bg1"/>
                </a:solidFill>
              </a:rPr>
              <a:t>manual migration </a:t>
            </a:r>
          </a:p>
          <a:p>
            <a:pPr lvl="1"/>
            <a:r>
              <a:rPr lang="en-US" sz="1400" b="1" i="1" dirty="0">
                <a:solidFill>
                  <a:schemeClr val="bg1"/>
                </a:solidFill>
              </a:rPr>
              <a:t>S</a:t>
            </a:r>
            <a:r>
              <a:rPr lang="en-US" sz="1400" b="0" dirty="0">
                <a:solidFill>
                  <a:schemeClr val="bg1"/>
                </a:solidFill>
              </a:rPr>
              <a:t>pecial configuration to identify whether they are </a:t>
            </a:r>
            <a:r>
              <a:rPr lang="en-US" sz="1400" b="1" i="1" dirty="0">
                <a:solidFill>
                  <a:schemeClr val="bg1"/>
                </a:solidFill>
              </a:rPr>
              <a:t>running on Primary replica</a:t>
            </a:r>
          </a:p>
          <a:p>
            <a:pPr lvl="1"/>
            <a:endParaRPr lang="en-US" sz="1400" b="0" dirty="0">
              <a:solidFill>
                <a:schemeClr val="bg1"/>
              </a:solidFill>
            </a:endParaRPr>
          </a:p>
          <a:p>
            <a:r>
              <a:rPr lang="en-US" sz="1400" b="1" dirty="0">
                <a:solidFill>
                  <a:schemeClr val="bg1"/>
                </a:solidFill>
              </a:rPr>
              <a:t>Integration Services</a:t>
            </a:r>
          </a:p>
          <a:p>
            <a:pPr lvl="1"/>
            <a:r>
              <a:rPr lang="en-US" sz="1400" b="1" i="1" kern="1200" dirty="0">
                <a:solidFill>
                  <a:schemeClr val="bg1"/>
                </a:solidFill>
                <a:latin typeface="Amazon Ember Regular" charset="0"/>
                <a:ea typeface="+mn-ea"/>
                <a:cs typeface="+mn-cs"/>
              </a:rPr>
              <a:t>Requires latest version and some special configuration!</a:t>
            </a:r>
          </a:p>
          <a:p>
            <a:pPr lvl="1"/>
            <a:r>
              <a:rPr lang="en-US" sz="1400" b="1" i="1" kern="1200" dirty="0">
                <a:solidFill>
                  <a:schemeClr val="bg1"/>
                </a:solidFill>
                <a:latin typeface="Amazon Ember Regular" charset="0"/>
                <a:ea typeface="+mn-ea"/>
                <a:cs typeface="+mn-cs"/>
              </a:rPr>
              <a:t>GUI</a:t>
            </a:r>
            <a:r>
              <a:rPr lang="en-US" sz="1400" b="0" i="0" kern="1200" dirty="0">
                <a:solidFill>
                  <a:schemeClr val="bg1"/>
                </a:solidFill>
                <a:latin typeface="Amazon Ember Regular" charset="0"/>
                <a:ea typeface="+mn-ea"/>
                <a:cs typeface="+mn-cs"/>
              </a:rPr>
              <a:t> has been </a:t>
            </a:r>
            <a:r>
              <a:rPr lang="en-US" sz="1400" b="1" i="1" kern="1200" dirty="0">
                <a:solidFill>
                  <a:schemeClr val="bg1"/>
                </a:solidFill>
                <a:latin typeface="Amazon Ember Regular" charset="0"/>
                <a:ea typeface="+mn-ea"/>
                <a:cs typeface="+mn-cs"/>
              </a:rPr>
              <a:t>enhanced</a:t>
            </a:r>
            <a:r>
              <a:rPr lang="en-US" sz="1400" b="0" i="0" kern="1200" dirty="0">
                <a:solidFill>
                  <a:schemeClr val="bg1"/>
                </a:solidFill>
                <a:latin typeface="Amazon Ember Regular" charset="0"/>
                <a:ea typeface="+mn-ea"/>
                <a:cs typeface="+mn-cs"/>
              </a:rPr>
              <a:t> to allow the user to add the </a:t>
            </a:r>
            <a:r>
              <a:rPr lang="en-US" sz="1400" b="1" i="1" kern="1200" dirty="0">
                <a:solidFill>
                  <a:schemeClr val="bg1"/>
                </a:solidFill>
                <a:latin typeface="Amazon Ember Regular" charset="0"/>
                <a:ea typeface="+mn-ea"/>
                <a:cs typeface="+mn-cs"/>
              </a:rPr>
              <a:t>database</a:t>
            </a:r>
            <a:r>
              <a:rPr lang="en-US" sz="1400" b="0" i="0" kern="1200" dirty="0">
                <a:solidFill>
                  <a:schemeClr val="bg1"/>
                </a:solidFill>
                <a:latin typeface="Amazon Ember Regular" charset="0"/>
                <a:ea typeface="+mn-ea"/>
                <a:cs typeface="+mn-cs"/>
              </a:rPr>
              <a:t> </a:t>
            </a:r>
            <a:r>
              <a:rPr lang="en-US" sz="1400" b="1" i="1" kern="1200" dirty="0">
                <a:solidFill>
                  <a:schemeClr val="bg1"/>
                </a:solidFill>
                <a:latin typeface="Amazon Ember Regular" charset="0"/>
                <a:ea typeface="+mn-ea"/>
                <a:cs typeface="+mn-cs"/>
              </a:rPr>
              <a:t>master</a:t>
            </a:r>
            <a:r>
              <a:rPr lang="en-US" sz="1400" b="0" i="0" kern="1200" dirty="0">
                <a:solidFill>
                  <a:schemeClr val="bg1"/>
                </a:solidFill>
                <a:latin typeface="Amazon Ember Regular" charset="0"/>
                <a:ea typeface="+mn-ea"/>
                <a:cs typeface="+mn-cs"/>
              </a:rPr>
              <a:t> </a:t>
            </a:r>
            <a:r>
              <a:rPr lang="en-US" sz="1400" b="1" i="1" kern="1200" dirty="0">
                <a:solidFill>
                  <a:schemeClr val="bg1"/>
                </a:solidFill>
                <a:latin typeface="Amazon Ember Regular" charset="0"/>
                <a:ea typeface="+mn-ea"/>
                <a:cs typeface="+mn-cs"/>
              </a:rPr>
              <a:t>key</a:t>
            </a:r>
            <a:r>
              <a:rPr lang="en-US" sz="1400" b="0" i="0" kern="1200" dirty="0">
                <a:solidFill>
                  <a:schemeClr val="bg1"/>
                </a:solidFill>
                <a:latin typeface="Amazon Ember Regular" charset="0"/>
                <a:ea typeface="+mn-ea"/>
                <a:cs typeface="+mn-cs"/>
              </a:rPr>
              <a:t> </a:t>
            </a:r>
          </a:p>
          <a:p>
            <a:pPr lvl="1"/>
            <a:r>
              <a:rPr lang="en-US" sz="1400" b="0" i="0" kern="1200" dirty="0">
                <a:solidFill>
                  <a:schemeClr val="bg1"/>
                </a:solidFill>
                <a:latin typeface="Amazon Ember Regular" charset="0"/>
                <a:ea typeface="+mn-ea"/>
                <a:cs typeface="+mn-cs"/>
              </a:rPr>
              <a:t>SSIS jobs in </a:t>
            </a:r>
            <a:r>
              <a:rPr lang="en-US" sz="1400" b="1" i="1" kern="1200" dirty="0">
                <a:solidFill>
                  <a:schemeClr val="bg1"/>
                </a:solidFill>
                <a:latin typeface="Amazon Ember Regular" charset="0"/>
                <a:ea typeface="+mn-ea"/>
                <a:cs typeface="+mn-cs"/>
              </a:rPr>
              <a:t>SQL Server Agent </a:t>
            </a:r>
            <a:r>
              <a:rPr lang="en-US" sz="1400" b="0" i="0" kern="1200" dirty="0">
                <a:solidFill>
                  <a:schemeClr val="bg1"/>
                </a:solidFill>
                <a:latin typeface="Amazon Ember Regular" charset="0"/>
                <a:ea typeface="+mn-ea"/>
                <a:cs typeface="+mn-cs"/>
              </a:rPr>
              <a:t>need to be modified</a:t>
            </a:r>
          </a:p>
          <a:p>
            <a:pPr lvl="1"/>
            <a:endParaRPr lang="en-US" sz="1400" b="0" dirty="0">
              <a:solidFill>
                <a:schemeClr val="bg1"/>
              </a:solidFill>
            </a:endParaRPr>
          </a:p>
          <a:p>
            <a:r>
              <a:rPr lang="en-US" sz="1400" b="1" dirty="0">
                <a:solidFill>
                  <a:schemeClr val="bg1"/>
                </a:solidFill>
              </a:rPr>
              <a:t>Reporting Services</a:t>
            </a:r>
          </a:p>
          <a:p>
            <a:pPr lvl="1"/>
            <a:r>
              <a:rPr lang="en-US" sz="1400" b="1" i="1" dirty="0">
                <a:solidFill>
                  <a:schemeClr val="bg1"/>
                </a:solidFill>
              </a:rPr>
              <a:t>Benefit from HA </a:t>
            </a:r>
            <a:r>
              <a:rPr lang="en-US" sz="1400" b="0" dirty="0">
                <a:solidFill>
                  <a:schemeClr val="bg1"/>
                </a:solidFill>
              </a:rPr>
              <a:t>of Reporting Services DB</a:t>
            </a:r>
          </a:p>
          <a:p>
            <a:pPr lvl="1"/>
            <a:r>
              <a:rPr lang="en-US" sz="1400" b="0" dirty="0">
                <a:solidFill>
                  <a:schemeClr val="bg1"/>
                </a:solidFill>
              </a:rPr>
              <a:t>Reporting Services is </a:t>
            </a:r>
            <a:r>
              <a:rPr lang="en-US" sz="1400" b="1" i="1" dirty="0">
                <a:solidFill>
                  <a:schemeClr val="bg1"/>
                </a:solidFill>
              </a:rPr>
              <a:t>not cluster-aware </a:t>
            </a:r>
            <a:r>
              <a:rPr lang="en-US" sz="1400" b="0" dirty="0">
                <a:solidFill>
                  <a:schemeClr val="bg1"/>
                </a:solidFill>
              </a:rPr>
              <a:t>and will not fail over</a:t>
            </a:r>
          </a:p>
          <a:p>
            <a:pPr lvl="1"/>
            <a:r>
              <a:rPr lang="en-US" sz="1400" b="0" dirty="0">
                <a:solidFill>
                  <a:schemeClr val="bg1"/>
                </a:solidFill>
              </a:rPr>
              <a:t>Configure </a:t>
            </a:r>
            <a:r>
              <a:rPr lang="en-US" sz="1400" b="1" i="1" dirty="0">
                <a:solidFill>
                  <a:schemeClr val="bg1"/>
                </a:solidFill>
              </a:rPr>
              <a:t>load balancing </a:t>
            </a:r>
            <a:r>
              <a:rPr lang="en-US" sz="1400" b="0" dirty="0">
                <a:solidFill>
                  <a:schemeClr val="bg1"/>
                </a:solidFill>
              </a:rPr>
              <a:t>for </a:t>
            </a:r>
            <a:r>
              <a:rPr lang="en-US" sz="1400" b="1" i="1" dirty="0">
                <a:solidFill>
                  <a:schemeClr val="bg1"/>
                </a:solidFill>
              </a:rPr>
              <a:t>the Web servers </a:t>
            </a:r>
            <a:r>
              <a:rPr lang="en-US" sz="1400" b="0" dirty="0">
                <a:solidFill>
                  <a:schemeClr val="bg1"/>
                </a:solidFill>
              </a:rPr>
              <a:t>that host the report servers</a:t>
            </a:r>
          </a:p>
          <a:p>
            <a:pPr lvl="1"/>
            <a:endParaRPr lang="en-US" sz="1400" b="0" dirty="0">
              <a:solidFill>
                <a:schemeClr val="bg1"/>
              </a:solidFill>
            </a:endParaRPr>
          </a:p>
          <a:p>
            <a:r>
              <a:rPr lang="en-US" sz="1400" b="1" dirty="0">
                <a:solidFill>
                  <a:schemeClr val="bg1"/>
                </a:solidFill>
              </a:rPr>
              <a:t>Analyses Services</a:t>
            </a:r>
          </a:p>
          <a:p>
            <a:pPr lvl="1"/>
            <a:r>
              <a:rPr lang="en-US" sz="1400" b="1" i="1" dirty="0">
                <a:solidFill>
                  <a:schemeClr val="bg1"/>
                </a:solidFill>
              </a:rPr>
              <a:t>Benefit</a:t>
            </a:r>
            <a:r>
              <a:rPr lang="en-US" sz="1400" b="0" dirty="0">
                <a:solidFill>
                  <a:schemeClr val="bg1"/>
                </a:solidFill>
              </a:rPr>
              <a:t> from </a:t>
            </a:r>
            <a:r>
              <a:rPr lang="en-US" sz="1400" b="1" i="1" dirty="0">
                <a:solidFill>
                  <a:schemeClr val="bg1"/>
                </a:solidFill>
              </a:rPr>
              <a:t>HA</a:t>
            </a:r>
            <a:r>
              <a:rPr lang="en-US" sz="1400" b="0" dirty="0">
                <a:solidFill>
                  <a:schemeClr val="bg1"/>
                </a:solidFill>
              </a:rPr>
              <a:t> of AG </a:t>
            </a:r>
            <a:r>
              <a:rPr lang="en-US" sz="1400" b="0" i="0" kern="1200" dirty="0">
                <a:solidFill>
                  <a:schemeClr val="bg1"/>
                </a:solidFill>
                <a:latin typeface="Amazon Ember Regular" charset="0"/>
                <a:ea typeface="+mn-ea"/>
                <a:cs typeface="+mn-cs"/>
              </a:rPr>
              <a:t>-  it can both </a:t>
            </a:r>
            <a:r>
              <a:rPr lang="en-US" sz="1400" b="1" i="1" kern="1200" dirty="0">
                <a:solidFill>
                  <a:schemeClr val="bg1"/>
                </a:solidFill>
                <a:latin typeface="Amazon Ember Regular" charset="0"/>
                <a:ea typeface="+mn-ea"/>
                <a:cs typeface="+mn-cs"/>
              </a:rPr>
              <a:t>retrieve and process data from Always On relational databases</a:t>
            </a:r>
          </a:p>
          <a:p>
            <a:pPr lvl="1"/>
            <a:r>
              <a:rPr lang="en-US" sz="1400" b="0" dirty="0">
                <a:solidFill>
                  <a:schemeClr val="bg1"/>
                </a:solidFill>
              </a:rPr>
              <a:t>You </a:t>
            </a:r>
            <a:r>
              <a:rPr lang="en-US" sz="1400" b="1" i="1" dirty="0">
                <a:solidFill>
                  <a:schemeClr val="bg1"/>
                </a:solidFill>
              </a:rPr>
              <a:t>cannot</a:t>
            </a:r>
            <a:r>
              <a:rPr lang="en-US" sz="1400" b="0" dirty="0">
                <a:solidFill>
                  <a:schemeClr val="bg1"/>
                </a:solidFill>
              </a:rPr>
              <a:t> configure an Analysis Services instance </a:t>
            </a:r>
            <a:r>
              <a:rPr lang="en-US" sz="1400" b="1" i="1" dirty="0">
                <a:solidFill>
                  <a:schemeClr val="bg1"/>
                </a:solidFill>
              </a:rPr>
              <a:t>to run in an Always On availability group</a:t>
            </a:r>
            <a:endParaRPr lang="en-US" sz="1600" b="1" i="1" kern="1200" dirty="0">
              <a:solidFill>
                <a:schemeClr val="bg1"/>
              </a:solidFill>
              <a:latin typeface="Amazon Ember Regular"/>
              <a:ea typeface="+mn-ea"/>
              <a:cs typeface="+mn-cs"/>
            </a:endParaRPr>
          </a:p>
          <a:p>
            <a:pPr marL="0" indent="0">
              <a:buClr>
                <a:schemeClr val="accent1"/>
              </a:buClr>
              <a:buFont typeface="Arial" panose="020B0604020202020204" pitchFamily="34" charset="0"/>
              <a:buNone/>
            </a:pPr>
            <a:endParaRPr lang="en-US" sz="160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801513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r>
              <a:rPr lang="en-US" sz="1600" b="1" dirty="0"/>
              <a:t>Replication</a:t>
            </a:r>
          </a:p>
          <a:p>
            <a:pPr marL="285750" indent="-285750">
              <a:buClr>
                <a:schemeClr val="accent1"/>
              </a:buClr>
              <a:buFont typeface="Arial" panose="020B0604020202020204" pitchFamily="34" charset="0"/>
              <a:buChar char="•"/>
            </a:pPr>
            <a:r>
              <a:rPr lang="en-US" sz="1600" dirty="0"/>
              <a:t>Merge replication </a:t>
            </a:r>
            <a:r>
              <a:rPr lang="en-US" sz="1600" b="1" i="1" dirty="0"/>
              <a:t>adds</a:t>
            </a:r>
            <a:r>
              <a:rPr lang="en-US" sz="1600" dirty="0"/>
              <a:t> the </a:t>
            </a:r>
            <a:r>
              <a:rPr lang="en-US" sz="1600" b="1" i="1" dirty="0"/>
              <a:t>column </a:t>
            </a:r>
            <a:r>
              <a:rPr lang="en-US" sz="1600" b="1" i="1" dirty="0" err="1"/>
              <a:t>rowguid</a:t>
            </a:r>
            <a:r>
              <a:rPr lang="en-US" sz="1600" b="1" i="1" dirty="0"/>
              <a:t> </a:t>
            </a:r>
            <a:r>
              <a:rPr lang="en-US" sz="1600" dirty="0"/>
              <a:t>to every table, unless the table already has a column of data type </a:t>
            </a:r>
            <a:r>
              <a:rPr lang="en-US" sz="1600" dirty="0" err="1"/>
              <a:t>uniqueidentifier</a:t>
            </a:r>
            <a:r>
              <a:rPr lang="en-US" sz="1600" dirty="0"/>
              <a:t> with the ROWGUIDCOL property set</a:t>
            </a:r>
          </a:p>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If a </a:t>
            </a:r>
            <a:r>
              <a:rPr lang="en-US" sz="1600" b="1" i="1" kern="1200" dirty="0">
                <a:solidFill>
                  <a:schemeClr val="tx1"/>
                </a:solidFill>
                <a:effectLst/>
                <a:latin typeface="Amazon Ember Regular" charset="0"/>
                <a:ea typeface="+mn-ea"/>
                <a:cs typeface="+mn-cs"/>
              </a:rPr>
              <a:t>transactional publication </a:t>
            </a:r>
            <a:r>
              <a:rPr lang="en-US" sz="1600" b="0" i="0" kern="1200" dirty="0">
                <a:solidFill>
                  <a:schemeClr val="tx1"/>
                </a:solidFill>
                <a:effectLst/>
                <a:latin typeface="Amazon Ember Regular" charset="0"/>
                <a:ea typeface="+mn-ea"/>
                <a:cs typeface="+mn-cs"/>
              </a:rPr>
              <a:t>supports queued updating subscriptions, replication adds the column </a:t>
            </a:r>
            <a:r>
              <a:rPr lang="en-US" sz="1600" b="1" i="0" kern="1200" dirty="0" err="1">
                <a:solidFill>
                  <a:schemeClr val="tx1"/>
                </a:solidFill>
                <a:effectLst/>
                <a:latin typeface="Amazon Ember Regular" charset="0"/>
                <a:ea typeface="+mn-ea"/>
                <a:cs typeface="+mn-cs"/>
              </a:rPr>
              <a:t>msrepl_tran_version</a:t>
            </a:r>
            <a:r>
              <a:rPr lang="en-US" sz="1600" b="0" i="0" kern="1200" dirty="0">
                <a:solidFill>
                  <a:schemeClr val="tx1"/>
                </a:solidFill>
                <a:effectLst/>
                <a:latin typeface="Amazon Ember Regular" charset="0"/>
                <a:ea typeface="+mn-ea"/>
                <a:cs typeface="+mn-cs"/>
              </a:rPr>
              <a:t> to every table. </a:t>
            </a:r>
          </a:p>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The NOT FOR REPLICATION option is specified by default for foreign key constraints and check constraints</a:t>
            </a:r>
          </a:p>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Limit use of some statement, like Truncate Table</a:t>
            </a:r>
          </a:p>
          <a:p>
            <a:pPr marL="285750" indent="-285750">
              <a:buClr>
                <a:schemeClr val="accent1"/>
              </a:buClr>
              <a:buFont typeface="Arial" panose="020B0604020202020204" pitchFamily="34" charset="0"/>
              <a:buChar char="•"/>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4065887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9" b="1" i="0" kern="1200" dirty="0">
                <a:solidFill>
                  <a:schemeClr val="tx1"/>
                </a:solidFill>
                <a:effectLst/>
                <a:latin typeface="Amazon Ember Heavy"/>
                <a:ea typeface="+mn-ea"/>
                <a:cs typeface="+mn-cs"/>
              </a:rPr>
              <a:t>AWS Storage Gateway </a:t>
            </a:r>
            <a:r>
              <a:rPr lang="en-US" sz="1059" b="0" i="0" kern="1200" dirty="0">
                <a:solidFill>
                  <a:schemeClr val="tx1"/>
                </a:solidFill>
                <a:effectLst/>
                <a:latin typeface="Amazon Ember Heavy"/>
                <a:ea typeface="+mn-ea"/>
                <a:cs typeface="+mn-cs"/>
              </a:rPr>
              <a:t>is a hybrid storage service that enables your on-premises applications to seamlessly use AWS cloud storage. You can use the service for backup and archiving, disaster recovery, cloud data processing, storage </a:t>
            </a:r>
            <a:r>
              <a:rPr lang="en-US" sz="1059" b="0" i="0" kern="1200" dirty="0" err="1">
                <a:solidFill>
                  <a:schemeClr val="tx1"/>
                </a:solidFill>
                <a:effectLst/>
                <a:latin typeface="Amazon Ember Heavy"/>
                <a:ea typeface="+mn-ea"/>
                <a:cs typeface="+mn-cs"/>
              </a:rPr>
              <a:t>tiering</a:t>
            </a:r>
            <a:r>
              <a:rPr lang="en-US" sz="1059" b="0" i="0" kern="1200" dirty="0">
                <a:solidFill>
                  <a:schemeClr val="tx1"/>
                </a:solidFill>
                <a:effectLst/>
                <a:latin typeface="Amazon Ember Heavy"/>
                <a:ea typeface="+mn-ea"/>
                <a:cs typeface="+mn-cs"/>
              </a:rPr>
              <a:t>, and migration. Your applications connect to the service through a virtual machine or hardware gateway appliance using standard storage protocols, such as NFS, SMB and iSCSI.</a:t>
            </a:r>
          </a:p>
          <a:p>
            <a:endParaRPr lang="en-US" sz="1059" b="0" i="0" kern="1200" dirty="0">
              <a:solidFill>
                <a:schemeClr val="tx1"/>
              </a:solidFill>
              <a:effectLst/>
              <a:latin typeface="Amazon Ember Heavy"/>
              <a:ea typeface="+mn-ea"/>
              <a:cs typeface="+mn-cs"/>
            </a:endParaRPr>
          </a:p>
          <a:p>
            <a:r>
              <a:rPr lang="en-US" sz="1059" b="0" i="0" kern="1200" dirty="0">
                <a:solidFill>
                  <a:schemeClr val="tx1"/>
                </a:solidFill>
                <a:effectLst/>
                <a:latin typeface="Amazon Ember Heavy"/>
                <a:ea typeface="+mn-ea"/>
                <a:cs typeface="+mn-cs"/>
              </a:rPr>
              <a:t>In this scenario, your SQL Serer backups would be stored in Storage Gateway, Volume Gateway, which exposes the storage from the Storage Gateway appliance via file shale.  Once the backup files are in Storage Gateway, the service automatically copies the files and puts as objects in S3, which can then be downloaded and restored to SQL Server on EC2 or RDS for SQL Server.</a:t>
            </a:r>
            <a:endParaRPr lang="en-US" dirty="0">
              <a:latin typeface="Amazon Ember Heavy"/>
            </a:endParaRPr>
          </a:p>
        </p:txBody>
      </p:sp>
      <p:sp>
        <p:nvSpPr>
          <p:cNvPr id="4" name="Header Placeholder 3"/>
          <p:cNvSpPr>
            <a:spLocks noGrp="1"/>
          </p:cNvSpPr>
          <p:nvPr>
            <p:ph type="hdr" sz="quarter" idx="10"/>
          </p:nvPr>
        </p:nvSpPr>
        <p:spPr/>
        <p:txBody>
          <a:bodyPr/>
          <a:lstStyle/>
          <a:p>
            <a:r>
              <a:rPr lang="en-US"/>
              <a:t>ReInvent 2018</a:t>
            </a:r>
            <a:endParaRPr lang="en-US" dirty="0"/>
          </a:p>
        </p:txBody>
      </p:sp>
      <p:sp>
        <p:nvSpPr>
          <p:cNvPr id="5" name="Footer Placeholder 4"/>
          <p:cNvSpPr>
            <a:spLocks noGrp="1"/>
          </p:cNvSpPr>
          <p:nvPr>
            <p:ph type="ftr" sz="quarter" idx="11"/>
          </p:nvPr>
        </p:nvSpPr>
        <p:spPr/>
        <p:txBody>
          <a:bodyPr/>
          <a:lstStyle/>
          <a:p>
            <a:r>
              <a:rPr lang="en-US" altLang="x-none" sz="700">
                <a:solidFill>
                  <a:srgbClr val="282828"/>
                </a:solidFill>
                <a:latin typeface="Amazon Ember" charset="0"/>
                <a:ea typeface="Amazon Ember" charset="0"/>
                <a:cs typeface="Amazon Ember" charset="0"/>
              </a:rPr>
              <a:t>© 2018, Amazon Web Services, Inc. or its Affiliates. All rights reserved.</a:t>
            </a:r>
            <a:endParaRPr lang="en-US" altLang="x-none" sz="700" dirty="0">
              <a:solidFill>
                <a:srgbClr val="282828"/>
              </a:solidFill>
              <a:latin typeface="Amazon Ember" charset="0"/>
              <a:ea typeface="Amazon Ember" charset="0"/>
              <a:cs typeface="Amazon Ember" charset="0"/>
            </a:endParaRPr>
          </a:p>
        </p:txBody>
      </p:sp>
      <p:sp>
        <p:nvSpPr>
          <p:cNvPr id="6" name="Date Placeholder 5"/>
          <p:cNvSpPr>
            <a:spLocks noGrp="1"/>
          </p:cNvSpPr>
          <p:nvPr>
            <p:ph type="dt" idx="12"/>
          </p:nvPr>
        </p:nvSpPr>
        <p:spPr/>
        <p:txBody>
          <a:bodyPr/>
          <a:lstStyle/>
          <a:p>
            <a:fld id="{CA8E1BB1-B036-4140-B110-296DC0701D04}" type="datetime8">
              <a:rPr lang="en-US" smtClean="0"/>
              <a:pPr/>
              <a:t>2/20/2020 9:04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26295660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Arial"/>
                <a:ea typeface="+mn-ea"/>
                <a:cs typeface="+mn-cs"/>
              </a:rPr>
              <a:t>AWS Snowball</a:t>
            </a:r>
            <a:r>
              <a:rPr lang="en-US" sz="1200" b="1" kern="1200" baseline="0" dirty="0">
                <a:solidFill>
                  <a:schemeClr val="tx1"/>
                </a:solidFill>
                <a:effectLst/>
                <a:latin typeface="Arial"/>
                <a:ea typeface="+mn-ea"/>
                <a:cs typeface="+mn-cs"/>
              </a:rPr>
              <a:t> </a:t>
            </a:r>
            <a:r>
              <a:rPr lang="en-US" sz="1059" b="0" i="0" kern="1200" dirty="0">
                <a:solidFill>
                  <a:schemeClr val="tx1"/>
                </a:solidFill>
                <a:effectLst/>
                <a:latin typeface="+mj-lt"/>
                <a:ea typeface="+mn-ea"/>
                <a:cs typeface="+mn-cs"/>
              </a:rPr>
              <a:t>addresses common challenges with large-scale data transfers including high network costs, long transfer times, and security concerns. Customers today use Snowball to migrate analytics data, video libraries, image repositories, backups, and to archive part of data center shutdowns, tape replacement or application migration projects.</a:t>
            </a:r>
            <a:endParaRPr lang="en-US" sz="1200" b="1" kern="1200" dirty="0">
              <a:solidFill>
                <a:schemeClr val="tx1"/>
              </a:solidFill>
              <a:effectLst/>
              <a:latin typeface="Arial"/>
              <a:ea typeface="+mn-ea"/>
              <a:cs typeface="+mn-cs"/>
            </a:endParaRPr>
          </a:p>
          <a:p>
            <a:endParaRPr lang="en-US" sz="1200" b="1" kern="1200" dirty="0">
              <a:solidFill>
                <a:schemeClr val="tx1"/>
              </a:solidFill>
              <a:effectLst/>
              <a:latin typeface="Arial"/>
              <a:ea typeface="+mn-ea"/>
              <a:cs typeface="+mn-cs"/>
            </a:endParaRPr>
          </a:p>
          <a:p>
            <a:r>
              <a:rPr lang="en-US" sz="1200" b="1" kern="1200" dirty="0">
                <a:solidFill>
                  <a:schemeClr val="tx1"/>
                </a:solidFill>
                <a:effectLst/>
                <a:latin typeface="Arial"/>
                <a:ea typeface="+mn-ea"/>
                <a:cs typeface="+mn-cs"/>
              </a:rPr>
              <a:t>Cloud Migration</a:t>
            </a:r>
          </a:p>
          <a:p>
            <a:r>
              <a:rPr lang="en-US" sz="1200" kern="1200" dirty="0">
                <a:solidFill>
                  <a:schemeClr val="tx1"/>
                </a:solidFill>
                <a:effectLst/>
                <a:latin typeface="Arial"/>
                <a:ea typeface="+mn-ea"/>
                <a:cs typeface="+mn-cs"/>
              </a:rPr>
              <a:t>If you have large quantities of data you need to migrate into AWS</a:t>
            </a:r>
            <a:r>
              <a:rPr lang="en-US" sz="1200" kern="1200" baseline="0" dirty="0">
                <a:solidFill>
                  <a:schemeClr val="tx1"/>
                </a:solidFill>
                <a:effectLst/>
                <a:latin typeface="Arial"/>
                <a:ea typeface="+mn-ea"/>
                <a:cs typeface="+mn-cs"/>
              </a:rPr>
              <a:t> – as part of an application server, file server, database, or backup/archive migration – </a:t>
            </a:r>
            <a:r>
              <a:rPr lang="en-US" sz="1200" kern="1200" dirty="0">
                <a:solidFill>
                  <a:schemeClr val="tx1"/>
                </a:solidFill>
                <a:effectLst/>
                <a:latin typeface="Arial"/>
                <a:ea typeface="+mn-ea"/>
                <a:cs typeface="+mn-cs"/>
              </a:rPr>
              <a:t>AWS Snowball is often much faster and more cost-effective than transferring that data over the Internet.</a:t>
            </a:r>
          </a:p>
          <a:p>
            <a:endParaRPr lang="en-US" sz="1200" b="1" kern="1200" dirty="0">
              <a:solidFill>
                <a:schemeClr val="tx1"/>
              </a:solidFill>
              <a:effectLst/>
              <a:latin typeface="Arial"/>
              <a:ea typeface="+mn-ea"/>
              <a:cs typeface="+mn-cs"/>
            </a:endParaRPr>
          </a:p>
          <a:p>
            <a:r>
              <a:rPr lang="en-US" sz="1200" b="1" kern="1200" dirty="0">
                <a:solidFill>
                  <a:schemeClr val="tx1"/>
                </a:solidFill>
                <a:effectLst/>
                <a:latin typeface="Arial"/>
                <a:ea typeface="+mn-ea"/>
                <a:cs typeface="+mn-cs"/>
              </a:rPr>
              <a:t>Disaster Recovery</a:t>
            </a:r>
          </a:p>
          <a:p>
            <a:r>
              <a:rPr lang="en-US" sz="1200" kern="1200" dirty="0">
                <a:solidFill>
                  <a:schemeClr val="tx1"/>
                </a:solidFill>
                <a:effectLst/>
                <a:latin typeface="Arial"/>
                <a:ea typeface="+mn-ea"/>
                <a:cs typeface="+mn-cs"/>
              </a:rPr>
              <a:t>In the event that you need to quickly retrieve a large quantity of data stored in Amazon S3, AWS Snowball appliances can help retrieve the data much quicker than high-bandwidth Internet.</a:t>
            </a:r>
          </a:p>
          <a:p>
            <a:r>
              <a:rPr lang="en-US" sz="1200" kern="1200" dirty="0">
                <a:solidFill>
                  <a:schemeClr val="tx1"/>
                </a:solidFill>
                <a:effectLst/>
                <a:latin typeface="Arial"/>
                <a:ea typeface="+mn-ea"/>
                <a:cs typeface="+mn-cs"/>
              </a:rPr>
              <a:t> </a:t>
            </a:r>
          </a:p>
          <a:p>
            <a:r>
              <a:rPr lang="en-US" sz="1200" b="1" kern="1200" dirty="0">
                <a:solidFill>
                  <a:schemeClr val="tx1"/>
                </a:solidFill>
                <a:effectLst/>
                <a:latin typeface="Arial"/>
                <a:ea typeface="+mn-ea"/>
                <a:cs typeface="+mn-cs"/>
              </a:rPr>
              <a:t>Datacenter Decommission</a:t>
            </a:r>
          </a:p>
          <a:p>
            <a:r>
              <a:rPr lang="en-US" sz="1200" kern="1200" dirty="0">
                <a:solidFill>
                  <a:schemeClr val="tx1"/>
                </a:solidFill>
                <a:effectLst/>
                <a:latin typeface="Arial"/>
                <a:ea typeface="+mn-ea"/>
                <a:cs typeface="+mn-cs"/>
              </a:rPr>
              <a:t>There are many steps involved to decommissioning a datacenter to ensure valuable data is not lost. AWS Snowball can help ensure that your data is securely and cost-effectively transferred to AWS during this process.</a:t>
            </a:r>
          </a:p>
          <a:p>
            <a:endParaRPr lang="en-US" sz="1200" b="1" kern="1200" dirty="0">
              <a:solidFill>
                <a:schemeClr val="tx1"/>
              </a:solidFill>
              <a:effectLst/>
              <a:latin typeface="Arial"/>
              <a:ea typeface="+mn-ea"/>
              <a:cs typeface="+mn-cs"/>
            </a:endParaRPr>
          </a:p>
          <a:p>
            <a:r>
              <a:rPr lang="en-US" sz="1200" b="1" kern="1200" dirty="0">
                <a:solidFill>
                  <a:schemeClr val="tx1"/>
                </a:solidFill>
                <a:effectLst/>
                <a:latin typeface="Arial"/>
                <a:ea typeface="+mn-ea"/>
                <a:cs typeface="+mn-cs"/>
              </a:rPr>
              <a:t>Content Distribution</a:t>
            </a:r>
          </a:p>
          <a:p>
            <a:r>
              <a:rPr lang="en-US" sz="1200" kern="1200" dirty="0">
                <a:solidFill>
                  <a:schemeClr val="tx1"/>
                </a:solidFill>
                <a:effectLst/>
                <a:latin typeface="Arial"/>
                <a:ea typeface="+mn-ea"/>
                <a:cs typeface="+mn-cs"/>
              </a:rPr>
              <a:t>Use AWS Snowball appliances if you regularly receive or need to share large amounts of data with clients, customers, or business associates. Appliances can be sent directly from AWS to client or customer locations.</a:t>
            </a:r>
          </a:p>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42</a:t>
            </a:fld>
            <a:endParaRPr lang="en-US" dirty="0"/>
          </a:p>
        </p:txBody>
      </p:sp>
    </p:spTree>
    <p:extLst>
      <p:ext uri="{BB962C8B-B14F-4D97-AF65-F5344CB8AC3E}">
        <p14:creationId xmlns:p14="http://schemas.microsoft.com/office/powerpoint/2010/main" val="3300618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i="0" u="sng" kern="1200" dirty="0">
                <a:solidFill>
                  <a:schemeClr val="tx1"/>
                </a:solidFill>
                <a:effectLst/>
                <a:latin typeface="Amazon Ember Regular" charset="0"/>
                <a:ea typeface="+mn-ea"/>
                <a:cs typeface="+mn-cs"/>
              </a:rPr>
              <a:t>Reliable</a:t>
            </a:r>
            <a:endParaRPr lang="en-US" sz="1600" b="0" i="0" kern="1200" dirty="0">
              <a:solidFill>
                <a:schemeClr val="tx1"/>
              </a:solidFill>
              <a:effectLst/>
              <a:latin typeface="Amazon Ember Regular" charset="0"/>
              <a:ea typeface="+mn-ea"/>
              <a:cs typeface="+mn-cs"/>
            </a:endParaRPr>
          </a:p>
          <a:p>
            <a:pPr marL="285750" indent="-285750">
              <a:buFont typeface="Arial" panose="020B0604020202020204" pitchFamily="34" charset="0"/>
              <a:buChar char="•"/>
            </a:pPr>
            <a:r>
              <a:rPr lang="en-US" sz="1600" b="0" i="0" kern="1200" dirty="0">
                <a:solidFill>
                  <a:schemeClr val="tx1"/>
                </a:solidFill>
                <a:effectLst/>
                <a:latin typeface="Amazon Ember Regular" charset="0"/>
                <a:ea typeface="+mn-ea"/>
                <a:cs typeface="+mn-cs"/>
              </a:rPr>
              <a:t>The AWS Database Migration Service is highly </a:t>
            </a:r>
            <a:r>
              <a:rPr lang="en-US" sz="1600" b="1" i="1" kern="1200" dirty="0">
                <a:solidFill>
                  <a:schemeClr val="tx1"/>
                </a:solidFill>
                <a:effectLst/>
                <a:latin typeface="Amazon Ember Regular" charset="0"/>
                <a:ea typeface="+mn-ea"/>
                <a:cs typeface="+mn-cs"/>
              </a:rPr>
              <a:t>resilient and self–healing</a:t>
            </a:r>
            <a:r>
              <a:rPr lang="en-US" sz="1600" b="0" i="0" kern="1200" dirty="0">
                <a:solidFill>
                  <a:schemeClr val="tx1"/>
                </a:solidFill>
                <a:effectLst/>
                <a:latin typeface="Amazon Ember Regular" charset="0"/>
                <a:ea typeface="+mn-ea"/>
                <a:cs typeface="+mn-cs"/>
              </a:rPr>
              <a:t>. </a:t>
            </a:r>
          </a:p>
          <a:p>
            <a:pPr marL="285750" indent="-285750">
              <a:buFont typeface="Arial" panose="020B0604020202020204" pitchFamily="34" charset="0"/>
              <a:buChar char="•"/>
            </a:pPr>
            <a:r>
              <a:rPr lang="en-US" sz="1600" b="0" i="0" kern="1200" dirty="0">
                <a:solidFill>
                  <a:schemeClr val="tx1"/>
                </a:solidFill>
                <a:effectLst/>
                <a:latin typeface="Amazon Ember Regular" charset="0"/>
                <a:ea typeface="+mn-ea"/>
                <a:cs typeface="+mn-cs"/>
              </a:rPr>
              <a:t>It </a:t>
            </a:r>
            <a:r>
              <a:rPr lang="en-US" sz="1600" b="1" i="1" kern="1200" dirty="0">
                <a:solidFill>
                  <a:schemeClr val="tx1"/>
                </a:solidFill>
                <a:effectLst/>
                <a:latin typeface="Amazon Ember Regular" charset="0"/>
                <a:ea typeface="+mn-ea"/>
                <a:cs typeface="+mn-cs"/>
              </a:rPr>
              <a:t>continually monitors </a:t>
            </a:r>
            <a:r>
              <a:rPr lang="en-US" sz="1600" b="0" i="0" kern="1200" dirty="0">
                <a:solidFill>
                  <a:schemeClr val="tx1"/>
                </a:solidFill>
                <a:effectLst/>
                <a:latin typeface="Amazon Ember Regular" charset="0"/>
                <a:ea typeface="+mn-ea"/>
                <a:cs typeface="+mn-cs"/>
              </a:rPr>
              <a:t>source and target databases, network connectivity, and the replication instance. </a:t>
            </a:r>
          </a:p>
          <a:p>
            <a:pPr marL="285750" indent="-285750">
              <a:buFont typeface="Arial" panose="020B0604020202020204" pitchFamily="34" charset="0"/>
              <a:buChar char="•"/>
            </a:pPr>
            <a:r>
              <a:rPr lang="en-US" sz="1600" b="0" i="0" kern="1200" dirty="0">
                <a:solidFill>
                  <a:schemeClr val="tx1"/>
                </a:solidFill>
                <a:effectLst/>
                <a:latin typeface="Amazon Ember Regular" charset="0"/>
                <a:ea typeface="+mn-ea"/>
                <a:cs typeface="+mn-cs"/>
              </a:rPr>
              <a:t>In case of interruption, it </a:t>
            </a:r>
            <a:r>
              <a:rPr lang="en-US" sz="1600" b="1" i="1" kern="1200" dirty="0">
                <a:solidFill>
                  <a:schemeClr val="tx1"/>
                </a:solidFill>
                <a:effectLst/>
                <a:latin typeface="Amazon Ember Regular" charset="0"/>
                <a:ea typeface="+mn-ea"/>
                <a:cs typeface="+mn-cs"/>
              </a:rPr>
              <a:t>automatically restarts the process </a:t>
            </a:r>
            <a:r>
              <a:rPr lang="en-US" sz="1600" b="0" i="0" kern="1200" dirty="0">
                <a:solidFill>
                  <a:schemeClr val="tx1"/>
                </a:solidFill>
                <a:effectLst/>
                <a:latin typeface="Amazon Ember Regular" charset="0"/>
                <a:ea typeface="+mn-ea"/>
                <a:cs typeface="+mn-cs"/>
              </a:rPr>
              <a:t>and continues the migration from where it was halted. </a:t>
            </a:r>
          </a:p>
          <a:p>
            <a:pPr marL="285750" indent="-285750">
              <a:buClr>
                <a:schemeClr val="accent1"/>
              </a:buClr>
              <a:buFont typeface="Arial" panose="020B0604020202020204" pitchFamily="34" charset="0"/>
              <a:buChar char="•"/>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872834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dirty="0"/>
              <a:t>Creates tables at target database</a:t>
            </a:r>
          </a:p>
          <a:p>
            <a:pPr lvl="0"/>
            <a:r>
              <a:rPr lang="en-US" sz="1400" dirty="0"/>
              <a:t>Sets up metadata required at target</a:t>
            </a:r>
          </a:p>
          <a:p>
            <a:pPr lvl="0"/>
            <a:r>
              <a:rPr lang="en-US" sz="1400" dirty="0"/>
              <a:t>Populates data from source</a:t>
            </a:r>
          </a:p>
          <a:p>
            <a:pPr lvl="0"/>
            <a:r>
              <a:rPr lang="en-US" sz="1400" dirty="0"/>
              <a:t>Each process loads one entire table</a:t>
            </a:r>
          </a:p>
          <a:p>
            <a:pPr lvl="0"/>
            <a:r>
              <a:rPr lang="en-US" sz="1400" dirty="0"/>
              <a:t>Can use multiple processes</a:t>
            </a:r>
          </a:p>
          <a:p>
            <a:pPr lvl="0"/>
            <a:r>
              <a:rPr lang="en-US" sz="1400" dirty="0"/>
              <a:t>Can be paused </a:t>
            </a:r>
          </a:p>
          <a:p>
            <a:pPr lvl="1">
              <a:buClr>
                <a:schemeClr val="accent5"/>
              </a:buClr>
              <a:buFont typeface="Wingdings" panose="05000000000000000000" pitchFamily="2" charset="2"/>
              <a:buChar char="§"/>
            </a:pPr>
            <a:r>
              <a:rPr lang="en-US" sz="1400" dirty="0"/>
              <a:t>When restarted will continue from where it was stopped</a:t>
            </a:r>
          </a:p>
          <a:p>
            <a:pPr lvl="1">
              <a:buClr>
                <a:schemeClr val="accent5"/>
              </a:buClr>
              <a:buFont typeface="Wingdings" panose="05000000000000000000" pitchFamily="2" charset="2"/>
              <a:buChar char="§"/>
            </a:pPr>
            <a:r>
              <a:rPr lang="en-US" sz="1400" dirty="0"/>
              <a:t>Will </a:t>
            </a:r>
            <a:r>
              <a:rPr lang="en-US" sz="1400" i="1" dirty="0"/>
              <a:t>reload</a:t>
            </a:r>
            <a:r>
              <a:rPr lang="en-US" sz="1400" dirty="0"/>
              <a:t> any tables that were currently in progress</a:t>
            </a:r>
          </a:p>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0418951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Oracle supplemental logging</a:t>
            </a:r>
          </a:p>
          <a:p>
            <a:r>
              <a:rPr lang="en-US" sz="1400" dirty="0"/>
              <a:t>MySQL row-level bin logging</a:t>
            </a:r>
          </a:p>
          <a:p>
            <a:r>
              <a:rPr lang="en-US" sz="1400" dirty="0"/>
              <a:t>SQL Server bulk logged/full recovery</a:t>
            </a:r>
          </a:p>
          <a:p>
            <a:r>
              <a:rPr lang="en-US" sz="1400" dirty="0"/>
              <a:t>Postgres WAL</a:t>
            </a:r>
          </a:p>
          <a:p>
            <a:endParaRPr lang="en-US" sz="1400" dirty="0"/>
          </a:p>
          <a:p>
            <a:r>
              <a:rPr lang="en-US" sz="1400" dirty="0"/>
              <a:t>No agent</a:t>
            </a:r>
          </a:p>
          <a:p>
            <a:r>
              <a:rPr lang="en-US" sz="1400" dirty="0"/>
              <a:t>Uses recovery log</a:t>
            </a:r>
          </a:p>
          <a:p>
            <a:r>
              <a:rPr lang="en-US" sz="1400" dirty="0"/>
              <a:t>Native</a:t>
            </a:r>
            <a:r>
              <a:rPr lang="en-US" sz="1400" baseline="0" dirty="0"/>
              <a:t> change data capture API</a:t>
            </a:r>
            <a:endParaRPr lang="en-US" sz="1400" dirty="0"/>
          </a:p>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4618676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Initial Load is table-by-table</a:t>
            </a:r>
          </a:p>
          <a:p>
            <a:pPr marL="285750" indent="-285750">
              <a:buClr>
                <a:schemeClr val="accent1"/>
              </a:buClr>
              <a:buFont typeface="Arial" panose="020B0604020202020204" pitchFamily="34" charset="0"/>
              <a:buChar char="•"/>
            </a:pPr>
            <a:r>
              <a:rPr lang="en-US" sz="1600" b="0" i="0" kern="1200" dirty="0">
                <a:solidFill>
                  <a:schemeClr val="tx1"/>
                </a:solidFill>
                <a:effectLst/>
                <a:latin typeface="Amazon Ember Regular" charset="0"/>
                <a:ea typeface="+mn-ea"/>
                <a:cs typeface="+mn-cs"/>
              </a:rPr>
              <a:t>DMS RI need to be properly scaled for the amount of work</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564332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3349217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Some</a:t>
            </a:r>
            <a:r>
              <a:rPr lang="en-US" sz="1400" baseline="0" dirty="0"/>
              <a:t> organizations have many years of historical data, and for those that are willing to make the leap, filtering can be done during a migration so that only newer information is kept. Filtering can be done on any field in the source database–not just dates.</a:t>
            </a:r>
            <a:endParaRPr lang="en-US" sz="1400" dirty="0"/>
          </a:p>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7631963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So</a:t>
            </a:r>
            <a:r>
              <a:rPr lang="en-US" sz="1400" baseline="0" dirty="0"/>
              <a:t> by now it should be pretty obvious that data can move from A to B, and many have used DMS to do just that. Some customers have been pretty ingenious with DMS and have fanned in, or consolidated systems. DMS will put data where you ask it to, so if you want to merge data from a number of legacy systems into a single repository, DMS can help with this. And remember, DMS can just as easily move data between like databases and unlike databases, so you can take information from a number of different platforms and consolidate it in a single, cloud database.</a:t>
            </a:r>
            <a:endParaRPr lang="en-US" sz="1400" dirty="0"/>
          </a:p>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573946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In addition to “fanning-in” or consolidating, </a:t>
            </a:r>
            <a:r>
              <a:rPr lang="en-US" sz="1400" baseline="0" dirty="0"/>
              <a:t> we’ve had a customer who has taken their database and “fanned-out” different portions to different targets. For example, from their ERP system they replicate they customer list out to the CRM system and also take some of the general ledger transactions and funnel them over to a BI system.</a:t>
            </a:r>
          </a:p>
          <a:p>
            <a:endParaRPr lang="en-US" sz="1400" baseline="0" dirty="0"/>
          </a:p>
          <a:p>
            <a:r>
              <a:rPr lang="en-US" sz="1400" baseline="0" dirty="0"/>
              <a:t>We’ve also had a customer who, for legacy reasons, used a single database for three different applications. With DMS you can split this information out to different databases. One could be PostgreSQL, one SQL Server, and one Aurora</a:t>
            </a:r>
            <a:endParaRPr lang="en-US" sz="1400" dirty="0"/>
          </a:p>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1896078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Server version – The migration approach should be lift and shift and then upgrade</a:t>
            </a:r>
            <a:r>
              <a:rPr lang="en-US" baseline="0" dirty="0"/>
              <a:t> SQL Server version. </a:t>
            </a:r>
            <a:endParaRPr lang="en-US" dirty="0"/>
          </a:p>
          <a:p>
            <a:r>
              <a:rPr lang="en-US" dirty="0"/>
              <a:t>Amount of data – If you have a large quantity of data, leverage things like multi-part uploads to S3 or Snowball.</a:t>
            </a:r>
          </a:p>
          <a:p>
            <a:r>
              <a:rPr lang="en-US" dirty="0"/>
              <a:t>Connectivity to AWS – Connectivity to AWS will impact the amount of time it takes to migrate your data.</a:t>
            </a:r>
          </a:p>
          <a:p>
            <a:r>
              <a:rPr lang="en-US" dirty="0"/>
              <a:t>Migration Method – Will you have a hybrid configuration, staged migration, or cutover migration?  Something important to identify.</a:t>
            </a:r>
          </a:p>
          <a:p>
            <a:r>
              <a:rPr lang="en-US" dirty="0"/>
              <a:t>Authentication – Do you need Windows or SQL authentication for your application?  If it is Windows authentication, what is your Active Directory Domain strategy?</a:t>
            </a:r>
          </a:p>
          <a:p>
            <a:r>
              <a:rPr lang="en-US" dirty="0"/>
              <a:t>AWS Service Integrations – As we have seen in this presentation, one can integrate SQL Server with many AWS Services.  Identify which services will add the most value to your solution and organization.</a:t>
            </a:r>
          </a:p>
          <a:p>
            <a:endParaRPr lang="en-US" dirty="0"/>
          </a:p>
        </p:txBody>
      </p:sp>
      <p:sp>
        <p:nvSpPr>
          <p:cNvPr id="4" name="Header Placeholder 3"/>
          <p:cNvSpPr>
            <a:spLocks noGrp="1"/>
          </p:cNvSpPr>
          <p:nvPr>
            <p:ph type="hdr" sz="quarter" idx="10"/>
          </p:nvPr>
        </p:nvSpPr>
        <p:spPr/>
        <p:txBody>
          <a:bodyPr/>
          <a:lstStyle/>
          <a:p>
            <a:r>
              <a:rPr lang="en-US"/>
              <a:t>ReInvent 2018</a:t>
            </a:r>
            <a:endParaRPr lang="en-US" dirty="0"/>
          </a:p>
        </p:txBody>
      </p:sp>
      <p:sp>
        <p:nvSpPr>
          <p:cNvPr id="5" name="Footer Placeholder 4"/>
          <p:cNvSpPr>
            <a:spLocks noGrp="1"/>
          </p:cNvSpPr>
          <p:nvPr>
            <p:ph type="ftr" sz="quarter" idx="11"/>
          </p:nvPr>
        </p:nvSpPr>
        <p:spPr/>
        <p:txBody>
          <a:bodyPr/>
          <a:lstStyle/>
          <a:p>
            <a:r>
              <a:rPr lang="en-US" altLang="x-none" sz="700">
                <a:solidFill>
                  <a:srgbClr val="282828"/>
                </a:solidFill>
                <a:latin typeface="Amazon Ember" charset="0"/>
                <a:ea typeface="Amazon Ember" charset="0"/>
                <a:cs typeface="Amazon Ember" charset="0"/>
              </a:rPr>
              <a:t>© 2018, Amazon Web Services, Inc. or its Affiliates. All rights reserved.</a:t>
            </a:r>
            <a:endParaRPr lang="en-US" altLang="x-none" sz="700" dirty="0">
              <a:solidFill>
                <a:srgbClr val="282828"/>
              </a:solidFill>
              <a:latin typeface="Amazon Ember" charset="0"/>
              <a:ea typeface="Amazon Ember" charset="0"/>
              <a:cs typeface="Amazon Ember" charset="0"/>
            </a:endParaRPr>
          </a:p>
        </p:txBody>
      </p:sp>
      <p:sp>
        <p:nvSpPr>
          <p:cNvPr id="6" name="Date Placeholder 5"/>
          <p:cNvSpPr>
            <a:spLocks noGrp="1"/>
          </p:cNvSpPr>
          <p:nvPr>
            <p:ph type="dt" idx="12"/>
          </p:nvPr>
        </p:nvSpPr>
        <p:spPr/>
        <p:txBody>
          <a:bodyPr/>
          <a:lstStyle/>
          <a:p>
            <a:fld id="{CA8E1BB1-B036-4140-B110-296DC0701D04}" type="datetime8">
              <a:rPr lang="en-US" smtClean="0"/>
              <a:pPr/>
              <a:t>2/20/2020 9:04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51</a:t>
            </a:fld>
            <a:endParaRPr lang="en-US" dirty="0"/>
          </a:p>
        </p:txBody>
      </p:sp>
    </p:spTree>
    <p:extLst>
      <p:ext uri="{BB962C8B-B14F-4D97-AF65-F5344CB8AC3E}">
        <p14:creationId xmlns:p14="http://schemas.microsoft.com/office/powerpoint/2010/main" val="17250430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bg1"/>
                </a:solidFill>
              </a:rPr>
              <a:t>5x throughput of standard MySQL and 3x of standard PostgreSQL; scale-out up to 15 read replicas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bg1"/>
                </a:solidFill>
              </a:rPr>
              <a:t>Fault-tolerant, self-healing storage; six copies of data across three AZs; continuous backup to S3</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bg1"/>
                </a:solidFill>
              </a:rPr>
              <a:t>Network isolation, encryption at rest/transit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chemeClr val="bg1"/>
                </a:solidFill>
              </a:rPr>
              <a:t>Managed by RDS: no hardware provisioning, software patching, setup, configuration or backups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chemeClr val="bg1"/>
              </a:solidFil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chemeClr val="bg1"/>
              </a:solidFill>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53</a:t>
            </a:fld>
            <a:endParaRPr lang="en-US" dirty="0"/>
          </a:p>
        </p:txBody>
      </p:sp>
    </p:spTree>
    <p:extLst>
      <p:ext uri="{BB962C8B-B14F-4D97-AF65-F5344CB8AC3E}">
        <p14:creationId xmlns:p14="http://schemas.microsoft.com/office/powerpoint/2010/main" val="38761395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ReInvent 2018</a:t>
            </a:r>
            <a:endParaRPr lang="en-US" dirty="0"/>
          </a:p>
        </p:txBody>
      </p:sp>
      <p:sp>
        <p:nvSpPr>
          <p:cNvPr id="5" name="Footer Placeholder 4"/>
          <p:cNvSpPr>
            <a:spLocks noGrp="1"/>
          </p:cNvSpPr>
          <p:nvPr>
            <p:ph type="ftr" sz="quarter" idx="11"/>
          </p:nvPr>
        </p:nvSpPr>
        <p:spPr/>
        <p:txBody>
          <a:bodyPr/>
          <a:lstStyle/>
          <a:p>
            <a:r>
              <a:rPr lang="en-US" altLang="x-none" sz="700">
                <a:solidFill>
                  <a:srgbClr val="282828"/>
                </a:solidFill>
                <a:latin typeface="Amazon Ember" charset="0"/>
                <a:ea typeface="Amazon Ember" charset="0"/>
                <a:cs typeface="Amazon Ember" charset="0"/>
              </a:rPr>
              <a:t>© 2018, Amazon Web Services, Inc. or its Affiliates. All rights reserved.</a:t>
            </a:r>
            <a:endParaRPr lang="en-US" altLang="x-none" sz="700" dirty="0">
              <a:solidFill>
                <a:srgbClr val="282828"/>
              </a:solidFill>
              <a:latin typeface="Amazon Ember" charset="0"/>
              <a:ea typeface="Amazon Ember" charset="0"/>
              <a:cs typeface="Amazon Ember" charset="0"/>
            </a:endParaRPr>
          </a:p>
        </p:txBody>
      </p:sp>
      <p:sp>
        <p:nvSpPr>
          <p:cNvPr id="6" name="Date Placeholder 5"/>
          <p:cNvSpPr>
            <a:spLocks noGrp="1"/>
          </p:cNvSpPr>
          <p:nvPr>
            <p:ph type="dt" idx="12"/>
          </p:nvPr>
        </p:nvSpPr>
        <p:spPr/>
        <p:txBody>
          <a:bodyPr/>
          <a:lstStyle/>
          <a:p>
            <a:fld id="{CA8E1BB1-B036-4140-B110-296DC0701D04}" type="datetime8">
              <a:rPr lang="en-US" smtClean="0"/>
              <a:pPr/>
              <a:t>2/20/2020 9:04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54</a:t>
            </a:fld>
            <a:endParaRPr lang="en-US" dirty="0"/>
          </a:p>
        </p:txBody>
      </p:sp>
    </p:spTree>
    <p:extLst>
      <p:ext uri="{BB962C8B-B14F-4D97-AF65-F5344CB8AC3E}">
        <p14:creationId xmlns:p14="http://schemas.microsoft.com/office/powerpoint/2010/main" val="33929402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ReInvent 2018</a:t>
            </a:r>
            <a:endParaRPr lang="en-US" dirty="0"/>
          </a:p>
        </p:txBody>
      </p:sp>
      <p:sp>
        <p:nvSpPr>
          <p:cNvPr id="5" name="Footer Placeholder 4"/>
          <p:cNvSpPr>
            <a:spLocks noGrp="1"/>
          </p:cNvSpPr>
          <p:nvPr>
            <p:ph type="ftr" sz="quarter" idx="11"/>
          </p:nvPr>
        </p:nvSpPr>
        <p:spPr/>
        <p:txBody>
          <a:bodyPr/>
          <a:lstStyle/>
          <a:p>
            <a:r>
              <a:rPr lang="en-US" altLang="x-none" sz="700">
                <a:solidFill>
                  <a:srgbClr val="282828"/>
                </a:solidFill>
                <a:latin typeface="Amazon Ember" charset="0"/>
                <a:ea typeface="Amazon Ember" charset="0"/>
                <a:cs typeface="Amazon Ember" charset="0"/>
              </a:rPr>
              <a:t>© 2018, Amazon Web Services, Inc. or its Affiliates. All rights reserved.</a:t>
            </a:r>
            <a:endParaRPr lang="en-US" altLang="x-none" sz="700" dirty="0">
              <a:solidFill>
                <a:srgbClr val="282828"/>
              </a:solidFill>
              <a:latin typeface="Amazon Ember" charset="0"/>
              <a:ea typeface="Amazon Ember" charset="0"/>
              <a:cs typeface="Amazon Ember" charset="0"/>
            </a:endParaRPr>
          </a:p>
        </p:txBody>
      </p:sp>
      <p:sp>
        <p:nvSpPr>
          <p:cNvPr id="6" name="Date Placeholder 5"/>
          <p:cNvSpPr>
            <a:spLocks noGrp="1"/>
          </p:cNvSpPr>
          <p:nvPr>
            <p:ph type="dt" idx="12"/>
          </p:nvPr>
        </p:nvSpPr>
        <p:spPr/>
        <p:txBody>
          <a:bodyPr/>
          <a:lstStyle/>
          <a:p>
            <a:fld id="{CA8E1BB1-B036-4140-B110-296DC0701D04}" type="datetime8">
              <a:rPr lang="en-US" smtClean="0"/>
              <a:pPr/>
              <a:t>2/20/2020 9:04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55</a:t>
            </a:fld>
            <a:endParaRPr lang="en-US" dirty="0"/>
          </a:p>
        </p:txBody>
      </p:sp>
    </p:spTree>
    <p:extLst>
      <p:ext uri="{BB962C8B-B14F-4D97-AF65-F5344CB8AC3E}">
        <p14:creationId xmlns:p14="http://schemas.microsoft.com/office/powerpoint/2010/main" val="3342805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7085301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Clr>
                <a:schemeClr val="accent1"/>
              </a:buClr>
              <a:buFont typeface="Arial" panose="020B0604020202020204" pitchFamily="34" charset="0"/>
              <a:buNone/>
            </a:pPr>
            <a:endParaRPr lang="en-US" sz="16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1549247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dirty="0"/>
              <a:t>AWS </a:t>
            </a:r>
            <a:r>
              <a:rPr lang="en-US" sz="1600" b="1" i="1" dirty="0"/>
              <a:t>Quick Starts </a:t>
            </a:r>
            <a:r>
              <a:rPr lang="en-US" sz="1600" b="0" dirty="0"/>
              <a:t>provide </a:t>
            </a:r>
            <a:r>
              <a:rPr lang="en-US" sz="1600" b="1" i="1" dirty="0"/>
              <a:t>Automated</a:t>
            </a:r>
            <a:r>
              <a:rPr lang="en-US" sz="1600" b="0" dirty="0"/>
              <a:t>, </a:t>
            </a:r>
            <a:r>
              <a:rPr lang="en-US" sz="1600" b="1" i="1" dirty="0"/>
              <a:t>gold-standard deployments </a:t>
            </a:r>
            <a:r>
              <a:rPr lang="en-US" sz="1600" b="0" dirty="0"/>
              <a:t>in the AWS Cloud</a:t>
            </a:r>
          </a:p>
          <a:p>
            <a:r>
              <a:rPr lang="en-US" sz="1600" b="1" dirty="0"/>
              <a:t>https://aws.amazon.com/quickstart/</a:t>
            </a:r>
          </a:p>
        </p:txBody>
      </p:sp>
      <p:sp>
        <p:nvSpPr>
          <p:cNvPr id="4" name="Slide Number Placeholder 3"/>
          <p:cNvSpPr>
            <a:spLocks noGrp="1"/>
          </p:cNvSpPr>
          <p:nvPr>
            <p:ph type="sldNum" sz="quarter" idx="10"/>
          </p:nvPr>
        </p:nvSpPr>
        <p:spPr/>
        <p:txBody>
          <a:bodyPr/>
          <a:lstStyle/>
          <a:p>
            <a:fld id="{69C3F2ED-74C5-7D4F-8560-0CC253E9A436}" type="slidenum">
              <a:rPr lang="en-US" smtClean="0"/>
              <a:pPr/>
              <a:t>59</a:t>
            </a:fld>
            <a:endParaRPr lang="en-US" dirty="0"/>
          </a:p>
        </p:txBody>
      </p:sp>
    </p:spTree>
    <p:extLst>
      <p:ext uri="{BB962C8B-B14F-4D97-AF65-F5344CB8AC3E}">
        <p14:creationId xmlns:p14="http://schemas.microsoft.com/office/powerpoint/2010/main" val="35582540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60</a:t>
            </a:fld>
            <a:endParaRPr lang="en-US" dirty="0"/>
          </a:p>
        </p:txBody>
      </p:sp>
    </p:spTree>
    <p:extLst>
      <p:ext uri="{BB962C8B-B14F-4D97-AF65-F5344CB8AC3E}">
        <p14:creationId xmlns:p14="http://schemas.microsoft.com/office/powerpoint/2010/main" val="28392369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a:t>
            </a:r>
            <a:r>
              <a:rPr lang="en-US" baseline="0" dirty="0"/>
              <a:t> other cloud platform offers flexible cost optimization choices for customers than AWS. We’ll dive into each option that best fits your needs. </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Bring your own licenses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you have already purchased Microsoft licenses, you can bring your own licenses (BYOL) to AWS. The BYOL approach allows you to capitalize on both your existing license investments and all the benefits of running Microsoft workloads on AWS. There are two ways to bring your licenses to AWS: by running your Windows workloads on Amazon EC2 Dedicated Infrastructure (EC2 Dedicated Hosts and EC2 Dedicated Instances), or by using Microsoft License Mobility through Software Assurance on shared or default tenant EC2. It is important to note that if you choose to bring your own licenses to AWS, you are responsible for ensuring you follow the stipulations of your licensing agreement with Microsoft. If you have questions about your licensing or rights to Microsoft software, please consult your legal team, Microsoft (including the Microsoft product terms), or your Microsoft reseller.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 License Mobility through Software Assurance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you have active Software Assurance for eligible Microsoft software, you can take advantage of your existing Microsoft license investments to move to shared or default tenant EC2. You can use AWS VM Import to bring virtual machine images from your on-premises environment to AWS, including both Microsoft software licenses and virtual machine configurations. Customers who wish to use license mobility can purchase Amazon EC2 instances with licensed Microsoft Windows Server pre-installed and bring existing licenses for products like Microsoft SQL Server, Microsoft SharePoint, and more.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Dedicated Options for licenses not eligible for License Mobility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Amazon EC2 Dedicated Hosts and EC2 Dedicated Instances give you access to hardware that's fully dedicated for your use. This allows you to use your own licensed Microsoft software, including Microsoft Windows Server, on dedicated infrastructure, even without Software Assurance. Amazon EC2 Dedicated Hosts and Dedicated Instances may also enable you to use an active MSDN subscription on AWS for development and testing.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Microsoft@amazon.com – for all licensing questions</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20392939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kern="1200" dirty="0">
                <a:solidFill>
                  <a:schemeClr val="tx1"/>
                </a:solidFill>
                <a:effectLst/>
                <a:latin typeface="Arial"/>
                <a:ea typeface="+mn-ea"/>
                <a:cs typeface="+mn-cs"/>
              </a:rPr>
              <a:t>[INTERNAL</a:t>
            </a:r>
            <a:r>
              <a:rPr lang="en-US" sz="1200" kern="1200" baseline="0" dirty="0">
                <a:solidFill>
                  <a:schemeClr val="tx1"/>
                </a:solidFill>
                <a:effectLst/>
                <a:latin typeface="Arial"/>
                <a:ea typeface="+mn-ea"/>
                <a:cs typeface="+mn-cs"/>
              </a:rPr>
              <a:t> NOTES] </a:t>
            </a:r>
            <a:r>
              <a:rPr lang="en-US" sz="1200" kern="1200" dirty="0">
                <a:solidFill>
                  <a:schemeClr val="tx1"/>
                </a:solidFill>
                <a:effectLst/>
                <a:latin typeface="Arial"/>
                <a:ea typeface="+mn-ea"/>
                <a:cs typeface="+mn-cs"/>
              </a:rPr>
              <a:t>DB workloads and</a:t>
            </a:r>
            <a:r>
              <a:rPr lang="en-US" sz="1200" kern="1200" baseline="0" dirty="0">
                <a:solidFill>
                  <a:schemeClr val="tx1"/>
                </a:solidFill>
                <a:effectLst/>
                <a:latin typeface="Arial"/>
                <a:ea typeface="+mn-ea"/>
                <a:cs typeface="+mn-cs"/>
              </a:rPr>
              <a:t> enterprise workloads like SQL Server, Oracle and IBM</a:t>
            </a:r>
            <a:r>
              <a:rPr lang="en-US" sz="1200" kern="1200" dirty="0">
                <a:solidFill>
                  <a:schemeClr val="tx1"/>
                </a:solidFill>
                <a:effectLst/>
                <a:latin typeface="Arial"/>
                <a:ea typeface="+mn-ea"/>
                <a:cs typeface="+mn-cs"/>
              </a:rPr>
              <a:t> that require a lot of RAM and not compute-bound</a:t>
            </a:r>
            <a:r>
              <a:rPr lang="en-US" sz="1200" kern="1200" baseline="0" dirty="0">
                <a:solidFill>
                  <a:schemeClr val="tx1"/>
                </a:solidFill>
                <a:effectLst/>
                <a:latin typeface="Arial"/>
                <a:ea typeface="+mn-ea"/>
                <a:cs typeface="+mn-cs"/>
              </a:rPr>
              <a:t> can help customers optimize costs. Your customer should use Optimize CPUs if they are BYOL and:</a:t>
            </a:r>
          </a:p>
          <a:p>
            <a:pPr marL="0" indent="0">
              <a:buFont typeface="Arial" panose="020B0604020202020204" pitchFamily="34" charset="0"/>
              <a:buNone/>
            </a:pPr>
            <a:endParaRPr lang="en-US" sz="1200" kern="1200" baseline="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414042"/>
                </a:solidFill>
                <a:latin typeface="Amazon Ember Regular"/>
              </a:rPr>
              <a:t>Customize your EC2 instance for workload’s performance needs</a:t>
            </a:r>
            <a:endParaRPr lang="en-US" sz="1400" dirty="0">
              <a:solidFill>
                <a:srgbClr val="414042"/>
              </a:solidFill>
              <a:latin typeface="Amazon Ember Regular"/>
            </a:endParaRPr>
          </a:p>
          <a:p>
            <a:pPr marL="0" indent="0">
              <a:buFont typeface="Arial" panose="020B0604020202020204" pitchFamily="34" charset="0"/>
              <a:buNone/>
            </a:pP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r>
              <a:rPr lang="en-US" sz="1200" kern="1200" baseline="0" dirty="0">
                <a:solidFill>
                  <a:schemeClr val="tx1"/>
                </a:solidFill>
                <a:effectLst/>
                <a:latin typeface="Arial"/>
                <a:ea typeface="+mn-ea"/>
                <a:cs typeface="+mn-cs"/>
              </a:rPr>
              <a:t>1. They are running EC2 workloads that are not compute bound and are incurring vCPU-based licensing costs. By launching instances with custom number of vCPUs you may be able to optimize your licensing spend.</a:t>
            </a:r>
          </a:p>
          <a:p>
            <a:pPr marL="0" indent="0">
              <a:buFont typeface="Arial" panose="020B0604020202020204" pitchFamily="34" charset="0"/>
              <a:buNone/>
            </a:pPr>
            <a:r>
              <a:rPr lang="en-US" sz="1200" kern="1200" baseline="0" dirty="0">
                <a:solidFill>
                  <a:schemeClr val="tx1"/>
                </a:solidFill>
                <a:effectLst/>
                <a:latin typeface="Arial"/>
                <a:ea typeface="+mn-ea"/>
                <a:cs typeface="+mn-cs"/>
              </a:rPr>
              <a:t>2. If they are running workloads that will benefit from disabling hyper-threading on EC2 instances.</a:t>
            </a:r>
          </a:p>
          <a:p>
            <a:pPr marL="0" indent="0">
              <a:buFont typeface="Arial" panose="020B0604020202020204" pitchFamily="34" charset="0"/>
              <a:buNone/>
            </a:pP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r>
              <a:rPr lang="en-US" sz="1200" kern="1200" baseline="0" dirty="0">
                <a:solidFill>
                  <a:schemeClr val="tx1"/>
                </a:solidFill>
                <a:effectLst/>
                <a:latin typeface="Arial"/>
                <a:ea typeface="+mn-ea"/>
                <a:cs typeface="+mn-cs"/>
              </a:rPr>
              <a:t>----------------------------------------------------------------------------------------------------------------------------------------------------------------------------------------------</a:t>
            </a:r>
          </a:p>
          <a:p>
            <a:pPr marL="0" indent="0">
              <a:buFont typeface="Arial" panose="020B0604020202020204" pitchFamily="34" charset="0"/>
              <a:buNone/>
            </a:pP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r>
              <a:rPr lang="en-US" sz="1200" kern="1200" dirty="0">
                <a:solidFill>
                  <a:schemeClr val="tx1"/>
                </a:solidFill>
                <a:effectLst/>
                <a:latin typeface="Arial"/>
                <a:ea typeface="+mn-ea"/>
                <a:cs typeface="+mn-cs"/>
              </a:rPr>
              <a:t>AWS provides</a:t>
            </a:r>
            <a:r>
              <a:rPr lang="en-US" sz="1200" kern="1200" baseline="0" dirty="0">
                <a:solidFill>
                  <a:schemeClr val="tx1"/>
                </a:solidFill>
                <a:effectLst/>
                <a:latin typeface="Arial"/>
                <a:ea typeface="+mn-ea"/>
                <a:cs typeface="+mn-cs"/>
              </a:rPr>
              <a:t> you a wide variety of instance types and families that best meet your workload needs. </a:t>
            </a:r>
          </a:p>
          <a:p>
            <a:pPr marL="0" indent="0">
              <a:buFont typeface="Arial" panose="020B0604020202020204" pitchFamily="34" charset="0"/>
              <a:buNone/>
            </a:pPr>
            <a:endParaRPr lang="en-US" sz="1200" kern="1200" baseline="0" dirty="0">
              <a:solidFill>
                <a:schemeClr val="tx1"/>
              </a:solidFill>
              <a:effectLst/>
              <a:latin typeface="Arial"/>
              <a:ea typeface="+mn-ea"/>
              <a:cs typeface="+mn-cs"/>
            </a:endParaRPr>
          </a:p>
          <a:p>
            <a:pPr marL="171450" indent="-171450">
              <a:spcBef>
                <a:spcPts val="1350"/>
              </a:spcBef>
              <a:buFont typeface="Arial" panose="020B0604020202020204" pitchFamily="34" charset="0"/>
              <a:buChar char="•"/>
            </a:pPr>
            <a:r>
              <a:rPr lang="en-US" sz="1200" dirty="0">
                <a:solidFill>
                  <a:srgbClr val="414042"/>
                </a:solidFill>
                <a:latin typeface="Amazon Ember Regular"/>
              </a:rPr>
              <a:t>Specify active vCPUs when launching new EC2 instances (hyper-threading feature detail on next slide)</a:t>
            </a:r>
          </a:p>
          <a:p>
            <a:pPr marL="628650" lvl="1" indent="-171450">
              <a:spcBef>
                <a:spcPts val="1350"/>
              </a:spcBef>
              <a:buFont typeface="Arial" panose="020B0604020202020204" pitchFamily="34" charset="0"/>
              <a:buChar char="•"/>
            </a:pPr>
            <a:r>
              <a:rPr lang="en-US" sz="1200" dirty="0">
                <a:solidFill>
                  <a:srgbClr val="414042"/>
                </a:solidFill>
                <a:latin typeface="Amazon Ember Regular"/>
              </a:rPr>
              <a:t>Reduce the number of SQL Server Licenses. Save on SQL Server Licensing Cost.</a:t>
            </a:r>
          </a:p>
          <a:p>
            <a:pPr marL="628650" lvl="1" indent="-171450">
              <a:spcBef>
                <a:spcPts val="1350"/>
              </a:spcBef>
              <a:buFont typeface="Arial" panose="020B0604020202020204" pitchFamily="34" charset="0"/>
              <a:buChar char="•"/>
            </a:pPr>
            <a:r>
              <a:rPr lang="en-US" sz="1200" dirty="0">
                <a:solidFill>
                  <a:srgbClr val="414042"/>
                </a:solidFill>
                <a:latin typeface="Amazon Ember Regular"/>
              </a:rPr>
              <a:t>Customize your EC2 instance for workload’s performance needs and license savings</a:t>
            </a:r>
          </a:p>
          <a:p>
            <a:pPr marL="0" indent="0">
              <a:spcBef>
                <a:spcPts val="1350"/>
              </a:spcBef>
              <a:buFont typeface="Arial" panose="020B0604020202020204" pitchFamily="34" charset="0"/>
              <a:buNone/>
            </a:pP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r>
              <a:rPr lang="en-US" sz="1200" kern="1200" dirty="0">
                <a:solidFill>
                  <a:schemeClr val="tx1"/>
                </a:solidFill>
                <a:effectLst/>
                <a:latin typeface="Arial"/>
                <a:ea typeface="+mn-ea"/>
                <a:cs typeface="+mn-cs"/>
              </a:rPr>
              <a:t>Optimize CPUs for EC2 Instances allows you to specify custom number of vCPUs for BYOL license optimization. Optimize CPUs gives you greater control of your EC2 instances on two fronts. First customers can specify a custom number of vCPUs when launching new instances to save on vCPU-based licensing costs. Second they can disable Intel(r) Hyper-Threading Technology (Intel(r) HT Technology) for workloads that perform well with single-threaded CPUs, such as certain high-performance computing (HPC) applications.</a:t>
            </a:r>
            <a:endParaRPr lang="en-US" sz="1200" kern="1200" baseline="0" dirty="0">
              <a:solidFill>
                <a:schemeClr val="tx1"/>
              </a:solidFill>
              <a:effectLst/>
              <a:latin typeface="Arial"/>
              <a:ea typeface="+mn-ea"/>
              <a:cs typeface="+mn-cs"/>
            </a:endParaRPr>
          </a:p>
          <a:p>
            <a:pPr marL="0" lvl="0" indent="0">
              <a:buFont typeface="Arial" panose="020B0604020202020204" pitchFamily="34" charset="0"/>
              <a:buNone/>
            </a:pPr>
            <a:endParaRPr lang="en-US" sz="1200" kern="1200" dirty="0">
              <a:solidFill>
                <a:schemeClr val="tx1"/>
              </a:solidFill>
              <a:effectLst/>
              <a:latin typeface="Arial"/>
              <a:ea typeface="+mn-ea"/>
              <a:cs typeface="+mn-cs"/>
            </a:endParaRPr>
          </a:p>
          <a:p>
            <a:endParaRPr lang="en-US" sz="1200" kern="1200" dirty="0">
              <a:solidFill>
                <a:schemeClr val="tx1"/>
              </a:solidFill>
              <a:effectLst/>
              <a:latin typeface="Arial"/>
              <a:ea typeface="+mn-ea"/>
              <a:cs typeface="+mn-cs"/>
            </a:endParaRPr>
          </a:p>
          <a:p>
            <a:r>
              <a:rPr lang="en-US" sz="1200" kern="1200" dirty="0">
                <a:solidFill>
                  <a:schemeClr val="tx1"/>
                </a:solidFill>
                <a:effectLst/>
                <a:latin typeface="Arial"/>
                <a:ea typeface="+mn-ea"/>
                <a:cs typeface="+mn-cs"/>
              </a:rPr>
              <a:t>For Microsoft SQL Server workloads licensed on a per core model, the Optimize CPU feature provides an alternate option to  significantly reduce the licensing cost by letting users choose active vCPUs. </a:t>
            </a:r>
          </a:p>
          <a:p>
            <a:r>
              <a:rPr lang="en-US" sz="1200" kern="1200" dirty="0">
                <a:solidFill>
                  <a:schemeClr val="tx1"/>
                </a:solidFill>
                <a:effectLst/>
                <a:latin typeface="Arial"/>
                <a:ea typeface="+mn-ea"/>
                <a:cs typeface="+mn-cs"/>
              </a:rPr>
              <a:t>For example, an r4.8xlarge instance has 32 vCPUs by default.  If you only want to use 8 vCPUs you can specify the vCPU count of 8 when you start the instance.  </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a:ea typeface="+mn-ea"/>
                <a:cs typeface="+mn-cs"/>
              </a:rPr>
              <a:t>You can use the AWS Management Console, AWS CLI or AWS SDK / APIs to view the instance properties, and determine the </a:t>
            </a:r>
            <a:r>
              <a:rPr lang="en-US" sz="1200" kern="1200" dirty="0" err="1">
                <a:solidFill>
                  <a:schemeClr val="tx1"/>
                </a:solidFill>
                <a:effectLst/>
                <a:latin typeface="Arial"/>
                <a:ea typeface="+mn-ea"/>
                <a:cs typeface="+mn-cs"/>
              </a:rPr>
              <a:t>vCPUCount</a:t>
            </a:r>
            <a:r>
              <a:rPr lang="en-US" sz="1200" kern="1200" dirty="0">
                <a:solidFill>
                  <a:schemeClr val="tx1"/>
                </a:solidFill>
                <a:effectLst/>
                <a:latin typeface="Arial"/>
                <a:ea typeface="+mn-ea"/>
                <a:cs typeface="+mn-cs"/>
              </a:rPr>
              <a:t> or </a:t>
            </a:r>
            <a:r>
              <a:rPr lang="en-US" sz="1200" kern="1200" dirty="0" err="1">
                <a:solidFill>
                  <a:schemeClr val="tx1"/>
                </a:solidFill>
                <a:effectLst/>
                <a:latin typeface="Arial"/>
                <a:ea typeface="+mn-ea"/>
                <a:cs typeface="+mn-cs"/>
              </a:rPr>
              <a:t>enableHTT</a:t>
            </a:r>
            <a:r>
              <a:rPr lang="en-US" sz="1200" kern="1200" dirty="0">
                <a:solidFill>
                  <a:schemeClr val="tx1"/>
                </a:solidFill>
                <a:effectLst/>
                <a:latin typeface="Arial"/>
                <a:ea typeface="+mn-ea"/>
                <a:cs typeface="+mn-cs"/>
              </a:rPr>
              <a:t> attribute value of the instance.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a:ea typeface="+mn-ea"/>
                <a:cs typeface="+mn-cs"/>
              </a:rPr>
              <a:t>Number of licenses required: When customers bring their SQL Server licenses to EC2 through license mobility (SA Required), the number of SQL Server cores required is based on the instance type and the number of active vCPUs available through Optimize CPUs.  When “Licensing by Individual Virtual OSE” on EC2, the number of SQL Server core licenses equals the number of active vCPUs through Optimize CPUs, subject to a minimum of four licenses.  Customers are responsible for complying with Microsoft licensing requirements when they bring licenses to EC2.</a:t>
            </a:r>
          </a:p>
          <a:p>
            <a:endParaRPr lang="en-US" dirty="0"/>
          </a:p>
          <a:p>
            <a:endParaRPr lang="en-US" sz="1200" dirty="0">
              <a:solidFill>
                <a:schemeClr val="tx1">
                  <a:lumMod val="65000"/>
                  <a:lumOff val="35000"/>
                </a:schemeClr>
              </a:solidFill>
            </a:endParaRPr>
          </a:p>
          <a:p>
            <a:pPr marL="0" indent="0">
              <a:buFont typeface="Arial" panose="020B0604020202020204" pitchFamily="34" charset="0"/>
              <a:buNone/>
            </a:pPr>
            <a:r>
              <a:rPr lang="en-US" sz="1200" kern="1200" baseline="0" dirty="0">
                <a:solidFill>
                  <a:schemeClr val="tx1"/>
                </a:solidFill>
                <a:effectLst/>
                <a:latin typeface="Arial"/>
                <a:ea typeface="+mn-ea"/>
                <a:cs typeface="+mn-cs"/>
              </a:rPr>
              <a:t>[INTERNAL]</a:t>
            </a:r>
          </a:p>
          <a:p>
            <a:pPr marL="0" indent="0">
              <a:buFont typeface="Arial" panose="020B0604020202020204" pitchFamily="34" charset="0"/>
              <a:buNone/>
            </a:pPr>
            <a:r>
              <a:rPr lang="en-US" sz="1200" kern="1200" baseline="0" dirty="0">
                <a:solidFill>
                  <a:schemeClr val="tx1"/>
                </a:solidFill>
                <a:effectLst/>
                <a:latin typeface="Arial"/>
                <a:ea typeface="+mn-ea"/>
                <a:cs typeface="+mn-cs"/>
              </a:rPr>
              <a:t>Cost savings example can be pulled from Simple Monthly Calculator</a:t>
            </a:r>
          </a:p>
          <a:p>
            <a:pPr marL="0" indent="0">
              <a:buFont typeface="Arial" panose="020B0604020202020204" pitchFamily="34" charset="0"/>
              <a:buNone/>
            </a:pPr>
            <a:r>
              <a:rPr lang="en-US" sz="1200" b="0" i="0" u="none" strike="noStrike" kern="1200" dirty="0">
                <a:solidFill>
                  <a:schemeClr val="tx1"/>
                </a:solidFill>
                <a:effectLst/>
                <a:latin typeface="Amazon Ember Regular" charset="0"/>
                <a:ea typeface="+mn-ea"/>
                <a:cs typeface="+mn-cs"/>
              </a:rPr>
              <a:t>https://calculator.s3.amazonaws.com/index.html</a:t>
            </a:r>
            <a:r>
              <a:rPr lang="en-US" dirty="0"/>
              <a:t> </a:t>
            </a:r>
            <a:r>
              <a:rPr lang="en-US" sz="1200" b="0" i="0" u="none" strike="noStrike" kern="1200" dirty="0">
                <a:solidFill>
                  <a:schemeClr val="tx1"/>
                </a:solidFill>
                <a:effectLst/>
                <a:latin typeface="Amazon Ember Regular" charset="0"/>
                <a:ea typeface="+mn-ea"/>
                <a:cs typeface="+mn-cs"/>
              </a:rPr>
              <a:t>Optimize vCPUs example</a:t>
            </a:r>
            <a:r>
              <a:rPr lang="en-US" dirty="0"/>
              <a:t> </a:t>
            </a: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r>
              <a:rPr lang="en-US" sz="1200" b="0" i="0" u="none" strike="noStrike" kern="1200" dirty="0">
                <a:solidFill>
                  <a:schemeClr val="tx1"/>
                </a:solidFill>
                <a:effectLst/>
                <a:latin typeface="Amazon Ember Regular" charset="0"/>
                <a:ea typeface="+mn-ea"/>
                <a:cs typeface="+mn-cs"/>
              </a:rPr>
              <a:t>* for Windows and Enterprise SQL Server; on-demand in US-East region</a:t>
            </a:r>
            <a:r>
              <a:rPr lang="en-US" dirty="0"/>
              <a:t> </a:t>
            </a:r>
            <a:endParaRPr lang="en-US" sz="1200" kern="1200" baseline="0" dirty="0">
              <a:solidFill>
                <a:schemeClr val="tx1"/>
              </a:solidFill>
              <a:effectLst/>
              <a:latin typeface="Arial"/>
              <a:ea typeface="+mn-ea"/>
              <a:cs typeface="+mn-cs"/>
            </a:endParaRPr>
          </a:p>
          <a:p>
            <a:pPr marL="0" indent="0">
              <a:buFont typeface="Arial" panose="020B0604020202020204" pitchFamily="34" charset="0"/>
              <a:buNone/>
            </a:pPr>
            <a:endParaRPr lang="en-US" sz="1200" kern="1200" dirty="0">
              <a:solidFill>
                <a:schemeClr val="tx1"/>
              </a:solidFill>
              <a:effectLst/>
              <a:latin typeface="Arial"/>
              <a:ea typeface="+mn-ea"/>
              <a:cs typeface="+mn-cs"/>
            </a:endParaRPr>
          </a:p>
          <a:p>
            <a:pPr marL="0" indent="0">
              <a:buFont typeface="Arial" panose="020B0604020202020204" pitchFamily="34" charset="0"/>
              <a:buNone/>
            </a:pPr>
            <a:r>
              <a:rPr lang="en-US" sz="1200" kern="1200" dirty="0">
                <a:solidFill>
                  <a:schemeClr val="tx1"/>
                </a:solidFill>
                <a:effectLst/>
                <a:latin typeface="Arial"/>
                <a:ea typeface="+mn-ea"/>
                <a:cs typeface="+mn-cs"/>
              </a:rPr>
              <a:t>EC2</a:t>
            </a:r>
            <a:r>
              <a:rPr lang="en-US" sz="1200" kern="1200" baseline="0" dirty="0">
                <a:solidFill>
                  <a:schemeClr val="tx1"/>
                </a:solidFill>
                <a:effectLst/>
                <a:latin typeface="Arial"/>
                <a:ea typeface="+mn-ea"/>
                <a:cs typeface="+mn-cs"/>
              </a:rPr>
              <a:t> Optimize CPUs FAQ: https://aws.amazon.com/ec2/faqs/</a:t>
            </a:r>
            <a:endParaRPr lang="en-US" sz="1200" kern="1200" dirty="0">
              <a:solidFill>
                <a:schemeClr val="tx1"/>
              </a:solidFill>
              <a:effectLst/>
              <a:latin typeface="Arial"/>
              <a:ea typeface="+mn-ea"/>
              <a:cs typeface="+mn-cs"/>
            </a:endParaRPr>
          </a:p>
          <a:p>
            <a:pPr marL="0" indent="0">
              <a:buFont typeface="Arial" panose="020B0604020202020204" pitchFamily="34" charset="0"/>
              <a:buNone/>
            </a:pPr>
            <a:r>
              <a:rPr lang="en-US" sz="1200" kern="1200" baseline="0" dirty="0">
                <a:solidFill>
                  <a:schemeClr val="tx1"/>
                </a:solidFill>
                <a:effectLst/>
                <a:latin typeface="Arial"/>
                <a:ea typeface="+mn-ea"/>
                <a:cs typeface="+mn-cs"/>
              </a:rPr>
              <a:t>What’s new link: https://aws.amazon.com/about-aws/whats-new/2018/05/introducing-optimize-cpus-for-amazon-ec2-instances/</a:t>
            </a:r>
          </a:p>
          <a:p>
            <a:pPr marL="0" indent="0">
              <a:buFont typeface="Arial" panose="020B0604020202020204" pitchFamily="34" charset="0"/>
              <a:buNone/>
            </a:pPr>
            <a:r>
              <a:rPr lang="en-US" sz="1200" kern="1200" baseline="0" dirty="0">
                <a:solidFill>
                  <a:schemeClr val="tx1"/>
                </a:solidFill>
                <a:effectLst/>
                <a:latin typeface="Arial"/>
                <a:ea typeface="+mn-ea"/>
                <a:cs typeface="+mn-cs"/>
              </a:rPr>
              <a:t>Documentation link to share with customers (technical): https://docs.aws.amazon.com/AWSEC2/latest/UserGuide/instance-optimize-cpu.html</a:t>
            </a:r>
          </a:p>
          <a:p>
            <a:pPr marL="0" indent="0">
              <a:buFont typeface="Arial" panose="020B0604020202020204" pitchFamily="34" charset="0"/>
              <a:buNone/>
            </a:pPr>
            <a:r>
              <a:rPr lang="en-US" sz="1200" kern="1200" baseline="0" dirty="0">
                <a:solidFill>
                  <a:schemeClr val="tx1"/>
                </a:solidFill>
                <a:effectLst/>
                <a:latin typeface="Arial"/>
                <a:ea typeface="+mn-ea"/>
                <a:cs typeface="+mn-cs"/>
              </a:rPr>
              <a:t>________________________________________________________________________________________________________________________________________________________________</a:t>
            </a:r>
          </a:p>
          <a:p>
            <a:pPr marL="0" indent="0">
              <a:buFont typeface="Arial" panose="020B0604020202020204" pitchFamily="34" charset="0"/>
              <a:buNone/>
            </a:pPr>
            <a:r>
              <a:rPr lang="en-US" sz="1200" kern="1200" dirty="0">
                <a:solidFill>
                  <a:schemeClr val="tx1"/>
                </a:solidFill>
                <a:effectLst/>
                <a:latin typeface="Arial"/>
                <a:ea typeface="+mn-ea"/>
                <a:cs typeface="+mn-cs"/>
              </a:rPr>
              <a:t>Optimize CPUs for EC2 Instances allows you to specify custom number of vCPUs for BYOL license optimization. Optimize CPUs gives you greater control of your EC2 instances on two fronts. First customers can specify a custom number of vCPUs when launching new instances to save on vCPU-based licensing costs. Second they can disable Intel(r) Hyper-Threading Technology (Intel(r) HT Technology) for workloads that perform well with single-threaded CPUs, such as certain high-performance computing (HPC) applications.</a:t>
            </a:r>
            <a:endParaRPr lang="en-US" sz="1200" kern="1200" baseline="0" dirty="0">
              <a:solidFill>
                <a:schemeClr val="tx1"/>
              </a:solidFill>
              <a:effectLst/>
              <a:latin typeface="Arial"/>
              <a:ea typeface="+mn-ea"/>
              <a:cs typeface="+mn-cs"/>
            </a:endParaRPr>
          </a:p>
          <a:p>
            <a:pPr marL="0" lvl="0" indent="0">
              <a:buFont typeface="Arial" panose="020B0604020202020204" pitchFamily="34" charset="0"/>
              <a:buNone/>
            </a:pPr>
            <a:endParaRPr lang="en-US" sz="1200" kern="1200" dirty="0">
              <a:solidFill>
                <a:schemeClr val="tx1"/>
              </a:solidFill>
              <a:effectLst/>
              <a:latin typeface="Arial"/>
              <a:ea typeface="+mn-ea"/>
              <a:cs typeface="+mn-cs"/>
            </a:endParaRPr>
          </a:p>
          <a:p>
            <a:pPr marL="0" lvl="0" indent="0">
              <a:buFont typeface="Arial" panose="020B0604020202020204" pitchFamily="34" charset="0"/>
              <a:buNone/>
            </a:pPr>
            <a:r>
              <a:rPr lang="en-US" sz="1200" kern="1200" dirty="0">
                <a:solidFill>
                  <a:schemeClr val="tx1"/>
                </a:solidFill>
                <a:effectLst/>
                <a:latin typeface="Arial"/>
                <a:ea typeface="+mn-ea"/>
                <a:cs typeface="+mn-cs"/>
              </a:rPr>
              <a:t>Customers running database workloads like SQL Server on EC2 want high memory, storage, and I/O bandwidth, but do not require a high vCPU count - since these workloads are rarely compute-bound. Memory-optimized instance families such as X1 and R4 offer a high RAM-to-vCPU ratio to help customers right-size their instances. With Optimize CPUs, customers now have the added flexibility of specifying a custom number of vCPUs for new instances, while enjoying the same memory, storage, and bandwidth of a full-sized instance.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Amazon Ember Regular"/>
            </a:endParaRPr>
          </a:p>
          <a:p>
            <a:r>
              <a:rPr lang="en-US" sz="1200" kern="1200" dirty="0">
                <a:solidFill>
                  <a:schemeClr val="tx1"/>
                </a:solidFill>
                <a:effectLst/>
                <a:latin typeface="Arial"/>
                <a:ea typeface="+mn-ea"/>
                <a:cs typeface="+mn-cs"/>
              </a:rPr>
              <a:t>To optimize licensing costs for databases in on-premises environments, enterprises create virtual machines with very high RAM per core ratio (either strip out CPU or add memory). For customers looking to migrate to AWS, </a:t>
            </a:r>
            <a:r>
              <a:rPr lang="en-US" sz="1200" kern="1200" dirty="0" err="1">
                <a:solidFill>
                  <a:schemeClr val="tx1"/>
                </a:solidFill>
                <a:effectLst/>
                <a:latin typeface="Arial"/>
                <a:ea typeface="+mn-ea"/>
                <a:cs typeface="+mn-cs"/>
              </a:rPr>
              <a:t>GiB</a:t>
            </a:r>
            <a:r>
              <a:rPr lang="en-US" sz="1200" kern="1200" dirty="0">
                <a:solidFill>
                  <a:schemeClr val="tx1"/>
                </a:solidFill>
                <a:effectLst/>
                <a:latin typeface="Arial"/>
                <a:ea typeface="+mn-ea"/>
                <a:cs typeface="+mn-cs"/>
              </a:rPr>
              <a:t> per core ratio offered by EC2 instance types is increasingly seen as a limiting factor. Among EC2 instance families, X1 instance type offers the highest RAM per core ratio but customers do not prefer smaller sized X1e as it does not provide sufficient EBS bandwidth required by performance databases. R4 is the other memory intensive instance type but only offers 16 </a:t>
            </a:r>
            <a:r>
              <a:rPr lang="en-US" sz="1200" kern="1200" dirty="0" err="1">
                <a:solidFill>
                  <a:schemeClr val="tx1"/>
                </a:solidFill>
                <a:effectLst/>
                <a:latin typeface="Arial"/>
                <a:ea typeface="+mn-ea"/>
                <a:cs typeface="+mn-cs"/>
              </a:rPr>
              <a:t>GiB</a:t>
            </a:r>
            <a:r>
              <a:rPr lang="en-US" sz="1200" kern="1200" dirty="0">
                <a:solidFill>
                  <a:schemeClr val="tx1"/>
                </a:solidFill>
                <a:effectLst/>
                <a:latin typeface="Arial"/>
                <a:ea typeface="+mn-ea"/>
                <a:cs typeface="+mn-cs"/>
              </a:rPr>
              <a:t>/physical core. So, a customer with a memory intensive SQL ENT workload using 8vCPUs and 244GiB memory on-premises, ends up using R4.8xlarge (32 vCPU, 244 GB RAM) and pays licensing costs for 32 vCPUs. </a:t>
            </a:r>
          </a:p>
          <a:p>
            <a:endParaRPr lang="en-US" sz="1200" kern="1200" dirty="0">
              <a:solidFill>
                <a:schemeClr val="tx1"/>
              </a:solidFill>
              <a:effectLst/>
              <a:latin typeface="Arial"/>
              <a:ea typeface="+mn-ea"/>
              <a:cs typeface="+mn-cs"/>
            </a:endParaRPr>
          </a:p>
          <a:p>
            <a:endParaRPr lang="en-US" dirty="0"/>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Amazon Ember Regular"/>
            </a:endParaRPr>
          </a:p>
          <a:p>
            <a:endParaRPr lang="en-US" sz="1200" dirty="0">
              <a:solidFill>
                <a:schemeClr val="tx1">
                  <a:lumMod val="65000"/>
                  <a:lumOff val="35000"/>
                </a:schemeClr>
              </a:solidFill>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15166475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ReInvent 2018</a:t>
            </a:r>
            <a:endParaRPr kumimoji="0" lang="en-US" sz="12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Footer Placeholder 4"/>
          <p:cNvSpPr>
            <a:spLocks noGrp="1"/>
          </p:cNvSpPr>
          <p:nvPr>
            <p:ph type="ftr" sz="quarter" idx="4"/>
          </p:nvPr>
        </p:nvSpPr>
        <p:spPr/>
        <p:txBody>
          <a:bodyPr/>
          <a:lstStyle/>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altLang="x-none" sz="700" b="0" i="0" u="none" strike="noStrike" kern="1200" cap="none" spc="0" normalizeH="0" baseline="0" noProof="0">
                <a:ln>
                  <a:noFill/>
                </a:ln>
                <a:solidFill>
                  <a:srgbClr val="282828"/>
                </a:solidFill>
                <a:effectLst/>
                <a:uLnTx/>
                <a:uFillTx/>
                <a:latin typeface="Amazon Ember" charset="0"/>
                <a:ea typeface="Amazon Ember" charset="0"/>
                <a:cs typeface="Amazon Ember" charset="0"/>
              </a:rPr>
              <a:t>© 2018, Amazon Web Services, Inc. or its Affiliates. All rights reserved.</a:t>
            </a:r>
            <a:endParaRPr kumimoji="0" lang="en-US" altLang="x-none" sz="700" b="0" i="0" u="none" strike="noStrike" kern="1200" cap="none" spc="0" normalizeH="0" baseline="0" noProof="0" dirty="0">
              <a:ln>
                <a:noFill/>
              </a:ln>
              <a:solidFill>
                <a:srgbClr val="282828"/>
              </a:solidFill>
              <a:effectLst/>
              <a:uLnTx/>
              <a:uFillTx/>
              <a:latin typeface="Amazon Ember" charset="0"/>
              <a:ea typeface="Amazon Ember" charset="0"/>
              <a:cs typeface="Amazon Ember" charset="0"/>
            </a:endParaRPr>
          </a:p>
        </p:txBody>
      </p:sp>
      <p:sp>
        <p:nvSpPr>
          <p:cNvPr id="6" name="Date Placeholder 5"/>
          <p:cNvSpPr>
            <a:spLocks noGrp="1"/>
          </p:cNvSpPr>
          <p:nvPr>
            <p:ph type="dt" idx="1"/>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510A14A9-0451-4B5A-B6D6-DAEB8DC06B04}" type="datetime8">
              <a:rPr kumimoji="0" lang="en-US" sz="1200" b="0" i="0" u="none" strike="noStrike" kern="1200" cap="none" spc="0" normalizeH="0" baseline="0" noProof="0" smtClean="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pPr marL="0" marR="0" lvl="0" indent="0" algn="r" defTabSz="1097212" rtl="0" eaLnBrk="1" fontAlgn="auto" latinLnBrk="0" hangingPunct="1">
                <a:lnSpc>
                  <a:spcPct val="100000"/>
                </a:lnSpc>
                <a:spcBef>
                  <a:spcPts val="0"/>
                </a:spcBef>
                <a:spcAft>
                  <a:spcPts val="0"/>
                </a:spcAft>
                <a:buClrTx/>
                <a:buSzTx/>
                <a:buFontTx/>
                <a:buNone/>
                <a:tabLst/>
                <a:defRPr/>
              </a:pPr>
              <a:t>2/20/2020 9:04 AM</a:t>
            </a:fld>
            <a:endParaRPr kumimoji="0" lang="en-US" sz="12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Slide Number Placeholder 6"/>
          <p:cNvSpPr>
            <a:spLocks noGrp="1"/>
          </p:cNvSpPr>
          <p:nvPr>
            <p:ph type="sldNum" sz="quarter" idx="5"/>
          </p:nvPr>
        </p:nvSpPr>
        <p:spPr/>
        <p:txBody>
          <a:bodyPr/>
          <a:lstStyle/>
          <a:p>
            <a:pPr marL="0" marR="0" lvl="0" indent="0" algn="r" defTabSz="109721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1097212"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Notes Placeholder 8">
            <a:extLst>
              <a:ext uri="{FF2B5EF4-FFF2-40B4-BE49-F238E27FC236}">
                <a16:creationId xmlns:a16="http://schemas.microsoft.com/office/drawing/2014/main" id="{CDDA8738-69DB-4942-91CE-507AF226864A}"/>
              </a:ext>
            </a:extLst>
          </p:cNvPr>
          <p:cNvSpPr>
            <a:spLocks noGrp="1"/>
          </p:cNvSpPr>
          <p:nvPr>
            <p:ph type="body" sz="quarter" idx="3"/>
          </p:nvPr>
        </p:nvSpPr>
        <p:spPr/>
        <p:txBody>
          <a:bodyPr/>
          <a:lstStyle/>
          <a:p>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DB Best</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an awesome enterprise database consulting company, just </a:t>
            </a:r>
            <a:r>
              <a:rPr lang="en-US" sz="1600" b="1" u="sng"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wrote two blogs </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one for Azure and one for AWS – that showed how to get the best price/performance for running SQL Server in the cloud. </a:t>
            </a:r>
          </a:p>
          <a:p>
            <a:r>
              <a:rPr lang="en-US" sz="1600" b="1" u="sng"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ZK Research </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took these blogs and compared the results from DB Best to show an apples to apples comparison. </a:t>
            </a:r>
          </a:p>
          <a:p>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And the results were very interesting! </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ZK Research points out that SQL Server on AWS consistently shows a 2X+ better price performance using </a:t>
            </a:r>
            <a:r>
              <a:rPr lang="en-US" sz="16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HammerDB</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 TPC-C-like benchmark tool compared to Azure!  This first chart shows AWS in pink, and Azure in blue, the cost of 1 billion transactions per month.  For this, SMALLER IS BETTER, AWS is cheaper!</a:t>
            </a:r>
          </a:p>
          <a:p>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endPar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&lt;CLICK&gt; </a:t>
            </a:r>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And then ZK Research dove into performance of SQL Server – and again – AWS in pink and Azure in blue -- SQL Server on AWS outperforms SQL Server on Azure.  And it’s close to 3X. In this case the bigger the bar the better. </a:t>
            </a:r>
          </a:p>
          <a:p>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r>
              <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Net Net – </a:t>
            </a:r>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SQL Server on EC2 consistently outperforms Azure</a:t>
            </a:r>
          </a:p>
          <a:p>
            <a:r>
              <a:rPr lang="en-US" sz="16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endParaRPr lang="en-US" sz="16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374480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66</a:t>
            </a:fld>
            <a:endParaRPr lang="en-US" dirty="0"/>
          </a:p>
        </p:txBody>
      </p:sp>
    </p:spTree>
    <p:extLst>
      <p:ext uri="{BB962C8B-B14F-4D97-AF65-F5344CB8AC3E}">
        <p14:creationId xmlns:p14="http://schemas.microsoft.com/office/powerpoint/2010/main" val="6979901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Amazon Ember Regular" charset="0"/>
                <a:ea typeface="+mn-ea"/>
                <a:cs typeface="+mn-cs"/>
              </a:rPr>
              <a:t>Largest Global Reach </a:t>
            </a:r>
            <a:endParaRPr lang="en-US" sz="1200" b="0" i="1" kern="1200" baseline="0" dirty="0">
              <a:solidFill>
                <a:schemeClr val="tx1"/>
              </a:solidFill>
              <a:effectLst/>
              <a:latin typeface="Amazon Ember Regular" charset="0"/>
              <a:ea typeface="+mn-ea"/>
              <a:cs typeface="+mn-cs"/>
            </a:endParaRPr>
          </a:p>
          <a:p>
            <a:r>
              <a:rPr lang="en-US" sz="1200" b="0" i="0" kern="1200" dirty="0">
                <a:solidFill>
                  <a:schemeClr val="tx1"/>
                </a:solidFill>
                <a:effectLst/>
                <a:latin typeface="Amazon Ember Regular" charset="0"/>
                <a:ea typeface="+mn-ea"/>
                <a:cs typeface="+mn-cs"/>
              </a:rPr>
              <a:t>We have the largest global infrastructure that includes 55 Availability Zones across 18 geographic regions worldwide to help improve</a:t>
            </a:r>
            <a:r>
              <a:rPr lang="en-US" sz="1200" b="0" i="0" kern="1200" baseline="0" dirty="0">
                <a:solidFill>
                  <a:schemeClr val="tx1"/>
                </a:solidFill>
                <a:effectLst/>
                <a:latin typeface="Amazon Ember Regular" charset="0"/>
                <a:ea typeface="+mn-ea"/>
                <a:cs typeface="+mn-cs"/>
              </a:rPr>
              <a:t> uptime and performance. AWS automatically adds new EC2 instances when capacity is reached(and is reduced when utilization is low).</a:t>
            </a:r>
          </a:p>
          <a:p>
            <a:endParaRPr lang="en-US" sz="1200" b="0" i="0" kern="1200" dirty="0">
              <a:solidFill>
                <a:schemeClr val="tx1"/>
              </a:solidFill>
              <a:effectLst/>
              <a:latin typeface="Amazon Ember Regular"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Amazon Ember Regular" charset="0"/>
                <a:ea typeface="+mn-ea"/>
                <a:cs typeface="+mn-cs"/>
              </a:rPr>
              <a:t>Every region with high availability zones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mazon Ember Regular" charset="0"/>
                <a:ea typeface="+mn-ea"/>
                <a:cs typeface="+mn-cs"/>
              </a:rPr>
              <a:t>HA/DR solutions across AZs; AWS Availability Zones may satisfy DR requirements!</a:t>
            </a:r>
            <a:endParaRPr lang="en-US" sz="1200" b="0" i="0" kern="1200" baseline="0" dirty="0">
              <a:solidFill>
                <a:schemeClr val="tx1"/>
              </a:solidFill>
              <a:effectLst/>
              <a:latin typeface="Amazon Ember Regular" charset="0"/>
              <a:ea typeface="+mn-ea"/>
              <a:cs typeface="+mn-cs"/>
            </a:endParaRPr>
          </a:p>
          <a:p>
            <a:endParaRPr lang="en-US" sz="1200" b="0" i="0" kern="1200" dirty="0">
              <a:solidFill>
                <a:schemeClr val="tx1"/>
              </a:solidFill>
              <a:effectLst/>
              <a:latin typeface="Amazon Ember Regular" charset="0"/>
              <a:ea typeface="+mn-ea"/>
              <a:cs typeface="+mn-cs"/>
            </a:endParaRPr>
          </a:p>
          <a:p>
            <a:r>
              <a:rPr lang="en-US" sz="1200" b="1" i="0" kern="1200" dirty="0">
                <a:solidFill>
                  <a:schemeClr val="tx1"/>
                </a:solidFill>
                <a:effectLst/>
                <a:latin typeface="Amazon Ember Regular" charset="0"/>
                <a:ea typeface="+mn-ea"/>
                <a:cs typeface="+mn-cs"/>
              </a:rPr>
              <a:t>Flexible</a:t>
            </a:r>
            <a:r>
              <a:rPr lang="en-US" sz="1200" b="1" i="0" kern="1200" baseline="0" dirty="0">
                <a:solidFill>
                  <a:schemeClr val="tx1"/>
                </a:solidFill>
                <a:effectLst/>
                <a:latin typeface="Amazon Ember Regular" charset="0"/>
                <a:ea typeface="+mn-ea"/>
                <a:cs typeface="+mn-cs"/>
              </a:rPr>
              <a:t> purchasing options to simplify procurement and cost optimization</a:t>
            </a:r>
          </a:p>
          <a:p>
            <a:endParaRPr lang="en-US" sz="1200" b="1" i="0" kern="1200" baseline="0" dirty="0">
              <a:solidFill>
                <a:schemeClr val="tx1"/>
              </a:solidFill>
              <a:effectLst/>
              <a:latin typeface="Amazon Ember Regular"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414042"/>
                </a:solidFill>
              </a:rPr>
              <a:t>Increase innovation and flexibility for future</a:t>
            </a:r>
            <a:endParaRPr lang="en-US" sz="1200" b="0" i="0" kern="1200" baseline="0" dirty="0">
              <a:solidFill>
                <a:schemeClr val="tx1"/>
              </a:solidFill>
              <a:effectLst/>
              <a:latin typeface="Amazon Ember Regular" charset="0"/>
              <a:ea typeface="+mn-ea"/>
              <a:cs typeface="+mn-cs"/>
            </a:endParaRPr>
          </a:p>
          <a:p>
            <a:r>
              <a:rPr lang="en-US" sz="1200" b="0" i="0" kern="1200" dirty="0">
                <a:solidFill>
                  <a:schemeClr val="tx1"/>
                </a:solidFill>
                <a:effectLst/>
                <a:latin typeface="Amazon Ember Regular" charset="0"/>
                <a:ea typeface="+mn-ea"/>
                <a:cs typeface="+mn-cs"/>
              </a:rPr>
              <a:t>New Instance types, new storage and networking capabilities are being added regularly – and are immediately accessible to customers.</a:t>
            </a:r>
            <a:endParaRPr lang="en-US" sz="1200" b="0" i="0" kern="1200" baseline="0" dirty="0">
              <a:solidFill>
                <a:schemeClr val="tx1"/>
              </a:solidFill>
              <a:effectLst/>
              <a:latin typeface="Amazon Ember Regular" charset="0"/>
              <a:ea typeface="+mn-ea"/>
              <a:cs typeface="+mn-cs"/>
            </a:endParaRPr>
          </a:p>
          <a:p>
            <a:endParaRPr lang="en-US" sz="1200" b="0" i="0" kern="1200" baseline="0" dirty="0">
              <a:solidFill>
                <a:schemeClr val="tx1"/>
              </a:solidFill>
              <a:effectLst/>
              <a:latin typeface="Amazon Ember Regular" charset="0"/>
              <a:ea typeface="+mn-ea"/>
              <a:cs typeface="+mn-cs"/>
            </a:endParaRPr>
          </a:p>
          <a:p>
            <a:r>
              <a:rPr lang="en-US" sz="1200" b="1" i="0" kern="1200" dirty="0">
                <a:solidFill>
                  <a:schemeClr val="tx1"/>
                </a:solidFill>
                <a:effectLst/>
                <a:latin typeface="Amazon Ember Regular" charset="0"/>
                <a:ea typeface="+mn-ea"/>
                <a:cs typeface="+mn-cs"/>
              </a:rPr>
              <a:t>Improve</a:t>
            </a:r>
            <a:r>
              <a:rPr lang="en-US" sz="1200" b="1" i="0" kern="1200" baseline="0" dirty="0">
                <a:solidFill>
                  <a:schemeClr val="tx1"/>
                </a:solidFill>
                <a:effectLst/>
                <a:latin typeface="Amazon Ember Regular" charset="0"/>
                <a:ea typeface="+mn-ea"/>
                <a:cs typeface="+mn-cs"/>
              </a:rPr>
              <a:t> your security posture</a:t>
            </a:r>
          </a:p>
          <a:p>
            <a:r>
              <a:rPr lang="en-US" dirty="0"/>
              <a:t>The AWS infrastructure puts strong safeguards in place to help protect customer privacy. All data is stored in highly secure AWS data centers. Customers pay only for the services they use, meaning that you can have the security you need, but without the upfront expenses.</a:t>
            </a:r>
          </a:p>
          <a:p>
            <a:r>
              <a:rPr lang="en-US" sz="1200" b="0" i="0" kern="1200" dirty="0">
                <a:solidFill>
                  <a:schemeClr val="tx1"/>
                </a:solidFill>
                <a:effectLst/>
                <a:latin typeface="Amazon Ember Regular" charset="0"/>
                <a:ea typeface="+mn-ea"/>
                <a:cs typeface="+mn-cs"/>
              </a:rPr>
              <a:t>When you deploy your SQL Server on AWS, they benefit from all the security capabilities from AWS such as Amazon VPC, data encryption, and integration for AWS Microsoft AD for role-based access control, while also leveraging security enhancements provided in SQL Server 2017 such as Always-Encrypted, dynamic data masking, and row-level security.  </a:t>
            </a:r>
          </a:p>
          <a:p>
            <a:r>
              <a:rPr lang="en-US" sz="1200" b="0" i="0" kern="1200" dirty="0">
                <a:solidFill>
                  <a:schemeClr val="tx1"/>
                </a:solidFill>
                <a:effectLst/>
                <a:latin typeface="Amazon Ember Regular" charset="0"/>
                <a:ea typeface="+mn-ea"/>
                <a:cs typeface="+mn-cs"/>
              </a:rPr>
              <a:t> </a:t>
            </a:r>
            <a:endParaRPr lang="en-US" sz="1200" b="0" i="0" kern="1200" baseline="0" dirty="0">
              <a:solidFill>
                <a:schemeClr val="tx1"/>
              </a:solidFill>
              <a:effectLst/>
              <a:latin typeface="Amazon Ember Regular"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414042"/>
                </a:solidFill>
              </a:rPr>
              <a:t>AWS has 52 compliance certifications</a:t>
            </a:r>
            <a:r>
              <a:rPr lang="en-US" baseline="0" dirty="0">
                <a:solidFill>
                  <a:srgbClr val="414042"/>
                </a:solidFill>
              </a:rPr>
              <a:t> including </a:t>
            </a:r>
            <a:r>
              <a:rPr lang="en-US" sz="1200" dirty="0"/>
              <a:t>FISMA, ITAR, EU Model Clauses and more -- </a:t>
            </a:r>
            <a:r>
              <a:rPr lang="en-US" dirty="0">
                <a:solidFill>
                  <a:srgbClr val="414042"/>
                </a:solidFill>
              </a:rPr>
              <a:t>2x more than the compliance certifications of other vendors </a:t>
            </a:r>
          </a:p>
          <a:p>
            <a:endParaRPr lang="en-US" sz="1200" b="0" i="0" kern="1200" dirty="0">
              <a:solidFill>
                <a:schemeClr val="tx1"/>
              </a:solidFill>
              <a:effectLst/>
              <a:latin typeface="Amazon Ember Regular" charset="0"/>
              <a:ea typeface="+mn-ea"/>
              <a:cs typeface="+mn-cs"/>
            </a:endParaRPr>
          </a:p>
          <a:p>
            <a:endParaRPr lang="en-US" sz="1200" b="0" i="0" kern="1200" dirty="0">
              <a:solidFill>
                <a:schemeClr val="tx1"/>
              </a:solidFill>
              <a:effectLst/>
              <a:latin typeface="Amazon Ember Regular" charset="0"/>
              <a:ea typeface="+mn-ea"/>
              <a:cs typeface="+mn-cs"/>
            </a:endParaRPr>
          </a:p>
          <a:p>
            <a:endParaRPr lang="en-US" sz="12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10"/>
          </p:nvPr>
        </p:nvSpPr>
        <p:spPr/>
        <p:txBody>
          <a:bodyPr/>
          <a:lstStyle/>
          <a:p>
            <a:fld id="{69C3F2ED-74C5-7D4F-8560-0CC253E9A436}" type="slidenum">
              <a:rPr lang="en-US" smtClean="0"/>
              <a:pPr/>
              <a:t>67</a:t>
            </a:fld>
            <a:endParaRPr lang="en-US" dirty="0"/>
          </a:p>
        </p:txBody>
      </p:sp>
    </p:spTree>
    <p:extLst>
      <p:ext uri="{BB962C8B-B14F-4D97-AF65-F5344CB8AC3E}">
        <p14:creationId xmlns:p14="http://schemas.microsoft.com/office/powerpoint/2010/main" val="14232643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9144001" cy="5143500"/>
          </a:xfrm>
          <a:prstGeom prst="rect">
            <a:avLst/>
          </a:prstGeom>
        </p:spPr>
      </p:pic>
      <p:sp>
        <p:nvSpPr>
          <p:cNvPr id="6" name="Text Placeholder 11"/>
          <p:cNvSpPr>
            <a:spLocks noGrp="1"/>
          </p:cNvSpPr>
          <p:nvPr>
            <p:ph type="body" sz="quarter" idx="10" hasCustomPrompt="1"/>
          </p:nvPr>
        </p:nvSpPr>
        <p:spPr>
          <a:xfrm>
            <a:off x="337504" y="3718973"/>
            <a:ext cx="3683000" cy="622873"/>
          </a:xfrm>
          <a:prstGeom prst="rect">
            <a:avLst/>
          </a:prstGeom>
        </p:spPr>
        <p:txBody>
          <a:bodyPr>
            <a:normAutofit/>
          </a:bodyPr>
          <a:lstStyle>
            <a:lvl1pPr marL="0" indent="0" algn="l">
              <a:buNone/>
              <a:defRPr sz="1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337504" y="1908229"/>
            <a:ext cx="7324988" cy="744537"/>
          </a:xfrm>
          <a:prstGeom prst="rect">
            <a:avLst/>
          </a:prstGeom>
        </p:spPr>
        <p:txBody>
          <a:bodyPr>
            <a:noAutofit/>
          </a:bodyPr>
          <a:lstStyle>
            <a:lvl1pPr marL="0" indent="0" algn="l">
              <a:buNone/>
              <a:defRPr sz="40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337504" y="2658575"/>
            <a:ext cx="6041582" cy="769527"/>
          </a:xfrm>
          <a:prstGeom prst="rect">
            <a:avLst/>
          </a:prstGeom>
        </p:spPr>
        <p:txBody>
          <a:bodyPr/>
          <a:lstStyle>
            <a:lvl1pPr marL="0" indent="0" algn="l">
              <a:buNone/>
              <a:defRPr sz="18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36743" y="437056"/>
            <a:ext cx="848312" cy="507162"/>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336790" y="4802438"/>
            <a:ext cx="4447181" cy="107722"/>
          </a:xfrm>
          <a:prstGeom prst="rect">
            <a:avLst/>
          </a:prstGeom>
          <a:noFill/>
        </p:spPr>
        <p:txBody>
          <a:bodyPr wrap="square" lIns="0" tIns="0" rIns="0" bIns="0" rtlCol="0">
            <a:spAutoFit/>
          </a:body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700" b="0" i="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 2019 Amazon Web Services, Inc. or its Affiliates. All rights reserved.</a:t>
            </a:r>
          </a:p>
        </p:txBody>
      </p:sp>
    </p:spTree>
    <p:extLst>
      <p:ext uri="{BB962C8B-B14F-4D97-AF65-F5344CB8AC3E}">
        <p14:creationId xmlns:p14="http://schemas.microsoft.com/office/powerpoint/2010/main" val="3038431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bullet section">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7"/>
            <a:ext cx="8205304" cy="54574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37518" y="1011543"/>
            <a:ext cx="8204575" cy="3394472"/>
          </a:xfrm>
          <a:prstGeom prst="rect">
            <a:avLst/>
          </a:prstGeom>
        </p:spPr>
        <p:txBody>
          <a:bodyPr>
            <a:normAutofit/>
          </a:bodyPr>
          <a:lstStyle>
            <a:lvl1pPr>
              <a:defRPr sz="2000"/>
            </a:lvl1pPr>
            <a:lvl2pPr>
              <a:defRPr sz="1800"/>
            </a:lvl2pPr>
            <a:lvl3pPr>
              <a:defRPr sz="1600"/>
            </a:lvl3pPr>
            <a:lvl4pPr marL="1371566" indent="0">
              <a:buNone/>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91688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7062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lstStyle>
            <a:lvl1pPr>
              <a:defRPr sz="2400">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marL="0" indent="0">
              <a:buNone/>
              <a:defRPr>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buFont typeface="Arial"/>
              <a:buChar char="•"/>
              <a:defRPr>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buFont typeface="Arial"/>
              <a:buChar char="•"/>
              <a:defRPr>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3pPr>
            <a:lvl4pPr>
              <a:defRPr>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4pPr>
            <a:lvl5pPr>
              <a:defRPr>
                <a:solidFill>
                  <a:srgbClr val="4D4D4C"/>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0879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192"/>
          </a:xfrm>
        </p:spPr>
        <p:txBody>
          <a:bodyPr/>
          <a:lstStyle/>
          <a:p>
            <a:r>
              <a:rPr lang="en-US"/>
              <a:t>Click to edit Master title style</a:t>
            </a:r>
            <a:endParaRPr lang="en-US" dirty="0"/>
          </a:p>
        </p:txBody>
      </p:sp>
    </p:spTree>
    <p:extLst>
      <p:ext uri="{BB962C8B-B14F-4D97-AF65-F5344CB8AC3E}">
        <p14:creationId xmlns:p14="http://schemas.microsoft.com/office/powerpoint/2010/main" val="3090062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ew_AWS_Clea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F04E-3411-4AC3-B4FE-8608D742715E}"/>
              </a:ext>
            </a:extLst>
          </p:cNvPr>
          <p:cNvSpPr>
            <a:spLocks noGrp="1"/>
          </p:cNvSpPr>
          <p:nvPr>
            <p:ph type="title"/>
          </p:nvPr>
        </p:nvSpPr>
        <p:spPr>
          <a:xfrm>
            <a:off x="6222" y="6219"/>
            <a:ext cx="9137778" cy="515354"/>
          </a:xfrm>
          <a:prstGeom prst="rect">
            <a:avLst/>
          </a:prstGeom>
        </p:spPr>
        <p:txBody>
          <a:bodyPr/>
          <a:lstStyle>
            <a:lvl1pPr>
              <a:defRPr b="0" spc="50" baseline="0"/>
            </a:lvl1pPr>
          </a:lstStyle>
          <a:p>
            <a:r>
              <a:rPr lang="en-US" dirty="0"/>
              <a:t>Click to edit Master title style</a:t>
            </a:r>
          </a:p>
        </p:txBody>
      </p:sp>
    </p:spTree>
    <p:extLst>
      <p:ext uri="{BB962C8B-B14F-4D97-AF65-F5344CB8AC3E}">
        <p14:creationId xmlns:p14="http://schemas.microsoft.com/office/powerpoint/2010/main" val="332818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Blank - No Logo">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1518"/>
            <a:ext cx="9144000" cy="5219700"/>
          </a:xfrm>
          <a:prstGeom prst="rect">
            <a:avLst/>
          </a:prstGeom>
        </p:spPr>
      </p:pic>
      <p:sp>
        <p:nvSpPr>
          <p:cNvPr id="4" name="TextBox 3"/>
          <p:cNvSpPr txBox="1"/>
          <p:nvPr userDrawn="1"/>
        </p:nvSpPr>
        <p:spPr>
          <a:xfrm>
            <a:off x="2822713" y="-2842591"/>
            <a:ext cx="184731" cy="369332"/>
          </a:xfrm>
          <a:prstGeom prst="rect">
            <a:avLst/>
          </a:prstGeom>
          <a:noFill/>
        </p:spPr>
        <p:txBody>
          <a:bodyPr wrap="none" rtlCol="0">
            <a:spAutoFit/>
          </a:bodyPr>
          <a:lstStyle/>
          <a:p>
            <a:endParaRPr lang="en-US" dirty="0"/>
          </a:p>
        </p:txBody>
      </p:sp>
      <p:sp>
        <p:nvSpPr>
          <p:cNvPr id="6" name="TextBox 5"/>
          <p:cNvSpPr txBox="1"/>
          <p:nvPr userDrawn="1"/>
        </p:nvSpPr>
        <p:spPr>
          <a:xfrm>
            <a:off x="7436224" y="6104965"/>
            <a:ext cx="184731" cy="369332"/>
          </a:xfrm>
          <a:prstGeom prst="rect">
            <a:avLst/>
          </a:prstGeom>
          <a:noFill/>
        </p:spPr>
        <p:txBody>
          <a:bodyPr wrap="none" rtlCol="0">
            <a:spAutoFit/>
          </a:bodyPr>
          <a:lstStyle/>
          <a:p>
            <a:endParaRPr lang="en-US"/>
          </a:p>
        </p:txBody>
      </p:sp>
      <p:sp>
        <p:nvSpPr>
          <p:cNvPr id="9" name="TextBox 8"/>
          <p:cNvSpPr txBox="1"/>
          <p:nvPr userDrawn="1"/>
        </p:nvSpPr>
        <p:spPr>
          <a:xfrm>
            <a:off x="489150" y="4802438"/>
            <a:ext cx="3027774" cy="107722"/>
          </a:xfrm>
          <a:prstGeom prst="rect">
            <a:avLst/>
          </a:prstGeom>
          <a:noFill/>
        </p:spPr>
        <p:txBody>
          <a:bodyPr wrap="square" lIns="0" tIns="0" rIns="0" bIns="0" rtlCol="0">
            <a:spAutoFit/>
          </a:bodyPr>
          <a:lstStyle/>
          <a:p>
            <a:r>
              <a:rPr lang="en-US" sz="700" b="0" i="0" dirty="0">
                <a:solidFill>
                  <a:schemeClr val="bg1"/>
                </a:solidFill>
                <a:latin typeface="Amazon Ember Regular" charset="0"/>
              </a:rPr>
              <a:t>© 2018, Amazon Web Services, Inc. or its Affiliates. All rights reserved.</a:t>
            </a:r>
          </a:p>
        </p:txBody>
      </p:sp>
      <p:sp>
        <p:nvSpPr>
          <p:cNvPr id="10" name="Title 1"/>
          <p:cNvSpPr>
            <a:spLocks noGrp="1"/>
          </p:cNvSpPr>
          <p:nvPr>
            <p:ph type="title"/>
          </p:nvPr>
        </p:nvSpPr>
        <p:spPr>
          <a:xfrm>
            <a:off x="411647" y="1674428"/>
            <a:ext cx="6069541" cy="1250668"/>
          </a:xfrm>
        </p:spPr>
        <p:txBody>
          <a:bodyPr anchor="ctr" anchorCtr="0">
            <a:noAutofit/>
          </a:bodyPr>
          <a:lstStyle>
            <a:lvl1pPr algn="l">
              <a:defRPr sz="3000"/>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9E5CBD24-C512-B944-8344-23E3422B03C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01438" y="4706911"/>
            <a:ext cx="443363" cy="265064"/>
          </a:xfrm>
          <a:prstGeom prst="rect">
            <a:avLst/>
          </a:prstGeom>
        </p:spPr>
      </p:pic>
    </p:spTree>
    <p:extLst>
      <p:ext uri="{BB962C8B-B14F-4D97-AF65-F5344CB8AC3E}">
        <p14:creationId xmlns:p14="http://schemas.microsoft.com/office/powerpoint/2010/main" val="4263049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176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7743" y="1008053"/>
            <a:ext cx="4040188" cy="47982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37743" y="1487874"/>
            <a:ext cx="4040188" cy="2963466"/>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336789" y="114936"/>
            <a:ext cx="8205304" cy="545741"/>
          </a:xfrm>
        </p:spPr>
        <p:txBody>
          <a:bodyPr>
            <a:normAutofit/>
          </a:bodyPr>
          <a:lstStyle>
            <a:lvl1pPr>
              <a:defRPr sz="2800">
                <a:solidFill>
                  <a:schemeClr val="bg1"/>
                </a:solidFill>
              </a:defRPr>
            </a:lvl1pPr>
          </a:lstStyle>
          <a:p>
            <a:r>
              <a:rPr lang="en-US" dirty="0"/>
              <a:t>Click to edit Master title style</a:t>
            </a:r>
          </a:p>
        </p:txBody>
      </p:sp>
      <p:sp>
        <p:nvSpPr>
          <p:cNvPr id="15" name="Text Placeholder 4"/>
          <p:cNvSpPr>
            <a:spLocks noGrp="1"/>
          </p:cNvSpPr>
          <p:nvPr>
            <p:ph type="body" sz="quarter" idx="3"/>
          </p:nvPr>
        </p:nvSpPr>
        <p:spPr>
          <a:xfrm>
            <a:off x="4525569" y="1008053"/>
            <a:ext cx="4041775" cy="47982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p:cNvSpPr>
            <a:spLocks noGrp="1"/>
          </p:cNvSpPr>
          <p:nvPr>
            <p:ph sz="quarter" idx="4"/>
          </p:nvPr>
        </p:nvSpPr>
        <p:spPr>
          <a:xfrm>
            <a:off x="4525569" y="1487874"/>
            <a:ext cx="4041775" cy="2963466"/>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1287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333575" y="1012507"/>
            <a:ext cx="4038600" cy="3472073"/>
          </a:xfrm>
        </p:spPr>
        <p:txBody>
          <a:bodyPr/>
          <a:lstStyle>
            <a:lvl1pPr>
              <a:defRPr sz="2200">
                <a:solidFill>
                  <a:schemeClr val="bg1"/>
                </a:solidFill>
              </a:defRPr>
            </a:lvl1pPr>
            <a:lvl2pPr>
              <a:defRPr sz="20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24575" y="1012507"/>
            <a:ext cx="4038600" cy="3472073"/>
          </a:xfrm>
        </p:spPr>
        <p:txBody>
          <a:bodyPr/>
          <a:lstStyle>
            <a:lvl1pPr>
              <a:defRPr sz="2200">
                <a:solidFill>
                  <a:schemeClr val="bg1"/>
                </a:solidFill>
              </a:defRPr>
            </a:lvl1pPr>
            <a:lvl2pPr>
              <a:defRPr sz="20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131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p:nvPr>
        </p:nvSpPr>
        <p:spPr/>
        <p:txBody>
          <a:bodyPr lIns="182880" tIns="146304" rIns="182880" bIns="146304"/>
          <a:lstStyle/>
          <a:p>
            <a:r>
              <a:rPr lang="en-US"/>
              <a:t>Click to edit Master title style</a:t>
            </a:r>
            <a:endParaRPr lang="en-US" dirty="0"/>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01931" y="891884"/>
            <a:ext cx="8740141" cy="1680460"/>
          </a:xfrm>
          <a:prstGeom prst="rect">
            <a:avLst/>
          </a:prstGeom>
        </p:spPr>
        <p:txBody>
          <a:bodyPr vert="horz" wrap="square" lIns="182880" tIns="146304" rIns="182880" bIns="146304"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9652633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and_Bullete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p:nvPr>
        </p:nvSpPr>
        <p:spPr/>
        <p:txBody>
          <a:bodyPr lIns="182880" tIns="146304" rIns="182880" bIns="146304"/>
          <a:lstStyle/>
          <a:p>
            <a:r>
              <a:rPr lang="en-US"/>
              <a:t>Click to edit Master title style</a:t>
            </a:r>
            <a:endParaRPr lang="en-US" dirty="0"/>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01931" y="891884"/>
            <a:ext cx="8740141" cy="1680460"/>
          </a:xfrm>
          <a:prstGeom prst="rect">
            <a:avLst/>
          </a:prstGeom>
        </p:spPr>
        <p:txBody>
          <a:bodyPr vert="horz" wrap="square" lIns="182880" tIns="146304" rIns="182880" bIns="146304" rtlCol="0">
            <a:spAutoFit/>
          </a:bodyPr>
          <a:lstStyle>
            <a:lvl1pPr marL="285739" indent="-285739">
              <a:buFont typeface="Arial" panose="020B0604020202020204" pitchFamily="34" charset="0"/>
              <a:buChar char="•"/>
              <a:defRPr/>
            </a:lvl1pPr>
            <a:lvl2pPr marL="466411" indent="-214304">
              <a:buFont typeface="Arial" panose="020B0604020202020204" pitchFamily="34" charset="0"/>
              <a:buChar char="•"/>
              <a:defRPr/>
            </a:lvl2pPr>
            <a:lvl3pPr marL="634483" indent="-214304">
              <a:buFont typeface="Arial" panose="020B0604020202020204" pitchFamily="34" charset="0"/>
              <a:buChar char="•"/>
              <a:defRPr/>
            </a:lvl3pPr>
            <a:lvl4pPr marL="802554" indent="-214304">
              <a:buFont typeface="Arial" panose="020B0604020202020204" pitchFamily="34" charset="0"/>
              <a:buChar char="•"/>
              <a:defRPr/>
            </a:lvl4pPr>
            <a:lvl5pPr marL="970625" indent="-214304">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123150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336789" y="114936"/>
            <a:ext cx="8205304" cy="620870"/>
          </a:xfrm>
        </p:spPr>
        <p:txBody>
          <a:body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336550" y="1064419"/>
            <a:ext cx="8205788" cy="1346523"/>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020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789" y="114936"/>
            <a:ext cx="8205304" cy="85725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40593" y="1009332"/>
            <a:ext cx="8205304" cy="3553926"/>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a:xfrm>
            <a:off x="336790" y="4802438"/>
            <a:ext cx="4447181" cy="107722"/>
          </a:xfrm>
          <a:prstGeom prst="rect">
            <a:avLst/>
          </a:prstGeom>
          <a:noFill/>
        </p:spPr>
        <p:txBody>
          <a:bodyPr wrap="square" lIns="0" tIns="0" rIns="0" bIns="0" rtlCol="0">
            <a:spAutoFit/>
          </a:body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700" b="0" i="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 2019, Amazon Web Services, Inc. or its Affiliates. All rights reserved. </a:t>
            </a:r>
          </a:p>
        </p:txBody>
      </p:sp>
      <p:pic>
        <p:nvPicPr>
          <p:cNvPr id="7" name="Picture 6"/>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8101439" y="4706911"/>
            <a:ext cx="443363" cy="265064"/>
          </a:xfrm>
          <a:prstGeom prst="rect">
            <a:avLst/>
          </a:prstGeom>
        </p:spPr>
      </p:pic>
    </p:spTree>
    <p:extLst>
      <p:ext uri="{BB962C8B-B14F-4D97-AF65-F5344CB8AC3E}">
        <p14:creationId xmlns:p14="http://schemas.microsoft.com/office/powerpoint/2010/main" val="4005154779"/>
      </p:ext>
    </p:extLst>
  </p:cSld>
  <p:clrMap bg1="lt1" tx1="dk1" bg2="lt2" tx2="dk2" accent1="accent1" accent2="accent2" accent3="accent3" accent4="accent4" accent5="accent5" accent6="accent6" hlink="hlink" folHlink="folHlink"/>
  <p:sldLayoutIdLst>
    <p:sldLayoutId id="2147483782" r:id="rId1"/>
    <p:sldLayoutId id="2147483789" r:id="rId2"/>
    <p:sldLayoutId id="2147483796" r:id="rId3"/>
    <p:sldLayoutId id="2147483806" r:id="rId4"/>
    <p:sldLayoutId id="2147483807" r:id="rId5"/>
    <p:sldLayoutId id="2147483809" r:id="rId6"/>
    <p:sldLayoutId id="2147483812" r:id="rId7"/>
    <p:sldLayoutId id="2147483815" r:id="rId8"/>
    <p:sldLayoutId id="2147483679" r:id="rId9"/>
    <p:sldLayoutId id="2147483816" r:id="rId10"/>
    <p:sldLayoutId id="2147483817" r:id="rId11"/>
    <p:sldLayoutId id="2147483818" r:id="rId12"/>
    <p:sldLayoutId id="2147483819" r:id="rId13"/>
  </p:sldLayoutIdLst>
  <p:txStyles>
    <p:titleStyle>
      <a:lvl1pPr algn="l" defTabSz="457189" rtl="0" eaLnBrk="1" latinLnBrk="0" hangingPunct="1">
        <a:spcBef>
          <a:spcPct val="0"/>
        </a:spcBef>
        <a:buNone/>
        <a:defRPr sz="2400" b="1" i="0" kern="1200">
          <a:solidFill>
            <a:schemeClr val="bg1"/>
          </a:solidFill>
          <a:latin typeface="Amazon Ember Regular" charset="0"/>
          <a:ea typeface="+mj-ea"/>
          <a:cs typeface="Amazon Ember Regular" charset="0"/>
        </a:defRPr>
      </a:lvl1pPr>
    </p:titleStyle>
    <p:body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aws.amazon.com/rds/performance-insights/pric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4462hcfkApM?start=8&amp;feature=oembed" TargetMode="Externa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hyperlink" Target="https://msdn.microsoft.com/en-us/library/ms175935.aspx"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4.svg"/><Relationship Id="rId18" Type="http://schemas.openxmlformats.org/officeDocument/2006/relationships/image" Target="../media/image45.png"/><Relationship Id="rId3" Type="http://schemas.openxmlformats.org/officeDocument/2006/relationships/image" Target="../media/image37.png"/><Relationship Id="rId7" Type="http://schemas.openxmlformats.org/officeDocument/2006/relationships/image" Target="../media/image38.svg"/><Relationship Id="rId12" Type="http://schemas.openxmlformats.org/officeDocument/2006/relationships/image" Target="../media/image42.png"/><Relationship Id="rId17" Type="http://schemas.openxmlformats.org/officeDocument/2006/relationships/image" Target="../media/image48.svg"/><Relationship Id="rId2" Type="http://schemas.openxmlformats.org/officeDocument/2006/relationships/notesSlide" Target="../notesSlides/notesSlide32.xml"/><Relationship Id="rId16" Type="http://schemas.openxmlformats.org/officeDocument/2006/relationships/image" Target="../media/image44.png"/><Relationship Id="rId1" Type="http://schemas.openxmlformats.org/officeDocument/2006/relationships/slideLayout" Target="../slideLayouts/slideLayout11.xml"/><Relationship Id="rId6" Type="http://schemas.openxmlformats.org/officeDocument/2006/relationships/image" Target="../media/image39.png"/><Relationship Id="rId11" Type="http://schemas.openxmlformats.org/officeDocument/2006/relationships/image" Target="../media/image42.svg"/><Relationship Id="rId5" Type="http://schemas.openxmlformats.org/officeDocument/2006/relationships/image" Target="../media/image36.svg"/><Relationship Id="rId15" Type="http://schemas.openxmlformats.org/officeDocument/2006/relationships/image" Target="../media/image46.svg"/><Relationship Id="rId10"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image" Target="../media/image40.svg"/><Relationship Id="rId14" Type="http://schemas.openxmlformats.org/officeDocument/2006/relationships/image" Target="../media/image43.png"/></Relationships>
</file>

<file path=ppt/slides/_rels/slide4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40.svg"/><Relationship Id="rId18" Type="http://schemas.openxmlformats.org/officeDocument/2006/relationships/image" Target="../media/image53.png"/><Relationship Id="rId3" Type="http://schemas.openxmlformats.org/officeDocument/2006/relationships/image" Target="../media/image46.png"/><Relationship Id="rId21" Type="http://schemas.openxmlformats.org/officeDocument/2006/relationships/image" Target="../media/image38.svg"/><Relationship Id="rId7" Type="http://schemas.openxmlformats.org/officeDocument/2006/relationships/image" Target="../media/image50.png"/><Relationship Id="rId12" Type="http://schemas.openxmlformats.org/officeDocument/2006/relationships/image" Target="../media/image40.png"/><Relationship Id="rId17" Type="http://schemas.openxmlformats.org/officeDocument/2006/relationships/image" Target="../media/image46.svg"/><Relationship Id="rId2" Type="http://schemas.openxmlformats.org/officeDocument/2006/relationships/notesSlide" Target="../notesSlides/notesSlide33.xml"/><Relationship Id="rId16" Type="http://schemas.openxmlformats.org/officeDocument/2006/relationships/image" Target="../media/image43.png"/><Relationship Id="rId20"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49.png"/><Relationship Id="rId11" Type="http://schemas.openxmlformats.org/officeDocument/2006/relationships/image" Target="../media/image56.svg"/><Relationship Id="rId5" Type="http://schemas.openxmlformats.org/officeDocument/2006/relationships/image" Target="../media/image48.png"/><Relationship Id="rId15" Type="http://schemas.openxmlformats.org/officeDocument/2006/relationships/image" Target="../media/image44.svg"/><Relationship Id="rId10" Type="http://schemas.openxmlformats.org/officeDocument/2006/relationships/image" Target="../media/image52.png"/><Relationship Id="rId19" Type="http://schemas.openxmlformats.org/officeDocument/2006/relationships/image" Target="../media/image58.svg"/><Relationship Id="rId4" Type="http://schemas.openxmlformats.org/officeDocument/2006/relationships/image" Target="../media/image47.png"/><Relationship Id="rId9" Type="http://schemas.openxmlformats.org/officeDocument/2006/relationships/image" Target="../media/image42.svg"/><Relationship Id="rId1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36.svg"/><Relationship Id="rId3" Type="http://schemas.openxmlformats.org/officeDocument/2006/relationships/image" Target="../media/image58.png"/><Relationship Id="rId7" Type="http://schemas.openxmlformats.org/officeDocument/2006/relationships/image" Target="../media/image60.png"/><Relationship Id="rId12"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59.png"/><Relationship Id="rId11" Type="http://schemas.openxmlformats.org/officeDocument/2006/relationships/image" Target="../media/image38.svg"/><Relationship Id="rId5" Type="http://schemas.openxmlformats.org/officeDocument/2006/relationships/image" Target="../media/image45.png"/><Relationship Id="rId10" Type="http://schemas.openxmlformats.org/officeDocument/2006/relationships/image" Target="../media/image63.png"/><Relationship Id="rId4" Type="http://schemas.openxmlformats.org/officeDocument/2006/relationships/image" Target="../media/image63.svg"/><Relationship Id="rId9" Type="http://schemas.openxmlformats.org/officeDocument/2006/relationships/image" Target="../media/image6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2.xml"/><Relationship Id="rId1" Type="http://schemas.openxmlformats.org/officeDocument/2006/relationships/slideLayout" Target="../slideLayouts/slideLayout13.xml"/><Relationship Id="rId6" Type="http://schemas.openxmlformats.org/officeDocument/2006/relationships/hyperlink" Target="https://zkresearch.com/" TargetMode="External"/><Relationship Id="rId5" Type="http://schemas.openxmlformats.org/officeDocument/2006/relationships/hyperlink" Target="https://zkresearch.com/blog/2018/11/comparing-sql-server-deployments-on-microsoft-azure-and-amazon-web-services" TargetMode="External"/><Relationship Id="rId4" Type="http://schemas.openxmlformats.org/officeDocument/2006/relationships/chart" Target="../charts/char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53.xml"/><Relationship Id="rId1" Type="http://schemas.openxmlformats.org/officeDocument/2006/relationships/slideLayout" Target="../slideLayouts/slideLayout5.xml"/><Relationship Id="rId5" Type="http://schemas.openxmlformats.org/officeDocument/2006/relationships/hyperlink" Target="http://www.brendangregg.com/blog/2017-11-29/aws-ec2-virtualization-2017.html" TargetMode="External"/><Relationship Id="rId4" Type="http://schemas.openxmlformats.org/officeDocument/2006/relationships/image" Target="../media/image71.png"/></Relationships>
</file>

<file path=ppt/slides/_rels/slide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337503" y="1908229"/>
            <a:ext cx="8153353" cy="744537"/>
          </a:xfrm>
        </p:spPr>
        <p:txBody>
          <a:bodyPr/>
          <a:lstStyle/>
          <a:p>
            <a:r>
              <a:rPr lang="en-US" dirty="0"/>
              <a:t>SQL Server on AWS Cloud</a:t>
            </a:r>
          </a:p>
        </p:txBody>
      </p:sp>
    </p:spTree>
    <p:extLst>
      <p:ext uri="{BB962C8B-B14F-4D97-AF65-F5344CB8AC3E}">
        <p14:creationId xmlns:p14="http://schemas.microsoft.com/office/powerpoint/2010/main" val="330344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789" y="274734"/>
            <a:ext cx="8205304" cy="545192"/>
          </a:xfrm>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Agenda</a:t>
            </a:r>
          </a:p>
        </p:txBody>
      </p:sp>
      <p:sp>
        <p:nvSpPr>
          <p:cNvPr id="6" name="Content Placeholder 2"/>
          <p:cNvSpPr>
            <a:spLocks noGrp="1"/>
          </p:cNvSpPr>
          <p:nvPr/>
        </p:nvSpPr>
        <p:spPr>
          <a:xfrm>
            <a:off x="530347" y="737017"/>
            <a:ext cx="7077023" cy="3725513"/>
          </a:xfrm>
          <a:prstGeom prst="rect">
            <a:avLst/>
          </a:prstGeom>
        </p:spPr>
        <p:txBody>
          <a:bodyPr vert="horz" lIns="91440" tIns="45720" rIns="91440" bIns="45720" rtlCol="0" anchor="t">
            <a:noAutofit/>
          </a:bodyPr>
          <a:lstStyle>
            <a:lvl1pPr marL="231775" indent="-231775" algn="l" defTabSz="457200" rtl="0" eaLnBrk="1" latinLnBrk="0" hangingPunct="1">
              <a:spcBef>
                <a:spcPct val="20000"/>
              </a:spcBef>
              <a:buClr>
                <a:schemeClr val="accent1"/>
              </a:buClr>
              <a:buFont typeface="Wingdings" panose="05000000000000000000" pitchFamily="2" charset="2"/>
              <a:buChar char="§"/>
              <a:defRPr sz="2000" b="0" i="0" kern="1200">
                <a:solidFill>
                  <a:schemeClr val="tx1"/>
                </a:solidFill>
                <a:latin typeface="+mn-lt"/>
                <a:ea typeface="+mn-ea"/>
                <a:cs typeface="Arial"/>
              </a:defRPr>
            </a:lvl1pPr>
            <a:lvl2pPr marL="457200" indent="-225425" algn="l" defTabSz="457200" rtl="0" eaLnBrk="1" latinLnBrk="0" hangingPunct="1">
              <a:spcBef>
                <a:spcPct val="20000"/>
              </a:spcBef>
              <a:buClr>
                <a:schemeClr val="accent1"/>
              </a:buClr>
              <a:buFont typeface="Arial"/>
              <a:buChar char="–"/>
              <a:defRPr sz="1800" b="0" i="0" kern="1200">
                <a:solidFill>
                  <a:schemeClr val="tx1"/>
                </a:solidFill>
                <a:latin typeface="+mn-lt"/>
                <a:ea typeface="+mn-ea"/>
                <a:cs typeface="Arial"/>
              </a:defRPr>
            </a:lvl2pPr>
            <a:lvl3pPr marL="688975" indent="-231775" algn="l" defTabSz="457200" rtl="0" eaLnBrk="1" latinLnBrk="0" hangingPunct="1">
              <a:spcBef>
                <a:spcPct val="20000"/>
              </a:spcBef>
              <a:buClr>
                <a:schemeClr val="accent1"/>
              </a:buClr>
              <a:buFont typeface="Wingdings" panose="05000000000000000000" pitchFamily="2" charset="2"/>
              <a:buChar char="§"/>
              <a:tabLst/>
              <a:defRPr sz="1600" b="0" i="0" kern="1200">
                <a:solidFill>
                  <a:schemeClr val="tx1"/>
                </a:solidFill>
                <a:latin typeface="+mn-lt"/>
                <a:ea typeface="+mn-ea"/>
                <a:cs typeface="Arial"/>
              </a:defRPr>
            </a:lvl3pPr>
            <a:lvl4pPr marL="914400" indent="-225425" algn="l" defTabSz="457200" rtl="0" eaLnBrk="1" latinLnBrk="0" hangingPunct="1">
              <a:spcBef>
                <a:spcPct val="20000"/>
              </a:spcBef>
              <a:buClr>
                <a:schemeClr val="accent1"/>
              </a:buClr>
              <a:buFont typeface="Arial"/>
              <a:buChar char="–"/>
              <a:defRPr sz="1400" b="0" i="0" kern="1200">
                <a:solidFill>
                  <a:schemeClr val="tx1"/>
                </a:solidFill>
                <a:latin typeface="+mn-lt"/>
                <a:ea typeface="+mn-ea"/>
                <a:cs typeface="Arial"/>
              </a:defRPr>
            </a:lvl4pPr>
            <a:lvl5pPr marL="1146175" indent="-231775" algn="l" defTabSz="457200" rtl="0" eaLnBrk="1" latinLnBrk="0" hangingPunct="1">
              <a:spcBef>
                <a:spcPct val="20000"/>
              </a:spcBef>
              <a:buClr>
                <a:schemeClr val="accent1"/>
              </a:buClr>
              <a:buFont typeface="Arial"/>
              <a:buChar char="»"/>
              <a:defRPr sz="1200" b="0" i="0" kern="1200">
                <a:solidFill>
                  <a:schemeClr val="tx1"/>
                </a:solidFill>
                <a:latin typeface="+mn-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Selecting the Right Service</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Selecting the Right Storage</a:t>
            </a:r>
          </a:p>
          <a:p>
            <a:pPr lvl="1">
              <a:buClr>
                <a:srgbClr val="FF9900"/>
              </a:buClr>
              <a:buFont typeface="Arial" panose="020B0604020202020204" pitchFamily="34" charset="0"/>
              <a:buChar char="•"/>
            </a:pPr>
            <a:r>
              <a:rPr lang="en-US" dirty="0" err="1">
                <a:solidFill>
                  <a:srgbClr val="FFFFFF"/>
                </a:solidFill>
                <a:latin typeface="Amazon Ember Regular" charset="0"/>
                <a:cs typeface="Amazon Ember Regular" charset="0"/>
              </a:rPr>
              <a:t>TempDB</a:t>
            </a:r>
            <a:r>
              <a:rPr lang="en-US" dirty="0">
                <a:solidFill>
                  <a:srgbClr val="FFFFFF"/>
                </a:solidFill>
                <a:latin typeface="Amazon Ember Regular" charset="0"/>
                <a:cs typeface="Amazon Ember Regular" charset="0"/>
              </a:rPr>
              <a:t> Considerations</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Selecting the Right Instance</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High Availability and Disaster Recovery Options</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Migrating to the AWS Cloud</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Refactoring to the AWS Cloud</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Reference Architecture</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Licensing</a:t>
            </a:r>
          </a:p>
          <a:p>
            <a:pPr>
              <a:buClr>
                <a:srgbClr val="FF9900"/>
              </a:buClr>
              <a:buFont typeface="Arial" panose="020B0604020202020204" pitchFamily="34" charset="0"/>
              <a:buChar char="•"/>
            </a:pPr>
            <a:r>
              <a:rPr lang="en-US" dirty="0">
                <a:solidFill>
                  <a:srgbClr val="FFFFFF"/>
                </a:solidFill>
                <a:latin typeface="Amazon Ember Regular" charset="0"/>
                <a:cs typeface="Amazon Ember Regular" charset="0"/>
              </a:rPr>
              <a:t>Q&amp;A</a:t>
            </a:r>
          </a:p>
          <a:p>
            <a:pPr>
              <a:buClr>
                <a:srgbClr val="FF9900"/>
              </a:buClr>
              <a:buFont typeface="Arial" panose="020B0604020202020204" pitchFamily="34" charset="0"/>
              <a:buChar char="•"/>
            </a:pPr>
            <a:endParaRPr lang="en-US" dirty="0">
              <a:solidFill>
                <a:srgbClr val="FFFFFF"/>
              </a:solidFill>
            </a:endParaRPr>
          </a:p>
          <a:p>
            <a:pPr lvl="1">
              <a:spcBef>
                <a:spcPts val="1200"/>
              </a:spcBef>
              <a:buClr>
                <a:srgbClr val="FF9900"/>
              </a:buClr>
            </a:pPr>
            <a:endParaRPr lang="en-US" dirty="0">
              <a:solidFill>
                <a:srgbClr val="FFFFFF"/>
              </a:solidFill>
            </a:endParaRPr>
          </a:p>
          <a:p>
            <a:pPr marL="231775" lvl="1" indent="0">
              <a:spcBef>
                <a:spcPts val="1200"/>
              </a:spcBef>
              <a:buClr>
                <a:srgbClr val="FF9900"/>
              </a:buClr>
              <a:buFont typeface="Arial"/>
              <a:buNone/>
            </a:pPr>
            <a:endParaRPr lang="en-US" sz="2000" dirty="0">
              <a:solidFill>
                <a:srgbClr val="FFFFFF"/>
              </a:solidFill>
            </a:endParaRPr>
          </a:p>
          <a:p>
            <a:pPr marL="231775" lvl="1" indent="0">
              <a:spcBef>
                <a:spcPts val="1200"/>
              </a:spcBef>
              <a:buClr>
                <a:srgbClr val="FF9900"/>
              </a:buClr>
              <a:buFont typeface="Arial"/>
              <a:buNone/>
            </a:pPr>
            <a:endParaRPr lang="en-US" sz="2000" dirty="0">
              <a:solidFill>
                <a:srgbClr val="FFFFFF"/>
              </a:solidFill>
            </a:endParaRPr>
          </a:p>
        </p:txBody>
      </p:sp>
    </p:spTree>
    <p:extLst>
      <p:ext uri="{BB962C8B-B14F-4D97-AF65-F5344CB8AC3E}">
        <p14:creationId xmlns:p14="http://schemas.microsoft.com/office/powerpoint/2010/main" val="1728684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Selecting the Right Service</a:t>
            </a:r>
          </a:p>
        </p:txBody>
      </p:sp>
    </p:spTree>
    <p:extLst>
      <p:ext uri="{BB962C8B-B14F-4D97-AF65-F5344CB8AC3E}">
        <p14:creationId xmlns:p14="http://schemas.microsoft.com/office/powerpoint/2010/main" val="2639771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Where can I run my SQL Server workloads </a:t>
            </a:r>
            <a:r>
              <a:rPr lang="en-US"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on</a:t>
            </a:r>
            <a:r>
              <a:rPr lang="en-US" dirty="0">
                <a:latin typeface="Amazon Ember" panose="020B0603020204020204" pitchFamily="34" charset="0"/>
                <a:ea typeface="Amazon Ember" panose="020B0603020204020204" pitchFamily="34" charset="0"/>
                <a:cs typeface="Amazon Ember" panose="020B0603020204020204" pitchFamily="34" charset="0"/>
              </a:rPr>
              <a:t> AWS?</a:t>
            </a: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6500" y="1054063"/>
            <a:ext cx="521366" cy="602829"/>
          </a:xfrm>
          <a:prstGeom prst="rect">
            <a:avLst/>
          </a:prstGeom>
        </p:spPr>
      </p:pic>
      <p:sp>
        <p:nvSpPr>
          <p:cNvPr id="5" name="Rectangle 4"/>
          <p:cNvSpPr/>
          <p:nvPr/>
        </p:nvSpPr>
        <p:spPr>
          <a:xfrm>
            <a:off x="1522325" y="1032312"/>
            <a:ext cx="6068041" cy="646331"/>
          </a:xfrm>
          <a:prstGeom prst="rect">
            <a:avLst/>
          </a:prstGeom>
        </p:spPr>
        <p:txBody>
          <a:bodyPr wrap="square">
            <a:spAutoFit/>
          </a:bodyPr>
          <a:lstStyle/>
          <a:p>
            <a:r>
              <a:rPr lang="en-US" dirty="0">
                <a:solidFill>
                  <a:srgbClr val="FF9900"/>
                </a:solidFill>
                <a:ea typeface="Amazon Ember" panose="020B0603020204020204" pitchFamily="34" charset="0"/>
                <a:cs typeface="Amazon Ember" panose="020B0603020204020204" pitchFamily="34" charset="0"/>
              </a:rPr>
              <a:t>Amazon Relational Database Service </a:t>
            </a:r>
            <a:br>
              <a:rPr lang="en-US" dirty="0">
                <a:solidFill>
                  <a:srgbClr val="FF9900"/>
                </a:solidFill>
                <a:ea typeface="Amazon Ember" panose="020B0603020204020204" pitchFamily="34" charset="0"/>
                <a:cs typeface="Amazon Ember" panose="020B0603020204020204" pitchFamily="34" charset="0"/>
              </a:rPr>
            </a:br>
            <a:r>
              <a:rPr lang="en-US" dirty="0">
                <a:solidFill>
                  <a:srgbClr val="FF9900"/>
                </a:solidFill>
                <a:ea typeface="Amazon Ember" panose="020B0603020204020204" pitchFamily="34" charset="0"/>
                <a:cs typeface="Amazon Ember" panose="020B0603020204020204" pitchFamily="34" charset="0"/>
              </a:rPr>
              <a:t>(Amazon RDS)</a:t>
            </a:r>
          </a:p>
        </p:txBody>
      </p:sp>
      <p:sp>
        <p:nvSpPr>
          <p:cNvPr id="7" name="Rectangle 6"/>
          <p:cNvSpPr/>
          <p:nvPr/>
        </p:nvSpPr>
        <p:spPr>
          <a:xfrm>
            <a:off x="1522325" y="2807580"/>
            <a:ext cx="5674341" cy="646331"/>
          </a:xfrm>
          <a:prstGeom prst="rect">
            <a:avLst/>
          </a:prstGeom>
        </p:spPr>
        <p:txBody>
          <a:bodyPr wrap="square">
            <a:spAutoFit/>
          </a:bodyPr>
          <a:lstStyle/>
          <a:p>
            <a:r>
              <a:rPr lang="en-US" dirty="0">
                <a:solidFill>
                  <a:srgbClr val="FF9900"/>
                </a:solidFill>
                <a:ea typeface="Amazon Ember" panose="020B0603020204020204" pitchFamily="34" charset="0"/>
                <a:cs typeface="Amazon Ember" panose="020B0603020204020204" pitchFamily="34" charset="0"/>
              </a:rPr>
              <a:t>Amazon Elastic Compute Cloud </a:t>
            </a:r>
            <a:br>
              <a:rPr lang="en-US" dirty="0">
                <a:solidFill>
                  <a:srgbClr val="FF9900"/>
                </a:solidFill>
                <a:ea typeface="Amazon Ember" panose="020B0603020204020204" pitchFamily="34" charset="0"/>
                <a:cs typeface="Amazon Ember" panose="020B0603020204020204" pitchFamily="34" charset="0"/>
              </a:rPr>
            </a:br>
            <a:r>
              <a:rPr lang="en-US" dirty="0">
                <a:solidFill>
                  <a:srgbClr val="FF9900"/>
                </a:solidFill>
                <a:ea typeface="Amazon Ember" panose="020B0603020204020204" pitchFamily="34" charset="0"/>
                <a:cs typeface="Amazon Ember" panose="020B0603020204020204" pitchFamily="34" charset="0"/>
              </a:rPr>
              <a:t>(Amazon EC2)</a:t>
            </a:r>
          </a:p>
        </p:txBody>
      </p:sp>
      <p:pic>
        <p:nvPicPr>
          <p:cNvPr id="8" name="Picture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73085" y="2800174"/>
            <a:ext cx="544781" cy="653737"/>
          </a:xfrm>
          <a:prstGeom prst="rect">
            <a:avLst/>
          </a:prstGeom>
        </p:spPr>
      </p:pic>
      <p:sp>
        <p:nvSpPr>
          <p:cNvPr id="9" name="TextBox 8"/>
          <p:cNvSpPr txBox="1"/>
          <p:nvPr/>
        </p:nvSpPr>
        <p:spPr>
          <a:xfrm>
            <a:off x="1522326" y="1715551"/>
            <a:ext cx="7179546"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Managed service with up to </a:t>
            </a:r>
            <a:r>
              <a:rPr lang="en-US" sz="1400" dirty="0">
                <a:solidFill>
                  <a:srgbClr val="FFFF00"/>
                </a:solidFill>
                <a:ea typeface="Amazon Ember" panose="020B0603020204020204" pitchFamily="34" charset="0"/>
                <a:cs typeface="Amazon Ember" panose="020B0603020204020204" pitchFamily="34" charset="0"/>
              </a:rPr>
              <a:t>64</a:t>
            </a:r>
            <a:r>
              <a:rPr lang="en-US" sz="1400" dirty="0">
                <a:solidFill>
                  <a:srgbClr val="F8F8F8"/>
                </a:solidFill>
                <a:ea typeface="Amazon Ember" panose="020B0603020204020204" pitchFamily="34" charset="0"/>
                <a:cs typeface="Amazon Ember" panose="020B0603020204020204" pitchFamily="34" charset="0"/>
              </a:rPr>
              <a:t> vCPU, </a:t>
            </a:r>
            <a:r>
              <a:rPr lang="en-US" sz="1400" dirty="0">
                <a:solidFill>
                  <a:srgbClr val="FFFF00"/>
                </a:solidFill>
                <a:ea typeface="Amazon Ember" panose="020B0603020204020204" pitchFamily="34" charset="0"/>
                <a:cs typeface="Amazon Ember" panose="020B0603020204020204" pitchFamily="34" charset="0"/>
              </a:rPr>
              <a:t>488-GB</a:t>
            </a:r>
            <a:r>
              <a:rPr lang="en-US" sz="1400" dirty="0">
                <a:solidFill>
                  <a:srgbClr val="F8F8F8"/>
                </a:solidFill>
                <a:ea typeface="Amazon Ember" panose="020B0603020204020204" pitchFamily="34" charset="0"/>
                <a:cs typeface="Amazon Ember" panose="020B0603020204020204" pitchFamily="34" charset="0"/>
              </a:rPr>
              <a:t> RAM, and </a:t>
            </a:r>
            <a:r>
              <a:rPr lang="en-US" sz="1400" dirty="0">
                <a:solidFill>
                  <a:srgbClr val="FFFF00"/>
                </a:solidFill>
                <a:ea typeface="Amazon Ember" panose="020B0603020204020204" pitchFamily="34" charset="0"/>
                <a:cs typeface="Amazon Ember" panose="020B0603020204020204" pitchFamily="34" charset="0"/>
              </a:rPr>
              <a:t>16-TB</a:t>
            </a:r>
            <a:r>
              <a:rPr lang="en-US" sz="1400" dirty="0">
                <a:solidFill>
                  <a:srgbClr val="F8F8F8"/>
                </a:solidFill>
                <a:ea typeface="Amazon Ember" panose="020B0603020204020204" pitchFamily="34" charset="0"/>
                <a:cs typeface="Amazon Ember" panose="020B0603020204020204" pitchFamily="34" charset="0"/>
              </a:rPr>
              <a:t> storage</a:t>
            </a:r>
          </a:p>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Express, WEB, Standard, and Enterprise Editions</a:t>
            </a:r>
          </a:p>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Available Instance Types depend upon the edition</a:t>
            </a:r>
          </a:p>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Standard or Provisioned IO</a:t>
            </a:r>
          </a:p>
        </p:txBody>
      </p:sp>
      <p:sp>
        <p:nvSpPr>
          <p:cNvPr id="10" name="TextBox 9"/>
          <p:cNvSpPr txBox="1"/>
          <p:nvPr/>
        </p:nvSpPr>
        <p:spPr>
          <a:xfrm>
            <a:off x="1522325" y="3452243"/>
            <a:ext cx="7179547"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Self-managed SQL Server installation on virtual machine with up to </a:t>
            </a:r>
            <a:r>
              <a:rPr lang="en-US" sz="1400" dirty="0">
                <a:solidFill>
                  <a:srgbClr val="FFFF00"/>
                </a:solidFill>
                <a:ea typeface="Amazon Ember" panose="020B0603020204020204" pitchFamily="34" charset="0"/>
                <a:cs typeface="Amazon Ember" panose="020B0603020204020204" pitchFamily="34" charset="0"/>
              </a:rPr>
              <a:t>128</a:t>
            </a:r>
            <a:r>
              <a:rPr lang="en-US" sz="1400" dirty="0">
                <a:solidFill>
                  <a:srgbClr val="F8F8F8"/>
                </a:solidFill>
                <a:ea typeface="Amazon Ember" panose="020B0603020204020204" pitchFamily="34" charset="0"/>
                <a:cs typeface="Amazon Ember" panose="020B0603020204020204" pitchFamily="34" charset="0"/>
              </a:rPr>
              <a:t> vCPU, </a:t>
            </a:r>
            <a:r>
              <a:rPr lang="en-US" sz="1400" dirty="0">
                <a:solidFill>
                  <a:srgbClr val="FFFF00"/>
                </a:solidFill>
                <a:ea typeface="Amazon Ember" panose="020B0603020204020204" pitchFamily="34" charset="0"/>
                <a:cs typeface="Amazon Ember" panose="020B0603020204020204" pitchFamily="34" charset="0"/>
              </a:rPr>
              <a:t>4-TB</a:t>
            </a:r>
            <a:r>
              <a:rPr lang="en-US" sz="1400" dirty="0">
                <a:solidFill>
                  <a:srgbClr val="F8F8F8"/>
                </a:solidFill>
                <a:ea typeface="Amazon Ember" panose="020B0603020204020204" pitchFamily="34" charset="0"/>
                <a:cs typeface="Amazon Ember" panose="020B0603020204020204" pitchFamily="34" charset="0"/>
              </a:rPr>
              <a:t> RAM, and </a:t>
            </a:r>
            <a:r>
              <a:rPr lang="en-US" sz="1400" dirty="0">
                <a:solidFill>
                  <a:srgbClr val="FFFF00"/>
                </a:solidFill>
                <a:ea typeface="Amazon Ember" panose="020B0603020204020204" pitchFamily="34" charset="0"/>
                <a:cs typeface="Amazon Ember" panose="020B0603020204020204" pitchFamily="34" charset="0"/>
              </a:rPr>
              <a:t>400-TB</a:t>
            </a:r>
            <a:r>
              <a:rPr lang="en-US" sz="1400" dirty="0">
                <a:solidFill>
                  <a:srgbClr val="F8F8F8"/>
                </a:solidFill>
                <a:ea typeface="Amazon Ember" panose="020B0603020204020204" pitchFamily="34" charset="0"/>
                <a:cs typeface="Amazon Ember" panose="020B0603020204020204" pitchFamily="34" charset="0"/>
              </a:rPr>
              <a:t> storage (up to </a:t>
            </a:r>
            <a:r>
              <a:rPr lang="en-US" sz="1400" dirty="0">
                <a:solidFill>
                  <a:srgbClr val="FFFF00"/>
                </a:solidFill>
                <a:ea typeface="Amazon Ember" panose="020B0603020204020204" pitchFamily="34" charset="0"/>
                <a:cs typeface="Amazon Ember" panose="020B0603020204020204" pitchFamily="34" charset="0"/>
              </a:rPr>
              <a:t>448</a:t>
            </a:r>
            <a:r>
              <a:rPr lang="en-US" sz="1400" dirty="0">
                <a:solidFill>
                  <a:srgbClr val="F8F8F8"/>
                </a:solidFill>
                <a:ea typeface="Amazon Ember" panose="020B0603020204020204" pitchFamily="34" charset="0"/>
                <a:cs typeface="Amazon Ember" panose="020B0603020204020204" pitchFamily="34" charset="0"/>
              </a:rPr>
              <a:t> vCPU, </a:t>
            </a:r>
            <a:r>
              <a:rPr lang="en-US" sz="1400" dirty="0">
                <a:solidFill>
                  <a:srgbClr val="FFFF00"/>
                </a:solidFill>
                <a:ea typeface="Amazon Ember" panose="020B0603020204020204" pitchFamily="34" charset="0"/>
                <a:cs typeface="Amazon Ember" panose="020B0603020204020204" pitchFamily="34" charset="0"/>
              </a:rPr>
              <a:t>12-TB</a:t>
            </a:r>
            <a:r>
              <a:rPr lang="en-US" sz="1400" dirty="0">
                <a:solidFill>
                  <a:srgbClr val="F8F8F8"/>
                </a:solidFill>
                <a:ea typeface="Amazon Ember" panose="020B0603020204020204" pitchFamily="34" charset="0"/>
                <a:cs typeface="Amazon Ember" panose="020B0603020204020204" pitchFamily="34" charset="0"/>
              </a:rPr>
              <a:t> RAM for High-memory instances)</a:t>
            </a:r>
          </a:p>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Any available Instance Type</a:t>
            </a:r>
          </a:p>
          <a:p>
            <a:pPr marL="285750" indent="-285750">
              <a:buFont typeface="Arial" panose="020B0604020202020204" pitchFamily="34" charset="0"/>
              <a:buChar char="•"/>
            </a:pPr>
            <a:r>
              <a:rPr lang="en-US" sz="1400" dirty="0">
                <a:solidFill>
                  <a:srgbClr val="F8F8F8"/>
                </a:solidFill>
                <a:ea typeface="Amazon Ember" panose="020B0603020204020204" pitchFamily="34" charset="0"/>
                <a:cs typeface="Amazon Ember" panose="020B0603020204020204" pitchFamily="34" charset="0"/>
              </a:rPr>
              <a:t>Multiple storage options</a:t>
            </a:r>
          </a:p>
        </p:txBody>
      </p:sp>
    </p:spTree>
    <p:extLst>
      <p:ext uri="{BB962C8B-B14F-4D97-AF65-F5344CB8AC3E}">
        <p14:creationId xmlns:p14="http://schemas.microsoft.com/office/powerpoint/2010/main" val="2943919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1"/>
          <p:cNvSpPr txBox="1">
            <a:spLocks/>
          </p:cNvSpPr>
          <p:nvPr/>
        </p:nvSpPr>
        <p:spPr>
          <a:xfrm>
            <a:off x="892967" y="798870"/>
            <a:ext cx="3657600" cy="381933"/>
          </a:xfrm>
          <a:prstGeom prst="rect">
            <a:avLst/>
          </a:prstGeom>
        </p:spPr>
        <p:txBody>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Amazon RDS for SQL Server</a:t>
            </a:r>
          </a:p>
        </p:txBody>
      </p:sp>
      <p:sp>
        <p:nvSpPr>
          <p:cNvPr id="30" name="Text Placeholder 11"/>
          <p:cNvSpPr txBox="1">
            <a:spLocks/>
          </p:cNvSpPr>
          <p:nvPr/>
        </p:nvSpPr>
        <p:spPr>
          <a:xfrm>
            <a:off x="5556034" y="810040"/>
            <a:ext cx="3681326" cy="415603"/>
          </a:xfrm>
          <a:prstGeom prst="rect">
            <a:avLst/>
          </a:prstGeom>
        </p:spPr>
        <p:txBody>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SQL Server on Amazon EC2</a:t>
            </a:r>
          </a:p>
        </p:txBody>
      </p:sp>
      <p:sp>
        <p:nvSpPr>
          <p:cNvPr id="31" name="Text Placeholder 11"/>
          <p:cNvSpPr txBox="1">
            <a:spLocks/>
          </p:cNvSpPr>
          <p:nvPr/>
        </p:nvSpPr>
        <p:spPr>
          <a:xfrm>
            <a:off x="6139131" y="4336657"/>
            <a:ext cx="1836223" cy="275167"/>
          </a:xfrm>
          <a:prstGeom prst="rect">
            <a:avLst/>
          </a:prstGeom>
        </p:spPr>
        <p:txBody>
          <a:bodyPr anchor="ct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Customer managed</a:t>
            </a:r>
          </a:p>
        </p:txBody>
      </p:sp>
      <p:sp>
        <p:nvSpPr>
          <p:cNvPr id="33" name="Text Placeholder 11"/>
          <p:cNvSpPr txBox="1">
            <a:spLocks/>
          </p:cNvSpPr>
          <p:nvPr/>
        </p:nvSpPr>
        <p:spPr>
          <a:xfrm>
            <a:off x="3559159" y="4356124"/>
            <a:ext cx="1319127" cy="304802"/>
          </a:xfrm>
          <a:prstGeom prst="rect">
            <a:avLst/>
          </a:prstGeom>
        </p:spPr>
        <p:txBody>
          <a:bodyPr anchor="ct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AWS managed</a:t>
            </a:r>
          </a:p>
        </p:txBody>
      </p:sp>
      <p:sp>
        <p:nvSpPr>
          <p:cNvPr id="37" name="Rectangle 36"/>
          <p:cNvSpPr/>
          <p:nvPr/>
        </p:nvSpPr>
        <p:spPr>
          <a:xfrm>
            <a:off x="2189608" y="351981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38" name="Rectangle 37"/>
          <p:cNvSpPr/>
          <p:nvPr/>
        </p:nvSpPr>
        <p:spPr>
          <a:xfrm>
            <a:off x="2189608" y="384842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39" name="Rectangle 38"/>
          <p:cNvSpPr/>
          <p:nvPr/>
        </p:nvSpPr>
        <p:spPr>
          <a:xfrm>
            <a:off x="2557779" y="3862497"/>
            <a:ext cx="1269002"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Power, HVAC, net</a:t>
            </a:r>
          </a:p>
        </p:txBody>
      </p:sp>
      <p:sp>
        <p:nvSpPr>
          <p:cNvPr id="40" name="Rectangle 39"/>
          <p:cNvSpPr/>
          <p:nvPr/>
        </p:nvSpPr>
        <p:spPr>
          <a:xfrm>
            <a:off x="2809996" y="3530241"/>
            <a:ext cx="764568"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OS Install</a:t>
            </a:r>
          </a:p>
        </p:txBody>
      </p:sp>
      <p:sp>
        <p:nvSpPr>
          <p:cNvPr id="41" name="Rectangle 40"/>
          <p:cNvSpPr/>
          <p:nvPr/>
        </p:nvSpPr>
        <p:spPr>
          <a:xfrm>
            <a:off x="2189608" y="3187119"/>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42" name="Rectangle 41"/>
          <p:cNvSpPr/>
          <p:nvPr/>
        </p:nvSpPr>
        <p:spPr>
          <a:xfrm>
            <a:off x="2729753" y="3197549"/>
            <a:ext cx="925061"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OS Patching</a:t>
            </a:r>
          </a:p>
        </p:txBody>
      </p:sp>
      <p:sp>
        <p:nvSpPr>
          <p:cNvPr id="43" name="Rectangle 42"/>
          <p:cNvSpPr/>
          <p:nvPr/>
        </p:nvSpPr>
        <p:spPr>
          <a:xfrm>
            <a:off x="2189608" y="285218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44" name="Rectangle 43"/>
          <p:cNvSpPr/>
          <p:nvPr/>
        </p:nvSpPr>
        <p:spPr>
          <a:xfrm>
            <a:off x="2265716" y="2862612"/>
            <a:ext cx="1853136"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DBMS Install/Maintenance</a:t>
            </a:r>
          </a:p>
        </p:txBody>
      </p:sp>
      <p:sp>
        <p:nvSpPr>
          <p:cNvPr id="45" name="Rectangle 44"/>
          <p:cNvSpPr/>
          <p:nvPr/>
        </p:nvSpPr>
        <p:spPr>
          <a:xfrm>
            <a:off x="2189608" y="251854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46" name="Rectangle 45"/>
          <p:cNvSpPr/>
          <p:nvPr/>
        </p:nvSpPr>
        <p:spPr>
          <a:xfrm>
            <a:off x="2626362" y="2528972"/>
            <a:ext cx="1131848"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DBMS Patching</a:t>
            </a:r>
          </a:p>
        </p:txBody>
      </p:sp>
      <p:sp>
        <p:nvSpPr>
          <p:cNvPr id="47" name="Rectangle 46"/>
          <p:cNvSpPr/>
          <p:nvPr/>
        </p:nvSpPr>
        <p:spPr>
          <a:xfrm>
            <a:off x="2189608" y="2185583"/>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48" name="Rectangle 47"/>
          <p:cNvSpPr/>
          <p:nvPr/>
        </p:nvSpPr>
        <p:spPr>
          <a:xfrm>
            <a:off x="2535471" y="2196012"/>
            <a:ext cx="1313628"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Database Backups</a:t>
            </a:r>
          </a:p>
        </p:txBody>
      </p:sp>
      <p:sp>
        <p:nvSpPr>
          <p:cNvPr id="49" name="Rectangle 48"/>
          <p:cNvSpPr/>
          <p:nvPr/>
        </p:nvSpPr>
        <p:spPr>
          <a:xfrm>
            <a:off x="2189608" y="185334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50" name="Rectangle 49"/>
          <p:cNvSpPr/>
          <p:nvPr/>
        </p:nvSpPr>
        <p:spPr>
          <a:xfrm>
            <a:off x="2601579" y="1863771"/>
            <a:ext cx="1181414"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High Availability</a:t>
            </a:r>
          </a:p>
        </p:txBody>
      </p:sp>
      <p:sp>
        <p:nvSpPr>
          <p:cNvPr id="51" name="Rectangle 50"/>
          <p:cNvSpPr/>
          <p:nvPr/>
        </p:nvSpPr>
        <p:spPr>
          <a:xfrm>
            <a:off x="2189608" y="1507974"/>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52" name="Rectangle 51"/>
          <p:cNvSpPr/>
          <p:nvPr/>
        </p:nvSpPr>
        <p:spPr>
          <a:xfrm>
            <a:off x="2189608" y="1518404"/>
            <a:ext cx="2072613" cy="276999"/>
          </a:xfrm>
          <a:prstGeom prst="rect">
            <a:avLst/>
          </a:prstGeom>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Push-button Scaling</a:t>
            </a:r>
          </a:p>
        </p:txBody>
      </p:sp>
      <p:sp>
        <p:nvSpPr>
          <p:cNvPr id="53" name="Rectangle 52"/>
          <p:cNvSpPr/>
          <p:nvPr/>
        </p:nvSpPr>
        <p:spPr>
          <a:xfrm>
            <a:off x="2657363" y="4356124"/>
            <a:ext cx="810782" cy="303787"/>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chemeClr val="bg1"/>
              </a:solidFill>
              <a:effectLst/>
              <a:uLnTx/>
              <a:uFillTx/>
              <a:latin typeface="Calibri" panose="020F0502020204030204" pitchFamily="34" charset="0"/>
              <a:ea typeface="+mn-ea"/>
              <a:cs typeface="+mn-cs"/>
            </a:endParaRPr>
          </a:p>
        </p:txBody>
      </p:sp>
      <p:sp>
        <p:nvSpPr>
          <p:cNvPr id="54" name="Rectangle 53"/>
          <p:cNvSpPr/>
          <p:nvPr/>
        </p:nvSpPr>
        <p:spPr>
          <a:xfrm>
            <a:off x="5288142" y="4356123"/>
            <a:ext cx="810782" cy="303787"/>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chemeClr val="bg1"/>
              </a:solidFill>
              <a:effectLst/>
              <a:uLnTx/>
              <a:uFillTx/>
              <a:latin typeface="Calibri" panose="020F0502020204030204" pitchFamily="34" charset="0"/>
              <a:ea typeface="+mn-ea"/>
              <a:cs typeface="+mn-cs"/>
            </a:endParaRPr>
          </a:p>
        </p:txBody>
      </p:sp>
      <p:sp>
        <p:nvSpPr>
          <p:cNvPr id="55" name="Rectangle 54"/>
          <p:cNvSpPr/>
          <p:nvPr/>
        </p:nvSpPr>
        <p:spPr>
          <a:xfrm>
            <a:off x="6755824" y="351937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56" name="Rectangle 55"/>
          <p:cNvSpPr/>
          <p:nvPr/>
        </p:nvSpPr>
        <p:spPr>
          <a:xfrm>
            <a:off x="6755824" y="3847982"/>
            <a:ext cx="2072615" cy="305152"/>
          </a:xfrm>
          <a:prstGeom prst="rect">
            <a:avLst/>
          </a:prstGeom>
          <a:solidFill>
            <a:srgbClr val="FFD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57" name="Rectangle 56"/>
          <p:cNvSpPr/>
          <p:nvPr/>
        </p:nvSpPr>
        <p:spPr>
          <a:xfrm>
            <a:off x="7123995" y="3862058"/>
            <a:ext cx="1269002"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Power, HVAC, net</a:t>
            </a:r>
          </a:p>
        </p:txBody>
      </p:sp>
      <p:sp>
        <p:nvSpPr>
          <p:cNvPr id="58" name="Rectangle 57"/>
          <p:cNvSpPr/>
          <p:nvPr/>
        </p:nvSpPr>
        <p:spPr>
          <a:xfrm>
            <a:off x="7376212" y="3529802"/>
            <a:ext cx="764568"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OS Install</a:t>
            </a:r>
          </a:p>
        </p:txBody>
      </p:sp>
      <p:sp>
        <p:nvSpPr>
          <p:cNvPr id="59" name="Rectangle 58"/>
          <p:cNvSpPr/>
          <p:nvPr/>
        </p:nvSpPr>
        <p:spPr>
          <a:xfrm>
            <a:off x="6755824" y="3186680"/>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60" name="Rectangle 59"/>
          <p:cNvSpPr/>
          <p:nvPr/>
        </p:nvSpPr>
        <p:spPr>
          <a:xfrm>
            <a:off x="7295969" y="3197109"/>
            <a:ext cx="925061"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OS Patching</a:t>
            </a:r>
          </a:p>
        </p:txBody>
      </p:sp>
      <p:sp>
        <p:nvSpPr>
          <p:cNvPr id="61" name="Rectangle 60"/>
          <p:cNvSpPr/>
          <p:nvPr/>
        </p:nvSpPr>
        <p:spPr>
          <a:xfrm>
            <a:off x="6755824" y="2851742"/>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62" name="Rectangle 61"/>
          <p:cNvSpPr/>
          <p:nvPr/>
        </p:nvSpPr>
        <p:spPr>
          <a:xfrm>
            <a:off x="6831932" y="2862172"/>
            <a:ext cx="1853136"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DBMS Install/Maintenance</a:t>
            </a:r>
          </a:p>
        </p:txBody>
      </p:sp>
      <p:sp>
        <p:nvSpPr>
          <p:cNvPr id="63" name="Rectangle 62"/>
          <p:cNvSpPr/>
          <p:nvPr/>
        </p:nvSpPr>
        <p:spPr>
          <a:xfrm>
            <a:off x="6755824" y="2518103"/>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64" name="Rectangle 63"/>
          <p:cNvSpPr/>
          <p:nvPr/>
        </p:nvSpPr>
        <p:spPr>
          <a:xfrm>
            <a:off x="7192578" y="2528532"/>
            <a:ext cx="1131848"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DBMS Patching</a:t>
            </a:r>
          </a:p>
        </p:txBody>
      </p:sp>
      <p:sp>
        <p:nvSpPr>
          <p:cNvPr id="65" name="Rectangle 64"/>
          <p:cNvSpPr/>
          <p:nvPr/>
        </p:nvSpPr>
        <p:spPr>
          <a:xfrm>
            <a:off x="6755824" y="2185143"/>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66" name="Rectangle 65"/>
          <p:cNvSpPr/>
          <p:nvPr/>
        </p:nvSpPr>
        <p:spPr>
          <a:xfrm>
            <a:off x="7101687" y="2195573"/>
            <a:ext cx="1313628"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Database Backups</a:t>
            </a:r>
          </a:p>
        </p:txBody>
      </p:sp>
      <p:sp>
        <p:nvSpPr>
          <p:cNvPr id="67" name="Rectangle 66"/>
          <p:cNvSpPr/>
          <p:nvPr/>
        </p:nvSpPr>
        <p:spPr>
          <a:xfrm>
            <a:off x="6755824" y="1852902"/>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68" name="Rectangle 67"/>
          <p:cNvSpPr/>
          <p:nvPr/>
        </p:nvSpPr>
        <p:spPr>
          <a:xfrm>
            <a:off x="7167795" y="1863332"/>
            <a:ext cx="1181414"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High Availability</a:t>
            </a:r>
          </a:p>
        </p:txBody>
      </p:sp>
      <p:sp>
        <p:nvSpPr>
          <p:cNvPr id="69" name="Rectangle 68"/>
          <p:cNvSpPr/>
          <p:nvPr/>
        </p:nvSpPr>
        <p:spPr>
          <a:xfrm>
            <a:off x="6755824" y="1507535"/>
            <a:ext cx="2072615" cy="30515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endParaRPr>
          </a:p>
        </p:txBody>
      </p:sp>
      <p:sp>
        <p:nvSpPr>
          <p:cNvPr id="70" name="Rectangle 69"/>
          <p:cNvSpPr/>
          <p:nvPr/>
        </p:nvSpPr>
        <p:spPr>
          <a:xfrm>
            <a:off x="7450405" y="1517964"/>
            <a:ext cx="616194" cy="276999"/>
          </a:xfrm>
          <a:prstGeom prst="rect">
            <a:avLst/>
          </a:prstGeom>
        </p:spPr>
        <p:txBody>
          <a:bodyPr wrap="non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D2836"/>
                </a:solidFill>
                <a:effectLst/>
                <a:uLnTx/>
                <a:uFillTx/>
                <a:latin typeface="Calibri" panose="020F0502020204030204" pitchFamily="34" charset="0"/>
                <a:ea typeface="+mn-ea"/>
                <a:cs typeface="+mn-cs"/>
              </a:rPr>
              <a:t>Scaling</a:t>
            </a:r>
          </a:p>
        </p:txBody>
      </p:sp>
      <p:cxnSp>
        <p:nvCxnSpPr>
          <p:cNvPr id="77" name="Straight Connector 76"/>
          <p:cNvCxnSpPr/>
          <p:nvPr/>
        </p:nvCxnSpPr>
        <p:spPr>
          <a:xfrm>
            <a:off x="4572000" y="1295940"/>
            <a:ext cx="0" cy="2894554"/>
          </a:xfrm>
          <a:prstGeom prst="line">
            <a:avLst/>
          </a:prstGeom>
          <a:ln w="6350">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88" name="Content Placeholder 4"/>
          <p:cNvSpPr txBox="1">
            <a:spLocks/>
          </p:cNvSpPr>
          <p:nvPr/>
        </p:nvSpPr>
        <p:spPr>
          <a:xfrm>
            <a:off x="117310" y="1517964"/>
            <a:ext cx="1945805" cy="2583795"/>
          </a:xfrm>
          <a:prstGeom prst="rect">
            <a:avLst/>
          </a:prstGeom>
        </p:spPr>
        <p:txBody>
          <a:bodyPr/>
          <a:lstStyle>
            <a:lvl1pPr marL="0" indent="0" algn="l" defTabSz="609585" rtl="0" eaLnBrk="1" latinLnBrk="0" hangingPunct="1">
              <a:spcBef>
                <a:spcPct val="20000"/>
              </a:spcBef>
              <a:buFontTx/>
              <a:buNone/>
              <a:defRPr sz="3200" b="0" i="0" kern="1200">
                <a:solidFill>
                  <a:schemeClr val="accent6">
                    <a:lumMod val="50000"/>
                  </a:schemeClr>
                </a:solidFill>
                <a:latin typeface="Arial"/>
                <a:ea typeface="+mn-ea"/>
                <a:cs typeface="Arial"/>
              </a:defRPr>
            </a:lvl1pPr>
            <a:lvl2pPr marL="990575" indent="-380990" algn="l" defTabSz="609585" rtl="0" eaLnBrk="1" latinLnBrk="0" hangingPunct="1">
              <a:spcBef>
                <a:spcPct val="20000"/>
              </a:spcBef>
              <a:buFont typeface="Arial"/>
              <a:buChar char="•"/>
              <a:defRPr sz="2667" b="0" i="0" kern="1200">
                <a:solidFill>
                  <a:schemeClr val="accent6">
                    <a:lumMod val="50000"/>
                  </a:schemeClr>
                </a:solidFill>
                <a:latin typeface="Arial"/>
                <a:ea typeface="+mn-ea"/>
                <a:cs typeface="Arial"/>
              </a:defRPr>
            </a:lvl2pPr>
            <a:lvl3pPr marL="1523962" indent="-304792" algn="l" defTabSz="609585" rtl="0" eaLnBrk="1" latinLnBrk="0" hangingPunct="1">
              <a:spcBef>
                <a:spcPct val="20000"/>
              </a:spcBef>
              <a:buFont typeface="Arial"/>
              <a:buChar char="•"/>
              <a:defRPr sz="2400" b="0" i="0" kern="1200">
                <a:solidFill>
                  <a:schemeClr val="accent6">
                    <a:lumMod val="50000"/>
                  </a:schemeClr>
                </a:solidFill>
                <a:latin typeface="Arial"/>
                <a:ea typeface="+mn-ea"/>
                <a:cs typeface="Arial"/>
              </a:defRPr>
            </a:lvl3pPr>
            <a:lvl4pPr marL="2133547" indent="-304792" algn="l" defTabSz="609585" rtl="0" eaLnBrk="1" latinLnBrk="0" hangingPunct="1">
              <a:spcBef>
                <a:spcPct val="20000"/>
              </a:spcBef>
              <a:buFont typeface="Arial"/>
              <a:buChar char="–"/>
              <a:defRPr sz="2133" b="0" i="0" kern="1200">
                <a:solidFill>
                  <a:schemeClr val="accent6">
                    <a:lumMod val="50000"/>
                  </a:schemeClr>
                </a:solidFill>
                <a:latin typeface="Arial"/>
                <a:ea typeface="+mn-ea"/>
                <a:cs typeface="Arial"/>
              </a:defRPr>
            </a:lvl4pPr>
            <a:lvl5pPr marL="2743131" indent="-304792" algn="l" defTabSz="609585" rtl="0" eaLnBrk="1" latinLnBrk="0" hangingPunct="1">
              <a:spcBef>
                <a:spcPct val="20000"/>
              </a:spcBef>
              <a:buFont typeface="Arial"/>
              <a:buChar char="»"/>
              <a:defRPr sz="2133" b="0" i="0" kern="1200">
                <a:solidFill>
                  <a:schemeClr val="accent6">
                    <a:lumMod val="50000"/>
                  </a:schemeClr>
                </a:solidFill>
                <a:latin typeface="Arial"/>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R="0" lvl="0" algn="l" defTabSz="609585" rtl="0" eaLnBrk="1" fontAlgn="auto" latinLnBrk="0" hangingPunct="1">
              <a:lnSpc>
                <a:spcPct val="100000"/>
              </a:lnSpc>
              <a:spcBef>
                <a:spcPct val="20000"/>
              </a:spcBef>
              <a:spcAft>
                <a:spcPts val="0"/>
              </a:spcAft>
              <a:buClrTx/>
              <a:buSzTx/>
              <a:tabLst/>
              <a:defRPr/>
            </a:pPr>
            <a:r>
              <a:rPr kumimoji="0" lang="en-US" sz="1350" b="1" i="0" u="sng" strike="noStrike" kern="1200" cap="none" spc="0" normalizeH="0" baseline="0" noProof="0" dirty="0">
                <a:ln>
                  <a:noFill/>
                </a:ln>
                <a:solidFill>
                  <a:schemeClr val="bg1"/>
                </a:solidFill>
                <a:effectLst/>
                <a:uLnTx/>
                <a:uFillTx/>
                <a:latin typeface="Calibri" panose="020F0502020204030204" pitchFamily="34" charset="0"/>
                <a:ea typeface="+mn-ea"/>
                <a:cs typeface="Arial"/>
              </a:rPr>
              <a:t>Consider RDS first!</a:t>
            </a:r>
          </a:p>
          <a:p>
            <a:pPr marR="0" lvl="0" algn="l" defTabSz="609585" rtl="0" eaLnBrk="1" fontAlgn="auto" latinLnBrk="0" hangingPunct="1">
              <a:lnSpc>
                <a:spcPct val="100000"/>
              </a:lnSpc>
              <a:spcBef>
                <a:spcPct val="20000"/>
              </a:spcBef>
              <a:spcAft>
                <a:spcPts val="0"/>
              </a:spcAft>
              <a:buClrTx/>
              <a:buSzTx/>
              <a:tabLst/>
              <a:defRPr/>
            </a:pPr>
            <a:r>
              <a:rPr kumimoji="0" lang="en-US" sz="135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Focus on:</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Business value tasks</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High-level tuning tasks</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Schema optimization</a:t>
            </a:r>
          </a:p>
          <a:p>
            <a:pPr marR="0" lvl="0" algn="l" defTabSz="609585" rtl="0" eaLnBrk="1" fontAlgn="auto" latinLnBrk="0" hangingPunct="1">
              <a:lnSpc>
                <a:spcPct val="100000"/>
              </a:lnSpc>
              <a:spcBef>
                <a:spcPct val="20000"/>
              </a:spcBef>
              <a:spcAft>
                <a:spcPts val="0"/>
              </a:spcAft>
              <a:buClrTx/>
              <a:buSzTx/>
              <a:tabLst/>
              <a:defRPr/>
            </a:pPr>
            <a:r>
              <a:rPr lang="en-US" sz="1350" b="1" dirty="0">
                <a:solidFill>
                  <a:schemeClr val="bg1"/>
                </a:solidFill>
                <a:latin typeface="Calibri" panose="020F0502020204030204" pitchFamily="34" charset="0"/>
              </a:rPr>
              <a:t>No in-house database management expertise</a:t>
            </a:r>
          </a:p>
          <a:p>
            <a:pPr marL="0" marR="0" lvl="0" indent="0" algn="l" defTabSz="609585" rtl="0" eaLnBrk="1" fontAlgn="auto" latinLnBrk="0" hangingPunct="1">
              <a:lnSpc>
                <a:spcPct val="100000"/>
              </a:lnSpc>
              <a:spcBef>
                <a:spcPct val="20000"/>
              </a:spcBef>
              <a:spcAft>
                <a:spcPts val="0"/>
              </a:spcAft>
              <a:buClrTx/>
              <a:buSzTx/>
              <a:buFontTx/>
              <a:buNone/>
              <a:tabLst/>
              <a:defRPr/>
            </a:pPr>
            <a:endPar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endParaRPr>
          </a:p>
        </p:txBody>
      </p:sp>
      <p:sp>
        <p:nvSpPr>
          <p:cNvPr id="89" name="Content Placeholder 6"/>
          <p:cNvSpPr txBox="1">
            <a:spLocks/>
          </p:cNvSpPr>
          <p:nvPr/>
        </p:nvSpPr>
        <p:spPr>
          <a:xfrm>
            <a:off x="4667360" y="1517964"/>
            <a:ext cx="2021193" cy="2583795"/>
          </a:xfrm>
          <a:prstGeom prst="rect">
            <a:avLst/>
          </a:prstGeom>
        </p:spPr>
        <p:txBody>
          <a:bodyPr/>
          <a:lstStyle>
            <a:lvl1pPr marL="0" indent="0" algn="l" defTabSz="609585" rtl="0" eaLnBrk="1" latinLnBrk="0" hangingPunct="1">
              <a:spcBef>
                <a:spcPct val="20000"/>
              </a:spcBef>
              <a:buFontTx/>
              <a:buNone/>
              <a:defRPr sz="3200" b="0" i="0" kern="1200">
                <a:solidFill>
                  <a:schemeClr val="accent6">
                    <a:lumMod val="50000"/>
                  </a:schemeClr>
                </a:solidFill>
                <a:latin typeface="Arial"/>
                <a:ea typeface="+mn-ea"/>
                <a:cs typeface="Arial"/>
              </a:defRPr>
            </a:lvl1pPr>
            <a:lvl2pPr marL="990575" indent="-380990" algn="l" defTabSz="609585" rtl="0" eaLnBrk="1" latinLnBrk="0" hangingPunct="1">
              <a:spcBef>
                <a:spcPct val="20000"/>
              </a:spcBef>
              <a:buFont typeface="Arial"/>
              <a:buChar char="•"/>
              <a:defRPr sz="2667" b="0" i="0" kern="1200">
                <a:solidFill>
                  <a:schemeClr val="accent6">
                    <a:lumMod val="50000"/>
                  </a:schemeClr>
                </a:solidFill>
                <a:latin typeface="Arial"/>
                <a:ea typeface="+mn-ea"/>
                <a:cs typeface="Arial"/>
              </a:defRPr>
            </a:lvl2pPr>
            <a:lvl3pPr marL="1523962" indent="-304792" algn="l" defTabSz="609585" rtl="0" eaLnBrk="1" latinLnBrk="0" hangingPunct="1">
              <a:spcBef>
                <a:spcPct val="20000"/>
              </a:spcBef>
              <a:buFont typeface="Arial"/>
              <a:buChar char="•"/>
              <a:defRPr sz="2400" b="0" i="0" kern="1200">
                <a:solidFill>
                  <a:schemeClr val="accent6">
                    <a:lumMod val="50000"/>
                  </a:schemeClr>
                </a:solidFill>
                <a:latin typeface="Arial"/>
                <a:ea typeface="+mn-ea"/>
                <a:cs typeface="Arial"/>
              </a:defRPr>
            </a:lvl3pPr>
            <a:lvl4pPr marL="2133547" indent="-304792" algn="l" defTabSz="609585" rtl="0" eaLnBrk="1" latinLnBrk="0" hangingPunct="1">
              <a:spcBef>
                <a:spcPct val="20000"/>
              </a:spcBef>
              <a:buFont typeface="Arial"/>
              <a:buChar char="–"/>
              <a:defRPr sz="2133" b="0" i="0" kern="1200">
                <a:solidFill>
                  <a:schemeClr val="accent6">
                    <a:lumMod val="50000"/>
                  </a:schemeClr>
                </a:solidFill>
                <a:latin typeface="Arial"/>
                <a:ea typeface="+mn-ea"/>
                <a:cs typeface="Arial"/>
              </a:defRPr>
            </a:lvl4pPr>
            <a:lvl5pPr marL="2743131" indent="-304792" algn="l" defTabSz="609585" rtl="0" eaLnBrk="1" latinLnBrk="0" hangingPunct="1">
              <a:spcBef>
                <a:spcPct val="20000"/>
              </a:spcBef>
              <a:buFont typeface="Arial"/>
              <a:buChar char="»"/>
              <a:defRPr sz="2133" b="0" i="0" kern="1200">
                <a:solidFill>
                  <a:schemeClr val="accent6">
                    <a:lumMod val="50000"/>
                  </a:schemeClr>
                </a:solidFill>
                <a:latin typeface="Arial"/>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defRPr/>
            </a:pPr>
            <a:r>
              <a:rPr lang="en-US" sz="1350" b="1" u="sng" dirty="0">
                <a:solidFill>
                  <a:schemeClr val="bg1"/>
                </a:solidFill>
                <a:latin typeface="Calibri" panose="020F0502020204030204" pitchFamily="34" charset="0"/>
              </a:rPr>
              <a:t>Consider SQL Server on EC2 if:</a:t>
            </a:r>
            <a:endPar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endParaRPr>
          </a:p>
          <a:p>
            <a:pPr marR="0" lvl="0" algn="l" defTabSz="609585" rtl="0" eaLnBrk="1" fontAlgn="auto" latinLnBrk="0" hangingPunct="1">
              <a:lnSpc>
                <a:spcPct val="100000"/>
              </a:lnSpc>
              <a:spcBef>
                <a:spcPct val="20000"/>
              </a:spcBef>
              <a:spcAft>
                <a:spcPts val="0"/>
              </a:spcAft>
              <a:buClrTx/>
              <a:buSzTx/>
              <a:tabLst/>
              <a:defRPr/>
            </a:pPr>
            <a:r>
              <a:rPr kumimoji="0" lang="en-US" sz="135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Need full control over:</a:t>
            </a:r>
          </a:p>
          <a:p>
            <a:pPr marR="0" lvl="0" indent="182880" algn="l" defTabSz="60958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US" sz="1350" dirty="0">
                <a:solidFill>
                  <a:schemeClr val="bg1"/>
                </a:solidFill>
                <a:latin typeface="Calibri" panose="020F0502020204030204" pitchFamily="34" charset="0"/>
              </a:rPr>
              <a:t>DB instance &amp; OS</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Backups</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Replication</a:t>
            </a:r>
          </a:p>
          <a:p>
            <a:pPr marR="0" lvl="0" indent="182880" algn="l" defTabSz="609585" rtl="0" eaLnBrk="1" fontAlgn="auto" latinLnBrk="0" hangingPunct="1">
              <a:lnSpc>
                <a:spcPct val="100000"/>
              </a:lnSpc>
              <a:spcBef>
                <a:spcPct val="20000"/>
              </a:spcBef>
              <a:spcAft>
                <a:spcPts val="0"/>
              </a:spcAft>
              <a:buClrTx/>
              <a:buSzTx/>
              <a:buFont typeface="Arial"/>
              <a:buChar char="•"/>
              <a:tabLst/>
              <a:defRPr/>
            </a:pPr>
            <a:r>
              <a:rPr kumimoji="0" lang="en-US" sz="135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Clustering</a:t>
            </a:r>
          </a:p>
          <a:p>
            <a:pPr marR="0" lvl="0" algn="l" defTabSz="609585" rtl="0" eaLnBrk="1" fontAlgn="auto" latinLnBrk="0" hangingPunct="1">
              <a:lnSpc>
                <a:spcPct val="100000"/>
              </a:lnSpc>
              <a:spcBef>
                <a:spcPct val="20000"/>
              </a:spcBef>
              <a:spcAft>
                <a:spcPts val="0"/>
              </a:spcAft>
              <a:buClrTx/>
              <a:buSzTx/>
              <a:tabLst/>
              <a:defRPr/>
            </a:pPr>
            <a:r>
              <a:rPr kumimoji="0" lang="en-US" sz="1350" b="1" i="0" u="none" strike="noStrike" kern="1200" cap="none" spc="0" normalizeH="0" baseline="0" noProof="0" dirty="0">
                <a:ln>
                  <a:noFill/>
                </a:ln>
                <a:solidFill>
                  <a:schemeClr val="bg1"/>
                </a:solidFill>
                <a:effectLst/>
                <a:uLnTx/>
                <a:uFillTx/>
                <a:latin typeface="Calibri" panose="020F0502020204030204" pitchFamily="34" charset="0"/>
                <a:ea typeface="+mn-ea"/>
                <a:cs typeface="Arial"/>
              </a:rPr>
              <a:t>Require options that are not available in RDS</a:t>
            </a:r>
          </a:p>
          <a:p>
            <a:pPr marL="0" marR="0" lvl="0" indent="0" algn="l" defTabSz="609585" rtl="0" eaLnBrk="1" fontAlgn="auto" latinLnBrk="0" hangingPunct="1">
              <a:lnSpc>
                <a:spcPct val="100000"/>
              </a:lnSpc>
              <a:spcBef>
                <a:spcPct val="2000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Arial"/>
            </a:endParaRPr>
          </a:p>
        </p:txBody>
      </p:sp>
      <p:sp>
        <p:nvSpPr>
          <p:cNvPr id="71" name="Title 5">
            <a:extLst>
              <a:ext uri="{FF2B5EF4-FFF2-40B4-BE49-F238E27FC236}">
                <a16:creationId xmlns:a16="http://schemas.microsoft.com/office/drawing/2014/main" id="{1DD55A61-378F-AF43-8F66-6E6766AC934E}"/>
              </a:ext>
            </a:extLst>
          </p:cNvPr>
          <p:cNvSpPr>
            <a:spLocks noGrp="1"/>
          </p:cNvSpPr>
          <p:nvPr>
            <p:ph type="title"/>
          </p:nvPr>
        </p:nvSpPr>
        <p:spPr>
          <a:xfrm>
            <a:off x="336789" y="114936"/>
            <a:ext cx="8205304" cy="857250"/>
          </a:xfrm>
        </p:spPr>
        <p:txBody>
          <a:bodyPr/>
          <a:lstStyle/>
          <a:p>
            <a:r>
              <a:rPr lang="en-US" b="1" dirty="0">
                <a:latin typeface="Amazon Ember" panose="020B0603020204020204" pitchFamily="34" charset="0"/>
                <a:ea typeface="Amazon Ember" panose="020B0603020204020204" pitchFamily="34" charset="0"/>
                <a:cs typeface="Amazon Ember" panose="020B0603020204020204" pitchFamily="34" charset="0"/>
              </a:rPr>
              <a:t>Options for Deploying SQL Server on AWS</a:t>
            </a:r>
          </a:p>
        </p:txBody>
      </p:sp>
      <p:pic>
        <p:nvPicPr>
          <p:cNvPr id="72" name="Picture 71">
            <a:extLst>
              <a:ext uri="{FF2B5EF4-FFF2-40B4-BE49-F238E27FC236}">
                <a16:creationId xmlns:a16="http://schemas.microsoft.com/office/drawing/2014/main" id="{23313041-EEB9-4C55-9D5A-3E2BE62932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4042" y="639547"/>
            <a:ext cx="718893" cy="831219"/>
          </a:xfrm>
          <a:prstGeom prst="rect">
            <a:avLst/>
          </a:prstGeom>
        </p:spPr>
      </p:pic>
      <p:pic>
        <p:nvPicPr>
          <p:cNvPr id="73" name="Picture 72">
            <a:extLst>
              <a:ext uri="{FF2B5EF4-FFF2-40B4-BE49-F238E27FC236}">
                <a16:creationId xmlns:a16="http://schemas.microsoft.com/office/drawing/2014/main" id="{E552C0F4-0089-48AD-9592-CC74FB256D1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62896" y="607326"/>
            <a:ext cx="718887" cy="862664"/>
          </a:xfrm>
          <a:prstGeom prst="rect">
            <a:avLst/>
          </a:prstGeom>
        </p:spPr>
      </p:pic>
    </p:spTree>
    <p:extLst>
      <p:ext uri="{BB962C8B-B14F-4D97-AF65-F5344CB8AC3E}">
        <p14:creationId xmlns:p14="http://schemas.microsoft.com/office/powerpoint/2010/main" val="36880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Multi-AZ SQL Server on Amazon RDS</a:t>
            </a:r>
          </a:p>
        </p:txBody>
      </p:sp>
      <p:grpSp>
        <p:nvGrpSpPr>
          <p:cNvPr id="32" name="Group 31">
            <a:extLst>
              <a:ext uri="{FF2B5EF4-FFF2-40B4-BE49-F238E27FC236}">
                <a16:creationId xmlns:a16="http://schemas.microsoft.com/office/drawing/2014/main" id="{3C0C4764-3F1E-4B41-962A-60244B696CA9}"/>
              </a:ext>
            </a:extLst>
          </p:cNvPr>
          <p:cNvGrpSpPr/>
          <p:nvPr/>
        </p:nvGrpSpPr>
        <p:grpSpPr>
          <a:xfrm>
            <a:off x="925149" y="744169"/>
            <a:ext cx="7293701" cy="3798759"/>
            <a:chOff x="615142" y="752121"/>
            <a:chExt cx="7293701" cy="3798759"/>
          </a:xfrm>
        </p:grpSpPr>
        <p:sp>
          <p:nvSpPr>
            <p:cNvPr id="33" name="Rounded Rectangle 5">
              <a:extLst>
                <a:ext uri="{FF2B5EF4-FFF2-40B4-BE49-F238E27FC236}">
                  <a16:creationId xmlns:a16="http://schemas.microsoft.com/office/drawing/2014/main" id="{75055A4F-8498-411F-92ED-4723FA473269}"/>
                </a:ext>
              </a:extLst>
            </p:cNvPr>
            <p:cNvSpPr/>
            <p:nvPr/>
          </p:nvSpPr>
          <p:spPr>
            <a:xfrm>
              <a:off x="615142" y="752121"/>
              <a:ext cx="7293701" cy="3770006"/>
            </a:xfrm>
            <a:prstGeom prst="roundRect">
              <a:avLst>
                <a:gd name="adj" fmla="val 9818"/>
              </a:avLst>
            </a:prstGeom>
            <a:noFill/>
            <a:ln w="6350">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tx1"/>
                </a:solidFill>
                <a:latin typeface="Arial"/>
                <a:cs typeface="Arial"/>
              </a:endParaRPr>
            </a:p>
          </p:txBody>
        </p:sp>
        <p:grpSp>
          <p:nvGrpSpPr>
            <p:cNvPr id="34" name="Group 33">
              <a:extLst>
                <a:ext uri="{FF2B5EF4-FFF2-40B4-BE49-F238E27FC236}">
                  <a16:creationId xmlns:a16="http://schemas.microsoft.com/office/drawing/2014/main" id="{DB0D04FD-D6D2-4362-8CA7-B3E76A38F31C}"/>
                </a:ext>
              </a:extLst>
            </p:cNvPr>
            <p:cNvGrpSpPr/>
            <p:nvPr/>
          </p:nvGrpSpPr>
          <p:grpSpPr>
            <a:xfrm>
              <a:off x="1298554" y="1166137"/>
              <a:ext cx="2994151" cy="2840382"/>
              <a:chOff x="3274255" y="1163800"/>
              <a:chExt cx="4057265" cy="1495256"/>
            </a:xfrm>
          </p:grpSpPr>
          <p:sp>
            <p:nvSpPr>
              <p:cNvPr id="51" name="Rounded Rectangle 23">
                <a:extLst>
                  <a:ext uri="{FF2B5EF4-FFF2-40B4-BE49-F238E27FC236}">
                    <a16:creationId xmlns:a16="http://schemas.microsoft.com/office/drawing/2014/main" id="{91B82AFD-84F1-42AC-A5E5-FDBE38E9B621}"/>
                  </a:ext>
                </a:extLst>
              </p:cNvPr>
              <p:cNvSpPr/>
              <p:nvPr/>
            </p:nvSpPr>
            <p:spPr>
              <a:xfrm>
                <a:off x="3318992" y="1163800"/>
                <a:ext cx="3959912" cy="1480494"/>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Helvetica Neue"/>
                  <a:cs typeface="Helvetica Neue"/>
                </a:endParaRPr>
              </a:p>
            </p:txBody>
          </p:sp>
          <p:sp>
            <p:nvSpPr>
              <p:cNvPr id="52" name="TextBox 32">
                <a:extLst>
                  <a:ext uri="{FF2B5EF4-FFF2-40B4-BE49-F238E27FC236}">
                    <a16:creationId xmlns:a16="http://schemas.microsoft.com/office/drawing/2014/main" id="{39637C45-6823-4266-BCFA-FD64CA724C48}"/>
                  </a:ext>
                </a:extLst>
              </p:cNvPr>
              <p:cNvSpPr txBox="1">
                <a:spLocks noChangeArrowheads="1"/>
              </p:cNvSpPr>
              <p:nvPr/>
            </p:nvSpPr>
            <p:spPr bwMode="auto">
              <a:xfrm>
                <a:off x="3274255" y="2537540"/>
                <a:ext cx="4057265" cy="121516"/>
              </a:xfrm>
              <a:prstGeom prst="rect">
                <a:avLst/>
              </a:prstGeom>
              <a:noFill/>
              <a:ln w="9525">
                <a:noFill/>
                <a:miter lim="800000"/>
                <a:headEnd/>
                <a:tailEnd/>
              </a:ln>
            </p:spPr>
            <p:txBody>
              <a:bodyPr wrap="square">
                <a:spAutoFit/>
              </a:bodyPr>
              <a:lstStyle/>
              <a:p>
                <a:pPr algn="ctr"/>
                <a:r>
                  <a:rPr lang="en-US" sz="900" b="1" dirty="0">
                    <a:solidFill>
                      <a:schemeClr val="accent2"/>
                    </a:solidFill>
                    <a:latin typeface="Helvetica Neue"/>
                    <a:ea typeface="Verdana" pitchFamily="34" charset="0"/>
                    <a:cs typeface="Helvetica Neue"/>
                  </a:rPr>
                  <a:t>Availability Zone 1</a:t>
                </a:r>
              </a:p>
            </p:txBody>
          </p:sp>
        </p:grpSp>
        <p:grpSp>
          <p:nvGrpSpPr>
            <p:cNvPr id="35" name="Group 34">
              <a:extLst>
                <a:ext uri="{FF2B5EF4-FFF2-40B4-BE49-F238E27FC236}">
                  <a16:creationId xmlns:a16="http://schemas.microsoft.com/office/drawing/2014/main" id="{C0F1CB5D-C6B5-4CE1-9F1C-8BA635DD8C4A}"/>
                </a:ext>
              </a:extLst>
            </p:cNvPr>
            <p:cNvGrpSpPr/>
            <p:nvPr/>
          </p:nvGrpSpPr>
          <p:grpSpPr>
            <a:xfrm>
              <a:off x="1608320" y="1338289"/>
              <a:ext cx="2389890" cy="2407416"/>
              <a:chOff x="4629150" y="2824163"/>
              <a:chExt cx="1752600" cy="1746814"/>
            </a:xfrm>
          </p:grpSpPr>
          <p:sp>
            <p:nvSpPr>
              <p:cNvPr id="49" name="Rounded Rectangle 21">
                <a:extLst>
                  <a:ext uri="{FF2B5EF4-FFF2-40B4-BE49-F238E27FC236}">
                    <a16:creationId xmlns:a16="http://schemas.microsoft.com/office/drawing/2014/main" id="{2D0A078E-41FD-4FB6-B3DB-E5FA980F1D21}"/>
                  </a:ext>
                </a:extLst>
              </p:cNvPr>
              <p:cNvSpPr/>
              <p:nvPr/>
            </p:nvSpPr>
            <p:spPr>
              <a:xfrm>
                <a:off x="4629150" y="2824163"/>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50" name="TextBox 37">
                <a:extLst>
                  <a:ext uri="{FF2B5EF4-FFF2-40B4-BE49-F238E27FC236}">
                    <a16:creationId xmlns:a16="http://schemas.microsoft.com/office/drawing/2014/main" id="{55256978-40A5-4B77-9C8C-74C2A5123789}"/>
                  </a:ext>
                </a:extLst>
              </p:cNvPr>
              <p:cNvSpPr txBox="1">
                <a:spLocks noChangeArrowheads="1"/>
              </p:cNvSpPr>
              <p:nvPr/>
            </p:nvSpPr>
            <p:spPr bwMode="auto">
              <a:xfrm>
                <a:off x="4727575" y="4403486"/>
                <a:ext cx="1555750" cy="167491"/>
              </a:xfrm>
              <a:prstGeom prst="rect">
                <a:avLst/>
              </a:prstGeom>
              <a:noFill/>
              <a:ln w="9525">
                <a:noFill/>
                <a:miter lim="800000"/>
                <a:headEnd/>
                <a:tailEnd/>
              </a:ln>
            </p:spPr>
            <p:txBody>
              <a:bodyPr>
                <a:spAutoFit/>
              </a:bodyPr>
              <a:lstStyle/>
              <a:p>
                <a:pPr algn="ctr"/>
                <a:r>
                  <a:rPr lang="en-US" sz="900" dirty="0">
                    <a:solidFill>
                      <a:schemeClr val="tx1">
                        <a:lumMod val="60000"/>
                        <a:lumOff val="40000"/>
                      </a:schemeClr>
                    </a:solidFill>
                    <a:latin typeface="Helvetica Neue"/>
                    <a:ea typeface="Verdana" pitchFamily="34" charset="0"/>
                    <a:cs typeface="Helvetica Neue"/>
                  </a:rPr>
                  <a:t>Private Subnet</a:t>
                </a:r>
              </a:p>
            </p:txBody>
          </p:sp>
        </p:grpSp>
        <p:pic>
          <p:nvPicPr>
            <p:cNvPr id="36" name="Picture 35">
              <a:extLst>
                <a:ext uri="{FF2B5EF4-FFF2-40B4-BE49-F238E27FC236}">
                  <a16:creationId xmlns:a16="http://schemas.microsoft.com/office/drawing/2014/main" id="{E0AF4162-8F2F-407D-B248-41A1245E5B5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pic>
          <p:nvPicPr>
            <p:cNvPr id="37" name="Picture 36" descr="Generic-Database.png">
              <a:extLst>
                <a:ext uri="{FF2B5EF4-FFF2-40B4-BE49-F238E27FC236}">
                  <a16:creationId xmlns:a16="http://schemas.microsoft.com/office/drawing/2014/main" id="{17DE247C-4EE7-444C-80EF-C868053C74A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56186" y="2287131"/>
              <a:ext cx="731520" cy="731520"/>
            </a:xfrm>
            <a:prstGeom prst="rect">
              <a:avLst/>
            </a:prstGeom>
          </p:spPr>
        </p:pic>
        <p:grpSp>
          <p:nvGrpSpPr>
            <p:cNvPr id="38" name="Group 37">
              <a:extLst>
                <a:ext uri="{FF2B5EF4-FFF2-40B4-BE49-F238E27FC236}">
                  <a16:creationId xmlns:a16="http://schemas.microsoft.com/office/drawing/2014/main" id="{6CC6AFE7-2574-44F2-94D2-5F0C3B49C32E}"/>
                </a:ext>
              </a:extLst>
            </p:cNvPr>
            <p:cNvGrpSpPr/>
            <p:nvPr/>
          </p:nvGrpSpPr>
          <p:grpSpPr>
            <a:xfrm>
              <a:off x="4541968" y="1169180"/>
              <a:ext cx="2994151" cy="2834700"/>
              <a:chOff x="3290799" y="1163799"/>
              <a:chExt cx="4057266" cy="1479217"/>
            </a:xfrm>
          </p:grpSpPr>
          <p:sp>
            <p:nvSpPr>
              <p:cNvPr id="47" name="Rounded Rectangle 19">
                <a:extLst>
                  <a:ext uri="{FF2B5EF4-FFF2-40B4-BE49-F238E27FC236}">
                    <a16:creationId xmlns:a16="http://schemas.microsoft.com/office/drawing/2014/main" id="{B2F336B8-5C1E-4B3C-85E2-D525222981E6}"/>
                  </a:ext>
                </a:extLst>
              </p:cNvPr>
              <p:cNvSpPr/>
              <p:nvPr/>
            </p:nvSpPr>
            <p:spPr>
              <a:xfrm>
                <a:off x="3318992" y="1163799"/>
                <a:ext cx="3959912" cy="1465961"/>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Helvetica Neue"/>
                  <a:cs typeface="Helvetica Neue"/>
                </a:endParaRPr>
              </a:p>
            </p:txBody>
          </p:sp>
          <p:sp>
            <p:nvSpPr>
              <p:cNvPr id="48" name="TextBox 32">
                <a:extLst>
                  <a:ext uri="{FF2B5EF4-FFF2-40B4-BE49-F238E27FC236}">
                    <a16:creationId xmlns:a16="http://schemas.microsoft.com/office/drawing/2014/main" id="{1CA80E15-29B2-40EA-B60C-65FE6B839B9E}"/>
                  </a:ext>
                </a:extLst>
              </p:cNvPr>
              <p:cNvSpPr txBox="1">
                <a:spLocks noChangeArrowheads="1"/>
              </p:cNvSpPr>
              <p:nvPr/>
            </p:nvSpPr>
            <p:spPr bwMode="auto">
              <a:xfrm>
                <a:off x="3290799" y="2522562"/>
                <a:ext cx="4057266" cy="120454"/>
              </a:xfrm>
              <a:prstGeom prst="rect">
                <a:avLst/>
              </a:prstGeom>
              <a:noFill/>
              <a:ln w="9525">
                <a:noFill/>
                <a:miter lim="800000"/>
                <a:headEnd/>
                <a:tailEnd/>
              </a:ln>
            </p:spPr>
            <p:txBody>
              <a:bodyPr wrap="square">
                <a:spAutoFit/>
              </a:bodyPr>
              <a:lstStyle/>
              <a:p>
                <a:pPr algn="ctr"/>
                <a:r>
                  <a:rPr lang="en-US" sz="900" b="1" dirty="0">
                    <a:solidFill>
                      <a:schemeClr val="accent2"/>
                    </a:solidFill>
                    <a:latin typeface="Helvetica Neue"/>
                    <a:ea typeface="Verdana" pitchFamily="34" charset="0"/>
                    <a:cs typeface="Helvetica Neue"/>
                  </a:rPr>
                  <a:t>Availability Zone 2</a:t>
                </a:r>
              </a:p>
            </p:txBody>
          </p:sp>
        </p:grpSp>
        <p:grpSp>
          <p:nvGrpSpPr>
            <p:cNvPr id="39" name="Group 38">
              <a:extLst>
                <a:ext uri="{FF2B5EF4-FFF2-40B4-BE49-F238E27FC236}">
                  <a16:creationId xmlns:a16="http://schemas.microsoft.com/office/drawing/2014/main" id="{EC43FC47-9BF7-49B5-B791-0FB0AA69C955}"/>
                </a:ext>
              </a:extLst>
            </p:cNvPr>
            <p:cNvGrpSpPr/>
            <p:nvPr/>
          </p:nvGrpSpPr>
          <p:grpSpPr>
            <a:xfrm>
              <a:off x="4850290" y="1338287"/>
              <a:ext cx="2389890" cy="2398000"/>
              <a:chOff x="4629150" y="2842863"/>
              <a:chExt cx="1752600" cy="1725210"/>
            </a:xfrm>
          </p:grpSpPr>
          <p:sp>
            <p:nvSpPr>
              <p:cNvPr id="45" name="Rounded Rectangle 17">
                <a:extLst>
                  <a:ext uri="{FF2B5EF4-FFF2-40B4-BE49-F238E27FC236}">
                    <a16:creationId xmlns:a16="http://schemas.microsoft.com/office/drawing/2014/main" id="{EED126AA-BDBA-4233-B59E-036427B20A1A}"/>
                  </a:ext>
                </a:extLst>
              </p:cNvPr>
              <p:cNvSpPr/>
              <p:nvPr/>
            </p:nvSpPr>
            <p:spPr>
              <a:xfrm>
                <a:off x="4629150" y="2842863"/>
                <a:ext cx="1752600" cy="17148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46" name="TextBox 37">
                <a:extLst>
                  <a:ext uri="{FF2B5EF4-FFF2-40B4-BE49-F238E27FC236}">
                    <a16:creationId xmlns:a16="http://schemas.microsoft.com/office/drawing/2014/main" id="{72C20B39-9AE6-4BEB-A6F6-04968694BF6B}"/>
                  </a:ext>
                </a:extLst>
              </p:cNvPr>
              <p:cNvSpPr txBox="1">
                <a:spLocks noChangeArrowheads="1"/>
              </p:cNvSpPr>
              <p:nvPr/>
            </p:nvSpPr>
            <p:spPr bwMode="auto">
              <a:xfrm>
                <a:off x="4733844" y="4402004"/>
                <a:ext cx="1555750" cy="166069"/>
              </a:xfrm>
              <a:prstGeom prst="rect">
                <a:avLst/>
              </a:prstGeom>
              <a:noFill/>
              <a:ln w="9525">
                <a:noFill/>
                <a:miter lim="800000"/>
                <a:headEnd/>
                <a:tailEnd/>
              </a:ln>
            </p:spPr>
            <p:txBody>
              <a:bodyPr>
                <a:spAutoFit/>
              </a:bodyPr>
              <a:lstStyle/>
              <a:p>
                <a:pPr algn="ctr"/>
                <a:r>
                  <a:rPr lang="en-US" sz="900" dirty="0">
                    <a:solidFill>
                      <a:schemeClr val="tx1">
                        <a:lumMod val="60000"/>
                        <a:lumOff val="40000"/>
                      </a:schemeClr>
                    </a:solidFill>
                    <a:latin typeface="Helvetica Neue"/>
                    <a:ea typeface="Verdana" pitchFamily="34" charset="0"/>
                    <a:cs typeface="Helvetica Neue"/>
                  </a:rPr>
                  <a:t>Private Subnet</a:t>
                </a:r>
              </a:p>
            </p:txBody>
          </p:sp>
        </p:grpSp>
        <p:pic>
          <p:nvPicPr>
            <p:cNvPr id="40" name="Picture 39">
              <a:extLst>
                <a:ext uri="{FF2B5EF4-FFF2-40B4-BE49-F238E27FC236}">
                  <a16:creationId xmlns:a16="http://schemas.microsoft.com/office/drawing/2014/main" id="{59D81D84-BD34-4AC4-87F6-D69C495942F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36697" y="1263403"/>
              <a:ext cx="215900" cy="241300"/>
            </a:xfrm>
            <a:prstGeom prst="rect">
              <a:avLst/>
            </a:prstGeom>
          </p:spPr>
        </p:pic>
        <p:pic>
          <p:nvPicPr>
            <p:cNvPr id="41" name="Picture 40" descr="Generic-Database.png">
              <a:extLst>
                <a:ext uri="{FF2B5EF4-FFF2-40B4-BE49-F238E27FC236}">
                  <a16:creationId xmlns:a16="http://schemas.microsoft.com/office/drawing/2014/main" id="{F8DD8695-4558-4BD4-A4DD-78841C3C38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7502" y="2283351"/>
              <a:ext cx="731520" cy="731520"/>
            </a:xfrm>
            <a:prstGeom prst="rect">
              <a:avLst/>
            </a:prstGeom>
          </p:spPr>
        </p:pic>
        <p:sp>
          <p:nvSpPr>
            <p:cNvPr id="42" name="Rectangle 41">
              <a:extLst>
                <a:ext uri="{FF2B5EF4-FFF2-40B4-BE49-F238E27FC236}">
                  <a16:creationId xmlns:a16="http://schemas.microsoft.com/office/drawing/2014/main" id="{3CA9613E-088E-4A74-AD04-C01BB2A11C57}"/>
                </a:ext>
              </a:extLst>
            </p:cNvPr>
            <p:cNvSpPr/>
            <p:nvPr/>
          </p:nvSpPr>
          <p:spPr>
            <a:xfrm>
              <a:off x="3390479" y="2533315"/>
              <a:ext cx="2077987" cy="361168"/>
            </a:xfrm>
            <a:prstGeom prst="rect">
              <a:avLst/>
            </a:prstGeom>
            <a:solidFill>
              <a:schemeClr val="accent3">
                <a:lumMod val="40000"/>
                <a:lumOff val="60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100" b="1" dirty="0">
                  <a:solidFill>
                    <a:schemeClr val="tx1"/>
                  </a:solidFill>
                </a:rPr>
                <a:t>Synchronous Commit</a:t>
              </a:r>
            </a:p>
            <a:p>
              <a:pPr algn="ctr"/>
              <a:r>
                <a:rPr lang="en-US" sz="1100" b="1" dirty="0">
                  <a:solidFill>
                    <a:schemeClr val="tx1"/>
                  </a:solidFill>
                </a:rPr>
                <a:t>Automatic Failover</a:t>
              </a:r>
            </a:p>
          </p:txBody>
        </p:sp>
        <p:sp>
          <p:nvSpPr>
            <p:cNvPr id="43" name="Rounded Rectangle 15">
              <a:extLst>
                <a:ext uri="{FF2B5EF4-FFF2-40B4-BE49-F238E27FC236}">
                  <a16:creationId xmlns:a16="http://schemas.microsoft.com/office/drawing/2014/main" id="{93A28CCD-0C26-48C2-BDD5-5291E5FD8E0B}"/>
                </a:ext>
              </a:extLst>
            </p:cNvPr>
            <p:cNvSpPr/>
            <p:nvPr/>
          </p:nvSpPr>
          <p:spPr>
            <a:xfrm>
              <a:off x="831273" y="989901"/>
              <a:ext cx="6841374" cy="315815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sp>
          <p:nvSpPr>
            <p:cNvPr id="44" name="TextBox 43">
              <a:extLst>
                <a:ext uri="{FF2B5EF4-FFF2-40B4-BE49-F238E27FC236}">
                  <a16:creationId xmlns:a16="http://schemas.microsoft.com/office/drawing/2014/main" id="{CDAD943B-7C25-400C-9EC8-1C37F47E3EAD}"/>
                </a:ext>
              </a:extLst>
            </p:cNvPr>
            <p:cNvSpPr txBox="1"/>
            <p:nvPr/>
          </p:nvSpPr>
          <p:spPr>
            <a:xfrm>
              <a:off x="3887313" y="4273881"/>
              <a:ext cx="1057405" cy="276999"/>
            </a:xfrm>
            <a:prstGeom prst="rect">
              <a:avLst/>
            </a:prstGeom>
            <a:noFill/>
          </p:spPr>
          <p:txBody>
            <a:bodyPr wrap="none" rtlCol="0">
              <a:spAutoFit/>
            </a:bodyPr>
            <a:lstStyle/>
            <a:p>
              <a:r>
                <a:rPr lang="en-US" sz="1200" dirty="0">
                  <a:solidFill>
                    <a:schemeClr val="tx1">
                      <a:lumMod val="60000"/>
                      <a:lumOff val="40000"/>
                    </a:schemeClr>
                  </a:solidFill>
                </a:rPr>
                <a:t>AWS Region</a:t>
              </a:r>
            </a:p>
          </p:txBody>
        </p:sp>
      </p:grpSp>
      <p:pic>
        <p:nvPicPr>
          <p:cNvPr id="53" name="Picture 52">
            <a:extLst>
              <a:ext uri="{FF2B5EF4-FFF2-40B4-BE49-F238E27FC236}">
                <a16:creationId xmlns:a16="http://schemas.microsoft.com/office/drawing/2014/main" id="{81331A2C-EB5D-4666-83B3-157B48EF069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nvGrpSpPr>
          <p:cNvPr id="54" name="Group 53">
            <a:extLst>
              <a:ext uri="{FF2B5EF4-FFF2-40B4-BE49-F238E27FC236}">
                <a16:creationId xmlns:a16="http://schemas.microsoft.com/office/drawing/2014/main" id="{25996363-1A25-4D79-8949-0D92943C26FA}"/>
              </a:ext>
            </a:extLst>
          </p:cNvPr>
          <p:cNvGrpSpPr/>
          <p:nvPr/>
        </p:nvGrpSpPr>
        <p:grpSpPr>
          <a:xfrm>
            <a:off x="2845111" y="1770967"/>
            <a:ext cx="894752" cy="797465"/>
            <a:chOff x="2329719" y="1995173"/>
            <a:chExt cx="894752" cy="797465"/>
          </a:xfrm>
        </p:grpSpPr>
        <p:pic>
          <p:nvPicPr>
            <p:cNvPr id="55" name="Picture 54">
              <a:extLst>
                <a:ext uri="{FF2B5EF4-FFF2-40B4-BE49-F238E27FC236}">
                  <a16:creationId xmlns:a16="http://schemas.microsoft.com/office/drawing/2014/main" id="{FF2E4CEB-1144-4CD7-B7B9-C077B02A194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516412" y="1995173"/>
              <a:ext cx="521366" cy="602830"/>
            </a:xfrm>
            <a:prstGeom prst="rect">
              <a:avLst/>
            </a:prstGeom>
          </p:spPr>
        </p:pic>
        <p:sp>
          <p:nvSpPr>
            <p:cNvPr id="56" name="TextBox 55">
              <a:extLst>
                <a:ext uri="{FF2B5EF4-FFF2-40B4-BE49-F238E27FC236}">
                  <a16:creationId xmlns:a16="http://schemas.microsoft.com/office/drawing/2014/main" id="{C7D36875-C160-4B04-AD9C-BEEA1112B382}"/>
                </a:ext>
              </a:extLst>
            </p:cNvPr>
            <p:cNvSpPr txBox="1"/>
            <p:nvPr/>
          </p:nvSpPr>
          <p:spPr>
            <a:xfrm>
              <a:off x="2329719" y="2637006"/>
              <a:ext cx="894752" cy="155632"/>
            </a:xfrm>
            <a:prstGeom prst="rect">
              <a:avLst/>
            </a:prstGeom>
            <a:noFill/>
          </p:spPr>
          <p:txBody>
            <a:bodyPr wrap="square" lIns="0" tIns="0" rIns="0" bIns="0" rtlCol="0" anchor="t">
              <a:noAutofit/>
            </a:bodyPr>
            <a:lstStyle/>
            <a:p>
              <a:pPr algn="ctr"/>
              <a:r>
                <a:rPr lang="en-US" sz="1000" b="1" dirty="0">
                  <a:solidFill>
                    <a:schemeClr val="tx1">
                      <a:lumMod val="60000"/>
                      <a:lumOff val="40000"/>
                    </a:schemeClr>
                  </a:solidFill>
                </a:rPr>
                <a:t>Amazon</a:t>
              </a:r>
              <a:br>
                <a:rPr lang="en-US" sz="1000" b="1" dirty="0">
                  <a:solidFill>
                    <a:schemeClr val="tx1">
                      <a:lumMod val="60000"/>
                      <a:lumOff val="40000"/>
                    </a:schemeClr>
                  </a:solidFill>
                </a:rPr>
              </a:br>
              <a:r>
                <a:rPr lang="en-US" sz="1000" b="1" dirty="0">
                  <a:solidFill>
                    <a:schemeClr val="tx1">
                      <a:lumMod val="60000"/>
                      <a:lumOff val="40000"/>
                    </a:schemeClr>
                  </a:solidFill>
                </a:rPr>
                <a:t>RDS</a:t>
              </a:r>
            </a:p>
            <a:p>
              <a:pPr algn="ctr"/>
              <a:r>
                <a:rPr lang="en-US" sz="1000" b="1" dirty="0">
                  <a:solidFill>
                    <a:schemeClr val="tx1">
                      <a:lumMod val="60000"/>
                      <a:lumOff val="40000"/>
                    </a:schemeClr>
                  </a:solidFill>
                </a:rPr>
                <a:t>Primary</a:t>
              </a:r>
              <a:endParaRPr lang="en-US" b="1" dirty="0">
                <a:solidFill>
                  <a:schemeClr val="tx1">
                    <a:lumMod val="60000"/>
                    <a:lumOff val="40000"/>
                  </a:schemeClr>
                </a:solidFill>
              </a:endParaRPr>
            </a:p>
          </p:txBody>
        </p:sp>
      </p:grpSp>
      <p:grpSp>
        <p:nvGrpSpPr>
          <p:cNvPr id="57" name="Group 56">
            <a:extLst>
              <a:ext uri="{FF2B5EF4-FFF2-40B4-BE49-F238E27FC236}">
                <a16:creationId xmlns:a16="http://schemas.microsoft.com/office/drawing/2014/main" id="{FC52151E-5643-4A9C-9B2B-D199D6101214}"/>
              </a:ext>
            </a:extLst>
          </p:cNvPr>
          <p:cNvGrpSpPr/>
          <p:nvPr/>
        </p:nvGrpSpPr>
        <p:grpSpPr>
          <a:xfrm>
            <a:off x="5759067" y="1770967"/>
            <a:ext cx="894752" cy="797465"/>
            <a:chOff x="5617746" y="1770967"/>
            <a:chExt cx="894752" cy="797465"/>
          </a:xfrm>
        </p:grpSpPr>
        <p:pic>
          <p:nvPicPr>
            <p:cNvPr id="58" name="Picture 57">
              <a:extLst>
                <a:ext uri="{FF2B5EF4-FFF2-40B4-BE49-F238E27FC236}">
                  <a16:creationId xmlns:a16="http://schemas.microsoft.com/office/drawing/2014/main" id="{E976E4A8-A946-492A-8CA7-49EB9ED1624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804439" y="1770967"/>
              <a:ext cx="521366" cy="602830"/>
            </a:xfrm>
            <a:prstGeom prst="rect">
              <a:avLst/>
            </a:prstGeom>
          </p:spPr>
        </p:pic>
        <p:sp>
          <p:nvSpPr>
            <p:cNvPr id="59" name="TextBox 58">
              <a:extLst>
                <a:ext uri="{FF2B5EF4-FFF2-40B4-BE49-F238E27FC236}">
                  <a16:creationId xmlns:a16="http://schemas.microsoft.com/office/drawing/2014/main" id="{433C1F51-71DE-4F4D-B865-D2F9673C0348}"/>
                </a:ext>
              </a:extLst>
            </p:cNvPr>
            <p:cNvSpPr txBox="1"/>
            <p:nvPr/>
          </p:nvSpPr>
          <p:spPr>
            <a:xfrm>
              <a:off x="5617746" y="2412800"/>
              <a:ext cx="894752" cy="155632"/>
            </a:xfrm>
            <a:prstGeom prst="rect">
              <a:avLst/>
            </a:prstGeom>
            <a:noFill/>
          </p:spPr>
          <p:txBody>
            <a:bodyPr wrap="square" lIns="0" tIns="0" rIns="0" bIns="0" rtlCol="0" anchor="t">
              <a:noAutofit/>
            </a:bodyPr>
            <a:lstStyle/>
            <a:p>
              <a:pPr algn="ctr"/>
              <a:r>
                <a:rPr lang="en-US" sz="1000" b="1" dirty="0">
                  <a:solidFill>
                    <a:schemeClr val="tx1">
                      <a:lumMod val="60000"/>
                      <a:lumOff val="40000"/>
                    </a:schemeClr>
                  </a:solidFill>
                </a:rPr>
                <a:t>Amazon</a:t>
              </a:r>
              <a:br>
                <a:rPr lang="en-US" sz="1000" b="1" dirty="0">
                  <a:solidFill>
                    <a:schemeClr val="tx1">
                      <a:lumMod val="60000"/>
                      <a:lumOff val="40000"/>
                    </a:schemeClr>
                  </a:solidFill>
                </a:rPr>
              </a:br>
              <a:r>
                <a:rPr lang="en-US" sz="1000" b="1" dirty="0">
                  <a:solidFill>
                    <a:schemeClr val="tx1">
                      <a:lumMod val="60000"/>
                      <a:lumOff val="40000"/>
                    </a:schemeClr>
                  </a:solidFill>
                </a:rPr>
                <a:t>RDS</a:t>
              </a:r>
            </a:p>
            <a:p>
              <a:pPr algn="ctr"/>
              <a:r>
                <a:rPr lang="en-US" sz="1000" b="1" dirty="0">
                  <a:solidFill>
                    <a:schemeClr val="tx1">
                      <a:lumMod val="60000"/>
                      <a:lumOff val="40000"/>
                    </a:schemeClr>
                  </a:solidFill>
                </a:rPr>
                <a:t>Secondary</a:t>
              </a:r>
              <a:endParaRPr lang="en-US" b="1" dirty="0">
                <a:solidFill>
                  <a:schemeClr val="tx1">
                    <a:lumMod val="60000"/>
                    <a:lumOff val="40000"/>
                  </a:schemeClr>
                </a:solidFill>
              </a:endParaRPr>
            </a:p>
          </p:txBody>
        </p:sp>
      </p:grpSp>
    </p:spTree>
    <p:extLst>
      <p:ext uri="{BB962C8B-B14F-4D97-AF65-F5344CB8AC3E}">
        <p14:creationId xmlns:p14="http://schemas.microsoft.com/office/powerpoint/2010/main" val="97161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Multi-AZ SQL Server on Amazon RDS – Managed Solution</a:t>
            </a:r>
          </a:p>
        </p:txBody>
      </p:sp>
      <p:pic>
        <p:nvPicPr>
          <p:cNvPr id="31" name="Picture 30">
            <a:extLst>
              <a:ext uri="{FF2B5EF4-FFF2-40B4-BE49-F238E27FC236}">
                <a16:creationId xmlns:a16="http://schemas.microsoft.com/office/drawing/2014/main" id="{A6B927AA-2D29-4640-8146-AD7C547EE3AD}"/>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4670" y="842839"/>
            <a:ext cx="8074660" cy="3758524"/>
          </a:xfrm>
          <a:prstGeom prst="rect">
            <a:avLst/>
          </a:prstGeom>
          <a:solidFill>
            <a:schemeClr val="bg1"/>
          </a:solidFill>
        </p:spPr>
      </p:pic>
      <p:sp>
        <p:nvSpPr>
          <p:cNvPr id="60" name="Content Placeholder 2">
            <a:extLst>
              <a:ext uri="{FF2B5EF4-FFF2-40B4-BE49-F238E27FC236}">
                <a16:creationId xmlns:a16="http://schemas.microsoft.com/office/drawing/2014/main" id="{91048790-2BED-4543-A5A6-4FCF850ABEDF}"/>
              </a:ext>
            </a:extLst>
          </p:cNvPr>
          <p:cNvSpPr txBox="1">
            <a:spLocks/>
          </p:cNvSpPr>
          <p:nvPr/>
        </p:nvSpPr>
        <p:spPr>
          <a:xfrm>
            <a:off x="3727020" y="3616328"/>
            <a:ext cx="4882310" cy="11246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700" b="0" i="0" kern="1200">
                <a:gradFill>
                  <a:gsLst>
                    <a:gs pos="0">
                      <a:schemeClr val="tx1"/>
                    </a:gs>
                    <a:gs pos="100000">
                      <a:schemeClr val="tx1"/>
                    </a:gs>
                  </a:gsLst>
                  <a:lin ang="5400000" scaled="1"/>
                </a:gradFill>
                <a:latin typeface="+mn-lt"/>
                <a:ea typeface="+mn-ea"/>
                <a:cs typeface="Arial"/>
              </a:defRPr>
            </a:lvl1pPr>
            <a:lvl2pPr marL="742950" indent="-285750" algn="l" defTabSz="457200" rtl="0" eaLnBrk="1" latinLnBrk="0" hangingPunct="1">
              <a:spcBef>
                <a:spcPct val="20000"/>
              </a:spcBef>
              <a:buFont typeface="Arial"/>
              <a:buChar char="–"/>
              <a:defRPr sz="2000" b="0" i="0" kern="1200">
                <a:gradFill>
                  <a:gsLst>
                    <a:gs pos="0">
                      <a:schemeClr val="tx1"/>
                    </a:gs>
                    <a:gs pos="100000">
                      <a:schemeClr val="tx1"/>
                    </a:gs>
                  </a:gsLst>
                  <a:lin ang="5400000" scaled="1"/>
                </a:gradFill>
                <a:latin typeface="+mn-lt"/>
                <a:ea typeface="+mn-ea"/>
                <a:cs typeface="Arial"/>
              </a:defRPr>
            </a:lvl2pPr>
            <a:lvl3pPr marL="1143000" indent="-228600" algn="l" defTabSz="457200" rtl="0" eaLnBrk="1" latinLnBrk="0" hangingPunct="1">
              <a:spcBef>
                <a:spcPct val="20000"/>
              </a:spcBef>
              <a:buFont typeface="Arial"/>
              <a:buChar char="•"/>
              <a:defRPr sz="1800" b="0" i="0" kern="1200">
                <a:gradFill>
                  <a:gsLst>
                    <a:gs pos="0">
                      <a:schemeClr val="tx1"/>
                    </a:gs>
                    <a:gs pos="100000">
                      <a:schemeClr val="tx1"/>
                    </a:gs>
                  </a:gsLst>
                  <a:lin ang="5400000" scaled="1"/>
                </a:gradFill>
                <a:latin typeface="+mn-lt"/>
                <a:ea typeface="+mn-ea"/>
                <a:cs typeface="Arial"/>
              </a:defRPr>
            </a:lvl3pPr>
            <a:lvl4pPr marL="1600200" indent="-228600" algn="l" defTabSz="457200" rtl="0" eaLnBrk="1" latinLnBrk="0" hangingPunct="1">
              <a:spcBef>
                <a:spcPct val="20000"/>
              </a:spcBef>
              <a:buFont typeface="Arial"/>
              <a:buChar char="–"/>
              <a:defRPr sz="1600" b="0" i="0" kern="1200">
                <a:gradFill>
                  <a:gsLst>
                    <a:gs pos="0">
                      <a:schemeClr val="tx1"/>
                    </a:gs>
                    <a:gs pos="100000">
                      <a:schemeClr val="tx1"/>
                    </a:gs>
                  </a:gsLst>
                  <a:lin ang="5400000" scaled="1"/>
                </a:gradFill>
                <a:latin typeface="+mn-lt"/>
                <a:ea typeface="+mn-ea"/>
                <a:cs typeface="Arial"/>
              </a:defRPr>
            </a:lvl4pPr>
            <a:lvl5pPr marL="2057400" indent="-228600" algn="l" defTabSz="457200" rtl="0" eaLnBrk="1" latinLnBrk="0" hangingPunct="1">
              <a:spcBef>
                <a:spcPct val="20000"/>
              </a:spcBef>
              <a:buFont typeface="Arial"/>
              <a:buChar char="»"/>
              <a:defRPr sz="1600" b="0" i="0" kern="1200">
                <a:gradFill>
                  <a:gsLst>
                    <a:gs pos="0">
                      <a:schemeClr val="tx1"/>
                    </a:gs>
                    <a:gs pos="100000">
                      <a:schemeClr val="tx1"/>
                    </a:gs>
                  </a:gsLst>
                  <a:lin ang="5400000" scaled="1"/>
                </a:gradFill>
                <a:latin typeface="+mn-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US" sz="16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Automatic Failover</a:t>
            </a:r>
          </a:p>
          <a:p>
            <a:pPr marL="0" indent="0" algn="r">
              <a:buFont typeface="Arial"/>
              <a:buNone/>
            </a:pPr>
            <a:r>
              <a:rPr lang="en-US" sz="16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Synchronous replication</a:t>
            </a:r>
          </a:p>
          <a:p>
            <a:pPr marL="0" indent="0" algn="r">
              <a:buNone/>
            </a:pPr>
            <a:r>
              <a:rPr lang="en-US" sz="16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Inexpensive &amp; enabled with a few clicks</a:t>
            </a:r>
            <a:endParaRPr lang="en-US" sz="1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Content Placeholder 1">
            <a:extLst>
              <a:ext uri="{FF2B5EF4-FFF2-40B4-BE49-F238E27FC236}">
                <a16:creationId xmlns:a16="http://schemas.microsoft.com/office/drawing/2014/main" id="{CF852BF1-C36F-4B1B-8AED-0012624669AD}"/>
              </a:ext>
            </a:extLst>
          </p:cNvPr>
          <p:cNvSpPr txBox="1">
            <a:spLocks/>
          </p:cNvSpPr>
          <p:nvPr/>
        </p:nvSpPr>
        <p:spPr>
          <a:xfrm>
            <a:off x="534670" y="542137"/>
            <a:ext cx="4293362" cy="1211873"/>
          </a:xfrm>
          <a:prstGeom prst="rect">
            <a:avLst/>
          </a:prstGeom>
        </p:spPr>
        <p:txBody>
          <a:bodyPr/>
          <a:lst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accent1"/>
              </a:buClr>
            </a:pPr>
            <a:r>
              <a:rPr lang="en-US" b="1" dirty="0">
                <a:solidFill>
                  <a:schemeClr val="bg1">
                    <a:lumMod val="95000"/>
                  </a:schemeClr>
                </a:solidFill>
              </a:rPr>
              <a:t>Failure scenarios mitigated:</a:t>
            </a:r>
          </a:p>
          <a:p>
            <a:pPr marL="285750" indent="-285750">
              <a:buClr>
                <a:schemeClr val="tx1"/>
              </a:buClr>
              <a:buFont typeface="Arial"/>
              <a:buChar char="•"/>
            </a:pPr>
            <a:r>
              <a:rPr lang="en-US" sz="1400" dirty="0">
                <a:solidFill>
                  <a:schemeClr val="tx1"/>
                </a:solidFill>
              </a:rPr>
              <a:t>Loss of availability in primary AZ</a:t>
            </a:r>
          </a:p>
          <a:p>
            <a:pPr marL="285750" indent="-285750">
              <a:buClr>
                <a:schemeClr val="tx1"/>
              </a:buClr>
              <a:buFont typeface="Arial"/>
              <a:buChar char="•"/>
            </a:pPr>
            <a:r>
              <a:rPr lang="en-US" sz="1400" dirty="0">
                <a:solidFill>
                  <a:schemeClr val="tx1"/>
                </a:solidFill>
              </a:rPr>
              <a:t>Loss of network connectivity to principal DB node</a:t>
            </a:r>
          </a:p>
          <a:p>
            <a:pPr marL="285750" indent="-285750">
              <a:buClr>
                <a:schemeClr val="tx1"/>
              </a:buClr>
              <a:buFont typeface="Arial"/>
              <a:buChar char="•"/>
            </a:pPr>
            <a:r>
              <a:rPr lang="en-US" sz="1400" dirty="0">
                <a:solidFill>
                  <a:schemeClr val="tx1"/>
                </a:solidFill>
              </a:rPr>
              <a:t>Compute unit or storage failure on principal DB node</a:t>
            </a:r>
          </a:p>
          <a:p>
            <a:pPr>
              <a:buClr>
                <a:schemeClr val="accent1"/>
              </a:buClr>
            </a:pPr>
            <a:endParaRPr lang="en-US" dirty="0">
              <a:solidFill>
                <a:schemeClr val="tx1"/>
              </a:solidFill>
            </a:endParaRPr>
          </a:p>
          <a:p>
            <a:pPr>
              <a:buClr>
                <a:schemeClr val="accent1"/>
              </a:buClr>
            </a:pPr>
            <a:r>
              <a:rPr lang="en-US" b="1" dirty="0">
                <a:solidFill>
                  <a:schemeClr val="tx1"/>
                </a:solidFill>
              </a:rPr>
              <a:t>Failover process:</a:t>
            </a:r>
            <a:endParaRPr lang="en-US" dirty="0">
              <a:solidFill>
                <a:schemeClr val="tx1"/>
              </a:solidFill>
            </a:endParaRPr>
          </a:p>
        </p:txBody>
      </p:sp>
    </p:spTree>
    <p:extLst>
      <p:ext uri="{BB962C8B-B14F-4D97-AF65-F5344CB8AC3E}">
        <p14:creationId xmlns:p14="http://schemas.microsoft.com/office/powerpoint/2010/main" val="2648118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Server Features at a Glance</a:t>
            </a:r>
          </a:p>
        </p:txBody>
      </p:sp>
      <p:grpSp>
        <p:nvGrpSpPr>
          <p:cNvPr id="30" name="Group 29">
            <a:extLst>
              <a:ext uri="{FF2B5EF4-FFF2-40B4-BE49-F238E27FC236}">
                <a16:creationId xmlns:a16="http://schemas.microsoft.com/office/drawing/2014/main" id="{EF93B998-8E5C-1B4B-BF77-DB22982D414B}"/>
              </a:ext>
            </a:extLst>
          </p:cNvPr>
          <p:cNvGrpSpPr/>
          <p:nvPr/>
        </p:nvGrpSpPr>
        <p:grpSpPr>
          <a:xfrm>
            <a:off x="268446" y="660128"/>
            <a:ext cx="8341989" cy="3673589"/>
            <a:chOff x="268446" y="543749"/>
            <a:chExt cx="8341989" cy="3673589"/>
          </a:xfrm>
        </p:grpSpPr>
        <p:grpSp>
          <p:nvGrpSpPr>
            <p:cNvPr id="25" name="Group 24">
              <a:extLst>
                <a:ext uri="{FF2B5EF4-FFF2-40B4-BE49-F238E27FC236}">
                  <a16:creationId xmlns:a16="http://schemas.microsoft.com/office/drawing/2014/main" id="{005A101C-9B66-CA4D-87CF-A6F3F9B3A073}"/>
                </a:ext>
              </a:extLst>
            </p:cNvPr>
            <p:cNvGrpSpPr/>
            <p:nvPr/>
          </p:nvGrpSpPr>
          <p:grpSpPr>
            <a:xfrm>
              <a:off x="268446" y="1231264"/>
              <a:ext cx="8341989" cy="2986074"/>
              <a:chOff x="433090" y="878338"/>
              <a:chExt cx="8341989" cy="2986074"/>
            </a:xfrm>
          </p:grpSpPr>
          <p:sp>
            <p:nvSpPr>
              <p:cNvPr id="3" name="Rounded Rectangle 2">
                <a:extLst>
                  <a:ext uri="{FF2B5EF4-FFF2-40B4-BE49-F238E27FC236}">
                    <a16:creationId xmlns:a16="http://schemas.microsoft.com/office/drawing/2014/main" id="{33A9C684-EC48-7647-BFC1-E18D22F833F9}"/>
                  </a:ext>
                </a:extLst>
              </p:cNvPr>
              <p:cNvSpPr/>
              <p:nvPr/>
            </p:nvSpPr>
            <p:spPr>
              <a:xfrm>
                <a:off x="2751172" y="909967"/>
                <a:ext cx="2944151"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2012, 2014, 2016, 2017</a:t>
                </a:r>
              </a:p>
            </p:txBody>
          </p:sp>
          <p:sp>
            <p:nvSpPr>
              <p:cNvPr id="4" name="TextBox 3">
                <a:extLst>
                  <a:ext uri="{FF2B5EF4-FFF2-40B4-BE49-F238E27FC236}">
                    <a16:creationId xmlns:a16="http://schemas.microsoft.com/office/drawing/2014/main" id="{07A31CBF-7F8F-2C44-8B62-C7620DE1F1FF}"/>
                  </a:ext>
                </a:extLst>
              </p:cNvPr>
              <p:cNvSpPr txBox="1"/>
              <p:nvPr/>
            </p:nvSpPr>
            <p:spPr>
              <a:xfrm>
                <a:off x="433090" y="878338"/>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Versions Supported:</a:t>
                </a:r>
              </a:p>
            </p:txBody>
          </p:sp>
          <p:sp>
            <p:nvSpPr>
              <p:cNvPr id="5" name="TextBox 4">
                <a:extLst>
                  <a:ext uri="{FF2B5EF4-FFF2-40B4-BE49-F238E27FC236}">
                    <a16:creationId xmlns:a16="http://schemas.microsoft.com/office/drawing/2014/main" id="{B3A1B137-B637-5640-89C6-43C676083EB2}"/>
                  </a:ext>
                </a:extLst>
              </p:cNvPr>
              <p:cNvSpPr txBox="1"/>
              <p:nvPr/>
            </p:nvSpPr>
            <p:spPr>
              <a:xfrm>
                <a:off x="433092" y="1314462"/>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Editions Supported:</a:t>
                </a:r>
              </a:p>
            </p:txBody>
          </p:sp>
          <p:sp>
            <p:nvSpPr>
              <p:cNvPr id="6" name="TextBox 5">
                <a:extLst>
                  <a:ext uri="{FF2B5EF4-FFF2-40B4-BE49-F238E27FC236}">
                    <a16:creationId xmlns:a16="http://schemas.microsoft.com/office/drawing/2014/main" id="{0B39AC90-1038-F94D-B07C-8C11D0ADBA9E}"/>
                  </a:ext>
                </a:extLst>
              </p:cNvPr>
              <p:cNvSpPr txBox="1"/>
              <p:nvPr/>
            </p:nvSpPr>
            <p:spPr>
              <a:xfrm>
                <a:off x="433092" y="1750586"/>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High Availability:</a:t>
                </a:r>
              </a:p>
            </p:txBody>
          </p:sp>
          <p:sp>
            <p:nvSpPr>
              <p:cNvPr id="7" name="TextBox 6">
                <a:extLst>
                  <a:ext uri="{FF2B5EF4-FFF2-40B4-BE49-F238E27FC236}">
                    <a16:creationId xmlns:a16="http://schemas.microsoft.com/office/drawing/2014/main" id="{4C058342-AE66-6B43-99E0-A26F5DDD6E41}"/>
                  </a:ext>
                </a:extLst>
              </p:cNvPr>
              <p:cNvSpPr txBox="1"/>
              <p:nvPr/>
            </p:nvSpPr>
            <p:spPr>
              <a:xfrm>
                <a:off x="433091" y="2186710"/>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Encryption:</a:t>
                </a:r>
              </a:p>
            </p:txBody>
          </p:sp>
          <p:sp>
            <p:nvSpPr>
              <p:cNvPr id="8" name="TextBox 7">
                <a:extLst>
                  <a:ext uri="{FF2B5EF4-FFF2-40B4-BE49-F238E27FC236}">
                    <a16:creationId xmlns:a16="http://schemas.microsoft.com/office/drawing/2014/main" id="{0B76127C-8F5C-B94E-9366-C1B214D81D6C}"/>
                  </a:ext>
                </a:extLst>
              </p:cNvPr>
              <p:cNvSpPr txBox="1"/>
              <p:nvPr/>
            </p:nvSpPr>
            <p:spPr>
              <a:xfrm>
                <a:off x="433091" y="2622834"/>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Authentication:</a:t>
                </a:r>
              </a:p>
            </p:txBody>
          </p:sp>
          <p:sp>
            <p:nvSpPr>
              <p:cNvPr id="9" name="TextBox 8">
                <a:extLst>
                  <a:ext uri="{FF2B5EF4-FFF2-40B4-BE49-F238E27FC236}">
                    <a16:creationId xmlns:a16="http://schemas.microsoft.com/office/drawing/2014/main" id="{8273424A-0A52-9B42-B30E-08E8BB3E99A9}"/>
                  </a:ext>
                </a:extLst>
              </p:cNvPr>
              <p:cNvSpPr txBox="1"/>
              <p:nvPr/>
            </p:nvSpPr>
            <p:spPr>
              <a:xfrm>
                <a:off x="433091" y="3058958"/>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Backups:</a:t>
                </a:r>
              </a:p>
            </p:txBody>
          </p:sp>
          <p:sp>
            <p:nvSpPr>
              <p:cNvPr id="10" name="TextBox 9">
                <a:extLst>
                  <a:ext uri="{FF2B5EF4-FFF2-40B4-BE49-F238E27FC236}">
                    <a16:creationId xmlns:a16="http://schemas.microsoft.com/office/drawing/2014/main" id="{DDF898AA-40D4-8447-AA3E-969B04A8C559}"/>
                  </a:ext>
                </a:extLst>
              </p:cNvPr>
              <p:cNvSpPr txBox="1"/>
              <p:nvPr/>
            </p:nvSpPr>
            <p:spPr>
              <a:xfrm>
                <a:off x="433090" y="3495080"/>
                <a:ext cx="2318083" cy="369332"/>
              </a:xfrm>
              <a:prstGeom prst="rect">
                <a:avLst/>
              </a:prstGeom>
              <a:noFill/>
            </p:spPr>
            <p:txBody>
              <a:bodyPr wrap="square" rtlCol="0">
                <a:spAutoFit/>
              </a:bodyPr>
              <a:lstStyle/>
              <a:p>
                <a:pPr algn="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Maintenance:</a:t>
                </a:r>
              </a:p>
            </p:txBody>
          </p:sp>
          <p:sp>
            <p:nvSpPr>
              <p:cNvPr id="11" name="Rounded Rectangle 10">
                <a:extLst>
                  <a:ext uri="{FF2B5EF4-FFF2-40B4-BE49-F238E27FC236}">
                    <a16:creationId xmlns:a16="http://schemas.microsoft.com/office/drawing/2014/main" id="{87F08E2F-0181-4741-82DF-6B5C12AFCAB2}"/>
                  </a:ext>
                </a:extLst>
              </p:cNvPr>
              <p:cNvSpPr/>
              <p:nvPr/>
            </p:nvSpPr>
            <p:spPr>
              <a:xfrm>
                <a:off x="2751172" y="1346055"/>
                <a:ext cx="2944151"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Express, Web, Standard, Enterprise</a:t>
                </a:r>
              </a:p>
            </p:txBody>
          </p:sp>
          <p:sp>
            <p:nvSpPr>
              <p:cNvPr id="12" name="Rounded Rectangle 11">
                <a:extLst>
                  <a:ext uri="{FF2B5EF4-FFF2-40B4-BE49-F238E27FC236}">
                    <a16:creationId xmlns:a16="http://schemas.microsoft.com/office/drawing/2014/main" id="{BF2BD862-63CE-C146-B4BB-74EEADA0DE04}"/>
                  </a:ext>
                </a:extLst>
              </p:cNvPr>
              <p:cNvSpPr/>
              <p:nvPr/>
            </p:nvSpPr>
            <p:spPr>
              <a:xfrm>
                <a:off x="5830928" y="909967"/>
                <a:ext cx="2944151"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All**</a:t>
                </a:r>
              </a:p>
            </p:txBody>
          </p:sp>
          <p:sp>
            <p:nvSpPr>
              <p:cNvPr id="13" name="Rounded Rectangle 12">
                <a:extLst>
                  <a:ext uri="{FF2B5EF4-FFF2-40B4-BE49-F238E27FC236}">
                    <a16:creationId xmlns:a16="http://schemas.microsoft.com/office/drawing/2014/main" id="{981C8330-D43E-164F-BA3D-F2B268BE3BB2}"/>
                  </a:ext>
                </a:extLst>
              </p:cNvPr>
              <p:cNvSpPr/>
              <p:nvPr/>
            </p:nvSpPr>
            <p:spPr>
              <a:xfrm>
                <a:off x="5830928" y="1346055"/>
                <a:ext cx="2944151"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All**</a:t>
                </a:r>
              </a:p>
            </p:txBody>
          </p:sp>
          <p:sp>
            <p:nvSpPr>
              <p:cNvPr id="14" name="Rounded Rectangle 13">
                <a:extLst>
                  <a:ext uri="{FF2B5EF4-FFF2-40B4-BE49-F238E27FC236}">
                    <a16:creationId xmlns:a16="http://schemas.microsoft.com/office/drawing/2014/main" id="{596AB298-B715-1740-85F4-DAD4167C5383}"/>
                  </a:ext>
                </a:extLst>
              </p:cNvPr>
              <p:cNvSpPr/>
              <p:nvPr/>
            </p:nvSpPr>
            <p:spPr>
              <a:xfrm>
                <a:off x="2751172" y="1782944"/>
                <a:ext cx="2944151" cy="306075"/>
              </a:xfrm>
              <a:prstGeom prst="roundRect">
                <a:avLst>
                  <a:gd name="adj" fmla="val 17450"/>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AWS-managed (Mirroring, Always-On AG)</a:t>
                </a:r>
              </a:p>
            </p:txBody>
          </p:sp>
          <p:sp>
            <p:nvSpPr>
              <p:cNvPr id="15" name="Rounded Rectangle 14">
                <a:extLst>
                  <a:ext uri="{FF2B5EF4-FFF2-40B4-BE49-F238E27FC236}">
                    <a16:creationId xmlns:a16="http://schemas.microsoft.com/office/drawing/2014/main" id="{ED68EF63-46A8-5F49-A29B-11D3C54085EE}"/>
                  </a:ext>
                </a:extLst>
              </p:cNvPr>
              <p:cNvSpPr/>
              <p:nvPr/>
            </p:nvSpPr>
            <p:spPr>
              <a:xfrm>
                <a:off x="2751172" y="2218231"/>
                <a:ext cx="6023907"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Encrypted Storage using AWS KMS (all editions); TDE Support (</a:t>
                </a:r>
                <a:r>
                  <a:rPr lang="en-US" sz="1200" dirty="0">
                    <a:solidFill>
                      <a:schemeClr val="accent6">
                        <a:lumMod val="75000"/>
                      </a:schemeClr>
                    </a:solidFill>
                    <a:latin typeface="Amazon Ember" panose="020B0603020204020204" pitchFamily="34" charset="0"/>
                    <a:ea typeface="Amazon Ember" panose="020B0603020204020204" pitchFamily="34" charset="0"/>
                    <a:cs typeface="Amazon Ember" panose="020B0603020204020204" pitchFamily="34" charset="0"/>
                  </a:rPr>
                  <a:t>Enterprise</a:t>
                </a: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edition)</a:t>
                </a:r>
              </a:p>
            </p:txBody>
          </p:sp>
          <p:sp>
            <p:nvSpPr>
              <p:cNvPr id="16" name="Rounded Rectangle 15">
                <a:extLst>
                  <a:ext uri="{FF2B5EF4-FFF2-40B4-BE49-F238E27FC236}">
                    <a16:creationId xmlns:a16="http://schemas.microsoft.com/office/drawing/2014/main" id="{88829C0D-238C-0541-B160-370878EF93DC}"/>
                  </a:ext>
                </a:extLst>
              </p:cNvPr>
              <p:cNvSpPr/>
              <p:nvPr/>
            </p:nvSpPr>
            <p:spPr>
              <a:xfrm>
                <a:off x="5830928" y="1782944"/>
                <a:ext cx="2944151" cy="306075"/>
              </a:xfrm>
              <a:prstGeom prst="roundRect">
                <a:avLst>
                  <a:gd name="adj" fmla="val 1745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Self-managed (Always-On, FCI, Mirroring…)</a:t>
                </a:r>
              </a:p>
            </p:txBody>
          </p:sp>
          <p:sp>
            <p:nvSpPr>
              <p:cNvPr id="18" name="Rounded Rectangle 17">
                <a:extLst>
                  <a:ext uri="{FF2B5EF4-FFF2-40B4-BE49-F238E27FC236}">
                    <a16:creationId xmlns:a16="http://schemas.microsoft.com/office/drawing/2014/main" id="{00AB7EF4-A0FA-414C-B4EE-F4D10E2D413B}"/>
                  </a:ext>
                </a:extLst>
              </p:cNvPr>
              <p:cNvSpPr/>
              <p:nvPr/>
            </p:nvSpPr>
            <p:spPr>
              <a:xfrm>
                <a:off x="2751173" y="2654319"/>
                <a:ext cx="2944150" cy="306075"/>
              </a:xfrm>
              <a:prstGeom prst="roundRect">
                <a:avLst>
                  <a:gd name="adj" fmla="val 1745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Windows (</a:t>
                </a:r>
                <a:r>
                  <a:rPr lang="en-US" sz="1200" b="1" dirty="0">
                    <a:solidFill>
                      <a:schemeClr val="accent6">
                        <a:lumMod val="75000"/>
                      </a:schemeClr>
                    </a:solidFill>
                    <a:latin typeface="Amazon Ember" panose="020B0603020204020204" pitchFamily="34" charset="0"/>
                    <a:ea typeface="Amazon Ember" panose="020B0603020204020204" pitchFamily="34" charset="0"/>
                    <a:cs typeface="Amazon Ember" panose="020B0603020204020204" pitchFamily="34" charset="0"/>
                  </a:rPr>
                  <a:t>MAD</a:t>
                </a: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&amp; SQL Authentication</a:t>
                </a:r>
              </a:p>
            </p:txBody>
          </p:sp>
          <p:sp>
            <p:nvSpPr>
              <p:cNvPr id="19" name="Rounded Rectangle 18">
                <a:extLst>
                  <a:ext uri="{FF2B5EF4-FFF2-40B4-BE49-F238E27FC236}">
                    <a16:creationId xmlns:a16="http://schemas.microsoft.com/office/drawing/2014/main" id="{F40C44ED-B6E0-2E4F-96E7-AC94E3165B8E}"/>
                  </a:ext>
                </a:extLst>
              </p:cNvPr>
              <p:cNvSpPr/>
              <p:nvPr/>
            </p:nvSpPr>
            <p:spPr>
              <a:xfrm>
                <a:off x="2751172" y="3090407"/>
                <a:ext cx="2944151" cy="306075"/>
              </a:xfrm>
              <a:prstGeom prst="roundRect">
                <a:avLst>
                  <a:gd name="adj" fmla="val 17450"/>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Managed Automated Backups</a:t>
                </a:r>
              </a:p>
            </p:txBody>
          </p:sp>
          <p:sp>
            <p:nvSpPr>
              <p:cNvPr id="21" name="Rounded Rectangle 20">
                <a:extLst>
                  <a:ext uri="{FF2B5EF4-FFF2-40B4-BE49-F238E27FC236}">
                    <a16:creationId xmlns:a16="http://schemas.microsoft.com/office/drawing/2014/main" id="{7172865D-3CB9-634D-8268-E8DB930A8D37}"/>
                  </a:ext>
                </a:extLst>
              </p:cNvPr>
              <p:cNvSpPr/>
              <p:nvPr/>
            </p:nvSpPr>
            <p:spPr>
              <a:xfrm>
                <a:off x="5830928" y="3090407"/>
                <a:ext cx="2944151" cy="306075"/>
              </a:xfrm>
              <a:prstGeom prst="roundRect">
                <a:avLst>
                  <a:gd name="adj" fmla="val 1745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Maintenance Plans &amp; 3</a:t>
                </a:r>
                <a:r>
                  <a:rPr lang="en-US" sz="1200" baseline="30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rd</a:t>
                </a: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Party Tools</a:t>
                </a:r>
              </a:p>
            </p:txBody>
          </p:sp>
          <p:sp>
            <p:nvSpPr>
              <p:cNvPr id="22" name="Rounded Rectangle 21">
                <a:extLst>
                  <a:ext uri="{FF2B5EF4-FFF2-40B4-BE49-F238E27FC236}">
                    <a16:creationId xmlns:a16="http://schemas.microsoft.com/office/drawing/2014/main" id="{CA229A7E-2BD9-734C-BD88-C034026AB26F}"/>
                  </a:ext>
                </a:extLst>
              </p:cNvPr>
              <p:cNvSpPr/>
              <p:nvPr/>
            </p:nvSpPr>
            <p:spPr>
              <a:xfrm>
                <a:off x="2751172" y="3526496"/>
                <a:ext cx="2944151" cy="306075"/>
              </a:xfrm>
              <a:prstGeom prst="roundRect">
                <a:avLst>
                  <a:gd name="adj" fmla="val 17450"/>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Automated Software Patching</a:t>
                </a:r>
              </a:p>
            </p:txBody>
          </p:sp>
          <p:sp>
            <p:nvSpPr>
              <p:cNvPr id="23" name="Rounded Rectangle 22">
                <a:extLst>
                  <a:ext uri="{FF2B5EF4-FFF2-40B4-BE49-F238E27FC236}">
                    <a16:creationId xmlns:a16="http://schemas.microsoft.com/office/drawing/2014/main" id="{B612818C-DC89-B749-A0CF-2CD7E9592F6C}"/>
                  </a:ext>
                </a:extLst>
              </p:cNvPr>
              <p:cNvSpPr/>
              <p:nvPr/>
            </p:nvSpPr>
            <p:spPr>
              <a:xfrm>
                <a:off x="5830928" y="3526496"/>
                <a:ext cx="2944151" cy="306075"/>
              </a:xfrm>
              <a:prstGeom prst="roundRect">
                <a:avLst>
                  <a:gd name="adj" fmla="val 1745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Self-managed</a:t>
                </a:r>
              </a:p>
            </p:txBody>
          </p:sp>
          <p:sp>
            <p:nvSpPr>
              <p:cNvPr id="31" name="Rounded Rectangle 17">
                <a:extLst>
                  <a:ext uri="{FF2B5EF4-FFF2-40B4-BE49-F238E27FC236}">
                    <a16:creationId xmlns:a16="http://schemas.microsoft.com/office/drawing/2014/main" id="{E0F2A635-FEC6-4C69-B3C5-DDC68569445D}"/>
                  </a:ext>
                </a:extLst>
              </p:cNvPr>
              <p:cNvSpPr/>
              <p:nvPr/>
            </p:nvSpPr>
            <p:spPr>
              <a:xfrm>
                <a:off x="5830928" y="2653258"/>
                <a:ext cx="2944150" cy="306075"/>
              </a:xfrm>
              <a:prstGeom prst="roundRect">
                <a:avLst>
                  <a:gd name="adj" fmla="val 17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Windows &amp; SQL Authentication</a:t>
                </a:r>
              </a:p>
            </p:txBody>
          </p:sp>
        </p:grpSp>
        <p:pic>
          <p:nvPicPr>
            <p:cNvPr id="26" name="Picture 25">
              <a:extLst>
                <a:ext uri="{FF2B5EF4-FFF2-40B4-BE49-F238E27FC236}">
                  <a16:creationId xmlns:a16="http://schemas.microsoft.com/office/drawing/2014/main" id="{FA17B910-69E8-3F44-86E9-17DAD8F37AB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86528" y="594657"/>
              <a:ext cx="521366" cy="602829"/>
            </a:xfrm>
            <a:prstGeom prst="rect">
              <a:avLst/>
            </a:prstGeom>
          </p:spPr>
        </p:pic>
        <p:pic>
          <p:nvPicPr>
            <p:cNvPr id="27" name="Picture 26">
              <a:extLst>
                <a:ext uri="{FF2B5EF4-FFF2-40B4-BE49-F238E27FC236}">
                  <a16:creationId xmlns:a16="http://schemas.microsoft.com/office/drawing/2014/main" id="{C8B9C432-0AB6-5F4A-9891-30B74852571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66284" y="543749"/>
              <a:ext cx="544781" cy="653737"/>
            </a:xfrm>
            <a:prstGeom prst="rect">
              <a:avLst/>
            </a:prstGeom>
          </p:spPr>
        </p:pic>
        <p:sp>
          <p:nvSpPr>
            <p:cNvPr id="28" name="TextBox 27">
              <a:extLst>
                <a:ext uri="{FF2B5EF4-FFF2-40B4-BE49-F238E27FC236}">
                  <a16:creationId xmlns:a16="http://schemas.microsoft.com/office/drawing/2014/main" id="{B6CA43B6-3F01-9446-B3E1-0F8DE954F1D5}"/>
                </a:ext>
              </a:extLst>
            </p:cNvPr>
            <p:cNvSpPr txBox="1"/>
            <p:nvPr/>
          </p:nvSpPr>
          <p:spPr>
            <a:xfrm>
              <a:off x="3107894" y="715070"/>
              <a:ext cx="2249739" cy="369332"/>
            </a:xfrm>
            <a:prstGeom prst="rect">
              <a:avLst/>
            </a:prstGeom>
            <a:noFill/>
          </p:spPr>
          <p:txBody>
            <a:bodyPr wrap="square" rtlCol="0">
              <a:spAutoFit/>
            </a:bodyPr>
            <a:lstStyle/>
            <a:p>
              <a:r>
                <a:rPr lang="en-US"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29" name="TextBox 28">
              <a:extLst>
                <a:ext uri="{FF2B5EF4-FFF2-40B4-BE49-F238E27FC236}">
                  <a16:creationId xmlns:a16="http://schemas.microsoft.com/office/drawing/2014/main" id="{9195E859-C4B4-F545-9A25-BE44B1D7426D}"/>
                </a:ext>
              </a:extLst>
            </p:cNvPr>
            <p:cNvSpPr txBox="1"/>
            <p:nvPr/>
          </p:nvSpPr>
          <p:spPr>
            <a:xfrm>
              <a:off x="6187650" y="685951"/>
              <a:ext cx="2249739" cy="369332"/>
            </a:xfrm>
            <a:prstGeom prst="rect">
              <a:avLst/>
            </a:prstGeom>
            <a:noFill/>
          </p:spPr>
          <p:txBody>
            <a:bodyPr wrap="square" rtlCol="0">
              <a:spAutoFit/>
            </a:bodyPr>
            <a:lstStyle/>
            <a:p>
              <a:r>
                <a:rPr lang="en-US"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Amazon EC2</a:t>
              </a:r>
            </a:p>
          </p:txBody>
        </p:sp>
      </p:grpSp>
    </p:spTree>
    <p:extLst>
      <p:ext uri="{BB962C8B-B14F-4D97-AF65-F5344CB8AC3E}">
        <p14:creationId xmlns:p14="http://schemas.microsoft.com/office/powerpoint/2010/main" val="730174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the rest of SQL Server?</a:t>
            </a:r>
          </a:p>
        </p:txBody>
      </p:sp>
      <p:sp>
        <p:nvSpPr>
          <p:cNvPr id="32" name="Content Placeholder 2">
            <a:extLst>
              <a:ext uri="{FF2B5EF4-FFF2-40B4-BE49-F238E27FC236}">
                <a16:creationId xmlns:a16="http://schemas.microsoft.com/office/drawing/2014/main" id="{8DE5FAF6-9490-4BB0-A8C4-AA2C5CA6EC80}"/>
              </a:ext>
            </a:extLst>
          </p:cNvPr>
          <p:cNvSpPr txBox="1">
            <a:spLocks/>
          </p:cNvSpPr>
          <p:nvPr/>
        </p:nvSpPr>
        <p:spPr>
          <a:xfrm>
            <a:off x="640079" y="1009332"/>
            <a:ext cx="7905817" cy="3607744"/>
          </a:xfrm>
          <a:prstGeom prst="rect">
            <a:avLst/>
          </a:prstGeom>
        </p:spPr>
        <p:txBody>
          <a:bodyPr vert="horz" lIns="91440" tIns="45720" rIns="91440" bIns="45720" rtlCol="0">
            <a:noAutofit/>
          </a:bodyPr>
          <a:lst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Clr>
                <a:schemeClr val="accent1"/>
              </a:buClr>
              <a:buFont typeface="Arial" panose="020B0604020202020204" pitchFamily="34" charset="0"/>
              <a:buChar char="•"/>
            </a:pPr>
            <a:r>
              <a:rPr lang="en-US" b="1" dirty="0">
                <a:solidFill>
                  <a:schemeClr val="accent1">
                    <a:lumMod val="40000"/>
                    <a:lumOff val="60000"/>
                  </a:schemeClr>
                </a:solidFill>
              </a:rPr>
              <a:t>SQL Agent</a:t>
            </a:r>
            <a:r>
              <a:rPr lang="en-US" dirty="0">
                <a:solidFill>
                  <a:srgbClr val="FFC000"/>
                </a:solidFill>
              </a:rPr>
              <a:t>*</a:t>
            </a:r>
          </a:p>
          <a:p>
            <a:pPr marL="342900" indent="-342900">
              <a:buClr>
                <a:schemeClr val="accent1"/>
              </a:buClr>
              <a:buFont typeface="Arial" panose="020B0604020202020204" pitchFamily="34" charset="0"/>
              <a:buChar char="•"/>
            </a:pPr>
            <a:r>
              <a:rPr lang="en-US" dirty="0"/>
              <a:t>Integration Services (SSIS) </a:t>
            </a:r>
            <a:r>
              <a:rPr lang="en-US" dirty="0">
                <a:solidFill>
                  <a:schemeClr val="accent1">
                    <a:lumMod val="40000"/>
                    <a:lumOff val="60000"/>
                  </a:schemeClr>
                </a:solidFill>
              </a:rPr>
              <a:t>– 4 to 12 months on RDS SQL Server</a:t>
            </a:r>
          </a:p>
          <a:p>
            <a:pPr marL="1085850" lvl="1" indent="-342900">
              <a:buClr>
                <a:schemeClr val="accent1"/>
              </a:buClr>
              <a:buFont typeface="Arial" panose="020B0604020202020204" pitchFamily="34" charset="0"/>
              <a:buChar char="•"/>
            </a:pPr>
            <a:r>
              <a:rPr lang="en-US" dirty="0">
                <a:solidFill>
                  <a:schemeClr val="accent1">
                    <a:lumMod val="40000"/>
                    <a:lumOff val="60000"/>
                  </a:schemeClr>
                </a:solidFill>
              </a:rPr>
              <a:t>In private preview</a:t>
            </a:r>
          </a:p>
          <a:p>
            <a:pPr marL="342900" indent="-342900">
              <a:buClr>
                <a:schemeClr val="accent1"/>
              </a:buClr>
              <a:buFont typeface="Arial" panose="020B0604020202020204" pitchFamily="34" charset="0"/>
              <a:buChar char="•"/>
            </a:pPr>
            <a:r>
              <a:rPr lang="en-US" dirty="0"/>
              <a:t>Reporting Services (SSRS) </a:t>
            </a:r>
            <a:r>
              <a:rPr lang="en-US" dirty="0">
                <a:solidFill>
                  <a:schemeClr val="accent1">
                    <a:lumMod val="40000"/>
                    <a:lumOff val="60000"/>
                  </a:schemeClr>
                </a:solidFill>
              </a:rPr>
              <a:t>– 4 to 12 months on RDS SQL Server</a:t>
            </a:r>
          </a:p>
          <a:p>
            <a:pPr marL="342900" indent="-342900">
              <a:buClr>
                <a:schemeClr val="accent1"/>
              </a:buClr>
              <a:buFont typeface="Arial" panose="020B0604020202020204" pitchFamily="34" charset="0"/>
              <a:buChar char="•"/>
            </a:pPr>
            <a:r>
              <a:rPr lang="en-US" dirty="0"/>
              <a:t>Analysis Services (SSAS) </a:t>
            </a:r>
            <a:r>
              <a:rPr lang="en-US" dirty="0">
                <a:solidFill>
                  <a:schemeClr val="accent1">
                    <a:lumMod val="40000"/>
                    <a:lumOff val="60000"/>
                  </a:schemeClr>
                </a:solidFill>
              </a:rPr>
              <a:t>– 4 to 12 months on RDS SQL Server</a:t>
            </a:r>
          </a:p>
          <a:p>
            <a:pPr marL="342900" indent="-342900">
              <a:buClr>
                <a:schemeClr val="accent1"/>
              </a:buClr>
              <a:buFont typeface="Arial" panose="020B0604020202020204" pitchFamily="34" charset="0"/>
              <a:buChar char="•"/>
            </a:pPr>
            <a:r>
              <a:rPr lang="en-US" dirty="0"/>
              <a:t>Database Mail</a:t>
            </a:r>
          </a:p>
          <a:p>
            <a:pPr marL="342900" indent="-342900">
              <a:buClr>
                <a:schemeClr val="accent1"/>
              </a:buClr>
              <a:buFont typeface="Arial" panose="020B0604020202020204" pitchFamily="34" charset="0"/>
              <a:buChar char="•"/>
            </a:pPr>
            <a:r>
              <a:rPr lang="en-US" dirty="0"/>
              <a:t>Service Broker</a:t>
            </a:r>
          </a:p>
          <a:p>
            <a:pPr marL="342900" indent="-342900">
              <a:buClr>
                <a:schemeClr val="accent1"/>
              </a:buClr>
              <a:buFont typeface="Arial" panose="020B0604020202020204" pitchFamily="34" charset="0"/>
              <a:buChar char="•"/>
            </a:pPr>
            <a:r>
              <a:rPr lang="en-US" dirty="0"/>
              <a:t>Data Quality Service</a:t>
            </a:r>
          </a:p>
          <a:p>
            <a:pPr marL="342900" indent="-342900">
              <a:buClr>
                <a:schemeClr val="accent1"/>
              </a:buClr>
              <a:buFont typeface="Arial" panose="020B0604020202020204" pitchFamily="34" charset="0"/>
              <a:buChar char="•"/>
            </a:pPr>
            <a:r>
              <a:rPr lang="en-US" dirty="0"/>
              <a:t>Master Data Service</a:t>
            </a:r>
          </a:p>
          <a:p>
            <a:pPr>
              <a:buClr>
                <a:schemeClr val="accent1"/>
              </a:buClr>
            </a:pPr>
            <a:endParaRPr lang="en-US" sz="1200" dirty="0"/>
          </a:p>
          <a:p>
            <a:pPr>
              <a:buClr>
                <a:schemeClr val="accent1"/>
              </a:buClr>
            </a:pPr>
            <a:r>
              <a:rPr lang="en-US" sz="1400" dirty="0">
                <a:solidFill>
                  <a:schemeClr val="tx1">
                    <a:lumMod val="50000"/>
                    <a:lumOff val="50000"/>
                  </a:schemeClr>
                </a:solidFill>
              </a:rPr>
              <a:t>https://docs.aws.amazon.com/AmazonRDS/latest/UserGuide/CHAP_SQLServer.html#SQLServer.Concepts.General.FeatureNonSupport</a:t>
            </a:r>
          </a:p>
        </p:txBody>
      </p:sp>
    </p:spTree>
    <p:extLst>
      <p:ext uri="{BB962C8B-B14F-4D97-AF65-F5344CB8AC3E}">
        <p14:creationId xmlns:p14="http://schemas.microsoft.com/office/powerpoint/2010/main" val="2674699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SQL Server EC2 vs. RDS: Which should I use?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64378915"/>
              </p:ext>
            </p:extLst>
          </p:nvPr>
        </p:nvGraphicFramePr>
        <p:xfrm>
          <a:off x="684686" y="866417"/>
          <a:ext cx="7509510" cy="3480849"/>
        </p:xfrm>
        <a:graphic>
          <a:graphicData uri="http://schemas.openxmlformats.org/drawingml/2006/table">
            <a:tbl>
              <a:tblPr firstRow="1" bandRow="1">
                <a:tableStyleId>{69012ECD-51FC-41F1-AA8D-1B2483CD663E}</a:tableStyleId>
              </a:tblPr>
              <a:tblGrid>
                <a:gridCol w="5210180">
                  <a:extLst>
                    <a:ext uri="{9D8B030D-6E8A-4147-A177-3AD203B41FA5}">
                      <a16:colId xmlns:a16="http://schemas.microsoft.com/office/drawing/2014/main" val="20000"/>
                    </a:ext>
                  </a:extLst>
                </a:gridCol>
                <a:gridCol w="1145359">
                  <a:extLst>
                    <a:ext uri="{9D8B030D-6E8A-4147-A177-3AD203B41FA5}">
                      <a16:colId xmlns:a16="http://schemas.microsoft.com/office/drawing/2014/main" val="20001"/>
                    </a:ext>
                  </a:extLst>
                </a:gridCol>
                <a:gridCol w="1153971">
                  <a:extLst>
                    <a:ext uri="{9D8B030D-6E8A-4147-A177-3AD203B41FA5}">
                      <a16:colId xmlns:a16="http://schemas.microsoft.com/office/drawing/2014/main" val="20002"/>
                    </a:ext>
                  </a:extLst>
                </a:gridCol>
              </a:tblGrid>
              <a:tr h="333282">
                <a:tc>
                  <a:txBody>
                    <a:bodyPr/>
                    <a:lstStyle/>
                    <a:p>
                      <a:endParaRPr lang="en-US" sz="1800" dirty="0">
                        <a:solidFill>
                          <a:schemeClr val="bg1"/>
                        </a:solidFill>
                      </a:endParaRPr>
                    </a:p>
                  </a:txBody>
                  <a:tcPr marL="122927" marR="122927" marT="34290" marB="34290"/>
                </a:tc>
                <a:tc>
                  <a:txBody>
                    <a:bodyPr/>
                    <a:lstStyle/>
                    <a:p>
                      <a:pPr algn="ctr"/>
                      <a:r>
                        <a:rPr lang="en-US" sz="1800" dirty="0"/>
                        <a:t>EC2</a:t>
                      </a:r>
                      <a:endParaRPr lang="en-US" sz="1800" dirty="0">
                        <a:solidFill>
                          <a:schemeClr val="bg1"/>
                        </a:solidFill>
                      </a:endParaRPr>
                    </a:p>
                  </a:txBody>
                  <a:tcPr marL="122927" marR="122927" marT="34290" marB="34290"/>
                </a:tc>
                <a:tc>
                  <a:txBody>
                    <a:bodyPr/>
                    <a:lstStyle/>
                    <a:p>
                      <a:pPr algn="ctr"/>
                      <a:r>
                        <a:rPr lang="en-US" sz="1800" dirty="0"/>
                        <a:t>RDS</a:t>
                      </a:r>
                      <a:endParaRPr lang="en-US" sz="1800" dirty="0">
                        <a:solidFill>
                          <a:schemeClr val="bg1"/>
                        </a:solidFill>
                      </a:endParaRPr>
                    </a:p>
                  </a:txBody>
                  <a:tcPr marL="122927" marR="122927" marT="34290" marB="34290"/>
                </a:tc>
                <a:extLst>
                  <a:ext uri="{0D108BD9-81ED-4DB2-BD59-A6C34878D82A}">
                    <a16:rowId xmlns:a16="http://schemas.microsoft.com/office/drawing/2014/main" val="10000"/>
                  </a:ext>
                </a:extLst>
              </a:tr>
              <a:tr h="244407">
                <a:tc>
                  <a:txBody>
                    <a:bodyPr/>
                    <a:lstStyle/>
                    <a:p>
                      <a:r>
                        <a:rPr lang="en-US" sz="1200" dirty="0">
                          <a:solidFill>
                            <a:schemeClr val="bg1"/>
                          </a:solidFill>
                        </a:rPr>
                        <a:t>License included</a:t>
                      </a:r>
                    </a:p>
                  </a:txBody>
                  <a:tcPr marL="122927" marR="122927" marT="34290" marB="3429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extLst>
                  <a:ext uri="{0D108BD9-81ED-4DB2-BD59-A6C34878D82A}">
                    <a16:rowId xmlns:a16="http://schemas.microsoft.com/office/drawing/2014/main" val="10001"/>
                  </a:ext>
                </a:extLst>
              </a:tr>
              <a:tr h="244407">
                <a:tc>
                  <a:txBody>
                    <a:bodyPr/>
                    <a:lstStyle/>
                    <a:p>
                      <a:r>
                        <a:rPr lang="en-US" sz="1200" b="1" dirty="0">
                          <a:solidFill>
                            <a:schemeClr val="accent5">
                              <a:lumMod val="60000"/>
                              <a:lumOff val="40000"/>
                            </a:schemeClr>
                          </a:solidFill>
                        </a:rPr>
                        <a:t>BYOL</a:t>
                      </a:r>
                    </a:p>
                  </a:txBody>
                  <a:tcPr marL="122927" marR="122927" marT="34290" marB="34290"/>
                </a:tc>
                <a:tc>
                  <a:txBody>
                    <a:bodyPr/>
                    <a:lstStyle/>
                    <a:p>
                      <a:pPr algn="ctr"/>
                      <a:r>
                        <a:rPr lang="en-US" sz="1200" b="1" dirty="0">
                          <a:solidFill>
                            <a:schemeClr val="accent5">
                              <a:lumMod val="60000"/>
                              <a:lumOff val="40000"/>
                            </a:schemeClr>
                          </a:solidFill>
                          <a:sym typeface="Wingdings" panose="05000000000000000000" pitchFamily="2" charset="2"/>
                        </a:rPr>
                        <a:t></a:t>
                      </a:r>
                      <a:endParaRPr lang="en-US" sz="1200" b="1" dirty="0">
                        <a:solidFill>
                          <a:schemeClr val="accent5">
                            <a:lumMod val="60000"/>
                            <a:lumOff val="40000"/>
                          </a:schemeClr>
                        </a:solidFill>
                      </a:endParaRPr>
                    </a:p>
                  </a:txBody>
                  <a:tcPr marL="0" marR="0" marT="0" marB="0"/>
                </a:tc>
                <a:tc>
                  <a:txBody>
                    <a:bodyPr/>
                    <a:lstStyle/>
                    <a:p>
                      <a:pPr algn="ctr"/>
                      <a:endParaRPr lang="en-US" sz="1200" dirty="0">
                        <a:solidFill>
                          <a:schemeClr val="bg1"/>
                        </a:solidFill>
                      </a:endParaRPr>
                    </a:p>
                  </a:txBody>
                  <a:tcPr marL="0" marR="0" marT="0" marB="0"/>
                </a:tc>
                <a:extLst>
                  <a:ext uri="{0D108BD9-81ED-4DB2-BD59-A6C34878D82A}">
                    <a16:rowId xmlns:a16="http://schemas.microsoft.com/office/drawing/2014/main" val="10002"/>
                  </a:ext>
                </a:extLst>
              </a:tr>
              <a:tr h="292781">
                <a:tc>
                  <a:txBody>
                    <a:bodyPr/>
                    <a:lstStyle/>
                    <a:p>
                      <a:r>
                        <a:rPr lang="en-US" sz="1200" dirty="0">
                          <a:solidFill>
                            <a:schemeClr val="bg1"/>
                          </a:solidFill>
                        </a:rPr>
                        <a:t>Full control over the instance</a:t>
                      </a:r>
                    </a:p>
                  </a:txBody>
                  <a:tcPr marL="122927" marR="122927" marT="34290" marB="3429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tc>
                  <a:txBody>
                    <a:bodyPr/>
                    <a:lstStyle/>
                    <a:p>
                      <a:pPr algn="ctr"/>
                      <a:endParaRPr lang="en-US" sz="1200" dirty="0">
                        <a:solidFill>
                          <a:schemeClr val="bg1"/>
                        </a:solidFill>
                      </a:endParaRPr>
                    </a:p>
                  </a:txBody>
                  <a:tcPr marL="0" marR="0" marT="0" marB="0"/>
                </a:tc>
                <a:extLst>
                  <a:ext uri="{0D108BD9-81ED-4DB2-BD59-A6C34878D82A}">
                    <a16:rowId xmlns:a16="http://schemas.microsoft.com/office/drawing/2014/main" val="10003"/>
                  </a:ext>
                </a:extLst>
              </a:tr>
              <a:tr h="292781">
                <a:tc>
                  <a:txBody>
                    <a:bodyPr/>
                    <a:lstStyle/>
                    <a:p>
                      <a:r>
                        <a:rPr lang="en-US" sz="1200" dirty="0">
                          <a:solidFill>
                            <a:schemeClr val="bg1"/>
                          </a:solidFill>
                        </a:rPr>
                        <a:t>Automated backups</a:t>
                      </a:r>
                    </a:p>
                  </a:txBody>
                  <a:tcPr marL="122927" marR="122927" marT="34290" marB="34290"/>
                </a:tc>
                <a:tc>
                  <a:txBody>
                    <a:bodyPr/>
                    <a:lstStyle/>
                    <a:p>
                      <a:pPr algn="ctr"/>
                      <a:endParaRPr lang="en-US" sz="1200" dirty="0">
                        <a:solidFill>
                          <a:schemeClr val="bg1"/>
                        </a:solidFill>
                      </a:endParaRPr>
                    </a:p>
                  </a:txBody>
                  <a:tcPr marL="0" marR="0" marT="0" marB="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extLst>
                  <a:ext uri="{0D108BD9-81ED-4DB2-BD59-A6C34878D82A}">
                    <a16:rowId xmlns:a16="http://schemas.microsoft.com/office/drawing/2014/main" val="10004"/>
                  </a:ext>
                </a:extLst>
              </a:tr>
              <a:tr h="292781">
                <a:tc>
                  <a:txBody>
                    <a:bodyPr/>
                    <a:lstStyle/>
                    <a:p>
                      <a:r>
                        <a:rPr lang="en-US" sz="1200" dirty="0">
                          <a:solidFill>
                            <a:schemeClr val="bg1"/>
                          </a:solidFill>
                        </a:rPr>
                        <a:t>Self-managed Always-On Availability</a:t>
                      </a:r>
                      <a:r>
                        <a:rPr lang="en-US" sz="1200" baseline="0" dirty="0">
                          <a:solidFill>
                            <a:schemeClr val="bg1"/>
                          </a:solidFill>
                        </a:rPr>
                        <a:t> Groups / Failover Cluster Instance</a:t>
                      </a:r>
                      <a:endParaRPr lang="en-US" sz="1200" dirty="0">
                        <a:solidFill>
                          <a:schemeClr val="bg1"/>
                        </a:solidFill>
                      </a:endParaRPr>
                    </a:p>
                  </a:txBody>
                  <a:tcPr marL="122927" marR="122927" marT="34290" marB="3429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tc>
                  <a:txBody>
                    <a:bodyPr/>
                    <a:lstStyle/>
                    <a:p>
                      <a:pPr algn="ctr"/>
                      <a:endParaRPr lang="en-US" sz="1200" dirty="0">
                        <a:solidFill>
                          <a:schemeClr val="bg1"/>
                        </a:solidFill>
                      </a:endParaRPr>
                    </a:p>
                  </a:txBody>
                  <a:tcPr marL="0" marR="0" marT="0" marB="0"/>
                </a:tc>
                <a:extLst>
                  <a:ext uri="{0D108BD9-81ED-4DB2-BD59-A6C34878D82A}">
                    <a16:rowId xmlns:a16="http://schemas.microsoft.com/office/drawing/2014/main" val="10005"/>
                  </a:ext>
                </a:extLst>
              </a:tr>
              <a:tr h="292781">
                <a:tc>
                  <a:txBody>
                    <a:bodyPr/>
                    <a:lstStyle/>
                    <a:p>
                      <a:r>
                        <a:rPr lang="en-US" sz="1200" dirty="0">
                          <a:solidFill>
                            <a:schemeClr val="bg1"/>
                          </a:solidFill>
                        </a:rPr>
                        <a:t>AWS-managed</a:t>
                      </a:r>
                      <a:r>
                        <a:rPr lang="en-US" sz="1200" baseline="0" dirty="0">
                          <a:solidFill>
                            <a:schemeClr val="bg1"/>
                          </a:solidFill>
                        </a:rPr>
                        <a:t> Multi-AZ deployment</a:t>
                      </a:r>
                      <a:endParaRPr lang="en-US" sz="1200" dirty="0">
                        <a:solidFill>
                          <a:schemeClr val="bg1"/>
                        </a:solidFill>
                      </a:endParaRPr>
                    </a:p>
                  </a:txBody>
                  <a:tcPr marL="122927" marR="122927" marT="34290" marB="34290"/>
                </a:tc>
                <a:tc>
                  <a:txBody>
                    <a:bodyPr/>
                    <a:lstStyle/>
                    <a:p>
                      <a:pPr algn="ctr"/>
                      <a:endParaRPr lang="en-US" sz="1200" dirty="0">
                        <a:solidFill>
                          <a:schemeClr val="bg1"/>
                        </a:solidFill>
                      </a:endParaRPr>
                    </a:p>
                  </a:txBody>
                  <a:tcPr marL="0" marR="0" marT="0" marB="0"/>
                </a:tc>
                <a:tc>
                  <a:txBody>
                    <a:bodyPr/>
                    <a:lstStyle/>
                    <a:p>
                      <a:pPr algn="ct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extLst>
                  <a:ext uri="{0D108BD9-81ED-4DB2-BD59-A6C34878D82A}">
                    <a16:rowId xmlns:a16="http://schemas.microsoft.com/office/drawing/2014/main" val="3211964038"/>
                  </a:ext>
                </a:extLst>
              </a:tr>
              <a:tr h="292781">
                <a:tc>
                  <a:txBody>
                    <a:bodyPr/>
                    <a:lstStyle/>
                    <a:p>
                      <a:r>
                        <a:rPr lang="en-US" sz="1200" dirty="0">
                          <a:solidFill>
                            <a:schemeClr val="bg1"/>
                          </a:solidFill>
                        </a:rPr>
                        <a:t>Integrated Security</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dirty="0">
                          <a:solidFill>
                            <a:schemeClr val="bg1"/>
                          </a:solidFill>
                          <a:sym typeface="Wingdings" panose="05000000000000000000" pitchFamily="2" charset="2"/>
                        </a:rPr>
                        <a:t></a:t>
                      </a:r>
                      <a:endParaRPr lang="en-US" sz="1200" dirty="0">
                        <a:solidFill>
                          <a:schemeClr val="bg1"/>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b="1" dirty="0">
                          <a:solidFill>
                            <a:schemeClr val="accent6">
                              <a:lumMod val="60000"/>
                              <a:lumOff val="40000"/>
                            </a:schemeClr>
                          </a:solidFill>
                          <a:sym typeface="Wingdings" panose="05000000000000000000" pitchFamily="2" charset="2"/>
                        </a:rPr>
                        <a:t> </a:t>
                      </a:r>
                      <a:r>
                        <a:rPr lang="en-US" sz="1100" b="1" dirty="0">
                          <a:solidFill>
                            <a:schemeClr val="accent6">
                              <a:lumMod val="60000"/>
                              <a:lumOff val="40000"/>
                            </a:schemeClr>
                          </a:solidFill>
                          <a:sym typeface="Wingdings" panose="05000000000000000000" pitchFamily="2" charset="2"/>
                        </a:rPr>
                        <a:t>(MAD)</a:t>
                      </a:r>
                      <a:endParaRPr lang="en-US" sz="1200" b="1" dirty="0">
                        <a:solidFill>
                          <a:schemeClr val="accent6">
                            <a:lumMod val="60000"/>
                            <a:lumOff val="40000"/>
                          </a:schemeClr>
                        </a:solidFill>
                      </a:endParaRPr>
                    </a:p>
                  </a:txBody>
                  <a:tcPr marL="0" marR="0" marT="0" marB="0"/>
                </a:tc>
                <a:extLst>
                  <a:ext uri="{0D108BD9-81ED-4DB2-BD59-A6C34878D82A}">
                    <a16:rowId xmlns:a16="http://schemas.microsoft.com/office/drawing/2014/main" val="2157188744"/>
                  </a:ext>
                </a:extLst>
              </a:tr>
              <a:tr h="292781">
                <a:tc>
                  <a:txBody>
                    <a:bodyPr/>
                    <a:lstStyle/>
                    <a:p>
                      <a:r>
                        <a:rPr lang="en-US" sz="1200" dirty="0">
                          <a:solidFill>
                            <a:schemeClr val="bg1">
                              <a:lumMod val="65000"/>
                            </a:schemeClr>
                          </a:solidFill>
                        </a:rPr>
                        <a:t>Co-hosting additional SQL Server components</a:t>
                      </a:r>
                      <a:r>
                        <a:rPr lang="en-US" sz="1200" dirty="0">
                          <a:solidFill>
                            <a:srgbClr val="FFC000"/>
                          </a:solidFill>
                        </a:rPr>
                        <a:t>*</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b="1" dirty="0">
                          <a:solidFill>
                            <a:schemeClr val="bg1">
                              <a:lumMod val="65000"/>
                            </a:schemeClr>
                          </a:solidFill>
                          <a:sym typeface="Wingdings" panose="05000000000000000000" pitchFamily="2" charset="2"/>
                        </a:rPr>
                        <a:t></a:t>
                      </a:r>
                      <a:endParaRPr lang="en-US" sz="1200" b="1" dirty="0">
                        <a:solidFill>
                          <a:schemeClr val="bg1">
                            <a:lumMod val="65000"/>
                          </a:schemeClr>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200" dirty="0">
                        <a:solidFill>
                          <a:schemeClr val="accent6">
                            <a:lumMod val="60000"/>
                            <a:lumOff val="40000"/>
                          </a:schemeClr>
                        </a:solidFill>
                      </a:endParaRPr>
                    </a:p>
                  </a:txBody>
                  <a:tcPr marL="0" marR="0" marT="0" marB="0"/>
                </a:tc>
                <a:extLst>
                  <a:ext uri="{0D108BD9-81ED-4DB2-BD59-A6C34878D82A}">
                    <a16:rowId xmlns:a16="http://schemas.microsoft.com/office/drawing/2014/main" val="3818655359"/>
                  </a:ext>
                </a:extLst>
              </a:tr>
              <a:tr h="292781">
                <a:tc>
                  <a:txBody>
                    <a:bodyPr/>
                    <a:lstStyle/>
                    <a:p>
                      <a:r>
                        <a:rPr lang="en-US" sz="1200" dirty="0">
                          <a:solidFill>
                            <a:schemeClr val="bg1"/>
                          </a:solidFill>
                        </a:rPr>
                        <a:t>Auditable centralized engine parameter tuning</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200" dirty="0">
                        <a:solidFill>
                          <a:schemeClr val="bg1"/>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dirty="0">
                          <a:solidFill>
                            <a:schemeClr val="bg1"/>
                          </a:solidFill>
                          <a:sym typeface="Wingdings" panose="05000000000000000000" pitchFamily="2" charset="2"/>
                        </a:rPr>
                        <a:t></a:t>
                      </a:r>
                      <a:endParaRPr lang="en-US" sz="1200" dirty="0">
                        <a:solidFill>
                          <a:schemeClr val="accent6">
                            <a:lumMod val="60000"/>
                            <a:lumOff val="40000"/>
                          </a:schemeClr>
                        </a:solidFill>
                      </a:endParaRPr>
                    </a:p>
                  </a:txBody>
                  <a:tcPr marL="0" marR="0" marT="0" marB="0"/>
                </a:tc>
                <a:extLst>
                  <a:ext uri="{0D108BD9-81ED-4DB2-BD59-A6C34878D82A}">
                    <a16:rowId xmlns:a16="http://schemas.microsoft.com/office/drawing/2014/main" val="1037452041"/>
                  </a:ext>
                </a:extLst>
              </a:tr>
              <a:tr h="292781">
                <a:tc>
                  <a:txBody>
                    <a:bodyPr/>
                    <a:lstStyle/>
                    <a:p>
                      <a:r>
                        <a:rPr lang="en-US" sz="1200" dirty="0">
                          <a:solidFill>
                            <a:schemeClr val="bg1"/>
                          </a:solidFill>
                        </a:rPr>
                        <a:t>Automated backups and point in time restore</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200" dirty="0">
                        <a:solidFill>
                          <a:schemeClr val="bg1"/>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dirty="0">
                          <a:solidFill>
                            <a:schemeClr val="bg1"/>
                          </a:solidFill>
                          <a:sym typeface="Wingdings" panose="05000000000000000000" pitchFamily="2" charset="2"/>
                        </a:rPr>
                        <a:t></a:t>
                      </a:r>
                      <a:endParaRPr lang="en-US" sz="1200" dirty="0">
                        <a:solidFill>
                          <a:schemeClr val="accent6">
                            <a:lumMod val="60000"/>
                            <a:lumOff val="40000"/>
                          </a:schemeClr>
                        </a:solidFill>
                      </a:endParaRPr>
                    </a:p>
                  </a:txBody>
                  <a:tcPr marL="0" marR="0" marT="0" marB="0"/>
                </a:tc>
                <a:extLst>
                  <a:ext uri="{0D108BD9-81ED-4DB2-BD59-A6C34878D82A}">
                    <a16:rowId xmlns:a16="http://schemas.microsoft.com/office/drawing/2014/main" val="1360585446"/>
                  </a:ext>
                </a:extLst>
              </a:tr>
              <a:tr h="292781">
                <a:tc>
                  <a:txBody>
                    <a:bodyPr/>
                    <a:lstStyle/>
                    <a:p>
                      <a:r>
                        <a:rPr lang="en-US" sz="1200" dirty="0">
                          <a:solidFill>
                            <a:schemeClr val="bg1"/>
                          </a:solidFill>
                        </a:rPr>
                        <a:t>No direct instance or file system access</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200" dirty="0">
                        <a:solidFill>
                          <a:schemeClr val="bg1"/>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200" dirty="0">
                          <a:solidFill>
                            <a:schemeClr val="bg1"/>
                          </a:solidFill>
                          <a:sym typeface="Wingdings" panose="05000000000000000000" pitchFamily="2" charset="2"/>
                        </a:rPr>
                        <a:t></a:t>
                      </a:r>
                      <a:endParaRPr lang="en-US" sz="1200" dirty="0">
                        <a:solidFill>
                          <a:schemeClr val="accent6">
                            <a:lumMod val="60000"/>
                            <a:lumOff val="40000"/>
                          </a:schemeClr>
                        </a:solidFill>
                      </a:endParaRPr>
                    </a:p>
                  </a:txBody>
                  <a:tcPr marL="0" marR="0" marT="0" marB="0"/>
                </a:tc>
                <a:extLst>
                  <a:ext uri="{0D108BD9-81ED-4DB2-BD59-A6C34878D82A}">
                    <a16:rowId xmlns:a16="http://schemas.microsoft.com/office/drawing/2014/main" val="1128469530"/>
                  </a:ext>
                </a:extLst>
              </a:tr>
            </a:tbl>
          </a:graphicData>
        </a:graphic>
      </p:graphicFrame>
      <p:sp>
        <p:nvSpPr>
          <p:cNvPr id="5" name="TextBox 4">
            <a:extLst>
              <a:ext uri="{FF2B5EF4-FFF2-40B4-BE49-F238E27FC236}">
                <a16:creationId xmlns:a16="http://schemas.microsoft.com/office/drawing/2014/main" id="{90D8D42C-ED12-47C2-AB9B-BDFC2ABECEEC}"/>
              </a:ext>
            </a:extLst>
          </p:cNvPr>
          <p:cNvSpPr txBox="1"/>
          <p:nvPr/>
        </p:nvSpPr>
        <p:spPr>
          <a:xfrm>
            <a:off x="684687" y="4422201"/>
            <a:ext cx="7509509" cy="261610"/>
          </a:xfrm>
          <a:prstGeom prst="rect">
            <a:avLst/>
          </a:prstGeom>
          <a:noFill/>
        </p:spPr>
        <p:txBody>
          <a:bodyPr wrap="square" rtlCol="0">
            <a:spAutoFit/>
          </a:bodyPr>
          <a:lstStyle/>
          <a:p>
            <a:r>
              <a:rPr lang="en-US" sz="1100" dirty="0">
                <a:solidFill>
                  <a:srgbClr val="FFC000"/>
                </a:solidFill>
              </a:rPr>
              <a:t>*</a:t>
            </a:r>
            <a:r>
              <a:rPr lang="en-US" sz="1100" dirty="0">
                <a:solidFill>
                  <a:schemeClr val="bg1"/>
                </a:solidFill>
              </a:rPr>
              <a:t>Special considerations for HA/DR environments</a:t>
            </a:r>
          </a:p>
        </p:txBody>
      </p:sp>
    </p:spTree>
    <p:extLst>
      <p:ext uri="{BB962C8B-B14F-4D97-AF65-F5344CB8AC3E}">
        <p14:creationId xmlns:p14="http://schemas.microsoft.com/office/powerpoint/2010/main" val="3060656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B8B9-56AE-4440-9B8D-3C20EA795548}"/>
              </a:ext>
            </a:extLst>
          </p:cNvPr>
          <p:cNvSpPr>
            <a:spLocks noGrp="1"/>
          </p:cNvSpPr>
          <p:nvPr>
            <p:ph type="title"/>
          </p:nvPr>
        </p:nvSpPr>
        <p:spPr/>
        <p:txBody>
          <a:bodyPr/>
          <a:lstStyle/>
          <a:p>
            <a:r>
              <a:rPr lang="en-US" dirty="0"/>
              <a:t>RDS SQL Server Pace of Innovation – 2018</a:t>
            </a:r>
          </a:p>
        </p:txBody>
      </p:sp>
      <p:sp>
        <p:nvSpPr>
          <p:cNvPr id="3" name="Content Placeholder 2">
            <a:extLst>
              <a:ext uri="{FF2B5EF4-FFF2-40B4-BE49-F238E27FC236}">
                <a16:creationId xmlns:a16="http://schemas.microsoft.com/office/drawing/2014/main" id="{D1A44158-861F-4CFF-A95C-0BBB6FA7489C}"/>
              </a:ext>
            </a:extLst>
          </p:cNvPr>
          <p:cNvSpPr>
            <a:spLocks noGrp="1"/>
          </p:cNvSpPr>
          <p:nvPr>
            <p:ph sz="half" idx="1"/>
          </p:nvPr>
        </p:nvSpPr>
        <p:spPr>
          <a:xfrm>
            <a:off x="337518" y="1011543"/>
            <a:ext cx="8204575" cy="3353193"/>
          </a:xfrm>
        </p:spPr>
        <p:txBody>
          <a:bodyPr>
            <a:normAutofit fontScale="85000" lnSpcReduction="10000"/>
          </a:bodyPr>
          <a:lstStyle/>
          <a:p>
            <a:pPr marL="342900" indent="-342900">
              <a:buClr>
                <a:schemeClr val="accent1"/>
              </a:buClr>
              <a:buFont typeface="Arial" panose="020B0604020202020204" pitchFamily="34" charset="0"/>
              <a:buChar char="•"/>
            </a:pPr>
            <a:r>
              <a:rPr lang="en-US" b="1" dirty="0"/>
              <a:t>February 		– </a:t>
            </a:r>
            <a:r>
              <a:rPr lang="en-US" dirty="0">
                <a:solidFill>
                  <a:schemeClr val="accent1">
                    <a:lumMod val="40000"/>
                    <a:lumOff val="60000"/>
                  </a:schemeClr>
                </a:solidFill>
              </a:rPr>
              <a:t>Differential Backups </a:t>
            </a:r>
            <a:r>
              <a:rPr lang="en-US" dirty="0"/>
              <a:t>(limited)</a:t>
            </a:r>
          </a:p>
          <a:p>
            <a:pPr marL="342900" indent="-342900">
              <a:buClr>
                <a:schemeClr val="accent1"/>
              </a:buClr>
              <a:buFont typeface="Arial" panose="020B0604020202020204" pitchFamily="34" charset="0"/>
              <a:buChar char="•"/>
            </a:pPr>
            <a:r>
              <a:rPr lang="en-US" b="1" dirty="0"/>
              <a:t>February 		– </a:t>
            </a:r>
            <a:r>
              <a:rPr lang="en-US" dirty="0">
                <a:solidFill>
                  <a:schemeClr val="accent1">
                    <a:lumMod val="40000"/>
                    <a:lumOff val="60000"/>
                  </a:schemeClr>
                </a:solidFill>
              </a:rPr>
              <a:t>CDC</a:t>
            </a:r>
            <a:r>
              <a:rPr lang="en-US" dirty="0"/>
              <a:t> Support</a:t>
            </a:r>
          </a:p>
          <a:p>
            <a:pPr marL="342900" indent="-342900">
              <a:buClr>
                <a:schemeClr val="accent1"/>
              </a:buClr>
              <a:buFont typeface="Arial" panose="020B0604020202020204" pitchFamily="34" charset="0"/>
              <a:buChar char="•"/>
            </a:pPr>
            <a:r>
              <a:rPr lang="en-US" b="1" dirty="0"/>
              <a:t>February 		– </a:t>
            </a:r>
            <a:r>
              <a:rPr lang="en-US" dirty="0"/>
              <a:t>Max </a:t>
            </a:r>
            <a:r>
              <a:rPr lang="en-US" dirty="0">
                <a:solidFill>
                  <a:schemeClr val="accent1">
                    <a:lumMod val="40000"/>
                    <a:lumOff val="60000"/>
                  </a:schemeClr>
                </a:solidFill>
              </a:rPr>
              <a:t>IOPS</a:t>
            </a:r>
            <a:r>
              <a:rPr lang="en-US" dirty="0"/>
              <a:t> increased to </a:t>
            </a:r>
            <a:r>
              <a:rPr lang="en-US" dirty="0">
                <a:solidFill>
                  <a:schemeClr val="accent1">
                    <a:lumMod val="40000"/>
                    <a:lumOff val="60000"/>
                  </a:schemeClr>
                </a:solidFill>
              </a:rPr>
              <a:t>32,000</a:t>
            </a:r>
          </a:p>
          <a:p>
            <a:pPr marL="342900" indent="-342900">
              <a:buClr>
                <a:schemeClr val="accent1"/>
              </a:buClr>
              <a:buFont typeface="Arial" panose="020B0604020202020204" pitchFamily="34" charset="0"/>
              <a:buChar char="•"/>
            </a:pPr>
            <a:r>
              <a:rPr lang="en-US" b="1" dirty="0"/>
              <a:t>March 		</a:t>
            </a:r>
            <a:r>
              <a:rPr lang="en-US" dirty="0"/>
              <a:t>–</a:t>
            </a:r>
            <a:r>
              <a:rPr lang="en-US" b="1" dirty="0"/>
              <a:t> </a:t>
            </a:r>
            <a:r>
              <a:rPr lang="en-US" dirty="0"/>
              <a:t>SQL Server </a:t>
            </a:r>
            <a:r>
              <a:rPr lang="en-US" dirty="0">
                <a:solidFill>
                  <a:schemeClr val="accent1">
                    <a:lumMod val="40000"/>
                    <a:lumOff val="60000"/>
                  </a:schemeClr>
                </a:solidFill>
              </a:rPr>
              <a:t>2017 RTM </a:t>
            </a:r>
            <a:r>
              <a:rPr lang="en-US" dirty="0"/>
              <a:t>CU3, SQL Server </a:t>
            </a:r>
            <a:r>
              <a:rPr lang="en-US" dirty="0">
                <a:solidFill>
                  <a:schemeClr val="accent1">
                    <a:lumMod val="40000"/>
                    <a:lumOff val="60000"/>
                  </a:schemeClr>
                </a:solidFill>
              </a:rPr>
              <a:t>2016 SP1 </a:t>
            </a:r>
            <a:r>
              <a:rPr lang="en-US" dirty="0"/>
              <a:t>CU7</a:t>
            </a:r>
          </a:p>
          <a:p>
            <a:pPr marL="342900" indent="-342900">
              <a:buClr>
                <a:schemeClr val="accent1"/>
              </a:buClr>
              <a:buFont typeface="Arial" panose="020B0604020202020204" pitchFamily="34" charset="0"/>
              <a:buChar char="•"/>
            </a:pPr>
            <a:r>
              <a:rPr lang="en-US" b="1" dirty="0"/>
              <a:t>May</a:t>
            </a:r>
            <a:r>
              <a:rPr lang="en-US" dirty="0"/>
              <a:t> 			– </a:t>
            </a:r>
            <a:r>
              <a:rPr lang="en-US" dirty="0">
                <a:solidFill>
                  <a:schemeClr val="accent1">
                    <a:lumMod val="40000"/>
                    <a:lumOff val="60000"/>
                  </a:schemeClr>
                </a:solidFill>
              </a:rPr>
              <a:t>More regions </a:t>
            </a:r>
            <a:r>
              <a:rPr lang="en-US" dirty="0"/>
              <a:t>support SQL Server High Availability</a:t>
            </a:r>
          </a:p>
          <a:p>
            <a:pPr marL="342900" indent="-342900">
              <a:buClr>
                <a:schemeClr val="accent1"/>
              </a:buClr>
              <a:buFont typeface="Arial" panose="020B0604020202020204" pitchFamily="34" charset="0"/>
              <a:buChar char="•"/>
            </a:pPr>
            <a:r>
              <a:rPr lang="en-US" b="1" dirty="0"/>
              <a:t>August</a:t>
            </a:r>
            <a:r>
              <a:rPr lang="en-US" dirty="0"/>
              <a:t> 		– AWS </a:t>
            </a:r>
            <a:r>
              <a:rPr lang="en-US" dirty="0">
                <a:solidFill>
                  <a:schemeClr val="accent1">
                    <a:lumMod val="40000"/>
                    <a:lumOff val="60000"/>
                  </a:schemeClr>
                </a:solidFill>
              </a:rPr>
              <a:t>Secrets Manager Support</a:t>
            </a:r>
          </a:p>
          <a:p>
            <a:pPr marL="342900" indent="-342900">
              <a:buClr>
                <a:schemeClr val="accent1"/>
              </a:buClr>
              <a:buFont typeface="Arial" panose="020B0604020202020204" pitchFamily="34" charset="0"/>
              <a:buChar char="•"/>
            </a:pPr>
            <a:r>
              <a:rPr lang="en-US" b="1" dirty="0"/>
              <a:t>September</a:t>
            </a:r>
            <a:r>
              <a:rPr lang="en-US" dirty="0"/>
              <a:t> 	– Database </a:t>
            </a:r>
            <a:r>
              <a:rPr lang="en-US" dirty="0">
                <a:solidFill>
                  <a:schemeClr val="accent1">
                    <a:lumMod val="40000"/>
                    <a:lumOff val="60000"/>
                  </a:schemeClr>
                </a:solidFill>
              </a:rPr>
              <a:t>Deletion Protection</a:t>
            </a:r>
          </a:p>
          <a:p>
            <a:pPr marL="342900" indent="-342900">
              <a:buClr>
                <a:schemeClr val="accent1"/>
              </a:buClr>
              <a:buFont typeface="Arial" panose="020B0604020202020204" pitchFamily="34" charset="0"/>
              <a:buChar char="•"/>
            </a:pPr>
            <a:r>
              <a:rPr lang="en-US" b="1" dirty="0"/>
              <a:t>October</a:t>
            </a:r>
            <a:r>
              <a:rPr lang="en-US" dirty="0"/>
              <a:t> 		– Backup and Restore Enhancements (</a:t>
            </a:r>
            <a:r>
              <a:rPr lang="en-US" dirty="0" err="1">
                <a:solidFill>
                  <a:schemeClr val="accent1">
                    <a:lumMod val="40000"/>
                    <a:lumOff val="60000"/>
                  </a:schemeClr>
                </a:solidFill>
              </a:rPr>
              <a:t>Family_GUID</a:t>
            </a:r>
            <a:r>
              <a:rPr lang="en-US" dirty="0"/>
              <a:t>)</a:t>
            </a:r>
          </a:p>
          <a:p>
            <a:pPr marL="342900" indent="-342900">
              <a:buClr>
                <a:schemeClr val="accent1"/>
              </a:buClr>
              <a:buFont typeface="Arial" panose="020B0604020202020204" pitchFamily="34" charset="0"/>
              <a:buChar char="•"/>
            </a:pPr>
            <a:r>
              <a:rPr lang="en-US" b="1" dirty="0"/>
              <a:t>October</a:t>
            </a:r>
            <a:r>
              <a:rPr lang="en-US" dirty="0"/>
              <a:t>		– </a:t>
            </a:r>
            <a:r>
              <a:rPr lang="en-US" dirty="0">
                <a:solidFill>
                  <a:schemeClr val="accent1">
                    <a:lumMod val="40000"/>
                    <a:lumOff val="60000"/>
                  </a:schemeClr>
                </a:solidFill>
              </a:rPr>
              <a:t>Backup and Restore </a:t>
            </a:r>
            <a:r>
              <a:rPr lang="en-US" dirty="0"/>
              <a:t>for </a:t>
            </a:r>
            <a:r>
              <a:rPr lang="en-US" dirty="0">
                <a:solidFill>
                  <a:schemeClr val="accent1">
                    <a:lumMod val="40000"/>
                    <a:lumOff val="60000"/>
                  </a:schemeClr>
                </a:solidFill>
              </a:rPr>
              <a:t>Multi-AZ</a:t>
            </a:r>
            <a:r>
              <a:rPr lang="en-US" dirty="0"/>
              <a:t> DBs</a:t>
            </a:r>
          </a:p>
          <a:p>
            <a:pPr marL="342900" indent="-342900">
              <a:buClr>
                <a:schemeClr val="accent1"/>
              </a:buClr>
              <a:buFont typeface="Arial" panose="020B0604020202020204" pitchFamily="34" charset="0"/>
              <a:buChar char="•"/>
            </a:pPr>
            <a:r>
              <a:rPr lang="en-US" b="1" dirty="0"/>
              <a:t>November</a:t>
            </a:r>
            <a:r>
              <a:rPr lang="en-US" dirty="0"/>
              <a:t> 	– </a:t>
            </a:r>
            <a:r>
              <a:rPr lang="en-US" dirty="0">
                <a:solidFill>
                  <a:schemeClr val="accent1">
                    <a:lumMod val="40000"/>
                    <a:lumOff val="60000"/>
                  </a:schemeClr>
                </a:solidFill>
              </a:rPr>
              <a:t>Always On </a:t>
            </a:r>
            <a:r>
              <a:rPr lang="en-US" dirty="0"/>
              <a:t>Availability Groups for </a:t>
            </a:r>
            <a:r>
              <a:rPr lang="en-US" dirty="0">
                <a:solidFill>
                  <a:schemeClr val="accent1">
                    <a:lumMod val="40000"/>
                    <a:lumOff val="60000"/>
                  </a:schemeClr>
                </a:solidFill>
              </a:rPr>
              <a:t>SQL Server 2016 EE</a:t>
            </a:r>
          </a:p>
          <a:p>
            <a:pPr marL="342900" indent="-342900">
              <a:buClr>
                <a:schemeClr val="accent1"/>
              </a:buClr>
              <a:buFont typeface="Arial" panose="020B0604020202020204" pitchFamily="34" charset="0"/>
              <a:buChar char="•"/>
            </a:pPr>
            <a:r>
              <a:rPr lang="en-US" b="1" dirty="0"/>
              <a:t>December</a:t>
            </a:r>
            <a:r>
              <a:rPr lang="en-US" dirty="0"/>
              <a:t> 	– </a:t>
            </a:r>
            <a:r>
              <a:rPr lang="en-US" dirty="0">
                <a:solidFill>
                  <a:schemeClr val="accent1">
                    <a:lumMod val="40000"/>
                    <a:lumOff val="60000"/>
                  </a:schemeClr>
                </a:solidFill>
              </a:rPr>
              <a:t>M5</a:t>
            </a:r>
            <a:r>
              <a:rPr lang="en-US" dirty="0"/>
              <a:t> Support</a:t>
            </a:r>
          </a:p>
          <a:p>
            <a:endParaRPr lang="en-US" dirty="0"/>
          </a:p>
        </p:txBody>
      </p:sp>
    </p:spTree>
    <p:extLst>
      <p:ext uri="{BB962C8B-B14F-4D97-AF65-F5344CB8AC3E}">
        <p14:creationId xmlns:p14="http://schemas.microsoft.com/office/powerpoint/2010/main" val="2017428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B8B9-56AE-4440-9B8D-3C20EA795548}"/>
              </a:ext>
            </a:extLst>
          </p:cNvPr>
          <p:cNvSpPr>
            <a:spLocks noGrp="1"/>
          </p:cNvSpPr>
          <p:nvPr>
            <p:ph type="title"/>
          </p:nvPr>
        </p:nvSpPr>
        <p:spPr/>
        <p:txBody>
          <a:bodyPr/>
          <a:lstStyle/>
          <a:p>
            <a:r>
              <a:rPr lang="en-US" dirty="0"/>
              <a:t>RDS SQL Server Pace of Innovation – 2019</a:t>
            </a:r>
          </a:p>
        </p:txBody>
      </p:sp>
      <p:sp>
        <p:nvSpPr>
          <p:cNvPr id="3" name="Content Placeholder 2">
            <a:extLst>
              <a:ext uri="{FF2B5EF4-FFF2-40B4-BE49-F238E27FC236}">
                <a16:creationId xmlns:a16="http://schemas.microsoft.com/office/drawing/2014/main" id="{D1A44158-861F-4CFF-A95C-0BBB6FA7489C}"/>
              </a:ext>
            </a:extLst>
          </p:cNvPr>
          <p:cNvSpPr>
            <a:spLocks noGrp="1"/>
          </p:cNvSpPr>
          <p:nvPr>
            <p:ph sz="half" idx="1"/>
          </p:nvPr>
        </p:nvSpPr>
        <p:spPr>
          <a:xfrm>
            <a:off x="337518" y="1011542"/>
            <a:ext cx="8204575" cy="3548265"/>
          </a:xfrm>
        </p:spPr>
        <p:txBody>
          <a:bodyPr>
            <a:normAutofit fontScale="85000" lnSpcReduction="10000"/>
          </a:bodyPr>
          <a:lstStyle/>
          <a:p>
            <a:pPr marL="342900" indent="-342900">
              <a:buClr>
                <a:schemeClr val="accent1"/>
              </a:buClr>
              <a:buFont typeface="Arial" panose="020B0604020202020204" pitchFamily="34" charset="0"/>
              <a:buChar char="•"/>
            </a:pPr>
            <a:r>
              <a:rPr lang="en-US" b="1" dirty="0"/>
              <a:t>March 		– </a:t>
            </a:r>
            <a:r>
              <a:rPr lang="en-US" dirty="0">
                <a:solidFill>
                  <a:schemeClr val="accent1">
                    <a:lumMod val="40000"/>
                    <a:lumOff val="60000"/>
                  </a:schemeClr>
                </a:solidFill>
              </a:rPr>
              <a:t>Performance Insights</a:t>
            </a:r>
          </a:p>
          <a:p>
            <a:pPr marL="342900" indent="-342900">
              <a:buClr>
                <a:schemeClr val="accent1"/>
              </a:buClr>
              <a:buFont typeface="Arial" panose="020B0604020202020204" pitchFamily="34" charset="0"/>
              <a:buChar char="•"/>
            </a:pPr>
            <a:r>
              <a:rPr lang="en-US" b="1" dirty="0"/>
              <a:t>May 			– </a:t>
            </a:r>
            <a:r>
              <a:rPr lang="en-US" dirty="0"/>
              <a:t>Increased </a:t>
            </a:r>
            <a:r>
              <a:rPr lang="en-US" dirty="0">
                <a:solidFill>
                  <a:schemeClr val="accent1">
                    <a:lumMod val="40000"/>
                    <a:lumOff val="60000"/>
                  </a:schemeClr>
                </a:solidFill>
              </a:rPr>
              <a:t>database limit </a:t>
            </a:r>
            <a:r>
              <a:rPr lang="en-US" dirty="0"/>
              <a:t>per database instance (</a:t>
            </a:r>
            <a:r>
              <a:rPr lang="en-US" dirty="0">
                <a:solidFill>
                  <a:schemeClr val="accent1">
                    <a:lumMod val="40000"/>
                    <a:lumOff val="60000"/>
                  </a:schemeClr>
                </a:solidFill>
              </a:rPr>
              <a:t>up to 100</a:t>
            </a:r>
            <a:r>
              <a:rPr lang="en-US" dirty="0"/>
              <a:t>)</a:t>
            </a:r>
          </a:p>
          <a:p>
            <a:pPr marL="342900" indent="-342900">
              <a:buClr>
                <a:schemeClr val="accent1"/>
              </a:buClr>
              <a:buFont typeface="Arial" panose="020B0604020202020204" pitchFamily="34" charset="0"/>
              <a:buChar char="•"/>
            </a:pPr>
            <a:r>
              <a:rPr lang="en-US" b="1" dirty="0"/>
              <a:t>May	 		– </a:t>
            </a:r>
            <a:r>
              <a:rPr lang="en-US" dirty="0">
                <a:solidFill>
                  <a:schemeClr val="accent1">
                    <a:lumMod val="40000"/>
                    <a:lumOff val="60000"/>
                  </a:schemeClr>
                </a:solidFill>
              </a:rPr>
              <a:t>Always On </a:t>
            </a:r>
            <a:r>
              <a:rPr lang="en-US" dirty="0"/>
              <a:t>Availability Groups for </a:t>
            </a:r>
            <a:r>
              <a:rPr lang="en-US" dirty="0">
                <a:solidFill>
                  <a:schemeClr val="accent1">
                    <a:lumMod val="40000"/>
                    <a:lumOff val="60000"/>
                  </a:schemeClr>
                </a:solidFill>
              </a:rPr>
              <a:t>SQL Server 2017 </a:t>
            </a:r>
          </a:p>
          <a:p>
            <a:pPr marL="342900" indent="-342900">
              <a:buClr>
                <a:schemeClr val="accent1"/>
              </a:buClr>
              <a:buFont typeface="Arial" panose="020B0604020202020204" pitchFamily="34" charset="0"/>
              <a:buChar char="•"/>
            </a:pPr>
            <a:r>
              <a:rPr lang="en-US" b="1" dirty="0"/>
              <a:t>May	 		</a:t>
            </a:r>
            <a:r>
              <a:rPr lang="en-US" dirty="0"/>
              <a:t>–</a:t>
            </a:r>
            <a:r>
              <a:rPr lang="en-US" b="1" dirty="0"/>
              <a:t> </a:t>
            </a:r>
            <a:r>
              <a:rPr lang="en-US" dirty="0"/>
              <a:t>SQL Server </a:t>
            </a:r>
            <a:r>
              <a:rPr lang="en-US" dirty="0">
                <a:solidFill>
                  <a:schemeClr val="accent1">
                    <a:lumMod val="40000"/>
                    <a:lumOff val="60000"/>
                  </a:schemeClr>
                </a:solidFill>
              </a:rPr>
              <a:t>Auditing</a:t>
            </a:r>
            <a:r>
              <a:rPr lang="en-US" dirty="0"/>
              <a:t> </a:t>
            </a:r>
          </a:p>
          <a:p>
            <a:pPr marL="342900" indent="-342900">
              <a:buClr>
                <a:schemeClr val="accent1"/>
              </a:buClr>
              <a:buFont typeface="Arial" panose="020B0604020202020204" pitchFamily="34" charset="0"/>
              <a:buChar char="•"/>
            </a:pPr>
            <a:r>
              <a:rPr lang="en-US" b="1" dirty="0"/>
              <a:t>June</a:t>
            </a:r>
            <a:r>
              <a:rPr lang="en-US" dirty="0"/>
              <a:t> 			– </a:t>
            </a:r>
            <a:r>
              <a:rPr lang="en-US" dirty="0">
                <a:solidFill>
                  <a:schemeClr val="accent1">
                    <a:lumMod val="40000"/>
                    <a:lumOff val="60000"/>
                  </a:schemeClr>
                </a:solidFill>
              </a:rPr>
              <a:t>Multi-file</a:t>
            </a:r>
            <a:r>
              <a:rPr lang="en-US" dirty="0"/>
              <a:t> native </a:t>
            </a:r>
            <a:r>
              <a:rPr lang="en-US" dirty="0">
                <a:solidFill>
                  <a:schemeClr val="accent1">
                    <a:lumMod val="40000"/>
                    <a:lumOff val="60000"/>
                  </a:schemeClr>
                </a:solidFill>
              </a:rPr>
              <a:t>restores</a:t>
            </a:r>
            <a:r>
              <a:rPr lang="en-US" dirty="0"/>
              <a:t> </a:t>
            </a:r>
          </a:p>
          <a:p>
            <a:pPr marL="342900" indent="-342900">
              <a:buClr>
                <a:schemeClr val="accent1"/>
              </a:buClr>
              <a:buFont typeface="Arial" panose="020B0604020202020204" pitchFamily="34" charset="0"/>
              <a:buChar char="•"/>
            </a:pPr>
            <a:r>
              <a:rPr lang="en-US" b="1" dirty="0"/>
              <a:t>August</a:t>
            </a:r>
            <a:r>
              <a:rPr lang="en-US" dirty="0"/>
              <a:t> 		– </a:t>
            </a:r>
            <a:r>
              <a:rPr lang="en-US" dirty="0">
                <a:solidFill>
                  <a:schemeClr val="accent1">
                    <a:lumMod val="40000"/>
                    <a:lumOff val="60000"/>
                  </a:schemeClr>
                </a:solidFill>
              </a:rPr>
              <a:t>Change</a:t>
            </a:r>
            <a:r>
              <a:rPr lang="en-US" dirty="0"/>
              <a:t> server-level </a:t>
            </a:r>
            <a:r>
              <a:rPr lang="en-US" dirty="0">
                <a:solidFill>
                  <a:schemeClr val="accent1">
                    <a:lumMod val="40000"/>
                    <a:lumOff val="60000"/>
                  </a:schemeClr>
                </a:solidFill>
              </a:rPr>
              <a:t>collation</a:t>
            </a:r>
            <a:r>
              <a:rPr lang="en-US" dirty="0"/>
              <a:t> </a:t>
            </a:r>
          </a:p>
          <a:p>
            <a:pPr marL="342900" indent="-342900">
              <a:buClr>
                <a:schemeClr val="accent1"/>
              </a:buClr>
              <a:buFont typeface="Arial" panose="020B0604020202020204" pitchFamily="34" charset="0"/>
              <a:buChar char="•"/>
            </a:pPr>
            <a:r>
              <a:rPr lang="en-US" b="1" dirty="0"/>
              <a:t>September</a:t>
            </a:r>
            <a:r>
              <a:rPr lang="en-US" dirty="0"/>
              <a:t> 	– </a:t>
            </a:r>
            <a:r>
              <a:rPr lang="en-US" dirty="0">
                <a:solidFill>
                  <a:schemeClr val="accent1">
                    <a:lumMod val="40000"/>
                    <a:lumOff val="60000"/>
                  </a:schemeClr>
                </a:solidFill>
              </a:rPr>
              <a:t>T3</a:t>
            </a:r>
            <a:r>
              <a:rPr lang="en-US" dirty="0"/>
              <a:t> and </a:t>
            </a:r>
            <a:r>
              <a:rPr lang="en-US" dirty="0">
                <a:solidFill>
                  <a:schemeClr val="accent1">
                    <a:lumMod val="40000"/>
                    <a:lumOff val="60000"/>
                  </a:schemeClr>
                </a:solidFill>
              </a:rPr>
              <a:t>R5</a:t>
            </a:r>
            <a:r>
              <a:rPr lang="en-US" dirty="0"/>
              <a:t> families and the </a:t>
            </a:r>
            <a:r>
              <a:rPr lang="en-US" dirty="0">
                <a:solidFill>
                  <a:schemeClr val="accent1">
                    <a:lumMod val="40000"/>
                    <a:lumOff val="60000"/>
                  </a:schemeClr>
                </a:solidFill>
              </a:rPr>
              <a:t>8xl</a:t>
            </a:r>
            <a:r>
              <a:rPr lang="en-US" dirty="0"/>
              <a:t> and </a:t>
            </a:r>
            <a:r>
              <a:rPr lang="en-US" dirty="0">
                <a:solidFill>
                  <a:schemeClr val="accent1">
                    <a:lumMod val="40000"/>
                    <a:lumOff val="60000"/>
                  </a:schemeClr>
                </a:solidFill>
              </a:rPr>
              <a:t>16xl</a:t>
            </a:r>
            <a:r>
              <a:rPr lang="en-US" dirty="0"/>
              <a:t> sizes</a:t>
            </a:r>
          </a:p>
          <a:p>
            <a:pPr marL="342900" indent="-342900">
              <a:buClr>
                <a:schemeClr val="accent1"/>
              </a:buClr>
              <a:buFont typeface="Arial" panose="020B0604020202020204" pitchFamily="34" charset="0"/>
              <a:buChar char="•"/>
            </a:pPr>
            <a:r>
              <a:rPr lang="en-US" b="1" dirty="0"/>
              <a:t>September</a:t>
            </a:r>
            <a:r>
              <a:rPr lang="en-US" dirty="0"/>
              <a:t>	– Support  for </a:t>
            </a:r>
            <a:r>
              <a:rPr lang="en-US" dirty="0">
                <a:solidFill>
                  <a:schemeClr val="accent1">
                    <a:lumMod val="40000"/>
                    <a:lumOff val="60000"/>
                  </a:schemeClr>
                </a:solidFill>
              </a:rPr>
              <a:t>X1</a:t>
            </a:r>
            <a:r>
              <a:rPr lang="en-US" dirty="0"/>
              <a:t> and </a:t>
            </a:r>
            <a:r>
              <a:rPr lang="en-US" dirty="0">
                <a:solidFill>
                  <a:schemeClr val="accent1">
                    <a:lumMod val="40000"/>
                    <a:lumOff val="60000"/>
                  </a:schemeClr>
                </a:solidFill>
              </a:rPr>
              <a:t>X1e</a:t>
            </a:r>
            <a:r>
              <a:rPr lang="en-US" dirty="0"/>
              <a:t> instance types (up to </a:t>
            </a:r>
            <a:r>
              <a:rPr lang="en-US" dirty="0">
                <a:solidFill>
                  <a:schemeClr val="accent1">
                    <a:lumMod val="40000"/>
                    <a:lumOff val="60000"/>
                  </a:schemeClr>
                </a:solidFill>
              </a:rPr>
              <a:t>4 TB </a:t>
            </a:r>
            <a:r>
              <a:rPr lang="en-US" dirty="0"/>
              <a:t>memory)</a:t>
            </a:r>
          </a:p>
          <a:p>
            <a:pPr marL="342900" indent="-342900">
              <a:buClr>
                <a:schemeClr val="accent1"/>
              </a:buClr>
              <a:buFont typeface="Arial" panose="020B0604020202020204" pitchFamily="34" charset="0"/>
              <a:buChar char="•"/>
            </a:pPr>
            <a:r>
              <a:rPr lang="en-US" b="1" dirty="0"/>
              <a:t>November</a:t>
            </a:r>
            <a:r>
              <a:rPr lang="en-US" dirty="0"/>
              <a:t>	– Support for </a:t>
            </a:r>
            <a:r>
              <a:rPr lang="en-US" dirty="0">
                <a:solidFill>
                  <a:schemeClr val="accent1">
                    <a:lumMod val="40000"/>
                    <a:lumOff val="60000"/>
                  </a:schemeClr>
                </a:solidFill>
              </a:rPr>
              <a:t>differential</a:t>
            </a:r>
            <a:r>
              <a:rPr lang="en-US" dirty="0"/>
              <a:t> </a:t>
            </a:r>
            <a:r>
              <a:rPr lang="en-US" dirty="0">
                <a:solidFill>
                  <a:schemeClr val="accent1">
                    <a:lumMod val="40000"/>
                    <a:lumOff val="60000"/>
                  </a:schemeClr>
                </a:solidFill>
              </a:rPr>
              <a:t>restores</a:t>
            </a:r>
            <a:r>
              <a:rPr lang="en-US" dirty="0"/>
              <a:t> and </a:t>
            </a:r>
            <a:r>
              <a:rPr lang="en-US" dirty="0">
                <a:solidFill>
                  <a:schemeClr val="accent1">
                    <a:lumMod val="40000"/>
                    <a:lumOff val="60000"/>
                  </a:schemeClr>
                </a:solidFill>
              </a:rPr>
              <a:t>log</a:t>
            </a:r>
            <a:r>
              <a:rPr lang="en-US" dirty="0"/>
              <a:t> </a:t>
            </a:r>
            <a:r>
              <a:rPr lang="en-US" dirty="0">
                <a:solidFill>
                  <a:schemeClr val="accent1">
                    <a:lumMod val="40000"/>
                    <a:lumOff val="60000"/>
                  </a:schemeClr>
                </a:solidFill>
              </a:rPr>
              <a:t>restores</a:t>
            </a:r>
          </a:p>
          <a:p>
            <a:pPr marL="342900" indent="-342900">
              <a:buClr>
                <a:schemeClr val="accent1"/>
              </a:buClr>
              <a:buFont typeface="Arial" panose="020B0604020202020204" pitchFamily="34" charset="0"/>
              <a:buChar char="•"/>
            </a:pPr>
            <a:r>
              <a:rPr lang="en-US" b="1" dirty="0"/>
              <a:t>November</a:t>
            </a:r>
            <a:r>
              <a:rPr lang="en-US" dirty="0"/>
              <a:t> 	– Updated </a:t>
            </a:r>
            <a:r>
              <a:rPr lang="en-US" dirty="0">
                <a:solidFill>
                  <a:schemeClr val="accent1">
                    <a:lumMod val="40000"/>
                    <a:lumOff val="60000"/>
                  </a:schemeClr>
                </a:solidFill>
              </a:rPr>
              <a:t>linked servers </a:t>
            </a:r>
            <a:r>
              <a:rPr lang="en-US" dirty="0"/>
              <a:t>to support </a:t>
            </a:r>
            <a:r>
              <a:rPr lang="en-US" dirty="0">
                <a:solidFill>
                  <a:schemeClr val="accent1">
                    <a:lumMod val="40000"/>
                    <a:lumOff val="60000"/>
                  </a:schemeClr>
                </a:solidFill>
              </a:rPr>
              <a:t>cross VPC </a:t>
            </a:r>
            <a:r>
              <a:rPr lang="en-US" dirty="0"/>
              <a:t>connections</a:t>
            </a:r>
          </a:p>
          <a:p>
            <a:pPr marL="342900" indent="-342900">
              <a:buClr>
                <a:schemeClr val="accent1"/>
              </a:buClr>
              <a:buFont typeface="Arial" panose="020B0604020202020204" pitchFamily="34" charset="0"/>
              <a:buChar char="•"/>
            </a:pPr>
            <a:r>
              <a:rPr lang="en-US" b="1" dirty="0"/>
              <a:t>November</a:t>
            </a:r>
            <a:r>
              <a:rPr lang="en-US" dirty="0"/>
              <a:t> 	– Publish </a:t>
            </a:r>
            <a:r>
              <a:rPr lang="en-US" dirty="0">
                <a:solidFill>
                  <a:schemeClr val="accent1">
                    <a:lumMod val="40000"/>
                    <a:lumOff val="60000"/>
                  </a:schemeClr>
                </a:solidFill>
              </a:rPr>
              <a:t>Agent and Error</a:t>
            </a:r>
            <a:r>
              <a:rPr lang="en-US" dirty="0"/>
              <a:t> </a:t>
            </a:r>
            <a:r>
              <a:rPr lang="en-US" dirty="0">
                <a:solidFill>
                  <a:schemeClr val="accent1">
                    <a:lumMod val="40000"/>
                    <a:lumOff val="60000"/>
                  </a:schemeClr>
                </a:solidFill>
              </a:rPr>
              <a:t>log</a:t>
            </a:r>
            <a:r>
              <a:rPr lang="en-US" dirty="0"/>
              <a:t> files to Amazon </a:t>
            </a:r>
            <a:r>
              <a:rPr lang="en-US" dirty="0">
                <a:solidFill>
                  <a:schemeClr val="accent1">
                    <a:lumMod val="40000"/>
                    <a:lumOff val="60000"/>
                  </a:schemeClr>
                </a:solidFill>
              </a:rPr>
              <a:t>CloudWatch</a:t>
            </a:r>
          </a:p>
          <a:p>
            <a:endParaRPr lang="en-US" dirty="0"/>
          </a:p>
        </p:txBody>
      </p:sp>
    </p:spTree>
    <p:extLst>
      <p:ext uri="{BB962C8B-B14F-4D97-AF65-F5344CB8AC3E}">
        <p14:creationId xmlns:p14="http://schemas.microsoft.com/office/powerpoint/2010/main" val="364996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7F7AC-FB3D-F64F-BB17-6EB7439A046E}"/>
              </a:ext>
            </a:extLst>
          </p:cNvPr>
          <p:cNvSpPr>
            <a:spLocks noGrp="1"/>
          </p:cNvSpPr>
          <p:nvPr>
            <p:ph type="title"/>
          </p:nvPr>
        </p:nvSpPr>
        <p:spPr>
          <a:xfrm>
            <a:off x="336788" y="114937"/>
            <a:ext cx="7997514" cy="545741"/>
          </a:xfrm>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Selecting the Right Service – RDS </a:t>
            </a:r>
            <a:r>
              <a:rPr lang="en-US" dirty="0"/>
              <a:t>Recent Releases</a:t>
            </a:r>
          </a:p>
        </p:txBody>
      </p:sp>
      <p:sp>
        <p:nvSpPr>
          <p:cNvPr id="3" name="Content Placeholder 2">
            <a:extLst>
              <a:ext uri="{FF2B5EF4-FFF2-40B4-BE49-F238E27FC236}">
                <a16:creationId xmlns:a16="http://schemas.microsoft.com/office/drawing/2014/main" id="{C63905EB-83CF-024C-9F98-3575BD7B2AAF}"/>
              </a:ext>
            </a:extLst>
          </p:cNvPr>
          <p:cNvSpPr>
            <a:spLocks noGrp="1"/>
          </p:cNvSpPr>
          <p:nvPr>
            <p:ph sz="half" idx="1"/>
          </p:nvPr>
        </p:nvSpPr>
        <p:spPr>
          <a:xfrm>
            <a:off x="336789" y="793299"/>
            <a:ext cx="8452521" cy="3834540"/>
          </a:xfrm>
        </p:spPr>
        <p:txBody>
          <a:bodyPr>
            <a:normAutofit fontScale="85000" lnSpcReduction="10000"/>
          </a:bodyPr>
          <a:lstStyle/>
          <a:p>
            <a:r>
              <a:rPr lang="en-US" sz="2400" b="1" dirty="0">
                <a:solidFill>
                  <a:schemeClr val="accent1">
                    <a:lumMod val="60000"/>
                    <a:lumOff val="40000"/>
                  </a:schemeClr>
                </a:solidFill>
              </a:rPr>
              <a:t>Performance Insights </a:t>
            </a:r>
            <a:r>
              <a:rPr lang="en-US" sz="2400" dirty="0"/>
              <a:t>on Amazon RDS for SQL Server(</a:t>
            </a:r>
            <a:r>
              <a:rPr lang="en-US" sz="2400" b="1" dirty="0">
                <a:solidFill>
                  <a:schemeClr val="accent1">
                    <a:lumMod val="60000"/>
                    <a:lumOff val="40000"/>
                  </a:schemeClr>
                </a:solidFill>
              </a:rPr>
              <a:t>03/04/2019</a:t>
            </a:r>
            <a:r>
              <a:rPr lang="en-US" sz="2400" dirty="0"/>
              <a:t>)</a:t>
            </a:r>
          </a:p>
          <a:p>
            <a:endParaRPr lang="en-US" sz="900" dirty="0"/>
          </a:p>
          <a:p>
            <a:pPr marL="342900" indent="-342900">
              <a:buFont typeface="Arial" panose="020B0604020202020204" pitchFamily="34" charset="0"/>
              <a:buChar char="•"/>
            </a:pPr>
            <a:r>
              <a:rPr lang="en-US" sz="2200" dirty="0"/>
              <a:t>Allows </a:t>
            </a:r>
            <a:r>
              <a:rPr lang="en-US" sz="2200" b="1" dirty="0">
                <a:solidFill>
                  <a:schemeClr val="accent1">
                    <a:lumMod val="60000"/>
                    <a:lumOff val="40000"/>
                  </a:schemeClr>
                </a:solidFill>
              </a:rPr>
              <a:t>experts as well non-experts </a:t>
            </a:r>
            <a:r>
              <a:rPr lang="en-US" sz="2200" dirty="0"/>
              <a:t>to detect </a:t>
            </a:r>
            <a:r>
              <a:rPr lang="en-US" sz="2200" b="1" dirty="0">
                <a:solidFill>
                  <a:schemeClr val="accent1">
                    <a:lumMod val="60000"/>
                    <a:lumOff val="40000"/>
                  </a:schemeClr>
                </a:solidFill>
              </a:rPr>
              <a:t>performance problems </a:t>
            </a:r>
            <a:r>
              <a:rPr lang="en-US" sz="2200" dirty="0"/>
              <a:t>with an easy-to-understand dashboard that visualizes database load. </a:t>
            </a:r>
          </a:p>
          <a:p>
            <a:pPr marL="342900" indent="-342900">
              <a:buFont typeface="Arial" panose="020B0604020202020204" pitchFamily="34" charset="0"/>
              <a:buChar char="•"/>
            </a:pPr>
            <a:r>
              <a:rPr lang="en-US" sz="2200" dirty="0"/>
              <a:t>You can get started by logging into the Amazon RDS Management Console, </a:t>
            </a:r>
            <a:r>
              <a:rPr lang="en-US" sz="2200" b="1" dirty="0">
                <a:solidFill>
                  <a:schemeClr val="accent1">
                    <a:lumMod val="60000"/>
                    <a:lumOff val="40000"/>
                  </a:schemeClr>
                </a:solidFill>
              </a:rPr>
              <a:t>enabling Performance Insights </a:t>
            </a:r>
            <a:r>
              <a:rPr lang="en-US" sz="2200" dirty="0"/>
              <a:t>for a new or existing database instance, and viewing the Performance Insights dashboard. </a:t>
            </a:r>
          </a:p>
          <a:p>
            <a:pPr marL="342900" indent="-342900">
              <a:buFont typeface="Arial" panose="020B0604020202020204" pitchFamily="34" charset="0"/>
              <a:buChar char="•"/>
            </a:pPr>
            <a:r>
              <a:rPr lang="en-US" sz="2200" dirty="0"/>
              <a:t>The Amazon Web Services API and SDK make it </a:t>
            </a:r>
            <a:r>
              <a:rPr lang="en-US" sz="2200" b="1" dirty="0">
                <a:solidFill>
                  <a:schemeClr val="accent1">
                    <a:lumMod val="60000"/>
                    <a:lumOff val="40000"/>
                  </a:schemeClr>
                </a:solidFill>
              </a:rPr>
              <a:t>easy to integrate </a:t>
            </a:r>
            <a:r>
              <a:rPr lang="en-US" sz="2200" dirty="0"/>
              <a:t>Performance Insights data into </a:t>
            </a:r>
            <a:r>
              <a:rPr lang="en-US" sz="2200" b="1" dirty="0">
                <a:solidFill>
                  <a:schemeClr val="accent1">
                    <a:lumMod val="60000"/>
                    <a:lumOff val="40000"/>
                  </a:schemeClr>
                </a:solidFill>
              </a:rPr>
              <a:t>on-premises and third-party </a:t>
            </a:r>
            <a:r>
              <a:rPr lang="en-US" sz="2200" dirty="0"/>
              <a:t>monitoring tools.</a:t>
            </a:r>
          </a:p>
          <a:p>
            <a:pPr marL="342900" indent="-342900">
              <a:buFont typeface="Arial" panose="020B0604020202020204" pitchFamily="34" charset="0"/>
              <a:buChar char="•"/>
            </a:pPr>
            <a:r>
              <a:rPr lang="en-US" sz="2200" dirty="0"/>
              <a:t>Priced at per </a:t>
            </a:r>
            <a:r>
              <a:rPr lang="en-US" sz="2200" b="1" dirty="0">
                <a:solidFill>
                  <a:schemeClr val="accent1">
                    <a:lumMod val="60000"/>
                    <a:lumOff val="40000"/>
                  </a:schemeClr>
                </a:solidFill>
              </a:rPr>
              <a:t>vCPU/month</a:t>
            </a:r>
            <a:r>
              <a:rPr lang="en-US" sz="2200" b="1" dirty="0"/>
              <a:t> </a:t>
            </a:r>
            <a:r>
              <a:rPr lang="en-US" b="1" dirty="0"/>
              <a:t>(</a:t>
            </a:r>
            <a:r>
              <a:rPr lang="en-US" sz="1900" b="1" dirty="0">
                <a:solidFill>
                  <a:schemeClr val="tx2">
                    <a:lumMod val="50000"/>
                    <a:lumOff val="50000"/>
                  </a:schemeClr>
                </a:solidFill>
                <a:hlinkClick r:id="rId2">
                  <a:extLst>
                    <a:ext uri="{A12FA001-AC4F-418D-AE19-62706E023703}">
                      <ahyp:hlinkClr xmlns="" xmlns:ahyp="http://schemas.microsoft.com/office/drawing/2018/hyperlinkcolor" val="tx"/>
                    </a:ext>
                  </a:extLst>
                </a:hlinkClick>
              </a:rPr>
              <a:t>https://aws.amazon.com/rds/performance-insights/pricing/</a:t>
            </a:r>
            <a:r>
              <a:rPr lang="en-US" b="1" dirty="0"/>
              <a:t>)</a:t>
            </a:r>
          </a:p>
          <a:p>
            <a:endParaRPr lang="en-US" sz="900" b="1" dirty="0"/>
          </a:p>
          <a:p>
            <a:r>
              <a:rPr lang="en-US" sz="1900" dirty="0">
                <a:solidFill>
                  <a:schemeClr val="tx2">
                    <a:lumMod val="50000"/>
                    <a:lumOff val="50000"/>
                  </a:schemeClr>
                </a:solidFill>
              </a:rPr>
              <a:t>https://docs.aws.amazon.com/AmazonRDS/latest/UserGuide/USER_PerfInsights.html</a:t>
            </a:r>
          </a:p>
        </p:txBody>
      </p:sp>
    </p:spTree>
    <p:extLst>
      <p:ext uri="{BB962C8B-B14F-4D97-AF65-F5344CB8AC3E}">
        <p14:creationId xmlns:p14="http://schemas.microsoft.com/office/powerpoint/2010/main" val="2657377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7F7AC-FB3D-F64F-BB17-6EB7439A046E}"/>
              </a:ext>
            </a:extLst>
          </p:cNvPr>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Selecting the Right Service – RDS </a:t>
            </a:r>
            <a:r>
              <a:rPr lang="en-US" dirty="0"/>
              <a:t>Recent Releases</a:t>
            </a:r>
          </a:p>
        </p:txBody>
      </p:sp>
      <p:pic>
        <p:nvPicPr>
          <p:cNvPr id="3" name="Online Media 2" title="Using Performance Insights to Analyze Performance of Amazon Aurora PostgreSQL">
            <a:hlinkClick r:id="" action="ppaction://media"/>
            <a:extLst>
              <a:ext uri="{FF2B5EF4-FFF2-40B4-BE49-F238E27FC236}">
                <a16:creationId xmlns:a16="http://schemas.microsoft.com/office/drawing/2014/main" id="{60B96C7F-6AF2-4F0F-AC4E-08D6711359C8}"/>
              </a:ext>
            </a:extLst>
          </p:cNvPr>
          <p:cNvPicPr>
            <a:picLocks noRot="1" noChangeAspect="1"/>
          </p:cNvPicPr>
          <p:nvPr>
            <a:videoFile r:link="rId1"/>
          </p:nvPr>
        </p:nvPicPr>
        <p:blipFill>
          <a:blip r:embed="rId4"/>
          <a:stretch>
            <a:fillRect/>
          </a:stretch>
        </p:blipFill>
        <p:spPr>
          <a:xfrm>
            <a:off x="1017431" y="902378"/>
            <a:ext cx="6842423" cy="3848863"/>
          </a:xfrm>
          <a:prstGeom prst="rect">
            <a:avLst/>
          </a:prstGeom>
        </p:spPr>
      </p:pic>
      <p:sp>
        <p:nvSpPr>
          <p:cNvPr id="6" name="TextBox 5">
            <a:extLst>
              <a:ext uri="{FF2B5EF4-FFF2-40B4-BE49-F238E27FC236}">
                <a16:creationId xmlns:a16="http://schemas.microsoft.com/office/drawing/2014/main" id="{43D29A98-B441-4906-8095-2559276ACDBE}"/>
              </a:ext>
            </a:extLst>
          </p:cNvPr>
          <p:cNvSpPr txBox="1"/>
          <p:nvPr/>
        </p:nvSpPr>
        <p:spPr>
          <a:xfrm>
            <a:off x="2556040" y="549864"/>
            <a:ext cx="3371820" cy="338554"/>
          </a:xfrm>
          <a:prstGeom prst="rect">
            <a:avLst/>
          </a:prstGeom>
          <a:noFill/>
        </p:spPr>
        <p:txBody>
          <a:bodyPr wrap="none" rtlCol="0">
            <a:spAutoFit/>
          </a:bodyPr>
          <a:lstStyle/>
          <a:p>
            <a:r>
              <a:rPr lang="en-US" sz="1600" dirty="0">
                <a:solidFill>
                  <a:schemeClr val="bg1"/>
                </a:solidFill>
              </a:rPr>
              <a:t>Performance Insights for SQL RDS</a:t>
            </a:r>
          </a:p>
        </p:txBody>
      </p:sp>
    </p:spTree>
    <p:extLst>
      <p:ext uri="{BB962C8B-B14F-4D97-AF65-F5344CB8AC3E}">
        <p14:creationId xmlns:p14="http://schemas.microsoft.com/office/powerpoint/2010/main" val="279526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348AD-1DAC-0E4C-A79F-9B0050D681FE}"/>
              </a:ext>
            </a:extLst>
          </p:cNvPr>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Selecting the Right Service – RDS Roadmap (2020)</a:t>
            </a:r>
            <a:endParaRPr lang="en-US" dirty="0"/>
          </a:p>
        </p:txBody>
      </p:sp>
      <p:sp>
        <p:nvSpPr>
          <p:cNvPr id="3" name="Content Placeholder 2">
            <a:extLst>
              <a:ext uri="{FF2B5EF4-FFF2-40B4-BE49-F238E27FC236}">
                <a16:creationId xmlns:a16="http://schemas.microsoft.com/office/drawing/2014/main" id="{5E4D0E87-C042-D943-865D-87B3B3642201}"/>
              </a:ext>
            </a:extLst>
          </p:cNvPr>
          <p:cNvSpPr>
            <a:spLocks noGrp="1"/>
          </p:cNvSpPr>
          <p:nvPr>
            <p:ph sz="half" idx="1"/>
          </p:nvPr>
        </p:nvSpPr>
        <p:spPr>
          <a:xfrm>
            <a:off x="437882" y="805065"/>
            <a:ext cx="8103482" cy="3737437"/>
          </a:xfrm>
        </p:spPr>
        <p:txBody>
          <a:bodyPr>
            <a:normAutofit/>
          </a:bodyPr>
          <a:lstStyle/>
          <a:p>
            <a:pPr marL="342900" indent="-342900">
              <a:buClr>
                <a:schemeClr val="accent1">
                  <a:lumMod val="40000"/>
                  <a:lumOff val="60000"/>
                </a:schemeClr>
              </a:buClr>
              <a:buFont typeface="Wingdings" panose="05000000000000000000" pitchFamily="2" charset="2"/>
              <a:buChar char="Ø"/>
            </a:pPr>
            <a:r>
              <a:rPr lang="en-US" sz="2400" dirty="0"/>
              <a:t>Integration Services (</a:t>
            </a:r>
            <a:r>
              <a:rPr lang="en-US" sz="2400" b="1" dirty="0">
                <a:solidFill>
                  <a:schemeClr val="accent1">
                    <a:lumMod val="60000"/>
                    <a:lumOff val="40000"/>
                  </a:schemeClr>
                </a:solidFill>
              </a:rPr>
              <a:t>SSIS</a:t>
            </a:r>
            <a:r>
              <a:rPr lang="en-US" sz="2400" dirty="0"/>
              <a:t>) on RDS Host </a:t>
            </a:r>
          </a:p>
          <a:p>
            <a:pPr marL="342900" indent="-342900">
              <a:buClr>
                <a:schemeClr val="accent1">
                  <a:lumMod val="40000"/>
                  <a:lumOff val="60000"/>
                </a:schemeClr>
              </a:buClr>
              <a:buFont typeface="Wingdings" panose="05000000000000000000" pitchFamily="2" charset="2"/>
              <a:buChar char="Ø"/>
            </a:pPr>
            <a:r>
              <a:rPr lang="en-US" sz="2400" dirty="0"/>
              <a:t>Reporting Services (</a:t>
            </a:r>
            <a:r>
              <a:rPr lang="en-US" sz="2400" b="1" dirty="0">
                <a:solidFill>
                  <a:schemeClr val="accent1">
                    <a:lumMod val="60000"/>
                    <a:lumOff val="40000"/>
                  </a:schemeClr>
                </a:solidFill>
              </a:rPr>
              <a:t>SSRS</a:t>
            </a:r>
            <a:r>
              <a:rPr lang="en-US" sz="2400" dirty="0"/>
              <a:t>) on RDS Host</a:t>
            </a:r>
          </a:p>
          <a:p>
            <a:pPr marL="342900" indent="-342900">
              <a:buClr>
                <a:schemeClr val="accent1">
                  <a:lumMod val="40000"/>
                  <a:lumOff val="60000"/>
                </a:schemeClr>
              </a:buClr>
              <a:buFont typeface="Wingdings" panose="05000000000000000000" pitchFamily="2" charset="2"/>
              <a:buChar char="Ø"/>
            </a:pPr>
            <a:r>
              <a:rPr lang="en-US" sz="2400" dirty="0"/>
              <a:t>Analysis Services (</a:t>
            </a:r>
            <a:r>
              <a:rPr lang="en-US" sz="2400" b="1" dirty="0">
                <a:solidFill>
                  <a:schemeClr val="accent1">
                    <a:lumMod val="60000"/>
                    <a:lumOff val="40000"/>
                  </a:schemeClr>
                </a:solidFill>
              </a:rPr>
              <a:t>SSAS</a:t>
            </a:r>
            <a:r>
              <a:rPr lang="en-US" sz="2400" dirty="0"/>
              <a:t>) on RDS Host</a:t>
            </a:r>
            <a:endParaRPr lang="en-US" sz="2400" b="1" dirty="0"/>
          </a:p>
          <a:p>
            <a:pPr marL="342900" indent="-342900">
              <a:buClr>
                <a:schemeClr val="accent1">
                  <a:lumMod val="40000"/>
                  <a:lumOff val="60000"/>
                </a:schemeClr>
              </a:buClr>
              <a:buFont typeface="Wingdings" panose="05000000000000000000" pitchFamily="2" charset="2"/>
              <a:buChar char="Ø"/>
            </a:pPr>
            <a:r>
              <a:rPr lang="en-US" sz="2400" b="1" dirty="0">
                <a:solidFill>
                  <a:schemeClr val="accent1">
                    <a:lumMod val="60000"/>
                    <a:lumOff val="40000"/>
                  </a:schemeClr>
                </a:solidFill>
              </a:rPr>
              <a:t>Read Replicas </a:t>
            </a:r>
            <a:r>
              <a:rPr lang="en-US" sz="2400" dirty="0"/>
              <a:t>with </a:t>
            </a:r>
            <a:r>
              <a:rPr lang="en-US" sz="2400" dirty="0" err="1"/>
              <a:t>AlwaysOn</a:t>
            </a:r>
            <a:r>
              <a:rPr lang="en-US" sz="2400" dirty="0"/>
              <a:t> for Enterprise Edition </a:t>
            </a:r>
          </a:p>
          <a:p>
            <a:pPr marL="342900" indent="-342900">
              <a:buClr>
                <a:schemeClr val="accent1">
                  <a:lumMod val="40000"/>
                  <a:lumOff val="60000"/>
                </a:schemeClr>
              </a:buClr>
              <a:buFont typeface="Wingdings" panose="05000000000000000000" pitchFamily="2" charset="2"/>
              <a:buChar char="Ø"/>
            </a:pPr>
            <a:r>
              <a:rPr lang="en-US" sz="2400" b="1" dirty="0">
                <a:solidFill>
                  <a:schemeClr val="accent1">
                    <a:lumMod val="60000"/>
                    <a:lumOff val="40000"/>
                  </a:schemeClr>
                </a:solidFill>
              </a:rPr>
              <a:t>Cross-Region</a:t>
            </a:r>
            <a:r>
              <a:rPr lang="en-US" sz="2400" dirty="0"/>
              <a:t> Read Replicas</a:t>
            </a:r>
          </a:p>
          <a:p>
            <a:pPr marL="342900" indent="-342900">
              <a:buClr>
                <a:schemeClr val="accent1">
                  <a:lumMod val="40000"/>
                  <a:lumOff val="60000"/>
                </a:schemeClr>
              </a:buClr>
              <a:buFont typeface="Wingdings" panose="05000000000000000000" pitchFamily="2" charset="2"/>
              <a:buChar char="Ø"/>
            </a:pPr>
            <a:r>
              <a:rPr lang="en-US" sz="2400" dirty="0"/>
              <a:t>Enable </a:t>
            </a:r>
            <a:r>
              <a:rPr lang="en-US" sz="2400" b="1" dirty="0" err="1">
                <a:solidFill>
                  <a:schemeClr val="accent1">
                    <a:lumMod val="60000"/>
                    <a:lumOff val="40000"/>
                  </a:schemeClr>
                </a:solidFill>
              </a:rPr>
              <a:t>DBMail</a:t>
            </a:r>
            <a:r>
              <a:rPr lang="en-US" sz="2400" dirty="0"/>
              <a:t> </a:t>
            </a:r>
          </a:p>
          <a:p>
            <a:pPr marL="342900" indent="-342900">
              <a:buClr>
                <a:schemeClr val="accent1">
                  <a:lumMod val="40000"/>
                  <a:lumOff val="60000"/>
                </a:schemeClr>
              </a:buClr>
              <a:buFont typeface="Wingdings" panose="05000000000000000000" pitchFamily="2" charset="2"/>
              <a:buChar char="Ø"/>
            </a:pPr>
            <a:r>
              <a:rPr lang="en-US" sz="2400" b="1" dirty="0">
                <a:solidFill>
                  <a:schemeClr val="accent1">
                    <a:lumMod val="60000"/>
                    <a:lumOff val="40000"/>
                  </a:schemeClr>
                </a:solidFill>
              </a:rPr>
              <a:t>Z1</a:t>
            </a:r>
            <a:r>
              <a:rPr lang="en-US" sz="2400" dirty="0"/>
              <a:t> Instance Type</a:t>
            </a:r>
          </a:p>
        </p:txBody>
      </p:sp>
    </p:spTree>
    <p:extLst>
      <p:ext uri="{BB962C8B-B14F-4D97-AF65-F5344CB8AC3E}">
        <p14:creationId xmlns:p14="http://schemas.microsoft.com/office/powerpoint/2010/main" val="3294675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E145-DD45-4242-8EC0-C6C5E72D8685}"/>
              </a:ext>
            </a:extLst>
          </p:cNvPr>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Selecting the Right Service – RDS Backlog</a:t>
            </a:r>
            <a:endParaRPr lang="en-US" dirty="0"/>
          </a:p>
        </p:txBody>
      </p:sp>
      <p:sp>
        <p:nvSpPr>
          <p:cNvPr id="3" name="Content Placeholder 2">
            <a:extLst>
              <a:ext uri="{FF2B5EF4-FFF2-40B4-BE49-F238E27FC236}">
                <a16:creationId xmlns:a16="http://schemas.microsoft.com/office/drawing/2014/main" id="{9842654A-A198-1344-BFA5-7782676624EE}"/>
              </a:ext>
            </a:extLst>
          </p:cNvPr>
          <p:cNvSpPr>
            <a:spLocks noGrp="1"/>
          </p:cNvSpPr>
          <p:nvPr>
            <p:ph sz="half" idx="1"/>
          </p:nvPr>
        </p:nvSpPr>
        <p:spPr>
          <a:xfrm>
            <a:off x="336789" y="865632"/>
            <a:ext cx="8204575" cy="3802232"/>
          </a:xfrm>
        </p:spPr>
        <p:txBody>
          <a:bodyPr>
            <a:normAutofit/>
          </a:bodyPr>
          <a:lstStyle/>
          <a:p>
            <a:pPr marL="342900" indent="-342900">
              <a:buFont typeface="Arial" panose="020B0604020202020204" pitchFamily="34" charset="0"/>
              <a:buChar char="•"/>
            </a:pPr>
            <a:r>
              <a:rPr lang="en-US" sz="2400" dirty="0"/>
              <a:t>M5/R5D with </a:t>
            </a:r>
            <a:r>
              <a:rPr lang="en-US" sz="2400" dirty="0">
                <a:solidFill>
                  <a:schemeClr val="accent1">
                    <a:lumMod val="60000"/>
                    <a:lumOff val="40000"/>
                  </a:schemeClr>
                </a:solidFill>
              </a:rPr>
              <a:t>Temp DB on Local Storage</a:t>
            </a:r>
          </a:p>
          <a:p>
            <a:pPr marL="342900" indent="-342900">
              <a:buFont typeface="Arial" panose="020B0604020202020204" pitchFamily="34" charset="0"/>
              <a:buChar char="•"/>
            </a:pPr>
            <a:r>
              <a:rPr lang="en-US" sz="2400" dirty="0"/>
              <a:t>Multi-AZ AO-AG on SQL Server 2016, 2017 </a:t>
            </a:r>
            <a:r>
              <a:rPr lang="en-US" sz="2400" b="1" dirty="0">
                <a:solidFill>
                  <a:schemeClr val="accent1">
                    <a:lumMod val="60000"/>
                    <a:lumOff val="40000"/>
                  </a:schemeClr>
                </a:solidFill>
              </a:rPr>
              <a:t>Standard Edition</a:t>
            </a:r>
          </a:p>
          <a:p>
            <a:pPr marL="342900" indent="-342900">
              <a:buFont typeface="Arial" panose="020B0604020202020204" pitchFamily="34" charset="0"/>
              <a:buChar char="•"/>
            </a:pPr>
            <a:r>
              <a:rPr lang="en-US" sz="2400" dirty="0"/>
              <a:t>Further AWS Integration (SNS, SQS, Lambda, SES)</a:t>
            </a:r>
          </a:p>
          <a:p>
            <a:pPr marL="342900" indent="-342900">
              <a:buFont typeface="Arial" panose="020B0604020202020204" pitchFamily="34" charset="0"/>
              <a:buChar char="•"/>
            </a:pPr>
            <a:r>
              <a:rPr lang="en-US" sz="2400" dirty="0"/>
              <a:t>SQL Server on </a:t>
            </a:r>
            <a:r>
              <a:rPr lang="en-US" sz="2400" b="1" dirty="0">
                <a:solidFill>
                  <a:schemeClr val="accent1">
                    <a:lumMod val="60000"/>
                    <a:lumOff val="40000"/>
                  </a:schemeClr>
                </a:solidFill>
              </a:rPr>
              <a:t>Linux</a:t>
            </a:r>
          </a:p>
          <a:p>
            <a:pPr marL="342900" indent="-342900">
              <a:buFont typeface="Arial" panose="020B0604020202020204" pitchFamily="34" charset="0"/>
              <a:buChar char="•"/>
            </a:pPr>
            <a:r>
              <a:rPr lang="en-US" sz="2400" dirty="0"/>
              <a:t>Automated Cross Region Backups</a:t>
            </a:r>
          </a:p>
          <a:p>
            <a:pPr marL="342900" indent="-342900">
              <a:buFont typeface="Arial" panose="020B0604020202020204" pitchFamily="34" charset="0"/>
              <a:buChar char="•"/>
            </a:pPr>
            <a:r>
              <a:rPr lang="en-US" sz="2400" dirty="0"/>
              <a:t>Semi-Managed / </a:t>
            </a:r>
            <a:r>
              <a:rPr lang="en-US" sz="2400" b="1" dirty="0">
                <a:solidFill>
                  <a:schemeClr val="accent1">
                    <a:lumMod val="60000"/>
                    <a:lumOff val="40000"/>
                  </a:schemeClr>
                </a:solidFill>
              </a:rPr>
              <a:t>Amazon Flex</a:t>
            </a:r>
          </a:p>
          <a:p>
            <a:pPr marL="1085831" lvl="1" indent="-342900">
              <a:buFont typeface="Arial" panose="020B0604020202020204" pitchFamily="34" charset="0"/>
              <a:buChar char="•"/>
            </a:pPr>
            <a:r>
              <a:rPr lang="en-US" sz="2000" dirty="0"/>
              <a:t>Host Level Access Provided, Full Database Permissions</a:t>
            </a:r>
          </a:p>
          <a:p>
            <a:pPr marL="1085831" lvl="1" indent="-342900">
              <a:buFont typeface="Arial" panose="020B0604020202020204" pitchFamily="34" charset="0"/>
              <a:buChar char="•"/>
            </a:pPr>
            <a:r>
              <a:rPr lang="en-US" sz="2000" dirty="0"/>
              <a:t>Automation for Provisioning, Backups, HA, and others</a:t>
            </a:r>
          </a:p>
          <a:p>
            <a:pPr marL="1085831" lvl="1" indent="-342900">
              <a:buFont typeface="Arial" panose="020B0604020202020204" pitchFamily="34" charset="0"/>
              <a:buChar char="•"/>
            </a:pPr>
            <a:endParaRPr lang="en-US" sz="2000" dirty="0"/>
          </a:p>
          <a:p>
            <a:endParaRPr lang="en-US" sz="2400" dirty="0"/>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771551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Selecting the Right Storage</a:t>
            </a:r>
          </a:p>
        </p:txBody>
      </p:sp>
    </p:spTree>
    <p:extLst>
      <p:ext uri="{BB962C8B-B14F-4D97-AF65-F5344CB8AC3E}">
        <p14:creationId xmlns:p14="http://schemas.microsoft.com/office/powerpoint/2010/main" val="3505346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Amazon Elastic Block Storage</a:t>
            </a:r>
          </a:p>
        </p:txBody>
      </p:sp>
      <p:sp>
        <p:nvSpPr>
          <p:cNvPr id="3" name="Content Placeholder 2"/>
          <p:cNvSpPr>
            <a:spLocks noGrp="1"/>
          </p:cNvSpPr>
          <p:nvPr>
            <p:ph idx="1"/>
          </p:nvPr>
        </p:nvSpPr>
        <p:spPr>
          <a:xfrm>
            <a:off x="340592" y="742384"/>
            <a:ext cx="6301508" cy="1409504"/>
          </a:xfrm>
        </p:spPr>
        <p:txBody>
          <a:bodyPr/>
          <a:lstStyle/>
          <a:p>
            <a:r>
              <a:rPr lang="en-US" sz="2400" b="1" dirty="0">
                <a:solidFill>
                  <a:schemeClr val="bg1"/>
                </a:solidFill>
              </a:rPr>
              <a:t>What is Amazon Elastic Block Storage (EBS)?</a:t>
            </a:r>
          </a:p>
          <a:p>
            <a:endParaRPr lang="en-US" sz="300" dirty="0">
              <a:solidFill>
                <a:schemeClr val="bg1"/>
              </a:solidFill>
            </a:endParaRPr>
          </a:p>
          <a:p>
            <a:pPr marL="342900" indent="-342900">
              <a:buClr>
                <a:schemeClr val="bg1"/>
              </a:buClr>
              <a:buFont typeface="Arial" charset="0"/>
              <a:buChar char="•"/>
            </a:pPr>
            <a:r>
              <a:rPr lang="en-US" sz="2400" b="1" dirty="0">
                <a:solidFill>
                  <a:schemeClr val="accent1">
                    <a:lumMod val="60000"/>
                    <a:lumOff val="40000"/>
                  </a:schemeClr>
                </a:solidFill>
              </a:rPr>
              <a:t>Network-attached</a:t>
            </a:r>
            <a:r>
              <a:rPr lang="en-US" sz="2400" dirty="0">
                <a:solidFill>
                  <a:schemeClr val="bg1"/>
                </a:solidFill>
              </a:rPr>
              <a:t> block storage</a:t>
            </a:r>
          </a:p>
          <a:p>
            <a:pPr marL="342900" indent="-342900">
              <a:buClr>
                <a:schemeClr val="bg1"/>
              </a:buClr>
              <a:buFont typeface="Arial" charset="0"/>
              <a:buChar char="•"/>
            </a:pPr>
            <a:r>
              <a:rPr lang="en-US" sz="2400" dirty="0">
                <a:solidFill>
                  <a:schemeClr val="bg1"/>
                </a:solidFill>
              </a:rPr>
              <a:t>Available for </a:t>
            </a:r>
            <a:r>
              <a:rPr lang="en-US" sz="2400" b="1" dirty="0">
                <a:solidFill>
                  <a:schemeClr val="accent1">
                    <a:lumMod val="60000"/>
                    <a:lumOff val="40000"/>
                  </a:schemeClr>
                </a:solidFill>
              </a:rPr>
              <a:t>all instance types</a:t>
            </a:r>
          </a:p>
          <a:p>
            <a:endParaRPr lang="en-US" sz="2000" dirty="0">
              <a:solidFill>
                <a:schemeClr val="bg1"/>
              </a:solidFill>
            </a:endParaRP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203208" y="427399"/>
            <a:ext cx="1600200" cy="1600200"/>
          </a:xfrm>
          <a:prstGeom prst="rect">
            <a:avLst/>
          </a:prstGeom>
        </p:spPr>
      </p:pic>
      <p:sp>
        <p:nvSpPr>
          <p:cNvPr id="5" name="Rectangle 4">
            <a:extLst>
              <a:ext uri="{FF2B5EF4-FFF2-40B4-BE49-F238E27FC236}">
                <a16:creationId xmlns:a16="http://schemas.microsoft.com/office/drawing/2014/main" id="{2BC240A0-E093-4956-A699-C8CBC84A3985}"/>
              </a:ext>
            </a:extLst>
          </p:cNvPr>
          <p:cNvSpPr/>
          <p:nvPr/>
        </p:nvSpPr>
        <p:spPr>
          <a:xfrm>
            <a:off x="336789" y="2109306"/>
            <a:ext cx="8466619" cy="1938992"/>
          </a:xfrm>
          <a:prstGeom prst="rect">
            <a:avLst/>
          </a:prstGeom>
        </p:spPr>
        <p:txBody>
          <a:bodyPr wrap="square">
            <a:spAutoFit/>
          </a:bodyPr>
          <a:lstStyle/>
          <a:p>
            <a:pPr marL="342900" indent="-342900">
              <a:buFont typeface="Arial" charset="0"/>
              <a:buChar char="•"/>
            </a:pPr>
            <a:r>
              <a:rPr lang="en-US" sz="2400" dirty="0">
                <a:solidFill>
                  <a:schemeClr val="bg1"/>
                </a:solidFill>
              </a:rPr>
              <a:t>Many instance types support </a:t>
            </a:r>
            <a:r>
              <a:rPr lang="en-US" sz="2400" b="1" dirty="0">
                <a:solidFill>
                  <a:schemeClr val="accent1">
                    <a:lumMod val="60000"/>
                    <a:lumOff val="40000"/>
                  </a:schemeClr>
                </a:solidFill>
              </a:rPr>
              <a:t>EBS optimization </a:t>
            </a:r>
            <a:r>
              <a:rPr lang="en-US" sz="2400" dirty="0">
                <a:solidFill>
                  <a:schemeClr val="bg1"/>
                </a:solidFill>
              </a:rPr>
              <a:t>– </a:t>
            </a:r>
            <a:r>
              <a:rPr lang="en-US" sz="2400" b="1" dirty="0">
                <a:solidFill>
                  <a:schemeClr val="accent1">
                    <a:lumMod val="60000"/>
                    <a:lumOff val="40000"/>
                  </a:schemeClr>
                </a:solidFill>
              </a:rPr>
              <a:t>dedicated channel for network storage I/O</a:t>
            </a:r>
            <a:r>
              <a:rPr lang="en-US" sz="2400" dirty="0">
                <a:solidFill>
                  <a:schemeClr val="bg1"/>
                </a:solidFill>
              </a:rPr>
              <a:t>, eliminating contention with regular I/O</a:t>
            </a:r>
          </a:p>
          <a:p>
            <a:pPr marL="342900" indent="-342900">
              <a:buFont typeface="Arial" charset="0"/>
              <a:buChar char="•"/>
            </a:pPr>
            <a:r>
              <a:rPr lang="en-US" sz="2400" dirty="0">
                <a:solidFill>
                  <a:schemeClr val="bg1"/>
                </a:solidFill>
              </a:rPr>
              <a:t>Some instance types are </a:t>
            </a:r>
            <a:r>
              <a:rPr lang="en-US" sz="2400" b="1" dirty="0">
                <a:solidFill>
                  <a:schemeClr val="accent1">
                    <a:lumMod val="60000"/>
                    <a:lumOff val="40000"/>
                  </a:schemeClr>
                </a:solidFill>
              </a:rPr>
              <a:t>EBS optimized</a:t>
            </a:r>
            <a:r>
              <a:rPr lang="en-US" sz="2400" dirty="0">
                <a:solidFill>
                  <a:schemeClr val="bg1"/>
                </a:solidFill>
              </a:rPr>
              <a:t>, others offer it as an </a:t>
            </a:r>
            <a:r>
              <a:rPr lang="en-US" sz="2400" b="1" dirty="0">
                <a:solidFill>
                  <a:schemeClr val="accent1">
                    <a:lumMod val="60000"/>
                    <a:lumOff val="40000"/>
                  </a:schemeClr>
                </a:solidFill>
              </a:rPr>
              <a:t>option</a:t>
            </a:r>
          </a:p>
        </p:txBody>
      </p:sp>
    </p:spTree>
    <p:extLst>
      <p:ext uri="{BB962C8B-B14F-4D97-AF65-F5344CB8AC3E}">
        <p14:creationId xmlns:p14="http://schemas.microsoft.com/office/powerpoint/2010/main" val="3665244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Amazon EBS Volume Types (Cost)</a:t>
            </a:r>
          </a:p>
        </p:txBody>
      </p:sp>
      <p:pic>
        <p:nvPicPr>
          <p:cNvPr id="7" name="Picture 6">
            <a:extLst>
              <a:ext uri="{FF2B5EF4-FFF2-40B4-BE49-F238E27FC236}">
                <a16:creationId xmlns:a16="http://schemas.microsoft.com/office/drawing/2014/main" id="{2CDAE157-F10D-4810-898D-DA0680AA7AF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6237" y="1814552"/>
            <a:ext cx="7046193" cy="2221027"/>
          </a:xfrm>
          <a:prstGeom prst="rect">
            <a:avLst/>
          </a:prstGeom>
        </p:spPr>
      </p:pic>
      <p:grpSp>
        <p:nvGrpSpPr>
          <p:cNvPr id="10" name="Group 9">
            <a:extLst>
              <a:ext uri="{FF2B5EF4-FFF2-40B4-BE49-F238E27FC236}">
                <a16:creationId xmlns:a16="http://schemas.microsoft.com/office/drawing/2014/main" id="{76F0B042-6CFF-4C80-B310-6A9A615BA620}"/>
              </a:ext>
            </a:extLst>
          </p:cNvPr>
          <p:cNvGrpSpPr/>
          <p:nvPr/>
        </p:nvGrpSpPr>
        <p:grpSpPr>
          <a:xfrm>
            <a:off x="2240087" y="1008697"/>
            <a:ext cx="4933088" cy="914400"/>
            <a:chOff x="2197752" y="1194970"/>
            <a:chExt cx="4933088" cy="914400"/>
          </a:xfrm>
        </p:grpSpPr>
        <p:sp>
          <p:nvSpPr>
            <p:cNvPr id="11" name="HDD">
              <a:extLst>
                <a:ext uri="{FF2B5EF4-FFF2-40B4-BE49-F238E27FC236}">
                  <a16:creationId xmlns:a16="http://schemas.microsoft.com/office/drawing/2014/main" id="{A926BE56-2800-4FEC-81EE-3C618460E54B}"/>
                </a:ext>
              </a:extLst>
            </p:cNvPr>
            <p:cNvSpPr txBox="1">
              <a:spLocks/>
            </p:cNvSpPr>
            <p:nvPr/>
          </p:nvSpPr>
          <p:spPr>
            <a:xfrm>
              <a:off x="6592316" y="1495425"/>
              <a:ext cx="538524" cy="336722"/>
            </a:xfrm>
            <a:prstGeom prst="rect">
              <a:avLst/>
            </a:prstGeom>
          </p:spPr>
          <p:txBody>
            <a:bodyPr vert="horz" lIns="51430" tIns="25715" rIns="51430" bIns="25715" rtlCol="0">
              <a:noAutofit/>
            </a:bodyPr>
            <a:lstStyle>
              <a:lvl1pPr marL="0" indent="0" algn="ctr" defTabSz="812821" rtl="0" eaLnBrk="1" latinLnBrk="0" hangingPunct="1">
                <a:spcBef>
                  <a:spcPts val="500"/>
                </a:spcBef>
                <a:buFontTx/>
                <a:buNone/>
                <a:defRPr sz="2400" b="0" i="0" kern="1200">
                  <a:solidFill>
                    <a:schemeClr val="tx1"/>
                  </a:solidFill>
                  <a:latin typeface="Amazon Ember" panose="02000000000000000000" pitchFamily="2" charset="0"/>
                  <a:ea typeface="Amazon Ember" panose="02000000000000000000" pitchFamily="2" charset="0"/>
                  <a:cs typeface="Amazon Ember" panose="02000000000000000000" pitchFamily="2" charset="0"/>
                </a:defRPr>
              </a:lvl1pPr>
              <a:lvl2pPr marL="1320834" indent="-508012" algn="l" defTabSz="812821" rtl="0" eaLnBrk="1" latinLnBrk="0" hangingPunct="1">
                <a:spcBef>
                  <a:spcPct val="20000"/>
                </a:spcBef>
                <a:buFont typeface="Arial"/>
                <a:buChar char="•"/>
                <a:defRPr sz="3556" b="0" i="0" kern="1200">
                  <a:solidFill>
                    <a:schemeClr val="tx1"/>
                  </a:solidFill>
                  <a:latin typeface="Amazon Ember" panose="02000000000000000000" pitchFamily="2" charset="0"/>
                  <a:ea typeface="Amazon Ember" panose="02000000000000000000" pitchFamily="2" charset="0"/>
                  <a:cs typeface="Amazon Ember" panose="02000000000000000000" pitchFamily="2" charset="0"/>
                </a:defRPr>
              </a:lvl2pPr>
              <a:lvl3pPr marL="2032050" indent="-406410" algn="l" defTabSz="812821" rtl="0" eaLnBrk="1" latinLnBrk="0" hangingPunct="1">
                <a:spcBef>
                  <a:spcPct val="20000"/>
                </a:spcBef>
                <a:buFont typeface="Arial"/>
                <a:buChar char="•"/>
                <a:defRPr sz="3200" b="0" i="0" kern="1200">
                  <a:solidFill>
                    <a:schemeClr val="tx1"/>
                  </a:solidFill>
                  <a:latin typeface="Amazon Ember" panose="02000000000000000000" pitchFamily="2" charset="0"/>
                  <a:ea typeface="Amazon Ember" panose="02000000000000000000" pitchFamily="2" charset="0"/>
                  <a:cs typeface="Amazon Ember" panose="02000000000000000000" pitchFamily="2" charset="0"/>
                </a:defRPr>
              </a:lvl3pPr>
              <a:lvl4pPr marL="2844871" indent="-406410" algn="l" defTabSz="812821" rtl="0" eaLnBrk="1" latinLnBrk="0" hangingPunct="1">
                <a:spcBef>
                  <a:spcPct val="20000"/>
                </a:spcBef>
                <a:buFont typeface="Arial"/>
                <a:buChar char="–"/>
                <a:defRPr sz="2844" b="0" i="0" kern="1200">
                  <a:solidFill>
                    <a:schemeClr val="tx1"/>
                  </a:solidFill>
                  <a:latin typeface="Amazon Ember" panose="02000000000000000000" pitchFamily="2" charset="0"/>
                  <a:ea typeface="Amazon Ember" panose="02000000000000000000" pitchFamily="2" charset="0"/>
                  <a:cs typeface="Amazon Ember" panose="02000000000000000000" pitchFamily="2" charset="0"/>
                </a:defRPr>
              </a:lvl4pPr>
              <a:lvl5pPr marL="3657692" indent="-406410" algn="l" defTabSz="812821" rtl="0" eaLnBrk="1" latinLnBrk="0" hangingPunct="1">
                <a:spcBef>
                  <a:spcPct val="20000"/>
                </a:spcBef>
                <a:buFont typeface="Arial"/>
                <a:buChar char="»"/>
                <a:defRPr sz="2844" b="0" i="0" kern="1200">
                  <a:solidFill>
                    <a:schemeClr val="tx1"/>
                  </a:solidFill>
                  <a:latin typeface="Amazon Ember" panose="02000000000000000000" pitchFamily="2" charset="0"/>
                  <a:ea typeface="Amazon Ember" panose="02000000000000000000" pitchFamily="2" charset="0"/>
                  <a:cs typeface="Amazon Ember" panose="02000000000000000000" pitchFamily="2" charset="0"/>
                </a:defRPr>
              </a:lvl5pPr>
              <a:lvl6pPr marL="4470513" indent="-406410" algn="l" defTabSz="812821" rtl="0" eaLnBrk="1" latinLnBrk="0" hangingPunct="1">
                <a:spcBef>
                  <a:spcPct val="20000"/>
                </a:spcBef>
                <a:buFont typeface="Arial"/>
                <a:buChar char="•"/>
                <a:defRPr sz="3556" kern="1200">
                  <a:solidFill>
                    <a:schemeClr val="tx1"/>
                  </a:solidFill>
                  <a:latin typeface="+mn-lt"/>
                  <a:ea typeface="+mn-ea"/>
                  <a:cs typeface="+mn-cs"/>
                </a:defRPr>
              </a:lvl6pPr>
              <a:lvl7pPr marL="5283332" indent="-406410" algn="l" defTabSz="812821" rtl="0" eaLnBrk="1" latinLnBrk="0" hangingPunct="1">
                <a:spcBef>
                  <a:spcPct val="20000"/>
                </a:spcBef>
                <a:buFont typeface="Arial"/>
                <a:buChar char="•"/>
                <a:defRPr sz="3556" kern="1200">
                  <a:solidFill>
                    <a:schemeClr val="tx1"/>
                  </a:solidFill>
                  <a:latin typeface="+mn-lt"/>
                  <a:ea typeface="+mn-ea"/>
                  <a:cs typeface="+mn-cs"/>
                </a:defRPr>
              </a:lvl7pPr>
              <a:lvl8pPr marL="6096153" indent="-406410" algn="l" defTabSz="812821" rtl="0" eaLnBrk="1" latinLnBrk="0" hangingPunct="1">
                <a:spcBef>
                  <a:spcPct val="20000"/>
                </a:spcBef>
                <a:buFont typeface="Arial"/>
                <a:buChar char="•"/>
                <a:defRPr sz="3556" kern="1200">
                  <a:solidFill>
                    <a:schemeClr val="tx1"/>
                  </a:solidFill>
                  <a:latin typeface="+mn-lt"/>
                  <a:ea typeface="+mn-ea"/>
                  <a:cs typeface="+mn-cs"/>
                </a:defRPr>
              </a:lvl8pPr>
              <a:lvl9pPr marL="6908972" indent="-406410" algn="l" defTabSz="812821" rtl="0" eaLnBrk="1" latinLnBrk="0" hangingPunct="1">
                <a:spcBef>
                  <a:spcPct val="20000"/>
                </a:spcBef>
                <a:buFont typeface="Arial"/>
                <a:buChar char="•"/>
                <a:defRPr sz="3556" kern="1200">
                  <a:solidFill>
                    <a:schemeClr val="tx1"/>
                  </a:solidFill>
                  <a:latin typeface="+mn-lt"/>
                  <a:ea typeface="+mn-ea"/>
                  <a:cs typeface="+mn-cs"/>
                </a:defRPr>
              </a:lvl9pPr>
            </a:lstStyle>
            <a:p>
              <a:r>
                <a:rPr lang="en-US" sz="1350" dirty="0">
                  <a:solidFill>
                    <a:schemeClr val="bg1"/>
                  </a:solidFill>
                  <a:latin typeface="Amazon Ember"/>
                </a:rPr>
                <a:t>HDD</a:t>
              </a:r>
            </a:p>
          </p:txBody>
        </p:sp>
        <p:sp>
          <p:nvSpPr>
            <p:cNvPr id="12" name="Text Placeholder 20">
              <a:extLst>
                <a:ext uri="{FF2B5EF4-FFF2-40B4-BE49-F238E27FC236}">
                  <a16:creationId xmlns:a16="http://schemas.microsoft.com/office/drawing/2014/main" id="{342EDD77-9E1C-44DC-81C2-92B7AEDF34E0}"/>
                </a:ext>
              </a:extLst>
            </p:cNvPr>
            <p:cNvSpPr/>
            <p:nvPr/>
          </p:nvSpPr>
          <p:spPr>
            <a:xfrm>
              <a:off x="2979355" y="1473146"/>
              <a:ext cx="494232" cy="336551"/>
            </a:xfrm>
            <a:prstGeom prst="rect">
              <a:avLst/>
            </a:prstGeom>
            <a:ln w="12700">
              <a:miter lim="400000"/>
            </a:ln>
            <a:extLst>
              <a:ext uri="{C572A759-6A51-4108-AA02-DFA0A04FC94B}">
                <ma14:wrappingTextBoxFlag xmlns:ma14="http://schemas.microsoft.com/office/mac/drawingml/2011/main" xmlns="" val="1"/>
              </a:ext>
            </a:extLst>
          </p:spPr>
          <p:txBody>
            <a:bodyPr lIns="45715" tIns="45715" rIns="45715" bIns="45715">
              <a:normAutofit/>
            </a:bodyPr>
            <a:lstStyle>
              <a:lvl1pPr algn="ctr">
                <a:spcBef>
                  <a:spcPts val="500"/>
                </a:spcBef>
                <a:defRPr sz="2400">
                  <a:solidFill>
                    <a:srgbClr val="FFFFFF"/>
                  </a:solidFill>
                </a:defRPr>
              </a:lvl1pPr>
            </a:lstStyle>
            <a:p>
              <a:r>
                <a:rPr sz="1350" dirty="0">
                  <a:latin typeface="Amazon Ember"/>
                </a:rPr>
                <a:t>SSD</a:t>
              </a:r>
            </a:p>
          </p:txBody>
        </p:sp>
        <p:pic>
          <p:nvPicPr>
            <p:cNvPr id="13" name="Picture Placeholder 26" descr="Picture Placeholder 26">
              <a:extLst>
                <a:ext uri="{FF2B5EF4-FFF2-40B4-BE49-F238E27FC236}">
                  <a16:creationId xmlns:a16="http://schemas.microsoft.com/office/drawing/2014/main" id="{CC187CE9-F93F-48CC-9701-04C3D4E1C172}"/>
                </a:ext>
              </a:extLst>
            </p:cNvPr>
            <p:cNvPicPr>
              <a:picLocks noChangeAspect="1"/>
            </p:cNvPicPr>
            <p:nvPr/>
          </p:nvPicPr>
          <p:blipFill>
            <a:blip r:embed="rId4" cstate="email">
              <a:extLst>
                <a:ext uri="{28A0092B-C50C-407E-A947-70E740481C1C}">
                  <a14:useLocalDpi xmlns:a14="http://schemas.microsoft.com/office/drawing/2010/main"/>
                </a:ext>
              </a:extLst>
            </a:blip>
            <a:srcRect t="12605" b="12605"/>
            <a:stretch>
              <a:fillRect/>
            </a:stretch>
          </p:blipFill>
          <p:spPr>
            <a:xfrm>
              <a:off x="5585745" y="1286410"/>
              <a:ext cx="978111" cy="731520"/>
            </a:xfrm>
            <a:prstGeom prst="rect">
              <a:avLst/>
            </a:prstGeom>
            <a:ln w="12700">
              <a:miter lim="400000"/>
            </a:ln>
          </p:spPr>
        </p:pic>
        <p:pic>
          <p:nvPicPr>
            <p:cNvPr id="14" name="Picture 1" descr="Picture 1">
              <a:extLst>
                <a:ext uri="{FF2B5EF4-FFF2-40B4-BE49-F238E27FC236}">
                  <a16:creationId xmlns:a16="http://schemas.microsoft.com/office/drawing/2014/main" id="{094CD587-C4F7-4BCD-AEFF-3C893C86676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97752" y="1194970"/>
              <a:ext cx="914400" cy="914400"/>
            </a:xfrm>
            <a:prstGeom prst="rect">
              <a:avLst/>
            </a:prstGeom>
            <a:ln w="12700">
              <a:miter lim="400000"/>
            </a:ln>
          </p:spPr>
        </p:pic>
      </p:grpSp>
      <p:sp>
        <p:nvSpPr>
          <p:cNvPr id="15" name="Rectangle 14">
            <a:extLst>
              <a:ext uri="{FF2B5EF4-FFF2-40B4-BE49-F238E27FC236}">
                <a16:creationId xmlns:a16="http://schemas.microsoft.com/office/drawing/2014/main" id="{2462FC90-1135-424E-831C-CD7C5F4AC957}"/>
              </a:ext>
            </a:extLst>
          </p:cNvPr>
          <p:cNvSpPr/>
          <p:nvPr/>
        </p:nvSpPr>
        <p:spPr>
          <a:xfrm>
            <a:off x="336789" y="4189294"/>
            <a:ext cx="8205304" cy="307777"/>
          </a:xfrm>
          <a:prstGeom prst="rect">
            <a:avLst/>
          </a:prstGeom>
        </p:spPr>
        <p:txBody>
          <a:bodyPr wrap="square">
            <a:spAutoFit/>
          </a:bodyPr>
          <a:lstStyle/>
          <a:p>
            <a:pPr algn="ctr"/>
            <a:r>
              <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All prices are per month, prorated to the second, for the us-east-1 Region as of September </a:t>
            </a:r>
            <a:r>
              <a:rPr 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2018</a:t>
            </a:r>
            <a:endParaRPr lang="en-US" sz="1400" dirty="0">
              <a:solidFill>
                <a:srgbClr val="FFFFFF"/>
              </a:solidFill>
              <a:latin typeface="Amazon Ember" panose="02000000000000000000" pitchFamily="2" charset="0"/>
            </a:endParaRPr>
          </a:p>
        </p:txBody>
      </p:sp>
    </p:spTree>
    <p:extLst>
      <p:ext uri="{BB962C8B-B14F-4D97-AF65-F5344CB8AC3E}">
        <p14:creationId xmlns:p14="http://schemas.microsoft.com/office/powerpoint/2010/main" val="473943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Amazon EBS Volume Types (Performance)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81017840"/>
              </p:ext>
            </p:extLst>
          </p:nvPr>
        </p:nvGraphicFramePr>
        <p:xfrm>
          <a:off x="385524" y="660677"/>
          <a:ext cx="8421687" cy="3982720"/>
        </p:xfrm>
        <a:graphic>
          <a:graphicData uri="http://schemas.openxmlformats.org/drawingml/2006/table">
            <a:tbl>
              <a:tblPr firstRow="1" bandRow="1">
                <a:tableStyleId>{5C22544A-7EE6-4342-B048-85BDC9FD1C3A}</a:tableStyleId>
              </a:tblPr>
              <a:tblGrid>
                <a:gridCol w="1614261">
                  <a:extLst>
                    <a:ext uri="{9D8B030D-6E8A-4147-A177-3AD203B41FA5}">
                      <a16:colId xmlns:a16="http://schemas.microsoft.com/office/drawing/2014/main" val="20000"/>
                    </a:ext>
                  </a:extLst>
                </a:gridCol>
                <a:gridCol w="1709854">
                  <a:extLst>
                    <a:ext uri="{9D8B030D-6E8A-4147-A177-3AD203B41FA5}">
                      <a16:colId xmlns:a16="http://schemas.microsoft.com/office/drawing/2014/main" val="20001"/>
                    </a:ext>
                  </a:extLst>
                </a:gridCol>
                <a:gridCol w="1732156">
                  <a:extLst>
                    <a:ext uri="{9D8B030D-6E8A-4147-A177-3AD203B41FA5}">
                      <a16:colId xmlns:a16="http://schemas.microsoft.com/office/drawing/2014/main" val="20002"/>
                    </a:ext>
                  </a:extLst>
                </a:gridCol>
                <a:gridCol w="1784195">
                  <a:extLst>
                    <a:ext uri="{9D8B030D-6E8A-4147-A177-3AD203B41FA5}">
                      <a16:colId xmlns:a16="http://schemas.microsoft.com/office/drawing/2014/main" val="20003"/>
                    </a:ext>
                  </a:extLst>
                </a:gridCol>
                <a:gridCol w="1581221">
                  <a:extLst>
                    <a:ext uri="{9D8B030D-6E8A-4147-A177-3AD203B41FA5}">
                      <a16:colId xmlns:a16="http://schemas.microsoft.com/office/drawing/2014/main" val="20004"/>
                    </a:ext>
                  </a:extLst>
                </a:gridCol>
              </a:tblGrid>
              <a:tr h="370840">
                <a:tc>
                  <a:txBody>
                    <a:bodyPr/>
                    <a:lstStyle/>
                    <a:p>
                      <a:r>
                        <a:rPr lang="en-US" sz="1400" dirty="0"/>
                        <a:t>Volume Type</a:t>
                      </a:r>
                    </a:p>
                  </a:txBody>
                  <a:tcPr/>
                </a:tc>
                <a:tc>
                  <a:txBody>
                    <a:bodyPr/>
                    <a:lstStyle/>
                    <a:p>
                      <a:r>
                        <a:rPr lang="en-US" sz="1400" dirty="0"/>
                        <a:t>General</a:t>
                      </a:r>
                      <a:r>
                        <a:rPr lang="en-US" sz="1400" baseline="0" dirty="0"/>
                        <a:t> Purpose: GP2</a:t>
                      </a:r>
                      <a:endParaRPr lang="en-US" sz="1400" dirty="0"/>
                    </a:p>
                  </a:txBody>
                  <a:tcPr/>
                </a:tc>
                <a:tc>
                  <a:txBody>
                    <a:bodyPr/>
                    <a:lstStyle/>
                    <a:p>
                      <a:r>
                        <a:rPr lang="en-US" sz="1400" dirty="0"/>
                        <a:t>Provisioned</a:t>
                      </a:r>
                      <a:r>
                        <a:rPr lang="en-US" sz="1400" baseline="0" dirty="0"/>
                        <a:t> IOPS: PIOPS/IO1</a:t>
                      </a:r>
                    </a:p>
                  </a:txBody>
                  <a:tcPr/>
                </a:tc>
                <a:tc>
                  <a:txBody>
                    <a:bodyPr/>
                    <a:lstStyle/>
                    <a:p>
                      <a:r>
                        <a:rPr lang="en-US" sz="1400" dirty="0"/>
                        <a:t>Throughput Optimized</a:t>
                      </a:r>
                      <a:r>
                        <a:rPr lang="en-US" sz="1400" baseline="0" dirty="0"/>
                        <a:t>: ST1</a:t>
                      </a:r>
                      <a:endParaRPr lang="en-US" sz="1400" dirty="0"/>
                    </a:p>
                  </a:txBody>
                  <a:tcPr/>
                </a:tc>
                <a:tc>
                  <a:txBody>
                    <a:bodyPr/>
                    <a:lstStyle/>
                    <a:p>
                      <a:r>
                        <a:rPr lang="en-US" sz="1400" dirty="0"/>
                        <a:t>Cold HDD: SC1</a:t>
                      </a:r>
                    </a:p>
                  </a:txBody>
                  <a:tcPr/>
                </a:tc>
                <a:extLst>
                  <a:ext uri="{0D108BD9-81ED-4DB2-BD59-A6C34878D82A}">
                    <a16:rowId xmlns:a16="http://schemas.microsoft.com/office/drawing/2014/main" val="10000"/>
                  </a:ext>
                </a:extLst>
              </a:tr>
              <a:tr h="370840">
                <a:tc>
                  <a:txBody>
                    <a:bodyPr/>
                    <a:lstStyle/>
                    <a:p>
                      <a:r>
                        <a:rPr lang="en-US" sz="1400" dirty="0"/>
                        <a:t>Technology:</a:t>
                      </a:r>
                    </a:p>
                  </a:txBody>
                  <a:tcPr/>
                </a:tc>
                <a:tc>
                  <a:txBody>
                    <a:bodyPr/>
                    <a:lstStyle/>
                    <a:p>
                      <a:r>
                        <a:rPr lang="en-US" sz="1400" dirty="0"/>
                        <a:t>SSD</a:t>
                      </a:r>
                    </a:p>
                  </a:txBody>
                  <a:tcPr/>
                </a:tc>
                <a:tc>
                  <a:txBody>
                    <a:bodyPr/>
                    <a:lstStyle/>
                    <a:p>
                      <a:r>
                        <a:rPr lang="en-US" sz="1400" dirty="0"/>
                        <a:t>SSD</a:t>
                      </a:r>
                    </a:p>
                  </a:txBody>
                  <a:tcPr/>
                </a:tc>
                <a:tc>
                  <a:txBody>
                    <a:bodyPr/>
                    <a:lstStyle/>
                    <a:p>
                      <a:r>
                        <a:rPr lang="en-US" sz="1400" dirty="0"/>
                        <a:t>Magnetic</a:t>
                      </a:r>
                    </a:p>
                  </a:txBody>
                  <a:tcPr/>
                </a:tc>
                <a:tc>
                  <a:txBody>
                    <a:bodyPr/>
                    <a:lstStyle/>
                    <a:p>
                      <a:r>
                        <a:rPr lang="en-US" sz="1400" dirty="0"/>
                        <a:t>Magnetic</a:t>
                      </a:r>
                    </a:p>
                  </a:txBody>
                  <a:tcPr/>
                </a:tc>
                <a:extLst>
                  <a:ext uri="{0D108BD9-81ED-4DB2-BD59-A6C34878D82A}">
                    <a16:rowId xmlns:a16="http://schemas.microsoft.com/office/drawing/2014/main" val="10001"/>
                  </a:ext>
                </a:extLst>
              </a:tr>
              <a:tr h="370840">
                <a:tc>
                  <a:txBody>
                    <a:bodyPr/>
                    <a:lstStyle/>
                    <a:p>
                      <a:r>
                        <a:rPr lang="en-US" sz="1400" dirty="0"/>
                        <a:t>Sizes:</a:t>
                      </a:r>
                    </a:p>
                  </a:txBody>
                  <a:tcPr/>
                </a:tc>
                <a:tc>
                  <a:txBody>
                    <a:bodyPr/>
                    <a:lstStyle/>
                    <a:p>
                      <a:r>
                        <a:rPr lang="en-US" sz="1400" baseline="0" dirty="0"/>
                        <a:t>1 GiB – 16 TiB</a:t>
                      </a:r>
                      <a:endParaRPr lang="en-US" sz="1400" dirty="0"/>
                    </a:p>
                  </a:txBody>
                  <a:tcPr/>
                </a:tc>
                <a:tc>
                  <a:txBody>
                    <a:bodyPr/>
                    <a:lstStyle/>
                    <a:p>
                      <a:r>
                        <a:rPr lang="en-US" sz="1400" dirty="0"/>
                        <a:t>4 GiB</a:t>
                      </a:r>
                      <a:r>
                        <a:rPr lang="en-US" sz="1400" baseline="0" dirty="0"/>
                        <a:t> – </a:t>
                      </a:r>
                      <a:r>
                        <a:rPr lang="en-US" sz="1400" dirty="0"/>
                        <a:t>16 TiB</a:t>
                      </a:r>
                    </a:p>
                  </a:txBody>
                  <a:tcPr/>
                </a:tc>
                <a:tc>
                  <a:txBody>
                    <a:bodyPr/>
                    <a:lstStyle/>
                    <a:p>
                      <a:r>
                        <a:rPr lang="en-US" sz="1400" dirty="0"/>
                        <a:t>500 GiB – 16TiB</a:t>
                      </a:r>
                    </a:p>
                  </a:txBody>
                  <a:tcPr/>
                </a:tc>
                <a:tc>
                  <a:txBody>
                    <a:bodyPr/>
                    <a:lstStyle/>
                    <a:p>
                      <a:r>
                        <a:rPr lang="en-US" sz="1400" dirty="0"/>
                        <a:t>500 GiB – 16 TiB</a:t>
                      </a:r>
                    </a:p>
                  </a:txBody>
                  <a:tcPr/>
                </a:tc>
                <a:extLst>
                  <a:ext uri="{0D108BD9-81ED-4DB2-BD59-A6C34878D82A}">
                    <a16:rowId xmlns:a16="http://schemas.microsoft.com/office/drawing/2014/main" val="10002"/>
                  </a:ext>
                </a:extLst>
              </a:tr>
              <a:tr h="370840">
                <a:tc>
                  <a:txBody>
                    <a:bodyPr/>
                    <a:lstStyle/>
                    <a:p>
                      <a:r>
                        <a:rPr lang="en-US" sz="1400" dirty="0"/>
                        <a:t>Max. IOPS:</a:t>
                      </a:r>
                    </a:p>
                  </a:txBody>
                  <a:tcPr/>
                </a:tc>
                <a:tc>
                  <a:txBody>
                    <a:bodyPr/>
                    <a:lstStyle/>
                    <a:p>
                      <a:r>
                        <a:rPr lang="en-US" sz="1400" dirty="0"/>
                        <a:t>10,000</a:t>
                      </a:r>
                      <a:r>
                        <a:rPr lang="en-US" sz="1400" baseline="0" dirty="0"/>
                        <a:t> @ 16KiB</a:t>
                      </a:r>
                      <a:endParaRPr lang="en-US" sz="1400" dirty="0"/>
                    </a:p>
                  </a:txBody>
                  <a:tcPr/>
                </a:tc>
                <a:tc>
                  <a:txBody>
                    <a:bodyPr/>
                    <a:lstStyle/>
                    <a:p>
                      <a:r>
                        <a:rPr lang="en-US" sz="1400" baseline="0" dirty="0"/>
                        <a:t>64,000</a:t>
                      </a:r>
                      <a:r>
                        <a:rPr lang="en-US" sz="1400" dirty="0"/>
                        <a:t> @ 16KiB</a:t>
                      </a:r>
                    </a:p>
                  </a:txBody>
                  <a:tcPr/>
                </a:tc>
                <a:tc>
                  <a:txBody>
                    <a:bodyPr/>
                    <a:lstStyle/>
                    <a:p>
                      <a:r>
                        <a:rPr lang="en-US" sz="1400" dirty="0"/>
                        <a:t>500 @ 1MiB</a:t>
                      </a:r>
                    </a:p>
                  </a:txBody>
                  <a:tcPr/>
                </a:tc>
                <a:tc>
                  <a:txBody>
                    <a:bodyPr/>
                    <a:lstStyle/>
                    <a:p>
                      <a:r>
                        <a:rPr lang="en-US" sz="1400" dirty="0"/>
                        <a:t>250 @ 1MiB</a:t>
                      </a:r>
                    </a:p>
                  </a:txBody>
                  <a:tcPr/>
                </a:tc>
                <a:extLst>
                  <a:ext uri="{0D108BD9-81ED-4DB2-BD59-A6C34878D82A}">
                    <a16:rowId xmlns:a16="http://schemas.microsoft.com/office/drawing/2014/main" val="10003"/>
                  </a:ext>
                </a:extLst>
              </a:tr>
              <a:tr h="370840">
                <a:tc>
                  <a:txBody>
                    <a:bodyPr/>
                    <a:lstStyle/>
                    <a:p>
                      <a:r>
                        <a:rPr lang="en-US" sz="1400" dirty="0"/>
                        <a:t>Max. Throughput:</a:t>
                      </a:r>
                    </a:p>
                  </a:txBody>
                  <a:tcPr/>
                </a:tc>
                <a:tc>
                  <a:txBody>
                    <a:bodyPr/>
                    <a:lstStyle/>
                    <a:p>
                      <a:r>
                        <a:rPr lang="en-US" sz="1400" dirty="0"/>
                        <a:t>160 MiB/sec</a:t>
                      </a:r>
                    </a:p>
                  </a:txBody>
                  <a:tcPr/>
                </a:tc>
                <a:tc>
                  <a:txBody>
                    <a:bodyPr/>
                    <a:lstStyle/>
                    <a:p>
                      <a:r>
                        <a:rPr lang="en-US" sz="1400" dirty="0"/>
                        <a:t>1,000 MiB/sec</a:t>
                      </a:r>
                    </a:p>
                  </a:txBody>
                  <a:tcPr/>
                </a:tc>
                <a:tc>
                  <a:txBody>
                    <a:bodyPr/>
                    <a:lstStyle/>
                    <a:p>
                      <a:r>
                        <a:rPr lang="en-US" sz="1400" dirty="0"/>
                        <a:t>500 MiB/sec</a:t>
                      </a:r>
                    </a:p>
                  </a:txBody>
                  <a:tcPr/>
                </a:tc>
                <a:tc>
                  <a:txBody>
                    <a:bodyPr/>
                    <a:lstStyle/>
                    <a:p>
                      <a:r>
                        <a:rPr lang="en-US" sz="1400" dirty="0"/>
                        <a:t>250 MiB/sec</a:t>
                      </a:r>
                    </a:p>
                  </a:txBody>
                  <a:tcPr/>
                </a:tc>
                <a:extLst>
                  <a:ext uri="{0D108BD9-81ED-4DB2-BD59-A6C34878D82A}">
                    <a16:rowId xmlns:a16="http://schemas.microsoft.com/office/drawing/2014/main" val="1473290062"/>
                  </a:ext>
                </a:extLst>
              </a:tr>
              <a:tr h="370840">
                <a:tc>
                  <a:txBody>
                    <a:bodyPr/>
                    <a:lstStyle/>
                    <a:p>
                      <a:r>
                        <a:rPr lang="en-US" sz="1400" dirty="0"/>
                        <a:t>Max. IOPS/Instance</a:t>
                      </a:r>
                    </a:p>
                  </a:txBody>
                  <a:tcPr/>
                </a:tc>
                <a:tc>
                  <a:txBody>
                    <a:bodyPr/>
                    <a:lstStyle/>
                    <a:p>
                      <a:r>
                        <a:rPr lang="en-US" sz="1400" dirty="0"/>
                        <a:t>80,000</a:t>
                      </a:r>
                    </a:p>
                  </a:txBody>
                  <a:tcPr/>
                </a:tc>
                <a:tc>
                  <a:txBody>
                    <a:bodyPr/>
                    <a:lstStyle/>
                    <a:p>
                      <a:r>
                        <a:rPr lang="en-US" sz="1400" dirty="0"/>
                        <a:t>80,000</a:t>
                      </a:r>
                    </a:p>
                  </a:txBody>
                  <a:tcPr/>
                </a:tc>
                <a:tc>
                  <a:txBody>
                    <a:bodyPr/>
                    <a:lstStyle/>
                    <a:p>
                      <a:r>
                        <a:rPr lang="en-US" sz="1400" dirty="0"/>
                        <a:t>80,000</a:t>
                      </a:r>
                    </a:p>
                  </a:txBody>
                  <a:tcPr/>
                </a:tc>
                <a:tc>
                  <a:txBody>
                    <a:bodyPr/>
                    <a:lstStyle/>
                    <a:p>
                      <a:r>
                        <a:rPr lang="en-US" sz="1400" dirty="0"/>
                        <a:t>80,000</a:t>
                      </a:r>
                    </a:p>
                  </a:txBody>
                  <a:tcPr/>
                </a:tc>
                <a:extLst>
                  <a:ext uri="{0D108BD9-81ED-4DB2-BD59-A6C34878D82A}">
                    <a16:rowId xmlns:a16="http://schemas.microsoft.com/office/drawing/2014/main" val="2927270498"/>
                  </a:ext>
                </a:extLst>
              </a:tr>
              <a:tr h="370840">
                <a:tc>
                  <a:txBody>
                    <a:bodyPr/>
                    <a:lstStyle/>
                    <a:p>
                      <a:r>
                        <a:rPr lang="en-US" sz="1400" dirty="0"/>
                        <a:t>Max. Throughput /Instance</a:t>
                      </a:r>
                    </a:p>
                  </a:txBody>
                  <a:tcPr/>
                </a:tc>
                <a:tc>
                  <a:txBody>
                    <a:bodyPr/>
                    <a:lstStyle/>
                    <a:p>
                      <a:r>
                        <a:rPr lang="en-US" sz="1400" dirty="0"/>
                        <a:t>1,750 </a:t>
                      </a:r>
                      <a:r>
                        <a:rPr lang="en-US" sz="1400" dirty="0" err="1"/>
                        <a:t>MiB</a:t>
                      </a:r>
                      <a:r>
                        <a:rPr lang="en-US" sz="1400" dirty="0"/>
                        <a:t>/s</a:t>
                      </a:r>
                    </a:p>
                  </a:txBody>
                  <a:tcPr/>
                </a:tc>
                <a:tc>
                  <a:txBody>
                    <a:bodyPr/>
                    <a:lstStyle/>
                    <a:p>
                      <a:r>
                        <a:rPr lang="en-US" sz="1400" dirty="0"/>
                        <a:t>1,750 </a:t>
                      </a:r>
                      <a:r>
                        <a:rPr lang="en-US" sz="1400" dirty="0" err="1"/>
                        <a:t>MiB</a:t>
                      </a:r>
                      <a:r>
                        <a:rPr lang="en-US" sz="1400" dirty="0"/>
                        <a:t>/s</a:t>
                      </a:r>
                    </a:p>
                  </a:txBody>
                  <a:tcPr/>
                </a:tc>
                <a:tc>
                  <a:txBody>
                    <a:bodyPr/>
                    <a:lstStyle/>
                    <a:p>
                      <a:r>
                        <a:rPr lang="en-US" sz="1400" dirty="0"/>
                        <a:t>1,750 </a:t>
                      </a:r>
                      <a:r>
                        <a:rPr lang="en-US" sz="1400" dirty="0" err="1"/>
                        <a:t>MiB</a:t>
                      </a:r>
                      <a:r>
                        <a:rPr lang="en-US" sz="1400" dirty="0"/>
                        <a:t>/s</a:t>
                      </a:r>
                    </a:p>
                  </a:txBody>
                  <a:tcPr/>
                </a:tc>
                <a:tc>
                  <a:txBody>
                    <a:bodyPr/>
                    <a:lstStyle/>
                    <a:p>
                      <a:r>
                        <a:rPr lang="en-US" sz="1400"/>
                        <a:t>1,750 MiB/s</a:t>
                      </a:r>
                      <a:endParaRPr lang="en-US" sz="1400" dirty="0"/>
                    </a:p>
                  </a:txBody>
                  <a:tcPr/>
                </a:tc>
                <a:extLst>
                  <a:ext uri="{0D108BD9-81ED-4DB2-BD59-A6C34878D82A}">
                    <a16:rowId xmlns:a16="http://schemas.microsoft.com/office/drawing/2014/main" val="10004"/>
                  </a:ext>
                </a:extLst>
              </a:tr>
              <a:tr h="370840">
                <a:tc>
                  <a:txBody>
                    <a:bodyPr/>
                    <a:lstStyle/>
                    <a:p>
                      <a:r>
                        <a:rPr lang="en-US" sz="1400" dirty="0"/>
                        <a:t>Properties:</a:t>
                      </a:r>
                    </a:p>
                  </a:txBody>
                  <a:tcPr/>
                </a:tc>
                <a:tc>
                  <a:txBody>
                    <a:bodyPr/>
                    <a:lstStyle/>
                    <a:p>
                      <a:r>
                        <a:rPr lang="en-US" sz="1400" dirty="0"/>
                        <a:t>3 IOPS/GB, burstable up to 3000 IOPS for max 1</a:t>
                      </a:r>
                      <a:r>
                        <a:rPr lang="en-US" sz="1400" baseline="0" dirty="0"/>
                        <a:t> </a:t>
                      </a:r>
                      <a:r>
                        <a:rPr lang="en-US" sz="1400" dirty="0"/>
                        <a:t>TiB volumes</a:t>
                      </a:r>
                    </a:p>
                  </a:txBody>
                  <a:tcPr/>
                </a:tc>
                <a:tc>
                  <a:txBody>
                    <a:bodyPr/>
                    <a:lstStyle/>
                    <a:p>
                      <a:r>
                        <a:rPr lang="en-US" sz="1400" dirty="0"/>
                        <a:t>Consistent provisioned performance, up to 50</a:t>
                      </a:r>
                      <a:r>
                        <a:rPr lang="en-US" sz="1400" baseline="0" dirty="0"/>
                        <a:t> IOPS/GB</a:t>
                      </a:r>
                      <a:endParaRPr lang="en-US" sz="1400" dirty="0"/>
                    </a:p>
                  </a:txBody>
                  <a:tcPr/>
                </a:tc>
                <a:tc gridSpan="2">
                  <a:txBody>
                    <a:bodyPr/>
                    <a:lstStyle/>
                    <a:p>
                      <a:r>
                        <a:rPr lang="en-US" sz="1400" dirty="0"/>
                        <a:t>Optimized</a:t>
                      </a:r>
                      <a:r>
                        <a:rPr lang="en-US" sz="1400" baseline="0" dirty="0"/>
                        <a:t> for throughput, and sequential read/write workloads, baseline per TiB throughput, with burst capability</a:t>
                      </a:r>
                      <a:endParaRPr lang="en-US" sz="1400" dirty="0"/>
                    </a:p>
                  </a:txBody>
                  <a:tcPr/>
                </a:tc>
                <a:tc hMerge="1">
                  <a:txBody>
                    <a:bodyPr/>
                    <a:lstStyle/>
                    <a:p>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4453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Amazon EC2 Instance Storage</a:t>
            </a:r>
          </a:p>
        </p:txBody>
      </p:sp>
      <p:sp>
        <p:nvSpPr>
          <p:cNvPr id="3" name="Content Placeholder 2"/>
          <p:cNvSpPr>
            <a:spLocks noGrp="1"/>
          </p:cNvSpPr>
          <p:nvPr>
            <p:ph idx="1"/>
          </p:nvPr>
        </p:nvSpPr>
        <p:spPr>
          <a:xfrm>
            <a:off x="660631" y="900747"/>
            <a:ext cx="7464854" cy="3531045"/>
          </a:xfrm>
        </p:spPr>
        <p:txBody>
          <a:bodyPr/>
          <a:lstStyle/>
          <a:p>
            <a:pPr marL="342900" indent="-342900">
              <a:buFont typeface="Arial" charset="0"/>
              <a:buChar char="•"/>
            </a:pPr>
            <a:r>
              <a:rPr lang="en-US" sz="2200" dirty="0">
                <a:solidFill>
                  <a:schemeClr val="bg1"/>
                </a:solidFill>
              </a:rPr>
              <a:t>Some instance types come with direct attached storage</a:t>
            </a:r>
          </a:p>
          <a:p>
            <a:pPr marL="1085850" lvl="1" indent="-342900">
              <a:spcBef>
                <a:spcPts val="1200"/>
              </a:spcBef>
              <a:spcAft>
                <a:spcPts val="600"/>
              </a:spcAft>
              <a:buFont typeface="Courier New" panose="02070309020205020404" pitchFamily="49" charset="0"/>
              <a:buChar char="o"/>
            </a:pPr>
            <a:r>
              <a:rPr lang="en-US" sz="2200" dirty="0">
                <a:solidFill>
                  <a:schemeClr val="bg1"/>
                </a:solidFill>
              </a:rPr>
              <a:t>disk-based local storage (H1/D2)</a:t>
            </a:r>
          </a:p>
          <a:p>
            <a:pPr marL="1085850" lvl="1" indent="-342900">
              <a:spcBef>
                <a:spcPts val="1200"/>
              </a:spcBef>
              <a:spcAft>
                <a:spcPts val="600"/>
              </a:spcAft>
              <a:buFont typeface="Courier New" panose="02070309020205020404" pitchFamily="49" charset="0"/>
              <a:buChar char="o"/>
            </a:pPr>
            <a:r>
              <a:rPr lang="en-US" sz="2200" dirty="0" err="1">
                <a:solidFill>
                  <a:schemeClr val="bg1"/>
                </a:solidFill>
              </a:rPr>
              <a:t>NVMe</a:t>
            </a:r>
            <a:r>
              <a:rPr lang="en-US" sz="2200" dirty="0">
                <a:solidFill>
                  <a:schemeClr val="bg1"/>
                </a:solidFill>
              </a:rPr>
              <a:t> SSD (I3/C5d/M5d/R5d/Z1d)</a:t>
            </a:r>
          </a:p>
          <a:p>
            <a:pPr marL="342900" indent="-342900">
              <a:buFont typeface="Arial" charset="0"/>
              <a:buChar char="•"/>
            </a:pPr>
            <a:r>
              <a:rPr lang="en-US" sz="2200" dirty="0">
                <a:solidFill>
                  <a:schemeClr val="bg1"/>
                </a:solidFill>
              </a:rPr>
              <a:t>Fast disk I/O </a:t>
            </a:r>
            <a:r>
              <a:rPr lang="en-US" sz="2200" b="1" dirty="0">
                <a:solidFill>
                  <a:schemeClr val="accent1">
                    <a:lumMod val="60000"/>
                    <a:lumOff val="40000"/>
                  </a:schemeClr>
                </a:solidFill>
              </a:rPr>
              <a:t>without going over the network</a:t>
            </a:r>
          </a:p>
          <a:p>
            <a:pPr marL="342900" indent="-342900">
              <a:buFont typeface="Arial" charset="0"/>
              <a:buChar char="•"/>
            </a:pPr>
            <a:r>
              <a:rPr lang="en-US" sz="2200" dirty="0">
                <a:solidFill>
                  <a:schemeClr val="bg1"/>
                </a:solidFill>
              </a:rPr>
              <a:t>Size depends on the instance, Included in the hourly cost</a:t>
            </a:r>
          </a:p>
          <a:p>
            <a:pPr marL="342900" indent="-342900">
              <a:buFont typeface="Arial" charset="0"/>
              <a:buChar char="•"/>
            </a:pPr>
            <a:r>
              <a:rPr lang="en-US" sz="2200" dirty="0">
                <a:solidFill>
                  <a:schemeClr val="bg1"/>
                </a:solidFill>
              </a:rPr>
              <a:t>Data on instance storage </a:t>
            </a:r>
            <a:r>
              <a:rPr lang="en-US" sz="2200" b="1" dirty="0">
                <a:solidFill>
                  <a:schemeClr val="accent1">
                    <a:lumMod val="60000"/>
                    <a:lumOff val="40000"/>
                  </a:schemeClr>
                </a:solidFill>
              </a:rPr>
              <a:t>does not persist instance stop/start </a:t>
            </a:r>
            <a:r>
              <a:rPr lang="en-US" sz="2200" dirty="0">
                <a:solidFill>
                  <a:schemeClr val="bg1"/>
                </a:solidFill>
              </a:rPr>
              <a:t>or hardware failure</a:t>
            </a:r>
          </a:p>
          <a:p>
            <a:pPr marL="342900" indent="-342900">
              <a:buFont typeface="Arial" charset="0"/>
              <a:buChar char="•"/>
            </a:pPr>
            <a:r>
              <a:rPr lang="en-US" sz="2200" dirty="0">
                <a:solidFill>
                  <a:schemeClr val="bg1"/>
                </a:solidFill>
              </a:rPr>
              <a:t>Must be </a:t>
            </a:r>
            <a:r>
              <a:rPr lang="en-US" sz="2200" b="1" dirty="0">
                <a:solidFill>
                  <a:schemeClr val="accent1">
                    <a:lumMod val="60000"/>
                    <a:lumOff val="40000"/>
                  </a:schemeClr>
                </a:solidFill>
              </a:rPr>
              <a:t>allocated at launch</a:t>
            </a:r>
          </a:p>
          <a:p>
            <a:pPr marL="342900" indent="-342900">
              <a:buFont typeface="Arial" charset="0"/>
              <a:buChar char="•"/>
            </a:pPr>
            <a:endParaRPr lang="en-US" sz="2200" dirty="0">
              <a:solidFill>
                <a:schemeClr val="bg1"/>
              </a:solidFill>
            </a:endParaRP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7517" y="1370296"/>
            <a:ext cx="501938" cy="501938"/>
          </a:xfrm>
          <a:prstGeom prst="rect">
            <a:avLst/>
          </a:prstGeom>
        </p:spPr>
      </p:pic>
      <p:pic>
        <p:nvPicPr>
          <p:cNvPr id="5" name="Picture 4">
            <a:extLst>
              <a:ext uri="{FF2B5EF4-FFF2-40B4-BE49-F238E27FC236}">
                <a16:creationId xmlns:a16="http://schemas.microsoft.com/office/drawing/2014/main" id="{DF5642B4-8CEB-4044-853D-C8968BC34365}"/>
              </a:ext>
            </a:extLst>
          </p:cNvPr>
          <p:cNvPicPr>
            <a:picLocks noChangeAspect="1"/>
          </p:cNvPicPr>
          <p:nvPr/>
        </p:nvPicPr>
        <p:blipFill>
          <a:blip r:embed="rId4" cstate="email">
            <a:extLst>
              <a:ext uri="{BEBA8EAE-BF5A-486C-A8C5-ECC9F3942E4B}">
                <a14:imgProps xmlns:a14="http://schemas.microsoft.com/office/drawing/2010/main">
                  <a14:imgLayer r:embed="rId5">
                    <a14:imgEffect>
                      <a14:colorTemperature colorTemp="5900"/>
                    </a14:imgEffect>
                  </a14:imgLayer>
                </a14:imgProps>
              </a:ext>
              <a:ext uri="{28A0092B-C50C-407E-A947-70E740481C1C}">
                <a14:useLocalDpi xmlns:a14="http://schemas.microsoft.com/office/drawing/2010/main"/>
              </a:ext>
            </a:extLst>
          </a:blip>
          <a:stretch>
            <a:fillRect/>
          </a:stretch>
        </p:blipFill>
        <p:spPr>
          <a:xfrm>
            <a:off x="813232" y="1914675"/>
            <a:ext cx="501938" cy="501938"/>
          </a:xfrm>
          <a:prstGeom prst="rect">
            <a:avLst/>
          </a:prstGeom>
        </p:spPr>
      </p:pic>
    </p:spTree>
    <p:extLst>
      <p:ext uri="{BB962C8B-B14F-4D97-AF65-F5344CB8AC3E}">
        <p14:creationId xmlns:p14="http://schemas.microsoft.com/office/powerpoint/2010/main" val="1581578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Choosing an Amazon Storage V</a:t>
            </a:r>
            <a:r>
              <a:rPr lang="en-US" sz="2400" dirty="0">
                <a:solidFill>
                  <a:srgbClr val="FFFFFF"/>
                </a:solidFill>
              </a:rPr>
              <a:t>olume</a:t>
            </a:r>
            <a:r>
              <a:rPr lang="en-US" sz="2400" dirty="0"/>
              <a:t> </a:t>
            </a:r>
            <a:r>
              <a:rPr lang="en-US" sz="2400" dirty="0">
                <a:solidFill>
                  <a:srgbClr val="FFFFFF"/>
                </a:solidFill>
              </a:rPr>
              <a:t>type</a:t>
            </a:r>
            <a:endParaRPr lang="en-US" sz="2400" dirty="0"/>
          </a:p>
        </p:txBody>
      </p:sp>
      <p:grpSp>
        <p:nvGrpSpPr>
          <p:cNvPr id="9" name="Group 8">
            <a:extLst>
              <a:ext uri="{FF2B5EF4-FFF2-40B4-BE49-F238E27FC236}">
                <a16:creationId xmlns:a16="http://schemas.microsoft.com/office/drawing/2014/main" id="{E734C018-5051-4510-8142-D150097AA524}"/>
              </a:ext>
            </a:extLst>
          </p:cNvPr>
          <p:cNvGrpSpPr/>
          <p:nvPr/>
        </p:nvGrpSpPr>
        <p:grpSpPr>
          <a:xfrm>
            <a:off x="4949099" y="867040"/>
            <a:ext cx="2671150" cy="742088"/>
            <a:chOff x="10526356" y="1774809"/>
            <a:chExt cx="5129664" cy="1446177"/>
          </a:xfrm>
        </p:grpSpPr>
        <p:sp>
          <p:nvSpPr>
            <p:cNvPr id="10" name="Rectangle 127">
              <a:extLst>
                <a:ext uri="{FF2B5EF4-FFF2-40B4-BE49-F238E27FC236}">
                  <a16:creationId xmlns:a16="http://schemas.microsoft.com/office/drawing/2014/main" id="{E2349925-4D77-42C4-A827-B519CFE5F40A}"/>
                </a:ext>
              </a:extLst>
            </p:cNvPr>
            <p:cNvSpPr/>
            <p:nvPr/>
          </p:nvSpPr>
          <p:spPr>
            <a:xfrm>
              <a:off x="10533516" y="1775231"/>
              <a:ext cx="5090989" cy="1445755"/>
            </a:xfrm>
            <a:prstGeom prst="rect">
              <a:avLst/>
            </a:prstGeom>
            <a:solidFill>
              <a:srgbClr val="F8F8F8"/>
            </a:solidFill>
            <a:ln w="88900">
              <a:solidFill>
                <a:srgbClr val="A6A6A6"/>
              </a:solidFill>
            </a:ln>
          </p:spPr>
          <p:txBody>
            <a:bodyPr lIns="45715" tIns="45715" rIns="45715" bIns="45715" anchor="ctr"/>
            <a:lstStyle/>
            <a:p>
              <a:pPr algn="ctr">
                <a:defRPr sz="2400"/>
              </a:pPr>
              <a:endParaRPr sz="1350" dirty="0"/>
            </a:p>
          </p:txBody>
        </p:sp>
        <p:sp>
          <p:nvSpPr>
            <p:cNvPr id="11" name="TextBox 55">
              <a:extLst>
                <a:ext uri="{FF2B5EF4-FFF2-40B4-BE49-F238E27FC236}">
                  <a16:creationId xmlns:a16="http://schemas.microsoft.com/office/drawing/2014/main" id="{2D38483D-10BC-499A-86AF-0EBFFA6CB0C0}"/>
                </a:ext>
              </a:extLst>
            </p:cNvPr>
            <p:cNvSpPr/>
            <p:nvPr/>
          </p:nvSpPr>
          <p:spPr>
            <a:xfrm>
              <a:off x="10526356" y="1774809"/>
              <a:ext cx="5090974" cy="652256"/>
            </a:xfrm>
            <a:prstGeom prst="rect">
              <a:avLst/>
            </a:prstGeom>
            <a:ln w="12700">
              <a:miter lim="400000"/>
            </a:ln>
            <a:extLst>
              <a:ext uri="{C572A759-6A51-4108-AA02-DFA0A04FC94B}">
                <ma14:wrappingTextBoxFlag xmlns:ma14="http://schemas.microsoft.com/office/mac/drawingml/2011/main" xmlns="" val="1"/>
              </a:ext>
            </a:extLst>
          </p:spPr>
          <p:txBody>
            <a:bodyPr wrap="square" lIns="45715" tIns="45715" rIns="45715" bIns="45715">
              <a:spAutoFit/>
            </a:bodyPr>
            <a:lstStyle>
              <a:lvl1pPr>
                <a:defRPr sz="2800" b="1"/>
              </a:lvl1pPr>
            </a:lstStyle>
            <a:p>
              <a:pPr algn="ctr"/>
              <a:r>
                <a:rPr sz="1575" dirty="0"/>
                <a:t>Throughput</a:t>
              </a:r>
            </a:p>
          </p:txBody>
        </p:sp>
        <p:sp>
          <p:nvSpPr>
            <p:cNvPr id="12" name="TextBox 96">
              <a:extLst>
                <a:ext uri="{FF2B5EF4-FFF2-40B4-BE49-F238E27FC236}">
                  <a16:creationId xmlns:a16="http://schemas.microsoft.com/office/drawing/2014/main" id="{04FEB63A-40F3-4C69-86C6-8455861EC115}"/>
                </a:ext>
              </a:extLst>
            </p:cNvPr>
            <p:cNvSpPr/>
            <p:nvPr/>
          </p:nvSpPr>
          <p:spPr>
            <a:xfrm>
              <a:off x="10589111" y="2203614"/>
              <a:ext cx="5028215" cy="517302"/>
            </a:xfrm>
            <a:prstGeom prst="rect">
              <a:avLst/>
            </a:prstGeom>
            <a:ln w="12700">
              <a:miter lim="400000"/>
            </a:ln>
            <a:extLst>
              <a:ext uri="{C572A759-6A51-4108-AA02-DFA0A04FC94B}">
                <ma14:wrappingTextBoxFlag xmlns:ma14="http://schemas.microsoft.com/office/mac/drawingml/2011/main" xmlns="" val="1"/>
              </a:ext>
            </a:extLst>
          </p:spPr>
          <p:txBody>
            <a:bodyPr wrap="square" lIns="45715" tIns="45715" rIns="45715" bIns="45715">
              <a:spAutoFit/>
            </a:bodyPr>
            <a:lstStyle>
              <a:lvl1pPr>
                <a:defRPr sz="2000"/>
              </a:lvl1pPr>
            </a:lstStyle>
            <a:p>
              <a:pPr algn="ctr"/>
              <a:r>
                <a:rPr sz="1125" dirty="0">
                  <a:solidFill>
                    <a:srgbClr val="000000"/>
                  </a:solidFill>
                </a:rPr>
                <a:t>is</a:t>
              </a:r>
              <a:r>
                <a:rPr sz="1125" dirty="0"/>
                <a:t> more important</a:t>
              </a:r>
            </a:p>
          </p:txBody>
        </p:sp>
        <p:sp>
          <p:nvSpPr>
            <p:cNvPr id="13" name="TextBox 58">
              <a:extLst>
                <a:ext uri="{FF2B5EF4-FFF2-40B4-BE49-F238E27FC236}">
                  <a16:creationId xmlns:a16="http://schemas.microsoft.com/office/drawing/2014/main" id="{0305D1E9-4D53-48DA-8FE1-790501083A87}"/>
                </a:ext>
              </a:extLst>
            </p:cNvPr>
            <p:cNvSpPr/>
            <p:nvPr/>
          </p:nvSpPr>
          <p:spPr>
            <a:xfrm>
              <a:off x="10534771" y="2693124"/>
              <a:ext cx="2409138" cy="517302"/>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Small, random I/O</a:t>
              </a:r>
            </a:p>
          </p:txBody>
        </p:sp>
        <p:sp>
          <p:nvSpPr>
            <p:cNvPr id="14" name="TextBox 59">
              <a:extLst>
                <a:ext uri="{FF2B5EF4-FFF2-40B4-BE49-F238E27FC236}">
                  <a16:creationId xmlns:a16="http://schemas.microsoft.com/office/drawing/2014/main" id="{C6BFD716-8C53-4CD7-AD3A-FDC1B8B29DC3}"/>
                </a:ext>
              </a:extLst>
            </p:cNvPr>
            <p:cNvSpPr/>
            <p:nvPr/>
          </p:nvSpPr>
          <p:spPr>
            <a:xfrm>
              <a:off x="12908259" y="2693410"/>
              <a:ext cx="2747761" cy="517302"/>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Large, sequential I/O</a:t>
              </a:r>
            </a:p>
          </p:txBody>
        </p:sp>
        <p:sp>
          <p:nvSpPr>
            <p:cNvPr id="15" name="Straight Connector 129">
              <a:extLst>
                <a:ext uri="{FF2B5EF4-FFF2-40B4-BE49-F238E27FC236}">
                  <a16:creationId xmlns:a16="http://schemas.microsoft.com/office/drawing/2014/main" id="{855CBC28-9442-4FDD-B35B-FB78CA634372}"/>
                </a:ext>
              </a:extLst>
            </p:cNvPr>
            <p:cNvSpPr/>
            <p:nvPr/>
          </p:nvSpPr>
          <p:spPr>
            <a:xfrm>
              <a:off x="12939482" y="2681456"/>
              <a:ext cx="1" cy="523285"/>
            </a:xfrm>
            <a:prstGeom prst="line">
              <a:avLst/>
            </a:prstGeom>
            <a:ln w="38100">
              <a:solidFill>
                <a:srgbClr val="A6A6A6"/>
              </a:solidFill>
            </a:ln>
          </p:spPr>
          <p:txBody>
            <a:bodyPr lIns="45715" tIns="45715" rIns="45715" bIns="45715"/>
            <a:lstStyle/>
            <a:p>
              <a:endParaRPr sz="1012" dirty="0"/>
            </a:p>
          </p:txBody>
        </p:sp>
        <p:sp>
          <p:nvSpPr>
            <p:cNvPr id="16" name="Straight Connector 128">
              <a:extLst>
                <a:ext uri="{FF2B5EF4-FFF2-40B4-BE49-F238E27FC236}">
                  <a16:creationId xmlns:a16="http://schemas.microsoft.com/office/drawing/2014/main" id="{EB7185A9-BC7B-4F64-8AFE-FF1E33261148}"/>
                </a:ext>
              </a:extLst>
            </p:cNvPr>
            <p:cNvSpPr/>
            <p:nvPr/>
          </p:nvSpPr>
          <p:spPr>
            <a:xfrm>
              <a:off x="10533515" y="2693123"/>
              <a:ext cx="5090988" cy="2935"/>
            </a:xfrm>
            <a:prstGeom prst="line">
              <a:avLst/>
            </a:prstGeom>
            <a:ln w="38100">
              <a:solidFill>
                <a:srgbClr val="A6A6A6"/>
              </a:solidFill>
            </a:ln>
          </p:spPr>
          <p:txBody>
            <a:bodyPr lIns="45715" tIns="45715" rIns="45715" bIns="45715"/>
            <a:lstStyle/>
            <a:p>
              <a:endParaRPr sz="1012" dirty="0"/>
            </a:p>
          </p:txBody>
        </p:sp>
      </p:grpSp>
      <p:pic>
        <p:nvPicPr>
          <p:cNvPr id="18" name="Picture 19" descr="Picture 19">
            <a:extLst>
              <a:ext uri="{FF2B5EF4-FFF2-40B4-BE49-F238E27FC236}">
                <a16:creationId xmlns:a16="http://schemas.microsoft.com/office/drawing/2014/main" id="{01D10218-BB39-4190-BB7B-B5DD44145B5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6682" y="3668914"/>
            <a:ext cx="1404002" cy="619395"/>
          </a:xfrm>
          <a:prstGeom prst="rect">
            <a:avLst/>
          </a:prstGeom>
          <a:ln w="12700">
            <a:miter lim="400000"/>
          </a:ln>
        </p:spPr>
      </p:pic>
      <p:sp>
        <p:nvSpPr>
          <p:cNvPr id="19" name="TextBox 20">
            <a:extLst>
              <a:ext uri="{FF2B5EF4-FFF2-40B4-BE49-F238E27FC236}">
                <a16:creationId xmlns:a16="http://schemas.microsoft.com/office/drawing/2014/main" id="{7EC9E901-B5B6-4EBF-A783-81009B050F51}"/>
              </a:ext>
            </a:extLst>
          </p:cNvPr>
          <p:cNvSpPr/>
          <p:nvPr/>
        </p:nvSpPr>
        <p:spPr>
          <a:xfrm>
            <a:off x="830950" y="3820529"/>
            <a:ext cx="1137481" cy="386571"/>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3400" b="1"/>
            </a:lvl1pPr>
          </a:lstStyle>
          <a:p>
            <a:r>
              <a:rPr lang="en-US" sz="1912" dirty="0"/>
              <a:t>I3/C5d/…</a:t>
            </a:r>
            <a:endParaRPr sz="1912" dirty="0"/>
          </a:p>
        </p:txBody>
      </p:sp>
      <p:pic>
        <p:nvPicPr>
          <p:cNvPr id="20" name="Picture 32" descr="Picture 32">
            <a:extLst>
              <a:ext uri="{FF2B5EF4-FFF2-40B4-BE49-F238E27FC236}">
                <a16:creationId xmlns:a16="http://schemas.microsoft.com/office/drawing/2014/main" id="{F5435525-3647-45B1-81B0-864873F38E5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65010" y="3571414"/>
            <a:ext cx="727929" cy="727929"/>
          </a:xfrm>
          <a:prstGeom prst="rect">
            <a:avLst/>
          </a:prstGeom>
          <a:ln w="12700">
            <a:miter lim="400000"/>
          </a:ln>
        </p:spPr>
      </p:pic>
      <p:sp>
        <p:nvSpPr>
          <p:cNvPr id="21" name="TextBox 33">
            <a:extLst>
              <a:ext uri="{FF2B5EF4-FFF2-40B4-BE49-F238E27FC236}">
                <a16:creationId xmlns:a16="http://schemas.microsoft.com/office/drawing/2014/main" id="{DE1C7591-A07D-4749-8365-1F77A75021E4}"/>
              </a:ext>
            </a:extLst>
          </p:cNvPr>
          <p:cNvSpPr/>
          <p:nvPr/>
        </p:nvSpPr>
        <p:spPr>
          <a:xfrm>
            <a:off x="2199652" y="4243126"/>
            <a:ext cx="457808" cy="334697"/>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800" b="1">
                <a:solidFill>
                  <a:srgbClr val="FFFFFF"/>
                </a:solidFill>
                <a:latin typeface="Courier"/>
                <a:ea typeface="Courier"/>
                <a:cs typeface="Courier"/>
                <a:sym typeface="Courier"/>
              </a:defRPr>
            </a:lvl1pPr>
          </a:lstStyle>
          <a:p>
            <a:r>
              <a:rPr sz="1575" dirty="0">
                <a:solidFill>
                  <a:srgbClr val="FFC000"/>
                </a:solidFill>
              </a:rPr>
              <a:t>gp2</a:t>
            </a:r>
          </a:p>
        </p:txBody>
      </p:sp>
      <p:pic>
        <p:nvPicPr>
          <p:cNvPr id="22" name="Picture 36" descr="Picture 36">
            <a:extLst>
              <a:ext uri="{FF2B5EF4-FFF2-40B4-BE49-F238E27FC236}">
                <a16:creationId xmlns:a16="http://schemas.microsoft.com/office/drawing/2014/main" id="{4835C783-374D-486A-9FE6-A85B2D20B0C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49342" y="3571414"/>
            <a:ext cx="727874" cy="727874"/>
          </a:xfrm>
          <a:prstGeom prst="rect">
            <a:avLst/>
          </a:prstGeom>
          <a:ln w="12700">
            <a:miter lim="400000"/>
          </a:ln>
        </p:spPr>
      </p:pic>
      <p:pic>
        <p:nvPicPr>
          <p:cNvPr id="23" name="Picture 37" descr="Picture 37">
            <a:extLst>
              <a:ext uri="{FF2B5EF4-FFF2-40B4-BE49-F238E27FC236}">
                <a16:creationId xmlns:a16="http://schemas.microsoft.com/office/drawing/2014/main" id="{FB626D38-B86F-4960-ADB7-27FB95FC9146}"/>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flipH="1">
            <a:off x="3607950" y="3807352"/>
            <a:ext cx="221817" cy="221817"/>
          </a:xfrm>
          <a:prstGeom prst="rect">
            <a:avLst/>
          </a:prstGeom>
          <a:ln w="12700">
            <a:miter lim="400000"/>
          </a:ln>
        </p:spPr>
      </p:pic>
      <p:sp>
        <p:nvSpPr>
          <p:cNvPr id="24" name="TextBox 38">
            <a:extLst>
              <a:ext uri="{FF2B5EF4-FFF2-40B4-BE49-F238E27FC236}">
                <a16:creationId xmlns:a16="http://schemas.microsoft.com/office/drawing/2014/main" id="{D354B0DA-895B-47AC-ACAA-65B3BBE2215B}"/>
              </a:ext>
            </a:extLst>
          </p:cNvPr>
          <p:cNvSpPr/>
          <p:nvPr/>
        </p:nvSpPr>
        <p:spPr>
          <a:xfrm>
            <a:off x="3489536" y="4239692"/>
            <a:ext cx="457808" cy="334697"/>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800" b="1">
                <a:solidFill>
                  <a:srgbClr val="FFFFFF"/>
                </a:solidFill>
                <a:latin typeface="Courier"/>
                <a:ea typeface="Courier"/>
                <a:cs typeface="Courier"/>
                <a:sym typeface="Courier"/>
              </a:defRPr>
            </a:lvl1pPr>
          </a:lstStyle>
          <a:p>
            <a:r>
              <a:rPr sz="1575" dirty="0">
                <a:solidFill>
                  <a:srgbClr val="FFC000"/>
                </a:solidFill>
              </a:rPr>
              <a:t>io1</a:t>
            </a:r>
          </a:p>
        </p:txBody>
      </p:sp>
      <p:pic>
        <p:nvPicPr>
          <p:cNvPr id="25" name="Picture 61" descr="Picture 61">
            <a:extLst>
              <a:ext uri="{FF2B5EF4-FFF2-40B4-BE49-F238E27FC236}">
                <a16:creationId xmlns:a16="http://schemas.microsoft.com/office/drawing/2014/main" id="{49BAE806-32AB-4F5E-8FD9-E3CC6BF4F1F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984848" y="3559700"/>
            <a:ext cx="712001" cy="712001"/>
          </a:xfrm>
          <a:prstGeom prst="rect">
            <a:avLst/>
          </a:prstGeom>
          <a:ln w="12700">
            <a:miter lim="400000"/>
          </a:ln>
        </p:spPr>
      </p:pic>
      <p:pic>
        <p:nvPicPr>
          <p:cNvPr id="26" name="Picture 62" descr="Picture 62">
            <a:extLst>
              <a:ext uri="{FF2B5EF4-FFF2-40B4-BE49-F238E27FC236}">
                <a16:creationId xmlns:a16="http://schemas.microsoft.com/office/drawing/2014/main" id="{7C65063F-BA91-4193-9D63-841F9CFD2114}"/>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283804" y="3567194"/>
            <a:ext cx="714906" cy="714907"/>
          </a:xfrm>
          <a:prstGeom prst="rect">
            <a:avLst/>
          </a:prstGeom>
          <a:ln w="12700">
            <a:miter lim="400000"/>
          </a:ln>
        </p:spPr>
      </p:pic>
      <p:sp>
        <p:nvSpPr>
          <p:cNvPr id="27" name="TextBox 63">
            <a:extLst>
              <a:ext uri="{FF2B5EF4-FFF2-40B4-BE49-F238E27FC236}">
                <a16:creationId xmlns:a16="http://schemas.microsoft.com/office/drawing/2014/main" id="{4759C4A1-E24E-45D6-A5CD-75E7FFAE68E9}"/>
              </a:ext>
            </a:extLst>
          </p:cNvPr>
          <p:cNvSpPr/>
          <p:nvPr/>
        </p:nvSpPr>
        <p:spPr>
          <a:xfrm>
            <a:off x="5108315" y="4267585"/>
            <a:ext cx="457808" cy="334697"/>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800" b="1">
                <a:solidFill>
                  <a:srgbClr val="FFFFFF"/>
                </a:solidFill>
                <a:latin typeface="Courier"/>
                <a:ea typeface="Courier"/>
                <a:cs typeface="Courier"/>
                <a:sym typeface="Courier"/>
              </a:defRPr>
            </a:lvl1pPr>
          </a:lstStyle>
          <a:p>
            <a:r>
              <a:rPr sz="1575" dirty="0">
                <a:solidFill>
                  <a:srgbClr val="FFC000"/>
                </a:solidFill>
              </a:rPr>
              <a:t>sc1</a:t>
            </a:r>
          </a:p>
        </p:txBody>
      </p:sp>
      <p:sp>
        <p:nvSpPr>
          <p:cNvPr id="28" name="TextBox 64">
            <a:extLst>
              <a:ext uri="{FF2B5EF4-FFF2-40B4-BE49-F238E27FC236}">
                <a16:creationId xmlns:a16="http://schemas.microsoft.com/office/drawing/2014/main" id="{67A4DD27-BE02-4233-B16B-23B05BB1AB82}"/>
              </a:ext>
            </a:extLst>
          </p:cNvPr>
          <p:cNvSpPr/>
          <p:nvPr/>
        </p:nvSpPr>
        <p:spPr>
          <a:xfrm>
            <a:off x="6411934" y="4267585"/>
            <a:ext cx="457808" cy="334697"/>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800" b="1">
                <a:solidFill>
                  <a:srgbClr val="FFFFFF"/>
                </a:solidFill>
                <a:latin typeface="Courier"/>
                <a:ea typeface="Courier"/>
                <a:cs typeface="Courier"/>
                <a:sym typeface="Courier"/>
              </a:defRPr>
            </a:lvl1pPr>
          </a:lstStyle>
          <a:p>
            <a:r>
              <a:rPr sz="1575" dirty="0">
                <a:solidFill>
                  <a:srgbClr val="FFC000"/>
                </a:solidFill>
              </a:rPr>
              <a:t>st1</a:t>
            </a:r>
          </a:p>
        </p:txBody>
      </p:sp>
      <p:pic>
        <p:nvPicPr>
          <p:cNvPr id="29" name="Picture 65" descr="Picture 65">
            <a:extLst>
              <a:ext uri="{FF2B5EF4-FFF2-40B4-BE49-F238E27FC236}">
                <a16:creationId xmlns:a16="http://schemas.microsoft.com/office/drawing/2014/main" id="{895729B7-7331-48F6-AF6E-8B0F22743EAA}"/>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558420" y="3793080"/>
            <a:ext cx="168059" cy="168059"/>
          </a:xfrm>
          <a:prstGeom prst="rect">
            <a:avLst/>
          </a:prstGeom>
          <a:ln w="12700">
            <a:miter lim="400000"/>
          </a:ln>
        </p:spPr>
      </p:pic>
      <p:pic>
        <p:nvPicPr>
          <p:cNvPr id="30" name="Picture 66" descr="Picture 66">
            <a:extLst>
              <a:ext uri="{FF2B5EF4-FFF2-40B4-BE49-F238E27FC236}">
                <a16:creationId xmlns:a16="http://schemas.microsoft.com/office/drawing/2014/main" id="{049F17B9-FD09-4444-8B08-4CFF69CC79A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197139" y="3673610"/>
            <a:ext cx="303672" cy="303672"/>
          </a:xfrm>
          <a:prstGeom prst="rect">
            <a:avLst/>
          </a:prstGeom>
          <a:ln w="12700">
            <a:miter lim="400000"/>
          </a:ln>
        </p:spPr>
      </p:pic>
      <p:grpSp>
        <p:nvGrpSpPr>
          <p:cNvPr id="31" name="Group 30">
            <a:extLst>
              <a:ext uri="{FF2B5EF4-FFF2-40B4-BE49-F238E27FC236}">
                <a16:creationId xmlns:a16="http://schemas.microsoft.com/office/drawing/2014/main" id="{503C3719-EFD2-455C-A5FE-48ABF2B3A61D}"/>
              </a:ext>
            </a:extLst>
          </p:cNvPr>
          <p:cNvGrpSpPr/>
          <p:nvPr/>
        </p:nvGrpSpPr>
        <p:grpSpPr>
          <a:xfrm>
            <a:off x="7446638" y="3666111"/>
            <a:ext cx="1159301" cy="619395"/>
            <a:chOff x="13854022" y="7413898"/>
            <a:chExt cx="1101255" cy="1101255"/>
          </a:xfrm>
        </p:grpSpPr>
        <p:pic>
          <p:nvPicPr>
            <p:cNvPr id="32" name="Picture 67" descr="Picture 67">
              <a:extLst>
                <a:ext uri="{FF2B5EF4-FFF2-40B4-BE49-F238E27FC236}">
                  <a16:creationId xmlns:a16="http://schemas.microsoft.com/office/drawing/2014/main" id="{438F96E1-3BFD-47E0-A456-6019DF9534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854022" y="7413898"/>
              <a:ext cx="1101255" cy="1101255"/>
            </a:xfrm>
            <a:prstGeom prst="rect">
              <a:avLst/>
            </a:prstGeom>
            <a:ln w="12700">
              <a:miter lim="400000"/>
            </a:ln>
          </p:spPr>
        </p:pic>
        <p:sp>
          <p:nvSpPr>
            <p:cNvPr id="33" name="TextBox 68">
              <a:extLst>
                <a:ext uri="{FF2B5EF4-FFF2-40B4-BE49-F238E27FC236}">
                  <a16:creationId xmlns:a16="http://schemas.microsoft.com/office/drawing/2014/main" id="{005FA892-8EF6-4B03-B0BB-BD3EA8248D34}"/>
                </a:ext>
              </a:extLst>
            </p:cNvPr>
            <p:cNvSpPr/>
            <p:nvPr/>
          </p:nvSpPr>
          <p:spPr>
            <a:xfrm>
              <a:off x="14001636" y="7675751"/>
              <a:ext cx="866246" cy="687305"/>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3400" b="1"/>
              </a:lvl1pPr>
            </a:lstStyle>
            <a:p>
              <a:r>
                <a:rPr lang="en-US" sz="1912" dirty="0"/>
                <a:t>H1/D</a:t>
              </a:r>
              <a:r>
                <a:rPr sz="1912" dirty="0"/>
                <a:t>2</a:t>
              </a:r>
            </a:p>
          </p:txBody>
        </p:sp>
      </p:grpSp>
      <p:grpSp>
        <p:nvGrpSpPr>
          <p:cNvPr id="34" name="Group 33">
            <a:extLst>
              <a:ext uri="{FF2B5EF4-FFF2-40B4-BE49-F238E27FC236}">
                <a16:creationId xmlns:a16="http://schemas.microsoft.com/office/drawing/2014/main" id="{771D1D24-5C84-4D9F-84B1-CDE3EB2D4578}"/>
              </a:ext>
            </a:extLst>
          </p:cNvPr>
          <p:cNvGrpSpPr/>
          <p:nvPr/>
        </p:nvGrpSpPr>
        <p:grpSpPr>
          <a:xfrm>
            <a:off x="1677824" y="1970019"/>
            <a:ext cx="1765273" cy="537154"/>
            <a:chOff x="2753642" y="3694769"/>
            <a:chExt cx="3347454" cy="1018595"/>
          </a:xfrm>
        </p:grpSpPr>
        <p:sp>
          <p:nvSpPr>
            <p:cNvPr id="35" name="Rectangle 112">
              <a:extLst>
                <a:ext uri="{FF2B5EF4-FFF2-40B4-BE49-F238E27FC236}">
                  <a16:creationId xmlns:a16="http://schemas.microsoft.com/office/drawing/2014/main" id="{CD55A501-1D6A-468B-AD30-A32B98A0B831}"/>
                </a:ext>
              </a:extLst>
            </p:cNvPr>
            <p:cNvSpPr/>
            <p:nvPr/>
          </p:nvSpPr>
          <p:spPr>
            <a:xfrm>
              <a:off x="2773322" y="3694769"/>
              <a:ext cx="3327774" cy="1015969"/>
            </a:xfrm>
            <a:prstGeom prst="rect">
              <a:avLst/>
            </a:prstGeom>
            <a:solidFill>
              <a:srgbClr val="F8F8F8"/>
            </a:solidFill>
            <a:ln w="88900">
              <a:solidFill>
                <a:srgbClr val="A6A6A6"/>
              </a:solidFill>
            </a:ln>
          </p:spPr>
          <p:txBody>
            <a:bodyPr lIns="45715" tIns="45715" rIns="45715" bIns="45715" anchor="ctr"/>
            <a:lstStyle/>
            <a:p>
              <a:pPr algn="ctr">
                <a:defRPr sz="2400"/>
              </a:pPr>
              <a:endParaRPr sz="1350" dirty="0"/>
            </a:p>
          </p:txBody>
        </p:sp>
        <p:sp>
          <p:nvSpPr>
            <p:cNvPr id="36" name="TextBox 72">
              <a:extLst>
                <a:ext uri="{FF2B5EF4-FFF2-40B4-BE49-F238E27FC236}">
                  <a16:creationId xmlns:a16="http://schemas.microsoft.com/office/drawing/2014/main" id="{19C8151C-33C3-440C-92E9-0DADC8E58004}"/>
                </a:ext>
              </a:extLst>
            </p:cNvPr>
            <p:cNvSpPr/>
            <p:nvPr/>
          </p:nvSpPr>
          <p:spPr>
            <a:xfrm>
              <a:off x="2753642" y="3697175"/>
              <a:ext cx="3327774" cy="503362"/>
            </a:xfrm>
            <a:prstGeom prst="rect">
              <a:avLst/>
            </a:prstGeom>
            <a:ln w="12700">
              <a:miter lim="400000"/>
            </a:ln>
            <a:extLst>
              <a:ext uri="{C572A759-6A51-4108-AA02-DFA0A04FC94B}">
                <ma14:wrappingTextBoxFlag xmlns:ma14="http://schemas.microsoft.com/office/mac/drawingml/2011/main" xmlns="" val="1"/>
              </a:ext>
            </a:extLst>
          </p:spPr>
          <p:txBody>
            <a:bodyPr wrap="square" lIns="45715" tIns="45715" rIns="45715" bIns="45715">
              <a:spAutoFit/>
            </a:bodyPr>
            <a:lstStyle>
              <a:lvl1pPr>
                <a:defRPr sz="2000" b="1" i="1"/>
              </a:lvl1pPr>
            </a:lstStyle>
            <a:p>
              <a:pPr algn="ctr"/>
              <a:r>
                <a:rPr sz="1125" dirty="0"/>
                <a:t>Latency?</a:t>
              </a:r>
            </a:p>
          </p:txBody>
        </p:sp>
        <p:sp>
          <p:nvSpPr>
            <p:cNvPr id="37" name="Straight Connector 113">
              <a:extLst>
                <a:ext uri="{FF2B5EF4-FFF2-40B4-BE49-F238E27FC236}">
                  <a16:creationId xmlns:a16="http://schemas.microsoft.com/office/drawing/2014/main" id="{EFBC03B1-7A51-40DA-875D-B36B04B3EE7F}"/>
                </a:ext>
              </a:extLst>
            </p:cNvPr>
            <p:cNvSpPr/>
            <p:nvPr/>
          </p:nvSpPr>
          <p:spPr>
            <a:xfrm>
              <a:off x="2773319" y="4174661"/>
              <a:ext cx="3327775" cy="1"/>
            </a:xfrm>
            <a:prstGeom prst="line">
              <a:avLst/>
            </a:prstGeom>
            <a:ln w="38100">
              <a:solidFill>
                <a:srgbClr val="A6A6A6"/>
              </a:solidFill>
            </a:ln>
          </p:spPr>
          <p:txBody>
            <a:bodyPr lIns="45715" tIns="45715" rIns="45715" bIns="45715"/>
            <a:lstStyle/>
            <a:p>
              <a:endParaRPr sz="1012" dirty="0"/>
            </a:p>
          </p:txBody>
        </p:sp>
        <p:sp>
          <p:nvSpPr>
            <p:cNvPr id="38" name="Straight Connector 114">
              <a:extLst>
                <a:ext uri="{FF2B5EF4-FFF2-40B4-BE49-F238E27FC236}">
                  <a16:creationId xmlns:a16="http://schemas.microsoft.com/office/drawing/2014/main" id="{D7897C73-626D-49F1-9E23-A03A7F4DB3DB}"/>
                </a:ext>
              </a:extLst>
            </p:cNvPr>
            <p:cNvSpPr/>
            <p:nvPr/>
          </p:nvSpPr>
          <p:spPr>
            <a:xfrm>
              <a:off x="4007077" y="4190499"/>
              <a:ext cx="593" cy="522865"/>
            </a:xfrm>
            <a:prstGeom prst="line">
              <a:avLst/>
            </a:prstGeom>
            <a:ln w="38100">
              <a:solidFill>
                <a:srgbClr val="A6A6A6"/>
              </a:solidFill>
            </a:ln>
          </p:spPr>
          <p:txBody>
            <a:bodyPr lIns="45715" tIns="45715" rIns="45715" bIns="45715"/>
            <a:lstStyle/>
            <a:p>
              <a:endParaRPr sz="1012" dirty="0"/>
            </a:p>
          </p:txBody>
        </p:sp>
        <p:sp>
          <p:nvSpPr>
            <p:cNvPr id="39" name="TextBox 73">
              <a:extLst>
                <a:ext uri="{FF2B5EF4-FFF2-40B4-BE49-F238E27FC236}">
                  <a16:creationId xmlns:a16="http://schemas.microsoft.com/office/drawing/2014/main" id="{ABF0D233-CEAB-47EF-AEE2-4CC4F039A1B7}"/>
                </a:ext>
              </a:extLst>
            </p:cNvPr>
            <p:cNvSpPr/>
            <p:nvPr/>
          </p:nvSpPr>
          <p:spPr>
            <a:xfrm>
              <a:off x="2789946" y="4182407"/>
              <a:ext cx="1004921" cy="503362"/>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&lt; 1 ms</a:t>
              </a:r>
            </a:p>
          </p:txBody>
        </p:sp>
        <p:sp>
          <p:nvSpPr>
            <p:cNvPr id="40" name="TextBox 74">
              <a:extLst>
                <a:ext uri="{FF2B5EF4-FFF2-40B4-BE49-F238E27FC236}">
                  <a16:creationId xmlns:a16="http://schemas.microsoft.com/office/drawing/2014/main" id="{B9F3F3CE-BC51-4AB0-AE96-5ED18D1288C5}"/>
                </a:ext>
              </a:extLst>
            </p:cNvPr>
            <p:cNvSpPr/>
            <p:nvPr/>
          </p:nvSpPr>
          <p:spPr>
            <a:xfrm>
              <a:off x="4005053" y="4183145"/>
              <a:ext cx="1968520" cy="503362"/>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Single-digit ms</a:t>
              </a:r>
            </a:p>
          </p:txBody>
        </p:sp>
      </p:grpSp>
      <p:grpSp>
        <p:nvGrpSpPr>
          <p:cNvPr id="41" name="Group 6">
            <a:extLst>
              <a:ext uri="{FF2B5EF4-FFF2-40B4-BE49-F238E27FC236}">
                <a16:creationId xmlns:a16="http://schemas.microsoft.com/office/drawing/2014/main" id="{2804A7CF-82ED-46F1-8C09-882CBDCB50AA}"/>
              </a:ext>
            </a:extLst>
          </p:cNvPr>
          <p:cNvGrpSpPr/>
          <p:nvPr/>
        </p:nvGrpSpPr>
        <p:grpSpPr>
          <a:xfrm>
            <a:off x="5727197" y="1965049"/>
            <a:ext cx="2103874" cy="545617"/>
            <a:chOff x="-1" y="0"/>
            <a:chExt cx="3917531" cy="1015968"/>
          </a:xfrm>
        </p:grpSpPr>
        <p:sp>
          <p:nvSpPr>
            <p:cNvPr id="42" name="Rectangle 130">
              <a:extLst>
                <a:ext uri="{FF2B5EF4-FFF2-40B4-BE49-F238E27FC236}">
                  <a16:creationId xmlns:a16="http://schemas.microsoft.com/office/drawing/2014/main" id="{CEACF41F-A9F8-4BB5-9D23-4C7675F2D355}"/>
                </a:ext>
              </a:extLst>
            </p:cNvPr>
            <p:cNvSpPr/>
            <p:nvPr/>
          </p:nvSpPr>
          <p:spPr>
            <a:xfrm>
              <a:off x="-1" y="0"/>
              <a:ext cx="3917531" cy="1015968"/>
            </a:xfrm>
            <a:prstGeom prst="rect">
              <a:avLst/>
            </a:prstGeom>
            <a:solidFill>
              <a:srgbClr val="F8F8F8"/>
            </a:solidFill>
            <a:ln w="88900" cap="flat">
              <a:solidFill>
                <a:srgbClr val="A6A6A6"/>
              </a:solidFill>
              <a:prstDash val="solid"/>
              <a:round/>
            </a:ln>
            <a:effectLst/>
          </p:spPr>
          <p:txBody>
            <a:bodyPr wrap="square" lIns="45715" tIns="45715" rIns="45715" bIns="45715" numCol="1" anchor="ctr">
              <a:noAutofit/>
            </a:bodyPr>
            <a:lstStyle/>
            <a:p>
              <a:pPr algn="ctr">
                <a:defRPr sz="2400"/>
              </a:pPr>
              <a:endParaRPr sz="1350" dirty="0"/>
            </a:p>
          </p:txBody>
        </p:sp>
        <p:sp>
          <p:nvSpPr>
            <p:cNvPr id="43" name="TextBox 94">
              <a:extLst>
                <a:ext uri="{FF2B5EF4-FFF2-40B4-BE49-F238E27FC236}">
                  <a16:creationId xmlns:a16="http://schemas.microsoft.com/office/drawing/2014/main" id="{7B3F41D5-3DFB-42C8-AC8B-7FCB2E1A4689}"/>
                </a:ext>
              </a:extLst>
            </p:cNvPr>
            <p:cNvSpPr/>
            <p:nvPr/>
          </p:nvSpPr>
          <p:spPr>
            <a:xfrm>
              <a:off x="19556" y="496003"/>
              <a:ext cx="1810611" cy="49427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5" tIns="45715" rIns="45715" bIns="45715" numCol="1" anchor="t">
              <a:spAutoFit/>
            </a:bodyPr>
            <a:lstStyle>
              <a:lvl1pPr>
                <a:defRPr sz="2000"/>
              </a:lvl1pPr>
            </a:lstStyle>
            <a:p>
              <a:r>
                <a:rPr sz="1125" dirty="0"/>
                <a:t>≤ 1,750 MiB/s</a:t>
              </a:r>
            </a:p>
          </p:txBody>
        </p:sp>
        <p:sp>
          <p:nvSpPr>
            <p:cNvPr id="44" name="TextBox 131">
              <a:extLst>
                <a:ext uri="{FF2B5EF4-FFF2-40B4-BE49-F238E27FC236}">
                  <a16:creationId xmlns:a16="http://schemas.microsoft.com/office/drawing/2014/main" id="{864EC8C9-E95E-46E9-88CA-E8DADB445F32}"/>
                </a:ext>
              </a:extLst>
            </p:cNvPr>
            <p:cNvSpPr/>
            <p:nvPr/>
          </p:nvSpPr>
          <p:spPr>
            <a:xfrm>
              <a:off x="20800" y="3586"/>
              <a:ext cx="3896728" cy="49427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5" tIns="45715" rIns="45715" bIns="45715" numCol="1" anchor="t">
              <a:spAutoFit/>
            </a:bodyPr>
            <a:lstStyle>
              <a:lvl1pPr>
                <a:defRPr sz="2000" b="1" i="1"/>
              </a:lvl1pPr>
            </a:lstStyle>
            <a:p>
              <a:pPr algn="ctr"/>
              <a:r>
                <a:rPr sz="1125" dirty="0"/>
                <a:t>Aggregate throughput?</a:t>
              </a:r>
            </a:p>
          </p:txBody>
        </p:sp>
        <p:sp>
          <p:nvSpPr>
            <p:cNvPr id="45" name="Straight Connector 132">
              <a:extLst>
                <a:ext uri="{FF2B5EF4-FFF2-40B4-BE49-F238E27FC236}">
                  <a16:creationId xmlns:a16="http://schemas.microsoft.com/office/drawing/2014/main" id="{DF0EC487-3D32-4606-ADEA-DBCEE762F1FA}"/>
                </a:ext>
              </a:extLst>
            </p:cNvPr>
            <p:cNvSpPr/>
            <p:nvPr/>
          </p:nvSpPr>
          <p:spPr>
            <a:xfrm>
              <a:off x="-1" y="510241"/>
              <a:ext cx="3917530" cy="1"/>
            </a:xfrm>
            <a:prstGeom prst="line">
              <a:avLst/>
            </a:prstGeom>
            <a:noFill/>
            <a:ln w="38100" cap="flat">
              <a:solidFill>
                <a:srgbClr val="A6A6A6"/>
              </a:solidFill>
              <a:prstDash val="solid"/>
              <a:round/>
            </a:ln>
            <a:effectLst/>
          </p:spPr>
          <p:txBody>
            <a:bodyPr wrap="square" lIns="45715" tIns="45715" rIns="45715" bIns="45715" numCol="1" anchor="t">
              <a:noAutofit/>
            </a:bodyPr>
            <a:lstStyle/>
            <a:p>
              <a:endParaRPr sz="1012" dirty="0"/>
            </a:p>
          </p:txBody>
        </p:sp>
        <p:sp>
          <p:nvSpPr>
            <p:cNvPr id="46" name="Straight Connector 133">
              <a:extLst>
                <a:ext uri="{FF2B5EF4-FFF2-40B4-BE49-F238E27FC236}">
                  <a16:creationId xmlns:a16="http://schemas.microsoft.com/office/drawing/2014/main" id="{4EE01A23-7A0F-49F0-AC48-E369C294CF2D}"/>
                </a:ext>
              </a:extLst>
            </p:cNvPr>
            <p:cNvSpPr/>
            <p:nvPr/>
          </p:nvSpPr>
          <p:spPr>
            <a:xfrm>
              <a:off x="1911447" y="491429"/>
              <a:ext cx="593" cy="522863"/>
            </a:xfrm>
            <a:prstGeom prst="line">
              <a:avLst/>
            </a:prstGeom>
            <a:noFill/>
            <a:ln w="38100" cap="flat">
              <a:solidFill>
                <a:srgbClr val="A6A6A6"/>
              </a:solidFill>
              <a:prstDash val="solid"/>
              <a:round/>
            </a:ln>
            <a:effectLst/>
          </p:spPr>
          <p:txBody>
            <a:bodyPr wrap="square" lIns="45715" tIns="45715" rIns="45715" bIns="45715" numCol="1" anchor="t">
              <a:noAutofit/>
            </a:bodyPr>
            <a:lstStyle/>
            <a:p>
              <a:endParaRPr sz="1012" dirty="0"/>
            </a:p>
          </p:txBody>
        </p:sp>
        <p:sp>
          <p:nvSpPr>
            <p:cNvPr id="47" name="TextBox 95">
              <a:extLst>
                <a:ext uri="{FF2B5EF4-FFF2-40B4-BE49-F238E27FC236}">
                  <a16:creationId xmlns:a16="http://schemas.microsoft.com/office/drawing/2014/main" id="{950D4072-F6E0-4A04-B49C-81D494C73417}"/>
                </a:ext>
              </a:extLst>
            </p:cNvPr>
            <p:cNvSpPr/>
            <p:nvPr/>
          </p:nvSpPr>
          <p:spPr>
            <a:xfrm>
              <a:off x="1909208" y="484652"/>
              <a:ext cx="1822551" cy="49427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5" tIns="45715" rIns="45715" bIns="45715" numCol="1" anchor="t">
              <a:spAutoFit/>
            </a:bodyPr>
            <a:lstStyle>
              <a:lvl1pPr>
                <a:defRPr sz="2000"/>
              </a:lvl1pPr>
            </a:lstStyle>
            <a:p>
              <a:r>
                <a:rPr sz="1125" dirty="0"/>
                <a:t>&gt; 1,750 MiB/s</a:t>
              </a:r>
            </a:p>
          </p:txBody>
        </p:sp>
      </p:grpSp>
      <p:grpSp>
        <p:nvGrpSpPr>
          <p:cNvPr id="48" name="Group 47">
            <a:extLst>
              <a:ext uri="{FF2B5EF4-FFF2-40B4-BE49-F238E27FC236}">
                <a16:creationId xmlns:a16="http://schemas.microsoft.com/office/drawing/2014/main" id="{0F6925B2-B35F-4C30-B3EC-588799872A10}"/>
              </a:ext>
            </a:extLst>
          </p:cNvPr>
          <p:cNvGrpSpPr/>
          <p:nvPr/>
        </p:nvGrpSpPr>
        <p:grpSpPr>
          <a:xfrm>
            <a:off x="2117224" y="2779809"/>
            <a:ext cx="1959992" cy="584627"/>
            <a:chOff x="3534872" y="5558017"/>
            <a:chExt cx="3731787" cy="1113118"/>
          </a:xfrm>
        </p:grpSpPr>
        <p:sp>
          <p:nvSpPr>
            <p:cNvPr id="49" name="Rectangle 115">
              <a:extLst>
                <a:ext uri="{FF2B5EF4-FFF2-40B4-BE49-F238E27FC236}">
                  <a16:creationId xmlns:a16="http://schemas.microsoft.com/office/drawing/2014/main" id="{BD3AD4F4-BAD5-4C29-872E-CFCDD960CABE}"/>
                </a:ext>
              </a:extLst>
            </p:cNvPr>
            <p:cNvSpPr/>
            <p:nvPr/>
          </p:nvSpPr>
          <p:spPr>
            <a:xfrm>
              <a:off x="3538618" y="5558017"/>
              <a:ext cx="3728041" cy="1086584"/>
            </a:xfrm>
            <a:prstGeom prst="rect">
              <a:avLst/>
            </a:prstGeom>
            <a:solidFill>
              <a:srgbClr val="F8F8F8"/>
            </a:solidFill>
            <a:ln w="88900">
              <a:solidFill>
                <a:srgbClr val="A6A6A6"/>
              </a:solidFill>
            </a:ln>
          </p:spPr>
          <p:txBody>
            <a:bodyPr lIns="45715" tIns="45715" rIns="45715" bIns="45715" anchor="ctr"/>
            <a:lstStyle/>
            <a:p>
              <a:pPr algn="ctr">
                <a:defRPr sz="2400"/>
              </a:pPr>
              <a:endParaRPr sz="1350" dirty="0"/>
            </a:p>
          </p:txBody>
        </p:sp>
        <p:sp>
          <p:nvSpPr>
            <p:cNvPr id="50" name="TextBox 98">
              <a:extLst>
                <a:ext uri="{FF2B5EF4-FFF2-40B4-BE49-F238E27FC236}">
                  <a16:creationId xmlns:a16="http://schemas.microsoft.com/office/drawing/2014/main" id="{70DEB9D5-BC75-42F1-8FFF-F9EFE5CCC62A}"/>
                </a:ext>
              </a:extLst>
            </p:cNvPr>
            <p:cNvSpPr/>
            <p:nvPr/>
          </p:nvSpPr>
          <p:spPr>
            <a:xfrm>
              <a:off x="3534872" y="5605531"/>
              <a:ext cx="3563597" cy="505406"/>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b="1" i="1"/>
              </a:lvl1pPr>
            </a:lstStyle>
            <a:p>
              <a:r>
                <a:rPr sz="1125" dirty="0"/>
                <a:t>Which is more important?</a:t>
              </a:r>
            </a:p>
          </p:txBody>
        </p:sp>
        <p:sp>
          <p:nvSpPr>
            <p:cNvPr id="51" name="Straight Connector 117">
              <a:extLst>
                <a:ext uri="{FF2B5EF4-FFF2-40B4-BE49-F238E27FC236}">
                  <a16:creationId xmlns:a16="http://schemas.microsoft.com/office/drawing/2014/main" id="{68F27484-D17F-4C50-9FAF-D396E138CB41}"/>
                </a:ext>
              </a:extLst>
            </p:cNvPr>
            <p:cNvSpPr/>
            <p:nvPr/>
          </p:nvSpPr>
          <p:spPr>
            <a:xfrm>
              <a:off x="3538618" y="6101310"/>
              <a:ext cx="3728041" cy="1"/>
            </a:xfrm>
            <a:prstGeom prst="line">
              <a:avLst/>
            </a:prstGeom>
            <a:ln w="38100">
              <a:solidFill>
                <a:srgbClr val="A6A6A6"/>
              </a:solidFill>
            </a:ln>
          </p:spPr>
          <p:txBody>
            <a:bodyPr lIns="45715" tIns="45715" rIns="45715" bIns="45715"/>
            <a:lstStyle/>
            <a:p>
              <a:endParaRPr sz="1012" dirty="0"/>
            </a:p>
          </p:txBody>
        </p:sp>
        <p:sp>
          <p:nvSpPr>
            <p:cNvPr id="52" name="Straight Connector 118">
              <a:extLst>
                <a:ext uri="{FF2B5EF4-FFF2-40B4-BE49-F238E27FC236}">
                  <a16:creationId xmlns:a16="http://schemas.microsoft.com/office/drawing/2014/main" id="{72866107-3C32-4408-9BF0-B9407C421E9B}"/>
                </a:ext>
              </a:extLst>
            </p:cNvPr>
            <p:cNvSpPr/>
            <p:nvPr/>
          </p:nvSpPr>
          <p:spPr>
            <a:xfrm>
              <a:off x="5052901" y="6109854"/>
              <a:ext cx="1" cy="561281"/>
            </a:xfrm>
            <a:prstGeom prst="line">
              <a:avLst/>
            </a:prstGeom>
            <a:ln w="38100">
              <a:solidFill>
                <a:srgbClr val="A6A6A6"/>
              </a:solidFill>
            </a:ln>
          </p:spPr>
          <p:txBody>
            <a:bodyPr lIns="45715" tIns="45715" rIns="45715" bIns="45715"/>
            <a:lstStyle/>
            <a:p>
              <a:endParaRPr sz="1012" dirty="0"/>
            </a:p>
          </p:txBody>
        </p:sp>
        <p:sp>
          <p:nvSpPr>
            <p:cNvPr id="53" name="TextBox 99">
              <a:extLst>
                <a:ext uri="{FF2B5EF4-FFF2-40B4-BE49-F238E27FC236}">
                  <a16:creationId xmlns:a16="http://schemas.microsoft.com/office/drawing/2014/main" id="{5668FD64-1381-41C1-A12E-B6690B7A5DAC}"/>
                </a:ext>
              </a:extLst>
            </p:cNvPr>
            <p:cNvSpPr/>
            <p:nvPr/>
          </p:nvSpPr>
          <p:spPr>
            <a:xfrm>
              <a:off x="3914754" y="6114575"/>
              <a:ext cx="740418" cy="505406"/>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Cost</a:t>
              </a:r>
            </a:p>
          </p:txBody>
        </p:sp>
        <p:sp>
          <p:nvSpPr>
            <p:cNvPr id="54" name="TextBox 100">
              <a:extLst>
                <a:ext uri="{FF2B5EF4-FFF2-40B4-BE49-F238E27FC236}">
                  <a16:creationId xmlns:a16="http://schemas.microsoft.com/office/drawing/2014/main" id="{887F1520-F1F7-464D-A5FE-25D57798E14B}"/>
                </a:ext>
              </a:extLst>
            </p:cNvPr>
            <p:cNvSpPr/>
            <p:nvPr/>
          </p:nvSpPr>
          <p:spPr>
            <a:xfrm>
              <a:off x="5208863" y="6115348"/>
              <a:ext cx="1747607" cy="505406"/>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Performance</a:t>
              </a:r>
            </a:p>
          </p:txBody>
        </p:sp>
      </p:grpSp>
      <p:grpSp>
        <p:nvGrpSpPr>
          <p:cNvPr id="55" name="Group 54">
            <a:extLst>
              <a:ext uri="{FF2B5EF4-FFF2-40B4-BE49-F238E27FC236}">
                <a16:creationId xmlns:a16="http://schemas.microsoft.com/office/drawing/2014/main" id="{75451696-1BE6-49D3-AB53-A555AC941866}"/>
              </a:ext>
            </a:extLst>
          </p:cNvPr>
          <p:cNvGrpSpPr/>
          <p:nvPr/>
        </p:nvGrpSpPr>
        <p:grpSpPr>
          <a:xfrm>
            <a:off x="534322" y="862577"/>
            <a:ext cx="1685603" cy="732313"/>
            <a:chOff x="788504" y="1409720"/>
            <a:chExt cx="3327777" cy="1445758"/>
          </a:xfrm>
        </p:grpSpPr>
        <p:sp>
          <p:nvSpPr>
            <p:cNvPr id="56" name="Rectangle 1">
              <a:extLst>
                <a:ext uri="{FF2B5EF4-FFF2-40B4-BE49-F238E27FC236}">
                  <a16:creationId xmlns:a16="http://schemas.microsoft.com/office/drawing/2014/main" id="{1857D222-254D-4E55-A267-DB3F36CB5E0B}"/>
                </a:ext>
              </a:extLst>
            </p:cNvPr>
            <p:cNvSpPr/>
            <p:nvPr/>
          </p:nvSpPr>
          <p:spPr>
            <a:xfrm>
              <a:off x="788508" y="1409720"/>
              <a:ext cx="3327773" cy="1445756"/>
            </a:xfrm>
            <a:prstGeom prst="rect">
              <a:avLst/>
            </a:prstGeom>
            <a:solidFill>
              <a:srgbClr val="F8F8F8"/>
            </a:solidFill>
            <a:ln w="88900">
              <a:solidFill>
                <a:srgbClr val="A6A6A6"/>
              </a:solidFill>
            </a:ln>
          </p:spPr>
          <p:txBody>
            <a:bodyPr lIns="45715" tIns="45715" rIns="45715" bIns="45715" anchor="ctr"/>
            <a:lstStyle/>
            <a:p>
              <a:pPr algn="ctr">
                <a:defRPr sz="2400"/>
              </a:pPr>
              <a:endParaRPr sz="1350" dirty="0"/>
            </a:p>
          </p:txBody>
        </p:sp>
        <p:sp>
          <p:nvSpPr>
            <p:cNvPr id="57" name="TextBox 2">
              <a:extLst>
                <a:ext uri="{FF2B5EF4-FFF2-40B4-BE49-F238E27FC236}">
                  <a16:creationId xmlns:a16="http://schemas.microsoft.com/office/drawing/2014/main" id="{F02EAB9D-F91D-4FCC-919B-C3A76A70CE0D}"/>
                </a:ext>
              </a:extLst>
            </p:cNvPr>
            <p:cNvSpPr/>
            <p:nvPr/>
          </p:nvSpPr>
          <p:spPr>
            <a:xfrm>
              <a:off x="788504" y="1414415"/>
              <a:ext cx="3301091" cy="660771"/>
            </a:xfrm>
            <a:prstGeom prst="rect">
              <a:avLst/>
            </a:prstGeom>
            <a:ln w="12700">
              <a:miter lim="400000"/>
            </a:ln>
            <a:extLst>
              <a:ext uri="{C572A759-6A51-4108-AA02-DFA0A04FC94B}">
                <ma14:wrappingTextBoxFlag xmlns:ma14="http://schemas.microsoft.com/office/mac/drawingml/2011/main" xmlns="" val="1"/>
              </a:ext>
            </a:extLst>
          </p:spPr>
          <p:txBody>
            <a:bodyPr wrap="square" lIns="45715" tIns="45715" rIns="45715" bIns="45715">
              <a:spAutoFit/>
            </a:bodyPr>
            <a:lstStyle>
              <a:lvl1pPr>
                <a:defRPr sz="2800" b="1"/>
              </a:lvl1pPr>
            </a:lstStyle>
            <a:p>
              <a:pPr algn="ctr"/>
              <a:r>
                <a:rPr sz="1575" dirty="0"/>
                <a:t>IOPS</a:t>
              </a:r>
            </a:p>
          </p:txBody>
        </p:sp>
        <p:sp>
          <p:nvSpPr>
            <p:cNvPr id="58" name="TextBox 4">
              <a:extLst>
                <a:ext uri="{FF2B5EF4-FFF2-40B4-BE49-F238E27FC236}">
                  <a16:creationId xmlns:a16="http://schemas.microsoft.com/office/drawing/2014/main" id="{3A27D1DA-74C3-45E6-8DB8-EE9F64E4274E}"/>
                </a:ext>
              </a:extLst>
            </p:cNvPr>
            <p:cNvSpPr/>
            <p:nvPr/>
          </p:nvSpPr>
          <p:spPr>
            <a:xfrm>
              <a:off x="2584126" y="2323653"/>
              <a:ext cx="1286749" cy="524055"/>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 </a:t>
              </a:r>
              <a:r>
                <a:rPr lang="en-US" sz="1125" dirty="0"/>
                <a:t>80</a:t>
              </a:r>
              <a:r>
                <a:rPr sz="1125" dirty="0"/>
                <a:t>,000</a:t>
              </a:r>
            </a:p>
          </p:txBody>
        </p:sp>
        <p:sp>
          <p:nvSpPr>
            <p:cNvPr id="59" name="TextBox 53">
              <a:extLst>
                <a:ext uri="{FF2B5EF4-FFF2-40B4-BE49-F238E27FC236}">
                  <a16:creationId xmlns:a16="http://schemas.microsoft.com/office/drawing/2014/main" id="{4B7F5C12-8A4F-4E0A-9813-78FD818019C4}"/>
                </a:ext>
              </a:extLst>
            </p:cNvPr>
            <p:cNvSpPr/>
            <p:nvPr/>
          </p:nvSpPr>
          <p:spPr>
            <a:xfrm>
              <a:off x="910387" y="2328869"/>
              <a:ext cx="1299408" cy="524055"/>
            </a:xfrm>
            <a:prstGeom prst="rect">
              <a:avLst/>
            </a:prstGeom>
            <a:ln w="12700">
              <a:miter lim="400000"/>
            </a:ln>
            <a:extLst>
              <a:ext uri="{C572A759-6A51-4108-AA02-DFA0A04FC94B}">
                <ma14:wrappingTextBoxFlag xmlns:ma14="http://schemas.microsoft.com/office/mac/drawingml/2011/main" xmlns="" val="1"/>
              </a:ext>
            </a:extLst>
          </p:spPr>
          <p:txBody>
            <a:bodyPr wrap="none" lIns="45715" tIns="45715" rIns="45715" bIns="45715">
              <a:spAutoFit/>
            </a:bodyPr>
            <a:lstStyle>
              <a:lvl1pPr>
                <a:defRPr sz="2000"/>
              </a:lvl1pPr>
            </a:lstStyle>
            <a:p>
              <a:r>
                <a:rPr sz="1125" dirty="0"/>
                <a:t>&gt; </a:t>
              </a:r>
              <a:r>
                <a:rPr lang="en-US" sz="1125" dirty="0"/>
                <a:t>80</a:t>
              </a:r>
              <a:r>
                <a:rPr sz="1125" dirty="0"/>
                <a:t>,000</a:t>
              </a:r>
            </a:p>
          </p:txBody>
        </p:sp>
        <p:sp>
          <p:nvSpPr>
            <p:cNvPr id="60" name="TextBox 5">
              <a:extLst>
                <a:ext uri="{FF2B5EF4-FFF2-40B4-BE49-F238E27FC236}">
                  <a16:creationId xmlns:a16="http://schemas.microsoft.com/office/drawing/2014/main" id="{47C59C20-E12D-40FC-8A29-DDC2F2FE132B}"/>
                </a:ext>
              </a:extLst>
            </p:cNvPr>
            <p:cNvSpPr/>
            <p:nvPr/>
          </p:nvSpPr>
          <p:spPr>
            <a:xfrm>
              <a:off x="791359" y="1811400"/>
              <a:ext cx="3298235" cy="524055"/>
            </a:xfrm>
            <a:prstGeom prst="rect">
              <a:avLst/>
            </a:prstGeom>
            <a:ln w="12700">
              <a:miter lim="400000"/>
            </a:ln>
            <a:extLst>
              <a:ext uri="{C572A759-6A51-4108-AA02-DFA0A04FC94B}">
                <ma14:wrappingTextBoxFlag xmlns:ma14="http://schemas.microsoft.com/office/mac/drawingml/2011/main" xmlns="" val="1"/>
              </a:ext>
            </a:extLst>
          </p:spPr>
          <p:txBody>
            <a:bodyPr wrap="square" lIns="45715" tIns="45715" rIns="45715" bIns="45715">
              <a:spAutoFit/>
            </a:bodyPr>
            <a:lstStyle>
              <a:lvl1pPr>
                <a:defRPr sz="2000"/>
              </a:lvl1pPr>
            </a:lstStyle>
            <a:p>
              <a:pPr algn="ctr"/>
              <a:r>
                <a:rPr sz="1125" dirty="0">
                  <a:solidFill>
                    <a:srgbClr val="000000"/>
                  </a:solidFill>
                </a:rPr>
                <a:t>is</a:t>
              </a:r>
              <a:r>
                <a:rPr sz="1125" dirty="0"/>
                <a:t> more important</a:t>
              </a:r>
            </a:p>
          </p:txBody>
        </p:sp>
        <p:sp>
          <p:nvSpPr>
            <p:cNvPr id="61" name="Straight Connector 7">
              <a:extLst>
                <a:ext uri="{FF2B5EF4-FFF2-40B4-BE49-F238E27FC236}">
                  <a16:creationId xmlns:a16="http://schemas.microsoft.com/office/drawing/2014/main" id="{2D4F8747-2FB9-4E4A-A087-CD0EA7B2B7CE}"/>
                </a:ext>
              </a:extLst>
            </p:cNvPr>
            <p:cNvSpPr/>
            <p:nvPr/>
          </p:nvSpPr>
          <p:spPr>
            <a:xfrm>
              <a:off x="815153" y="2315514"/>
              <a:ext cx="3301091" cy="1"/>
            </a:xfrm>
            <a:prstGeom prst="line">
              <a:avLst/>
            </a:prstGeom>
            <a:ln w="38100">
              <a:solidFill>
                <a:srgbClr val="A6A6A6"/>
              </a:solidFill>
            </a:ln>
          </p:spPr>
          <p:txBody>
            <a:bodyPr lIns="45715" tIns="45715" rIns="45715" bIns="45715"/>
            <a:lstStyle/>
            <a:p>
              <a:endParaRPr sz="1012" dirty="0"/>
            </a:p>
          </p:txBody>
        </p:sp>
        <p:sp>
          <p:nvSpPr>
            <p:cNvPr id="62" name="Straight Connector 111">
              <a:extLst>
                <a:ext uri="{FF2B5EF4-FFF2-40B4-BE49-F238E27FC236}">
                  <a16:creationId xmlns:a16="http://schemas.microsoft.com/office/drawing/2014/main" id="{FCC010C1-A29D-4A15-95A6-1B73E99E1E71}"/>
                </a:ext>
              </a:extLst>
            </p:cNvPr>
            <p:cNvSpPr/>
            <p:nvPr/>
          </p:nvSpPr>
          <p:spPr>
            <a:xfrm>
              <a:off x="2451802" y="2332613"/>
              <a:ext cx="593" cy="522865"/>
            </a:xfrm>
            <a:prstGeom prst="line">
              <a:avLst/>
            </a:prstGeom>
            <a:ln w="38100">
              <a:solidFill>
                <a:srgbClr val="A6A6A6"/>
              </a:solidFill>
            </a:ln>
          </p:spPr>
          <p:txBody>
            <a:bodyPr lIns="45715" tIns="45715" rIns="45715" bIns="45715"/>
            <a:lstStyle/>
            <a:p>
              <a:endParaRPr sz="1012" dirty="0"/>
            </a:p>
          </p:txBody>
        </p:sp>
      </p:grpSp>
      <p:grpSp>
        <p:nvGrpSpPr>
          <p:cNvPr id="63" name="Group 12">
            <a:extLst>
              <a:ext uri="{FF2B5EF4-FFF2-40B4-BE49-F238E27FC236}">
                <a16:creationId xmlns:a16="http://schemas.microsoft.com/office/drawing/2014/main" id="{C3648CFE-45DF-487D-8B1C-ABB967FF9FBE}"/>
              </a:ext>
            </a:extLst>
          </p:cNvPr>
          <p:cNvGrpSpPr/>
          <p:nvPr/>
        </p:nvGrpSpPr>
        <p:grpSpPr>
          <a:xfrm>
            <a:off x="5078143" y="2779809"/>
            <a:ext cx="1949955" cy="581633"/>
            <a:chOff x="0" y="0"/>
            <a:chExt cx="3731785" cy="1113117"/>
          </a:xfrm>
        </p:grpSpPr>
        <p:sp>
          <p:nvSpPr>
            <p:cNvPr id="64" name="Rectangle 121">
              <a:extLst>
                <a:ext uri="{FF2B5EF4-FFF2-40B4-BE49-F238E27FC236}">
                  <a16:creationId xmlns:a16="http://schemas.microsoft.com/office/drawing/2014/main" id="{0C37982E-E7ED-4315-B233-0985E0FD9E6D}"/>
                </a:ext>
              </a:extLst>
            </p:cNvPr>
            <p:cNvSpPr/>
            <p:nvPr/>
          </p:nvSpPr>
          <p:spPr>
            <a:xfrm>
              <a:off x="3745" y="0"/>
              <a:ext cx="3728040" cy="1086584"/>
            </a:xfrm>
            <a:prstGeom prst="rect">
              <a:avLst/>
            </a:prstGeom>
            <a:solidFill>
              <a:srgbClr val="F8F8F8"/>
            </a:solidFill>
            <a:ln w="88900" cap="flat">
              <a:solidFill>
                <a:srgbClr val="A6A6A6"/>
              </a:solidFill>
              <a:prstDash val="solid"/>
              <a:round/>
            </a:ln>
            <a:effectLst/>
          </p:spPr>
          <p:txBody>
            <a:bodyPr wrap="square" lIns="45715" tIns="45715" rIns="45715" bIns="45715" numCol="1" anchor="ctr">
              <a:noAutofit/>
            </a:bodyPr>
            <a:lstStyle/>
            <a:p>
              <a:pPr algn="ctr">
                <a:defRPr sz="2400"/>
              </a:pPr>
              <a:endParaRPr sz="1350" dirty="0"/>
            </a:p>
          </p:txBody>
        </p:sp>
        <p:sp>
          <p:nvSpPr>
            <p:cNvPr id="65" name="TextBox 122">
              <a:extLst>
                <a:ext uri="{FF2B5EF4-FFF2-40B4-BE49-F238E27FC236}">
                  <a16:creationId xmlns:a16="http://schemas.microsoft.com/office/drawing/2014/main" id="{4DE9FD2A-695A-471B-8BF3-B7979587254E}"/>
                </a:ext>
              </a:extLst>
            </p:cNvPr>
            <p:cNvSpPr/>
            <p:nvPr/>
          </p:nvSpPr>
          <p:spPr>
            <a:xfrm>
              <a:off x="0" y="47511"/>
              <a:ext cx="3581938" cy="508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5" tIns="45715" rIns="45715" bIns="45715" numCol="1" anchor="t">
              <a:spAutoFit/>
            </a:bodyPr>
            <a:lstStyle>
              <a:lvl1pPr>
                <a:defRPr sz="2000" b="1" i="1"/>
              </a:lvl1pPr>
            </a:lstStyle>
            <a:p>
              <a:r>
                <a:rPr sz="1125" dirty="0"/>
                <a:t>Which is more important?</a:t>
              </a:r>
            </a:p>
          </p:txBody>
        </p:sp>
        <p:sp>
          <p:nvSpPr>
            <p:cNvPr id="66" name="Straight Connector 123">
              <a:extLst>
                <a:ext uri="{FF2B5EF4-FFF2-40B4-BE49-F238E27FC236}">
                  <a16:creationId xmlns:a16="http://schemas.microsoft.com/office/drawing/2014/main" id="{3AE9347F-F362-4BEB-B099-5CFFD6D90DBC}"/>
                </a:ext>
              </a:extLst>
            </p:cNvPr>
            <p:cNvSpPr/>
            <p:nvPr/>
          </p:nvSpPr>
          <p:spPr>
            <a:xfrm>
              <a:off x="3745" y="543292"/>
              <a:ext cx="3728040" cy="1"/>
            </a:xfrm>
            <a:prstGeom prst="line">
              <a:avLst/>
            </a:prstGeom>
            <a:noFill/>
            <a:ln w="38100" cap="flat">
              <a:solidFill>
                <a:srgbClr val="A6A6A6"/>
              </a:solidFill>
              <a:prstDash val="solid"/>
              <a:round/>
            </a:ln>
            <a:effectLst/>
          </p:spPr>
          <p:txBody>
            <a:bodyPr wrap="square" lIns="45715" tIns="45715" rIns="45715" bIns="45715" numCol="1" anchor="t">
              <a:noAutofit/>
            </a:bodyPr>
            <a:lstStyle/>
            <a:p>
              <a:endParaRPr sz="1012" dirty="0"/>
            </a:p>
          </p:txBody>
        </p:sp>
        <p:sp>
          <p:nvSpPr>
            <p:cNvPr id="67" name="Straight Connector 124">
              <a:extLst>
                <a:ext uri="{FF2B5EF4-FFF2-40B4-BE49-F238E27FC236}">
                  <a16:creationId xmlns:a16="http://schemas.microsoft.com/office/drawing/2014/main" id="{8849A3EC-093C-46FE-8798-541B97E5EA27}"/>
                </a:ext>
              </a:extLst>
            </p:cNvPr>
            <p:cNvSpPr/>
            <p:nvPr/>
          </p:nvSpPr>
          <p:spPr>
            <a:xfrm flipH="1">
              <a:off x="1518028" y="551836"/>
              <a:ext cx="1" cy="561281"/>
            </a:xfrm>
            <a:prstGeom prst="line">
              <a:avLst/>
            </a:prstGeom>
            <a:noFill/>
            <a:ln w="38100" cap="flat">
              <a:solidFill>
                <a:srgbClr val="A6A6A6"/>
              </a:solidFill>
              <a:prstDash val="solid"/>
              <a:round/>
            </a:ln>
            <a:effectLst/>
          </p:spPr>
          <p:txBody>
            <a:bodyPr wrap="square" lIns="45715" tIns="45715" rIns="45715" bIns="45715" numCol="1" anchor="t">
              <a:noAutofit/>
            </a:bodyPr>
            <a:lstStyle/>
            <a:p>
              <a:endParaRPr sz="1012" dirty="0"/>
            </a:p>
          </p:txBody>
        </p:sp>
        <p:sp>
          <p:nvSpPr>
            <p:cNvPr id="68" name="TextBox 125">
              <a:extLst>
                <a:ext uri="{FF2B5EF4-FFF2-40B4-BE49-F238E27FC236}">
                  <a16:creationId xmlns:a16="http://schemas.microsoft.com/office/drawing/2014/main" id="{971FBA59-A91D-4603-8C5E-72CC174DE1D8}"/>
                </a:ext>
              </a:extLst>
            </p:cNvPr>
            <p:cNvSpPr/>
            <p:nvPr/>
          </p:nvSpPr>
          <p:spPr>
            <a:xfrm>
              <a:off x="379466" y="557331"/>
              <a:ext cx="744229" cy="508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5" tIns="45715" rIns="45715" bIns="45715" numCol="1" anchor="t">
              <a:spAutoFit/>
            </a:bodyPr>
            <a:lstStyle>
              <a:lvl1pPr>
                <a:defRPr sz="2000"/>
              </a:lvl1pPr>
            </a:lstStyle>
            <a:p>
              <a:r>
                <a:rPr sz="1125" dirty="0"/>
                <a:t>Cost</a:t>
              </a:r>
            </a:p>
          </p:txBody>
        </p:sp>
        <p:sp>
          <p:nvSpPr>
            <p:cNvPr id="69" name="TextBox 126">
              <a:extLst>
                <a:ext uri="{FF2B5EF4-FFF2-40B4-BE49-F238E27FC236}">
                  <a16:creationId xmlns:a16="http://schemas.microsoft.com/office/drawing/2014/main" id="{5C885ED9-F28A-4185-AB02-383640192C52}"/>
                </a:ext>
              </a:extLst>
            </p:cNvPr>
            <p:cNvSpPr/>
            <p:nvPr/>
          </p:nvSpPr>
          <p:spPr>
            <a:xfrm>
              <a:off x="1673989" y="557331"/>
              <a:ext cx="1756601" cy="508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5" tIns="45715" rIns="45715" bIns="45715" numCol="1" anchor="t">
              <a:spAutoFit/>
            </a:bodyPr>
            <a:lstStyle>
              <a:lvl1pPr>
                <a:defRPr sz="2000"/>
              </a:lvl1pPr>
            </a:lstStyle>
            <a:p>
              <a:r>
                <a:rPr sz="1125" dirty="0"/>
                <a:t>Performance</a:t>
              </a:r>
            </a:p>
          </p:txBody>
        </p:sp>
      </p:grpSp>
      <p:sp>
        <p:nvSpPr>
          <p:cNvPr id="70" name="Straight Arrow Connector 29">
            <a:extLst>
              <a:ext uri="{FF2B5EF4-FFF2-40B4-BE49-F238E27FC236}">
                <a16:creationId xmlns:a16="http://schemas.microsoft.com/office/drawing/2014/main" id="{641CF6C5-7773-4047-8833-B1109333B520}"/>
              </a:ext>
            </a:extLst>
          </p:cNvPr>
          <p:cNvSpPr/>
          <p:nvPr/>
        </p:nvSpPr>
        <p:spPr>
          <a:xfrm>
            <a:off x="1773310" y="1603709"/>
            <a:ext cx="233574" cy="310977"/>
          </a:xfrm>
          <a:prstGeom prst="line">
            <a:avLst/>
          </a:prstGeom>
          <a:ln w="63500">
            <a:solidFill>
              <a:srgbClr val="A6A6A6"/>
            </a:solidFill>
            <a:tailEnd type="triangle"/>
          </a:ln>
        </p:spPr>
        <p:txBody>
          <a:bodyPr lIns="45715" tIns="45715" rIns="45715" bIns="45715"/>
          <a:lstStyle/>
          <a:p>
            <a:endParaRPr sz="1012" dirty="0"/>
          </a:p>
        </p:txBody>
      </p:sp>
      <p:sp>
        <p:nvSpPr>
          <p:cNvPr id="71" name="Straight Arrow Connector 136">
            <a:extLst>
              <a:ext uri="{FF2B5EF4-FFF2-40B4-BE49-F238E27FC236}">
                <a16:creationId xmlns:a16="http://schemas.microsoft.com/office/drawing/2014/main" id="{4086CA6C-173C-4895-8805-35641588C2FA}"/>
              </a:ext>
            </a:extLst>
          </p:cNvPr>
          <p:cNvSpPr/>
          <p:nvPr/>
        </p:nvSpPr>
        <p:spPr>
          <a:xfrm>
            <a:off x="1070428" y="1609128"/>
            <a:ext cx="260829" cy="2031779"/>
          </a:xfrm>
          <a:prstGeom prst="line">
            <a:avLst/>
          </a:prstGeom>
          <a:ln w="63500">
            <a:solidFill>
              <a:srgbClr val="A6A6A6"/>
            </a:solidFill>
            <a:tailEnd type="triangle"/>
          </a:ln>
        </p:spPr>
        <p:txBody>
          <a:bodyPr lIns="45715" tIns="45715" rIns="45715" bIns="45715"/>
          <a:lstStyle/>
          <a:p>
            <a:endParaRPr sz="1012" dirty="0"/>
          </a:p>
        </p:txBody>
      </p:sp>
      <p:sp>
        <p:nvSpPr>
          <p:cNvPr id="72" name="Straight Arrow Connector 137">
            <a:extLst>
              <a:ext uri="{FF2B5EF4-FFF2-40B4-BE49-F238E27FC236}">
                <a16:creationId xmlns:a16="http://schemas.microsoft.com/office/drawing/2014/main" id="{A175A058-690C-4FD9-B15C-87825FEC1094}"/>
              </a:ext>
            </a:extLst>
          </p:cNvPr>
          <p:cNvSpPr/>
          <p:nvPr/>
        </p:nvSpPr>
        <p:spPr>
          <a:xfrm>
            <a:off x="2833872" y="2505788"/>
            <a:ext cx="113039" cy="229794"/>
          </a:xfrm>
          <a:prstGeom prst="line">
            <a:avLst/>
          </a:prstGeom>
          <a:ln w="63500">
            <a:solidFill>
              <a:srgbClr val="A6A6A6"/>
            </a:solidFill>
            <a:tailEnd type="triangle"/>
          </a:ln>
        </p:spPr>
        <p:txBody>
          <a:bodyPr lIns="45715" tIns="45715" rIns="45715" bIns="45715"/>
          <a:lstStyle/>
          <a:p>
            <a:endParaRPr sz="1012" dirty="0"/>
          </a:p>
        </p:txBody>
      </p:sp>
      <p:sp>
        <p:nvSpPr>
          <p:cNvPr id="73" name="Straight Arrow Connector 138">
            <a:extLst>
              <a:ext uri="{FF2B5EF4-FFF2-40B4-BE49-F238E27FC236}">
                <a16:creationId xmlns:a16="http://schemas.microsoft.com/office/drawing/2014/main" id="{944DFE91-ED38-4239-89AC-C85DB9DDB09F}"/>
              </a:ext>
            </a:extLst>
          </p:cNvPr>
          <p:cNvSpPr/>
          <p:nvPr/>
        </p:nvSpPr>
        <p:spPr>
          <a:xfrm flipH="1">
            <a:off x="1335340" y="2505789"/>
            <a:ext cx="671542" cy="1149480"/>
          </a:xfrm>
          <a:prstGeom prst="line">
            <a:avLst/>
          </a:prstGeom>
          <a:ln w="63500">
            <a:solidFill>
              <a:srgbClr val="A6A6A6"/>
            </a:solidFill>
            <a:tailEnd type="triangle"/>
          </a:ln>
        </p:spPr>
        <p:txBody>
          <a:bodyPr lIns="45715" tIns="45715" rIns="45715" bIns="45715"/>
          <a:lstStyle/>
          <a:p>
            <a:endParaRPr sz="1012" dirty="0"/>
          </a:p>
        </p:txBody>
      </p:sp>
      <p:sp>
        <p:nvSpPr>
          <p:cNvPr id="74" name="Straight Arrow Connector 139">
            <a:extLst>
              <a:ext uri="{FF2B5EF4-FFF2-40B4-BE49-F238E27FC236}">
                <a16:creationId xmlns:a16="http://schemas.microsoft.com/office/drawing/2014/main" id="{7D60650C-EC66-416E-B8D5-355A05E2B1CC}"/>
              </a:ext>
            </a:extLst>
          </p:cNvPr>
          <p:cNvSpPr/>
          <p:nvPr/>
        </p:nvSpPr>
        <p:spPr>
          <a:xfrm>
            <a:off x="3571872" y="3364437"/>
            <a:ext cx="131665" cy="276470"/>
          </a:xfrm>
          <a:prstGeom prst="line">
            <a:avLst/>
          </a:prstGeom>
          <a:ln w="63500">
            <a:solidFill>
              <a:srgbClr val="A6A6A6"/>
            </a:solidFill>
            <a:tailEnd type="triangle"/>
          </a:ln>
        </p:spPr>
        <p:txBody>
          <a:bodyPr lIns="45715" tIns="45715" rIns="45715" bIns="45715"/>
          <a:lstStyle/>
          <a:p>
            <a:endParaRPr sz="1012" dirty="0"/>
          </a:p>
        </p:txBody>
      </p:sp>
      <p:sp>
        <p:nvSpPr>
          <p:cNvPr id="75" name="Straight Arrow Connector 140">
            <a:extLst>
              <a:ext uri="{FF2B5EF4-FFF2-40B4-BE49-F238E27FC236}">
                <a16:creationId xmlns:a16="http://schemas.microsoft.com/office/drawing/2014/main" id="{F595E21A-1711-40E3-B99E-4D722A099CFE}"/>
              </a:ext>
            </a:extLst>
          </p:cNvPr>
          <p:cNvSpPr/>
          <p:nvPr/>
        </p:nvSpPr>
        <p:spPr>
          <a:xfrm flipH="1">
            <a:off x="2409704" y="3364437"/>
            <a:ext cx="116463" cy="268976"/>
          </a:xfrm>
          <a:prstGeom prst="line">
            <a:avLst/>
          </a:prstGeom>
          <a:ln w="63500">
            <a:solidFill>
              <a:srgbClr val="A6A6A6"/>
            </a:solidFill>
            <a:tailEnd type="triangle"/>
          </a:ln>
        </p:spPr>
        <p:txBody>
          <a:bodyPr lIns="45715" tIns="45715" rIns="45715" bIns="45715"/>
          <a:lstStyle/>
          <a:p>
            <a:endParaRPr sz="1012" dirty="0"/>
          </a:p>
        </p:txBody>
      </p:sp>
      <p:sp>
        <p:nvSpPr>
          <p:cNvPr id="76" name="Straight Arrow Connector 141">
            <a:extLst>
              <a:ext uri="{FF2B5EF4-FFF2-40B4-BE49-F238E27FC236}">
                <a16:creationId xmlns:a16="http://schemas.microsoft.com/office/drawing/2014/main" id="{CDB0BA7E-72FB-4A29-8CC4-D53554660CE8}"/>
              </a:ext>
            </a:extLst>
          </p:cNvPr>
          <p:cNvSpPr/>
          <p:nvPr/>
        </p:nvSpPr>
        <p:spPr>
          <a:xfrm flipH="1">
            <a:off x="4135599" y="1636406"/>
            <a:ext cx="1357534" cy="1087407"/>
          </a:xfrm>
          <a:prstGeom prst="line">
            <a:avLst/>
          </a:prstGeom>
          <a:ln w="63500">
            <a:solidFill>
              <a:srgbClr val="A6A6A6"/>
            </a:solidFill>
            <a:tailEnd type="triangle"/>
          </a:ln>
        </p:spPr>
        <p:txBody>
          <a:bodyPr lIns="45715" tIns="45715" rIns="45715" bIns="45715"/>
          <a:lstStyle/>
          <a:p>
            <a:endParaRPr sz="1012" dirty="0"/>
          </a:p>
        </p:txBody>
      </p:sp>
      <p:sp>
        <p:nvSpPr>
          <p:cNvPr id="77" name="Straight Arrow Connector 142">
            <a:extLst>
              <a:ext uri="{FF2B5EF4-FFF2-40B4-BE49-F238E27FC236}">
                <a16:creationId xmlns:a16="http://schemas.microsoft.com/office/drawing/2014/main" id="{C1D711FE-C41A-4126-84D7-485153385C8F}"/>
              </a:ext>
            </a:extLst>
          </p:cNvPr>
          <p:cNvSpPr/>
          <p:nvPr/>
        </p:nvSpPr>
        <p:spPr>
          <a:xfrm>
            <a:off x="6836136" y="1590954"/>
            <a:ext cx="1" cy="332516"/>
          </a:xfrm>
          <a:prstGeom prst="line">
            <a:avLst/>
          </a:prstGeom>
          <a:ln w="63500">
            <a:solidFill>
              <a:srgbClr val="A6A6A6"/>
            </a:solidFill>
            <a:tailEnd type="triangle"/>
          </a:ln>
        </p:spPr>
        <p:txBody>
          <a:bodyPr lIns="45715" tIns="45715" rIns="45715" bIns="45715"/>
          <a:lstStyle/>
          <a:p>
            <a:endParaRPr sz="1012" dirty="0"/>
          </a:p>
        </p:txBody>
      </p:sp>
      <p:sp>
        <p:nvSpPr>
          <p:cNvPr id="78" name="Straight Arrow Connector 144">
            <a:extLst>
              <a:ext uri="{FF2B5EF4-FFF2-40B4-BE49-F238E27FC236}">
                <a16:creationId xmlns:a16="http://schemas.microsoft.com/office/drawing/2014/main" id="{7BC5B181-C2C7-41DB-B276-86A6A7452B92}"/>
              </a:ext>
            </a:extLst>
          </p:cNvPr>
          <p:cNvSpPr/>
          <p:nvPr/>
        </p:nvSpPr>
        <p:spPr>
          <a:xfrm flipH="1">
            <a:off x="5303478" y="3370601"/>
            <a:ext cx="131666" cy="246119"/>
          </a:xfrm>
          <a:prstGeom prst="line">
            <a:avLst/>
          </a:prstGeom>
          <a:ln w="63500">
            <a:solidFill>
              <a:srgbClr val="A6A6A6"/>
            </a:solidFill>
            <a:tailEnd type="triangle"/>
          </a:ln>
        </p:spPr>
        <p:txBody>
          <a:bodyPr lIns="45715" tIns="45715" rIns="45715" bIns="45715"/>
          <a:lstStyle/>
          <a:p>
            <a:endParaRPr sz="1012" dirty="0"/>
          </a:p>
        </p:txBody>
      </p:sp>
      <p:sp>
        <p:nvSpPr>
          <p:cNvPr id="79" name="Straight Arrow Connector 148">
            <a:extLst>
              <a:ext uri="{FF2B5EF4-FFF2-40B4-BE49-F238E27FC236}">
                <a16:creationId xmlns:a16="http://schemas.microsoft.com/office/drawing/2014/main" id="{C7709FF7-1C97-471F-AE24-869A4118F42C}"/>
              </a:ext>
            </a:extLst>
          </p:cNvPr>
          <p:cNvSpPr/>
          <p:nvPr/>
        </p:nvSpPr>
        <p:spPr>
          <a:xfrm flipH="1">
            <a:off x="6203169" y="2513045"/>
            <a:ext cx="94636" cy="210770"/>
          </a:xfrm>
          <a:prstGeom prst="line">
            <a:avLst/>
          </a:prstGeom>
          <a:ln w="63500">
            <a:solidFill>
              <a:srgbClr val="A6A6A6"/>
            </a:solidFill>
            <a:tailEnd type="triangle"/>
          </a:ln>
        </p:spPr>
        <p:txBody>
          <a:bodyPr lIns="45715" tIns="45715" rIns="45715" bIns="45715"/>
          <a:lstStyle/>
          <a:p>
            <a:endParaRPr sz="1012" dirty="0"/>
          </a:p>
        </p:txBody>
      </p:sp>
      <p:sp>
        <p:nvSpPr>
          <p:cNvPr id="80" name="Straight Arrow Connector 152">
            <a:extLst>
              <a:ext uri="{FF2B5EF4-FFF2-40B4-BE49-F238E27FC236}">
                <a16:creationId xmlns:a16="http://schemas.microsoft.com/office/drawing/2014/main" id="{A6942E1D-7253-482F-B59E-0123A0C56F4E}"/>
              </a:ext>
            </a:extLst>
          </p:cNvPr>
          <p:cNvSpPr/>
          <p:nvPr/>
        </p:nvSpPr>
        <p:spPr>
          <a:xfrm>
            <a:off x="6519869" y="3337006"/>
            <a:ext cx="97953" cy="265447"/>
          </a:xfrm>
          <a:prstGeom prst="line">
            <a:avLst/>
          </a:prstGeom>
          <a:ln w="63500">
            <a:solidFill>
              <a:srgbClr val="A6A6A6"/>
            </a:solidFill>
            <a:tailEnd type="triangle"/>
          </a:ln>
        </p:spPr>
        <p:txBody>
          <a:bodyPr lIns="45715" tIns="45715" rIns="45715" bIns="45715"/>
          <a:lstStyle/>
          <a:p>
            <a:endParaRPr sz="1012" dirty="0"/>
          </a:p>
        </p:txBody>
      </p:sp>
      <p:sp>
        <p:nvSpPr>
          <p:cNvPr id="81" name="Straight Arrow Connector 154">
            <a:extLst>
              <a:ext uri="{FF2B5EF4-FFF2-40B4-BE49-F238E27FC236}">
                <a16:creationId xmlns:a16="http://schemas.microsoft.com/office/drawing/2014/main" id="{6FF7F48F-5478-42BA-B58F-8C5035C0EC6C}"/>
              </a:ext>
            </a:extLst>
          </p:cNvPr>
          <p:cNvSpPr/>
          <p:nvPr/>
        </p:nvSpPr>
        <p:spPr>
          <a:xfrm>
            <a:off x="7273326" y="2488776"/>
            <a:ext cx="757020" cy="1239064"/>
          </a:xfrm>
          <a:prstGeom prst="line">
            <a:avLst/>
          </a:prstGeom>
          <a:ln w="63500">
            <a:solidFill>
              <a:srgbClr val="A6A6A6"/>
            </a:solidFill>
            <a:tailEnd type="triangle"/>
          </a:ln>
        </p:spPr>
        <p:txBody>
          <a:bodyPr lIns="45715" tIns="45715" rIns="45715" bIns="45715"/>
          <a:lstStyle/>
          <a:p>
            <a:endParaRPr sz="1012" dirty="0"/>
          </a:p>
        </p:txBody>
      </p:sp>
    </p:spTree>
    <p:extLst>
      <p:ext uri="{BB962C8B-B14F-4D97-AF65-F5344CB8AC3E}">
        <p14:creationId xmlns:p14="http://schemas.microsoft.com/office/powerpoint/2010/main" val="233851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781357"/>
          </a:xfrm>
        </p:spPr>
        <p:txBody>
          <a:bodyPr>
            <a:normAutofit fontScale="90000"/>
          </a:bodyPr>
          <a:lstStyle/>
          <a:p>
            <a:r>
              <a:rPr lang="en-US" sz="2400" dirty="0"/>
              <a:t>Storage Considerations and Sample Layout for SQL Server on EC2</a:t>
            </a:r>
          </a:p>
        </p:txBody>
      </p:sp>
      <p:sp>
        <p:nvSpPr>
          <p:cNvPr id="3" name="Content Placeholder 2"/>
          <p:cNvSpPr>
            <a:spLocks noGrp="1"/>
          </p:cNvSpPr>
          <p:nvPr>
            <p:ph sz="half" idx="1"/>
          </p:nvPr>
        </p:nvSpPr>
        <p:spPr>
          <a:xfrm>
            <a:off x="333575" y="1012507"/>
            <a:ext cx="4038600" cy="3296603"/>
          </a:xfrm>
        </p:spPr>
        <p:txBody>
          <a:bodyPr/>
          <a:lstStyle/>
          <a:p>
            <a:pPr>
              <a:spcBef>
                <a:spcPts val="0"/>
              </a:spcBef>
              <a:spcAft>
                <a:spcPts val="600"/>
              </a:spcAft>
            </a:pPr>
            <a:r>
              <a:rPr lang="en-US" sz="2000" b="1" dirty="0"/>
              <a:t>Consider IOPS and throughput needed by your workload</a:t>
            </a:r>
          </a:p>
          <a:p>
            <a:pPr marL="342900" indent="-342900">
              <a:buFont typeface="Arial" charset="0"/>
              <a:buChar char="•"/>
            </a:pPr>
            <a:r>
              <a:rPr lang="en-US" sz="1600" dirty="0"/>
              <a:t>Enable EBS optimization on instance</a:t>
            </a:r>
          </a:p>
          <a:p>
            <a:pPr marL="342900" indent="-342900">
              <a:buFont typeface="Arial" charset="0"/>
              <a:buChar char="•"/>
            </a:pPr>
            <a:r>
              <a:rPr lang="en-US" sz="1600" dirty="0"/>
              <a:t>Create a volume for data (random access)</a:t>
            </a:r>
          </a:p>
          <a:p>
            <a:pPr marL="342900" indent="-342900">
              <a:buFont typeface="Arial" charset="0"/>
              <a:buChar char="•"/>
            </a:pPr>
            <a:r>
              <a:rPr lang="en-US" sz="1600" dirty="0"/>
              <a:t>Create a volume for log (sequential access)</a:t>
            </a:r>
          </a:p>
          <a:p>
            <a:pPr marL="342900" indent="-342900">
              <a:buFont typeface="Arial" charset="0"/>
              <a:buChar char="•"/>
            </a:pPr>
            <a:r>
              <a:rPr lang="en-US" sz="1600" dirty="0"/>
              <a:t>Format with 64K allocation unit size</a:t>
            </a:r>
          </a:p>
          <a:p>
            <a:pPr marL="342900" indent="-342900">
              <a:buFont typeface="Arial" charset="0"/>
              <a:buChar char="•"/>
            </a:pPr>
            <a:r>
              <a:rPr lang="en-US" sz="1600" dirty="0"/>
              <a:t>Stripe EBS PIOPS volumes for higher IOPS</a:t>
            </a:r>
          </a:p>
          <a:p>
            <a:pPr marL="342900" indent="-342900">
              <a:buFont typeface="Arial" charset="0"/>
              <a:buChar char="•"/>
            </a:pPr>
            <a:r>
              <a:rPr lang="en-US" sz="1600" dirty="0"/>
              <a:t>Match total EBS IOPS and throughput to instance type</a:t>
            </a:r>
          </a:p>
          <a:p>
            <a:pPr marL="342900" indent="-342900">
              <a:buFont typeface="Arial" charset="0"/>
              <a:buChar char="•"/>
            </a:pPr>
            <a:endParaRPr lang="en-US" sz="1600" dirty="0"/>
          </a:p>
        </p:txBody>
      </p:sp>
      <p:sp>
        <p:nvSpPr>
          <p:cNvPr id="4" name="Content Placeholder 3"/>
          <p:cNvSpPr>
            <a:spLocks noGrp="1"/>
          </p:cNvSpPr>
          <p:nvPr>
            <p:ph sz="half" idx="2"/>
          </p:nvPr>
        </p:nvSpPr>
        <p:spPr>
          <a:xfrm>
            <a:off x="4524575" y="1012507"/>
            <a:ext cx="4038600" cy="3472073"/>
          </a:xfrm>
        </p:spPr>
        <p:txBody>
          <a:bodyPr/>
          <a:lstStyle/>
          <a:p>
            <a:r>
              <a:rPr lang="en-US" sz="2000" b="1" dirty="0"/>
              <a:t>Example volume layout:</a:t>
            </a:r>
            <a:br>
              <a:rPr lang="en-US" sz="2000" b="1" dirty="0"/>
            </a:br>
            <a:r>
              <a:rPr lang="en-US" sz="1800" b="1" dirty="0"/>
              <a:t>C:\ </a:t>
            </a:r>
            <a:r>
              <a:rPr lang="en-US" sz="1800" dirty="0"/>
              <a:t>Boot on General Purpose SSD (</a:t>
            </a:r>
            <a:r>
              <a:rPr lang="en-US" sz="1800" dirty="0">
                <a:solidFill>
                  <a:srgbClr val="FFC000"/>
                </a:solidFill>
              </a:rPr>
              <a:t>gp2</a:t>
            </a:r>
            <a:r>
              <a:rPr lang="en-US" sz="1800" dirty="0"/>
              <a:t>)</a:t>
            </a:r>
          </a:p>
          <a:p>
            <a:r>
              <a:rPr lang="en-US" sz="1800" b="1" dirty="0"/>
              <a:t>D:\ </a:t>
            </a:r>
            <a:r>
              <a:rPr lang="en-US" sz="1800" dirty="0"/>
              <a:t>Data files on </a:t>
            </a:r>
            <a:r>
              <a:rPr lang="en-US" sz="1800" dirty="0">
                <a:solidFill>
                  <a:srgbClr val="FFC000"/>
                </a:solidFill>
              </a:rPr>
              <a:t>PIOPS</a:t>
            </a:r>
            <a:r>
              <a:rPr lang="en-US" sz="1800" dirty="0"/>
              <a:t> (single or striped)</a:t>
            </a:r>
          </a:p>
          <a:p>
            <a:r>
              <a:rPr lang="en-US" sz="1800" b="1" dirty="0"/>
              <a:t>E:\ </a:t>
            </a:r>
            <a:r>
              <a:rPr lang="en-US" sz="1800" dirty="0"/>
              <a:t>Log file on </a:t>
            </a:r>
            <a:r>
              <a:rPr lang="en-US" sz="1800" dirty="0">
                <a:solidFill>
                  <a:srgbClr val="FFC000"/>
                </a:solidFill>
              </a:rPr>
              <a:t>st1</a:t>
            </a:r>
            <a:r>
              <a:rPr lang="en-US" sz="1800" dirty="0"/>
              <a:t> or PIOPS</a:t>
            </a:r>
          </a:p>
          <a:p>
            <a:r>
              <a:rPr lang="en-US" sz="1800" b="1" dirty="0"/>
              <a:t>F:\ </a:t>
            </a:r>
            <a:r>
              <a:rPr lang="en-US" sz="1800" dirty="0"/>
              <a:t>Backups on </a:t>
            </a:r>
            <a:r>
              <a:rPr lang="en-US" sz="1800" dirty="0">
                <a:solidFill>
                  <a:srgbClr val="FFC000"/>
                </a:solidFill>
              </a:rPr>
              <a:t>st1</a:t>
            </a:r>
            <a:r>
              <a:rPr lang="en-US" sz="1800" dirty="0"/>
              <a:t> or </a:t>
            </a:r>
            <a:r>
              <a:rPr lang="en-US" sz="1800" dirty="0">
                <a:solidFill>
                  <a:srgbClr val="FFC000"/>
                </a:solidFill>
              </a:rPr>
              <a:t>sc1</a:t>
            </a:r>
          </a:p>
          <a:p>
            <a:r>
              <a:rPr lang="en-US" sz="1800" b="1" dirty="0"/>
              <a:t>Z:\ </a:t>
            </a:r>
            <a:r>
              <a:rPr lang="en-US" sz="1800" dirty="0"/>
              <a:t>Tempdb on </a:t>
            </a:r>
            <a:r>
              <a:rPr lang="en-US" sz="1800" dirty="0">
                <a:solidFill>
                  <a:srgbClr val="FFC000"/>
                </a:solidFill>
              </a:rPr>
              <a:t>instance storage </a:t>
            </a:r>
            <a:r>
              <a:rPr lang="en-US" sz="1800" dirty="0"/>
              <a:t>(if 	available)</a:t>
            </a:r>
          </a:p>
          <a:p>
            <a:r>
              <a:rPr lang="en-US" sz="1800" dirty="0"/>
              <a:t>*Consider Using multiple </a:t>
            </a:r>
            <a:r>
              <a:rPr lang="en-US" sz="1800" dirty="0" err="1"/>
              <a:t>tempdb</a:t>
            </a:r>
            <a:r>
              <a:rPr lang="en-US" sz="1800" dirty="0"/>
              <a:t> files (1:1 mapping with CPUs, up to 8)</a:t>
            </a:r>
          </a:p>
          <a:p>
            <a:endParaRPr lang="en-US" sz="1800" dirty="0"/>
          </a:p>
        </p:txBody>
      </p:sp>
    </p:spTree>
    <p:extLst>
      <p:ext uri="{BB962C8B-B14F-4D97-AF65-F5344CB8AC3E}">
        <p14:creationId xmlns:p14="http://schemas.microsoft.com/office/powerpoint/2010/main" val="1683099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solidFill>
              </a:rPr>
              <a:t>tempdb</a:t>
            </a:r>
            <a:r>
              <a:rPr lang="en-US" dirty="0">
                <a:solidFill>
                  <a:schemeClr val="bg1"/>
                </a:solidFill>
              </a:rPr>
              <a:t> on Instance Storage</a:t>
            </a:r>
          </a:p>
        </p:txBody>
      </p:sp>
      <p:sp>
        <p:nvSpPr>
          <p:cNvPr id="3" name="Content Placeholder 2"/>
          <p:cNvSpPr>
            <a:spLocks noGrp="1"/>
          </p:cNvSpPr>
          <p:nvPr>
            <p:ph idx="1"/>
          </p:nvPr>
        </p:nvSpPr>
        <p:spPr>
          <a:xfrm>
            <a:off x="340592" y="1009332"/>
            <a:ext cx="8437647" cy="3200718"/>
          </a:xfrm>
        </p:spPr>
        <p:txBody>
          <a:bodyPr/>
          <a:lstStyle/>
          <a:p>
            <a:r>
              <a:rPr lang="en-US" sz="2400" b="1" dirty="0">
                <a:solidFill>
                  <a:schemeClr val="bg1"/>
                </a:solidFill>
              </a:rPr>
              <a:t>Consider:</a:t>
            </a:r>
          </a:p>
          <a:p>
            <a:pPr marL="342900" indent="-342900">
              <a:buFont typeface="Arial" charset="0"/>
              <a:buChar char="•"/>
            </a:pPr>
            <a:r>
              <a:rPr lang="en-US" sz="2400" dirty="0">
                <a:solidFill>
                  <a:schemeClr val="bg1"/>
                </a:solidFill>
              </a:rPr>
              <a:t>Scripting/automating configuration on instance boot</a:t>
            </a:r>
          </a:p>
          <a:p>
            <a:pPr marL="342900" indent="-342900">
              <a:buFont typeface="Arial" charset="0"/>
              <a:buChar char="•"/>
            </a:pPr>
            <a:r>
              <a:rPr lang="en-US" sz="2400" dirty="0">
                <a:solidFill>
                  <a:schemeClr val="bg1"/>
                </a:solidFill>
              </a:rPr>
              <a:t>Changing SQL Server service startup to </a:t>
            </a:r>
            <a:r>
              <a:rPr lang="en-US" sz="2400" dirty="0">
                <a:solidFill>
                  <a:srgbClr val="FFC000"/>
                </a:solidFill>
              </a:rPr>
              <a:t>Automatic (Delayed Start) </a:t>
            </a:r>
            <a:r>
              <a:rPr lang="en-US" sz="2400" dirty="0">
                <a:solidFill>
                  <a:schemeClr val="bg1"/>
                </a:solidFill>
              </a:rPr>
              <a:t>to allow instance storage to provision</a:t>
            </a:r>
          </a:p>
          <a:p>
            <a:pPr marL="342900" indent="-342900">
              <a:buFont typeface="Arial" charset="0"/>
              <a:buChar char="•"/>
            </a:pPr>
            <a:r>
              <a:rPr lang="en-US" sz="2400" dirty="0">
                <a:solidFill>
                  <a:schemeClr val="bg1"/>
                </a:solidFill>
              </a:rPr>
              <a:t>Striping multiple instance storage disks together for higher I/O</a:t>
            </a:r>
          </a:p>
        </p:txBody>
      </p:sp>
    </p:spTree>
    <p:extLst>
      <p:ext uri="{BB962C8B-B14F-4D97-AF65-F5344CB8AC3E}">
        <p14:creationId xmlns:p14="http://schemas.microsoft.com/office/powerpoint/2010/main" val="4239433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SQL Server Instant File Initialization</a:t>
            </a:r>
          </a:p>
        </p:txBody>
      </p:sp>
      <p:sp>
        <p:nvSpPr>
          <p:cNvPr id="3" name="Content Placeholder 2"/>
          <p:cNvSpPr>
            <a:spLocks noGrp="1"/>
          </p:cNvSpPr>
          <p:nvPr>
            <p:ph idx="1"/>
          </p:nvPr>
        </p:nvSpPr>
        <p:spPr>
          <a:xfrm>
            <a:off x="389360" y="844740"/>
            <a:ext cx="5857008" cy="3553926"/>
          </a:xfrm>
        </p:spPr>
        <p:txBody>
          <a:bodyPr/>
          <a:lstStyle/>
          <a:p>
            <a:r>
              <a:rPr lang="en-US" sz="2400" b="1" dirty="0">
                <a:solidFill>
                  <a:schemeClr val="bg1"/>
                </a:solidFill>
              </a:rPr>
              <a:t>What is database file initialization?</a:t>
            </a:r>
          </a:p>
          <a:p>
            <a:pPr marL="342900" indent="-342900">
              <a:buFont typeface="Arial" charset="0"/>
              <a:buChar char="•"/>
            </a:pPr>
            <a:r>
              <a:rPr lang="en-US" sz="2400" dirty="0">
                <a:solidFill>
                  <a:schemeClr val="bg1"/>
                </a:solidFill>
              </a:rPr>
              <a:t>Normally, database files are initialized zeroing out leftover disk data </a:t>
            </a:r>
          </a:p>
          <a:p>
            <a:pPr marL="342900" indent="-342900">
              <a:buFont typeface="Arial" charset="0"/>
              <a:buChar char="•"/>
            </a:pPr>
            <a:r>
              <a:rPr lang="en-US" sz="2400" dirty="0">
                <a:solidFill>
                  <a:schemeClr val="bg1"/>
                </a:solidFill>
              </a:rPr>
              <a:t>File initialization causes some DB operations to take longer</a:t>
            </a:r>
          </a:p>
          <a:p>
            <a:pPr marL="342900" indent="-342900">
              <a:buFont typeface="Arial" charset="0"/>
              <a:buChar char="•"/>
            </a:pPr>
            <a:r>
              <a:rPr lang="en-US" sz="2400" b="1" i="1" dirty="0">
                <a:solidFill>
                  <a:schemeClr val="bg1"/>
                </a:solidFill>
              </a:rPr>
              <a:t>Instant database file initialization </a:t>
            </a:r>
            <a:r>
              <a:rPr lang="en-US" sz="2400" dirty="0">
                <a:solidFill>
                  <a:schemeClr val="bg1"/>
                </a:solidFill>
              </a:rPr>
              <a:t>reclaims unused disk space without zeroing it out</a:t>
            </a:r>
          </a:p>
          <a:p>
            <a:endParaRPr lang="en-US" sz="2000" dirty="0">
              <a:solidFill>
                <a:schemeClr val="bg1"/>
              </a:solidFill>
            </a:endParaRP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05393" y="1689100"/>
            <a:ext cx="1498600" cy="1498600"/>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18300" y="2367195"/>
            <a:ext cx="1168400" cy="1168400"/>
          </a:xfrm>
          <a:prstGeom prst="rect">
            <a:avLst/>
          </a:prstGeom>
        </p:spPr>
      </p:pic>
    </p:spTree>
    <p:extLst>
      <p:ext uri="{BB962C8B-B14F-4D97-AF65-F5344CB8AC3E}">
        <p14:creationId xmlns:p14="http://schemas.microsoft.com/office/powerpoint/2010/main" val="618716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en-US" dirty="0"/>
              <a:t>SQL Server 2016+ Install Time</a:t>
            </a:r>
          </a:p>
        </p:txBody>
      </p:sp>
      <p:sp>
        <p:nvSpPr>
          <p:cNvPr id="2" name="Title 1"/>
          <p:cNvSpPr>
            <a:spLocks noGrp="1"/>
          </p:cNvSpPr>
          <p:nvPr>
            <p:ph type="title"/>
          </p:nvPr>
        </p:nvSpPr>
        <p:spPr/>
        <p:txBody>
          <a:bodyPr>
            <a:normAutofit/>
          </a:bodyPr>
          <a:lstStyle/>
          <a:p>
            <a:r>
              <a:rPr lang="en-US" sz="2400" dirty="0"/>
              <a:t>Enabling Instant Database File Initialization</a:t>
            </a:r>
          </a:p>
        </p:txBody>
      </p:sp>
      <p:sp>
        <p:nvSpPr>
          <p:cNvPr id="6" name="Text Placeholder 5"/>
          <p:cNvSpPr>
            <a:spLocks noGrp="1"/>
          </p:cNvSpPr>
          <p:nvPr>
            <p:ph type="body" sz="quarter" idx="3"/>
          </p:nvPr>
        </p:nvSpPr>
        <p:spPr/>
        <p:txBody>
          <a:bodyPr/>
          <a:lstStyle/>
          <a:p>
            <a:r>
              <a:rPr lang="en-US" dirty="0"/>
              <a:t>Post-Install or Other Versions</a:t>
            </a:r>
          </a:p>
        </p:txBody>
      </p:sp>
      <p:sp>
        <p:nvSpPr>
          <p:cNvPr id="7" name="Content Placeholder 6"/>
          <p:cNvSpPr>
            <a:spLocks noGrp="1"/>
          </p:cNvSpPr>
          <p:nvPr>
            <p:ph sz="quarter" idx="4"/>
          </p:nvPr>
        </p:nvSpPr>
        <p:spPr>
          <a:xfrm>
            <a:off x="4525570" y="1487874"/>
            <a:ext cx="4016524" cy="3161399"/>
          </a:xfrm>
        </p:spPr>
        <p:txBody>
          <a:bodyPr/>
          <a:lstStyle/>
          <a:p>
            <a:r>
              <a:rPr lang="en-US" sz="1600" dirty="0"/>
              <a:t>Grant </a:t>
            </a:r>
            <a:r>
              <a:rPr lang="en-US" sz="1600" b="1" dirty="0"/>
              <a:t>Perform volume maintenance tasks</a:t>
            </a:r>
            <a:r>
              <a:rPr lang="en-US" sz="1600" dirty="0"/>
              <a:t> to SQL Server service account</a:t>
            </a:r>
          </a:p>
          <a:p>
            <a:pPr marL="457200" indent="-457200">
              <a:buFont typeface="+mj-lt"/>
              <a:buAutoNum type="arabicPeriod"/>
            </a:pPr>
            <a:r>
              <a:rPr lang="en-US" sz="1600" dirty="0"/>
              <a:t>Open the </a:t>
            </a:r>
            <a:r>
              <a:rPr lang="en-US" sz="1600" b="1" dirty="0"/>
              <a:t>Local Security Policy</a:t>
            </a:r>
            <a:r>
              <a:rPr lang="en-US" sz="1600" dirty="0"/>
              <a:t> app,</a:t>
            </a:r>
          </a:p>
          <a:p>
            <a:pPr marL="457200" indent="-457200">
              <a:buFont typeface="+mj-lt"/>
              <a:buAutoNum type="arabicPeriod"/>
            </a:pPr>
            <a:r>
              <a:rPr lang="en-US" sz="1600" dirty="0"/>
              <a:t>From </a:t>
            </a:r>
            <a:r>
              <a:rPr lang="en-US" sz="1600" b="1" dirty="0"/>
              <a:t>Local Policy</a:t>
            </a:r>
            <a:r>
              <a:rPr lang="en-US" sz="1600" dirty="0"/>
              <a:t>, choose </a:t>
            </a:r>
            <a:r>
              <a:rPr lang="en-US" sz="1600" b="1" dirty="0"/>
              <a:t>User Rights Assignment</a:t>
            </a:r>
            <a:r>
              <a:rPr lang="en-US" sz="1600" dirty="0"/>
              <a:t>.</a:t>
            </a:r>
          </a:p>
          <a:p>
            <a:pPr marL="457200" indent="-457200">
              <a:buFont typeface="+mj-lt"/>
              <a:buAutoNum type="arabicPeriod"/>
            </a:pPr>
            <a:r>
              <a:rPr lang="en-US" sz="1600" dirty="0"/>
              <a:t>Double-click </a:t>
            </a:r>
            <a:r>
              <a:rPr lang="en-US" sz="1600" b="1" dirty="0"/>
              <a:t>Perform volume maintenance tasks.</a:t>
            </a:r>
            <a:endParaRPr lang="en-US" sz="1600" dirty="0"/>
          </a:p>
          <a:p>
            <a:pPr marL="457200" indent="-457200">
              <a:buFont typeface="+mj-lt"/>
              <a:buAutoNum type="arabicPeriod"/>
            </a:pPr>
            <a:r>
              <a:rPr lang="en-US" sz="1600" dirty="0"/>
              <a:t>Choose </a:t>
            </a:r>
            <a:r>
              <a:rPr lang="en-US" sz="1600" b="1" dirty="0"/>
              <a:t>Add User or Group.</a:t>
            </a:r>
          </a:p>
          <a:p>
            <a:pPr marL="457200" indent="-457200">
              <a:buFont typeface="+mj-lt"/>
              <a:buAutoNum type="arabicPeriod"/>
            </a:pPr>
            <a:endParaRPr lang="en-US" sz="1600" b="1" dirty="0"/>
          </a:p>
          <a:p>
            <a:r>
              <a:rPr lang="en-US" sz="1400" dirty="0">
                <a:hlinkClick r:id="rId3"/>
              </a:rPr>
              <a:t>https://msdn.microsoft.com/en-us/library/ms175935.aspx</a:t>
            </a:r>
            <a:r>
              <a:rPr lang="en-US" sz="1400" dirty="0"/>
              <a:t> </a:t>
            </a:r>
          </a:p>
        </p:txBody>
      </p:sp>
      <p:pic>
        <p:nvPicPr>
          <p:cNvPr id="8" name="Picture 2" descr="Enable Instant File Initialization during SQL Server 2016 installation"/>
          <p:cNvPicPr>
            <a:picLocks noGrp="1" noChangeAspect="1" noChangeArrowheads="1"/>
          </p:cNvPicPr>
          <p:nvPr>
            <p:ph sz="half" idx="2"/>
          </p:nvPr>
        </p:nvPicPr>
        <p:blipFill>
          <a:blip r:embed="rId4" cstate="email">
            <a:extLst>
              <a:ext uri="{28A0092B-C50C-407E-A947-70E740481C1C}">
                <a14:useLocalDpi xmlns:a14="http://schemas.microsoft.com/office/drawing/2010/main"/>
              </a:ext>
            </a:extLst>
          </a:blip>
          <a:srcRect/>
          <a:stretch>
            <a:fillRect/>
          </a:stretch>
        </p:blipFill>
        <p:spPr bwMode="auto">
          <a:xfrm>
            <a:off x="382323" y="1487488"/>
            <a:ext cx="3951816" cy="2963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704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Selecting the Right Instance</a:t>
            </a:r>
          </a:p>
        </p:txBody>
      </p:sp>
    </p:spTree>
    <p:extLst>
      <p:ext uri="{BB962C8B-B14F-4D97-AF65-F5344CB8AC3E}">
        <p14:creationId xmlns:p14="http://schemas.microsoft.com/office/powerpoint/2010/main" val="2375851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SQL Server Instance Type Selection Criteria</a:t>
            </a:r>
          </a:p>
        </p:txBody>
      </p:sp>
      <p:sp>
        <p:nvSpPr>
          <p:cNvPr id="4" name="Text Placeholder 3">
            <a:extLst>
              <a:ext uri="{FF2B5EF4-FFF2-40B4-BE49-F238E27FC236}">
                <a16:creationId xmlns:a16="http://schemas.microsoft.com/office/drawing/2014/main" id="{3D5C56BA-8D6D-47F2-9A03-722204A915BF}"/>
              </a:ext>
            </a:extLst>
          </p:cNvPr>
          <p:cNvSpPr txBox="1">
            <a:spLocks/>
          </p:cNvSpPr>
          <p:nvPr/>
        </p:nvSpPr>
        <p:spPr>
          <a:xfrm>
            <a:off x="337742" y="2906457"/>
            <a:ext cx="1797050" cy="340940"/>
          </a:xfrm>
          <a:prstGeom prst="rect">
            <a:avLst/>
          </a:prstGeom>
        </p:spPr>
        <p:txBody>
          <a:bodyPr/>
          <a:lstStyle>
            <a:lvl1pPr marL="0" indent="0" algn="l" defTabSz="457200" rtl="0" eaLnBrk="1" latinLnBrk="0" hangingPunct="1">
              <a:spcBef>
                <a:spcPct val="20000"/>
              </a:spcBef>
              <a:buFontTx/>
              <a:buNone/>
              <a:defRPr sz="2400" b="0" i="0" kern="1200">
                <a:solidFill>
                  <a:schemeClr val="accent6">
                    <a:lumMod val="50000"/>
                  </a:schemeClr>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accent6">
                    <a:lumMod val="50000"/>
                  </a:schemeClr>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accent6">
                    <a:lumMod val="50000"/>
                  </a:schemeClr>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Compute</a:t>
            </a:r>
            <a:b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Capabilities</a:t>
            </a:r>
          </a:p>
          <a:p>
            <a:pPr algn="ctr"/>
            <a:r>
              <a:rPr lang="en-US" sz="1600" b="1" dirty="0" err="1">
                <a:solidFill>
                  <a:schemeClr val="bg2"/>
                </a:solidFill>
                <a:latin typeface="Amazon Ember" panose="020B0603020204020204" pitchFamily="34" charset="0"/>
                <a:ea typeface="Amazon Ember" panose="020B0603020204020204" pitchFamily="34" charset="0"/>
                <a:cs typeface="Amazon Ember" panose="020B0603020204020204" pitchFamily="34" charset="0"/>
              </a:rPr>
              <a:t>vCPUs</a:t>
            </a:r>
            <a:endParaRPr lang="en-US" sz="1600" b="1" dirty="0">
              <a:solidFill>
                <a:schemeClr val="bg2"/>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Text Placeholder 4">
            <a:extLst>
              <a:ext uri="{FF2B5EF4-FFF2-40B4-BE49-F238E27FC236}">
                <a16:creationId xmlns:a16="http://schemas.microsoft.com/office/drawing/2014/main" id="{F792BDA8-DD18-41BD-A89D-FAACC9D83C6E}"/>
              </a:ext>
            </a:extLst>
          </p:cNvPr>
          <p:cNvSpPr txBox="1">
            <a:spLocks/>
          </p:cNvSpPr>
          <p:nvPr/>
        </p:nvSpPr>
        <p:spPr>
          <a:xfrm>
            <a:off x="2496747" y="2906457"/>
            <a:ext cx="1797050" cy="340940"/>
          </a:xfrm>
          <a:prstGeom prst="rect">
            <a:avLst/>
          </a:prstGeom>
        </p:spPr>
        <p:txBody>
          <a:bodyPr/>
          <a:lstStyle>
            <a:lvl1pPr marL="0" indent="0" algn="l" defTabSz="457200" rtl="0" eaLnBrk="1" latinLnBrk="0" hangingPunct="1">
              <a:spcBef>
                <a:spcPct val="20000"/>
              </a:spcBef>
              <a:buFontTx/>
              <a:buNone/>
              <a:defRPr sz="2400" b="0" i="0" kern="1200">
                <a:solidFill>
                  <a:schemeClr val="accent6">
                    <a:lumMod val="50000"/>
                  </a:schemeClr>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accent6">
                    <a:lumMod val="50000"/>
                  </a:schemeClr>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accent6">
                    <a:lumMod val="50000"/>
                  </a:schemeClr>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Memory</a:t>
            </a:r>
            <a:b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Capabilities</a:t>
            </a:r>
          </a:p>
          <a:p>
            <a:pPr algn="ctr"/>
            <a:r>
              <a:rPr lang="en-US" sz="1600" b="1"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GB of RAM</a:t>
            </a:r>
          </a:p>
        </p:txBody>
      </p:sp>
      <p:sp>
        <p:nvSpPr>
          <p:cNvPr id="8" name="Text Placeholder 5">
            <a:extLst>
              <a:ext uri="{FF2B5EF4-FFF2-40B4-BE49-F238E27FC236}">
                <a16:creationId xmlns:a16="http://schemas.microsoft.com/office/drawing/2014/main" id="{E318199A-0A1F-450A-92F2-66490E1E709A}"/>
              </a:ext>
            </a:extLst>
          </p:cNvPr>
          <p:cNvSpPr txBox="1">
            <a:spLocks/>
          </p:cNvSpPr>
          <p:nvPr/>
        </p:nvSpPr>
        <p:spPr>
          <a:xfrm>
            <a:off x="4634585" y="2906457"/>
            <a:ext cx="1797050" cy="340940"/>
          </a:xfrm>
          <a:prstGeom prst="rect">
            <a:avLst/>
          </a:prstGeom>
        </p:spPr>
        <p:txBody>
          <a:bodyPr/>
          <a:lstStyle>
            <a:lvl1pPr marL="0" indent="0" algn="l" defTabSz="457200" rtl="0" eaLnBrk="1" latinLnBrk="0" hangingPunct="1">
              <a:spcBef>
                <a:spcPct val="20000"/>
              </a:spcBef>
              <a:buFontTx/>
              <a:buNone/>
              <a:defRPr sz="2400" b="0" i="0" kern="1200">
                <a:solidFill>
                  <a:schemeClr val="accent6">
                    <a:lumMod val="50000"/>
                  </a:schemeClr>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accent6">
                    <a:lumMod val="50000"/>
                  </a:schemeClr>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accent6">
                    <a:lumMod val="50000"/>
                  </a:schemeClr>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a:t>
            </a:r>
            <a:b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Performance</a:t>
            </a:r>
          </a:p>
          <a:p>
            <a:pPr algn="ctr"/>
            <a:r>
              <a:rPr lang="en-US" sz="1600" b="1"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MB/s (Throughput)</a:t>
            </a:r>
          </a:p>
        </p:txBody>
      </p:sp>
      <p:sp>
        <p:nvSpPr>
          <p:cNvPr id="9" name="Text Placeholder 6">
            <a:extLst>
              <a:ext uri="{FF2B5EF4-FFF2-40B4-BE49-F238E27FC236}">
                <a16:creationId xmlns:a16="http://schemas.microsoft.com/office/drawing/2014/main" id="{FD03A3C4-98A8-4BFE-9953-3AAF7A163D37}"/>
              </a:ext>
            </a:extLst>
          </p:cNvPr>
          <p:cNvSpPr txBox="1">
            <a:spLocks/>
          </p:cNvSpPr>
          <p:nvPr/>
        </p:nvSpPr>
        <p:spPr>
          <a:xfrm>
            <a:off x="6990345" y="2906457"/>
            <a:ext cx="1797050" cy="340940"/>
          </a:xfrm>
          <a:prstGeom prst="rect">
            <a:avLst/>
          </a:prstGeom>
        </p:spPr>
        <p:txBody>
          <a:bodyPr/>
          <a:lstStyle>
            <a:lvl1pPr marL="0" indent="0" algn="l" defTabSz="457200" rtl="0" eaLnBrk="1" latinLnBrk="0" hangingPunct="1">
              <a:spcBef>
                <a:spcPct val="20000"/>
              </a:spcBef>
              <a:buFontTx/>
              <a:buNone/>
              <a:defRPr sz="2400" b="0" i="0" kern="1200">
                <a:solidFill>
                  <a:schemeClr val="accent6">
                    <a:lumMod val="50000"/>
                  </a:schemeClr>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accent6">
                    <a:lumMod val="50000"/>
                  </a:schemeClr>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accent6">
                    <a:lumMod val="50000"/>
                  </a:schemeClr>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Storage</a:t>
            </a:r>
            <a:b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Performance</a:t>
            </a:r>
          </a:p>
          <a:p>
            <a:pPr algn="ctr"/>
            <a:r>
              <a:rPr lang="en-US" sz="1600" b="1"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I/O Throughput</a:t>
            </a:r>
          </a:p>
        </p:txBody>
      </p:sp>
      <p:grpSp>
        <p:nvGrpSpPr>
          <p:cNvPr id="10" name="Group 9">
            <a:extLst>
              <a:ext uri="{FF2B5EF4-FFF2-40B4-BE49-F238E27FC236}">
                <a16:creationId xmlns:a16="http://schemas.microsoft.com/office/drawing/2014/main" id="{312F70CD-F0DD-47ED-B6B6-69526F9B5D43}"/>
              </a:ext>
            </a:extLst>
          </p:cNvPr>
          <p:cNvGrpSpPr>
            <a:grpSpLocks/>
          </p:cNvGrpSpPr>
          <p:nvPr/>
        </p:nvGrpSpPr>
        <p:grpSpPr bwMode="auto">
          <a:xfrm>
            <a:off x="2756946" y="1793401"/>
            <a:ext cx="1284368" cy="771627"/>
            <a:chOff x="0" y="0"/>
            <a:chExt cx="1622700" cy="974164"/>
          </a:xfrm>
        </p:grpSpPr>
        <p:pic>
          <p:nvPicPr>
            <p:cNvPr id="11" name="Picture 10" descr="RAM Chalk.png">
              <a:extLst>
                <a:ext uri="{FF2B5EF4-FFF2-40B4-BE49-F238E27FC236}">
                  <a16:creationId xmlns:a16="http://schemas.microsoft.com/office/drawing/2014/main" id="{7799E85A-09A3-4F8E-BD20-8BE14EF8CAF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579105"/>
              <a:ext cx="1622700" cy="39505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175"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12" name="Picture 11" descr="RAM Chalk.png">
              <a:extLst>
                <a:ext uri="{FF2B5EF4-FFF2-40B4-BE49-F238E27FC236}">
                  <a16:creationId xmlns:a16="http://schemas.microsoft.com/office/drawing/2014/main" id="{8F1B2155-3715-4857-AFBC-7680F295DDA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0"/>
              <a:ext cx="1622700" cy="39506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175"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pic>
        <p:nvPicPr>
          <p:cNvPr id="15" name="Picture Placeholder 7" descr="Deck_ComputeChip.png">
            <a:extLst>
              <a:ext uri="{FF2B5EF4-FFF2-40B4-BE49-F238E27FC236}">
                <a16:creationId xmlns:a16="http://schemas.microsoft.com/office/drawing/2014/main" id="{A8CB5130-883C-4A36-AA15-551B6CB9C71C}"/>
              </a:ext>
            </a:extLst>
          </p:cNvPr>
          <p:cNvPicPr>
            <a:picLocks noChangeAspect="1"/>
          </p:cNvPicPr>
          <p:nvPr/>
        </p:nvPicPr>
        <p:blipFill>
          <a:blip r:embed="rId4" cstate="email">
            <a:extLst>
              <a:ext uri="{28A0092B-C50C-407E-A947-70E740481C1C}">
                <a14:useLocalDpi xmlns:a14="http://schemas.microsoft.com/office/drawing/2010/main"/>
              </a:ext>
            </a:extLst>
          </a:blip>
          <a:srcRect l="-16824" r="-16824"/>
          <a:stretch>
            <a:fillRect/>
          </a:stretch>
        </p:blipFill>
        <p:spPr>
          <a:xfrm>
            <a:off x="337742" y="1528384"/>
            <a:ext cx="1797050" cy="1344612"/>
          </a:xfrm>
          <a:prstGeom prst="rect">
            <a:avLst/>
          </a:prstGeom>
        </p:spPr>
      </p:pic>
      <p:pic>
        <p:nvPicPr>
          <p:cNvPr id="16" name="Picture Placeholder 12" descr="Deck_Server-Storage.png">
            <a:extLst>
              <a:ext uri="{FF2B5EF4-FFF2-40B4-BE49-F238E27FC236}">
                <a16:creationId xmlns:a16="http://schemas.microsoft.com/office/drawing/2014/main" id="{71400D7E-7DC4-44E9-9240-1F41BCC0733A}"/>
              </a:ext>
            </a:extLst>
          </p:cNvPr>
          <p:cNvPicPr>
            <a:picLocks noChangeAspect="1"/>
          </p:cNvPicPr>
          <p:nvPr/>
        </p:nvPicPr>
        <p:blipFill>
          <a:blip r:embed="rId5" cstate="email">
            <a:extLst>
              <a:ext uri="{28A0092B-C50C-407E-A947-70E740481C1C}">
                <a14:useLocalDpi xmlns:a14="http://schemas.microsoft.com/office/drawing/2010/main"/>
              </a:ext>
            </a:extLst>
          </a:blip>
          <a:srcRect l="-16824" r="-16824"/>
          <a:stretch>
            <a:fillRect/>
          </a:stretch>
        </p:blipFill>
        <p:spPr>
          <a:xfrm>
            <a:off x="4634585" y="1528384"/>
            <a:ext cx="1797050" cy="1344612"/>
          </a:xfrm>
          <a:prstGeom prst="rect">
            <a:avLst/>
          </a:prstGeom>
        </p:spPr>
      </p:pic>
      <p:pic>
        <p:nvPicPr>
          <p:cNvPr id="17" name="Picture Placeholder 19" descr="Deck_HardDisk.png">
            <a:extLst>
              <a:ext uri="{FF2B5EF4-FFF2-40B4-BE49-F238E27FC236}">
                <a16:creationId xmlns:a16="http://schemas.microsoft.com/office/drawing/2014/main" id="{C4D1E2AD-EBFF-4AE6-8DDE-BA89713A16AF}"/>
              </a:ext>
            </a:extLst>
          </p:cNvPr>
          <p:cNvPicPr>
            <a:picLocks noChangeAspect="1"/>
          </p:cNvPicPr>
          <p:nvPr/>
        </p:nvPicPr>
        <p:blipFill>
          <a:blip r:embed="rId6" cstate="email">
            <a:extLst>
              <a:ext uri="{28A0092B-C50C-407E-A947-70E740481C1C}">
                <a14:useLocalDpi xmlns:a14="http://schemas.microsoft.com/office/drawing/2010/main"/>
              </a:ext>
            </a:extLst>
          </a:blip>
          <a:srcRect l="-16824" r="-16824"/>
          <a:stretch>
            <a:fillRect/>
          </a:stretch>
        </p:blipFill>
        <p:spPr>
          <a:xfrm>
            <a:off x="6990345" y="1528384"/>
            <a:ext cx="1797050" cy="1344612"/>
          </a:xfrm>
          <a:prstGeom prst="rect">
            <a:avLst/>
          </a:prstGeom>
        </p:spPr>
      </p:pic>
    </p:spTree>
    <p:extLst>
      <p:ext uri="{BB962C8B-B14F-4D97-AF65-F5344CB8AC3E}">
        <p14:creationId xmlns:p14="http://schemas.microsoft.com/office/powerpoint/2010/main" val="2932879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Amazon EC2: Flexible Compute Options</a:t>
            </a:r>
          </a:p>
        </p:txBody>
      </p:sp>
      <p:graphicFrame>
        <p:nvGraphicFramePr>
          <p:cNvPr id="7" name="Table 6"/>
          <p:cNvGraphicFramePr>
            <a:graphicFrameLocks noGrp="1"/>
          </p:cNvGraphicFramePr>
          <p:nvPr/>
        </p:nvGraphicFramePr>
        <p:xfrm>
          <a:off x="341313" y="947504"/>
          <a:ext cx="8464358" cy="3382227"/>
        </p:xfrm>
        <a:graphic>
          <a:graphicData uri="http://schemas.openxmlformats.org/drawingml/2006/table">
            <a:tbl>
              <a:tblPr firstRow="1" bandRow="1">
                <a:tableStyleId>{69012ECD-51FC-41F1-AA8D-1B2483CD663E}</a:tableStyleId>
              </a:tblPr>
              <a:tblGrid>
                <a:gridCol w="3456246">
                  <a:extLst>
                    <a:ext uri="{9D8B030D-6E8A-4147-A177-3AD203B41FA5}">
                      <a16:colId xmlns:a16="http://schemas.microsoft.com/office/drawing/2014/main" val="664897743"/>
                    </a:ext>
                  </a:extLst>
                </a:gridCol>
                <a:gridCol w="5008112">
                  <a:extLst>
                    <a:ext uri="{9D8B030D-6E8A-4147-A177-3AD203B41FA5}">
                      <a16:colId xmlns:a16="http://schemas.microsoft.com/office/drawing/2014/main" val="3633585689"/>
                    </a:ext>
                  </a:extLst>
                </a:gridCol>
              </a:tblGrid>
              <a:tr h="435281">
                <a:tc>
                  <a:txBody>
                    <a:bodyPr/>
                    <a:lstStyle>
                      <a:lvl1pPr marL="0" algn="l" defTabSz="457200" rtl="0" eaLnBrk="1" latinLnBrk="0" hangingPunct="1">
                        <a:defRPr sz="1800" b="1" kern="1200">
                          <a:solidFill>
                            <a:schemeClr val="lt1"/>
                          </a:solidFill>
                          <a:latin typeface="Amazon Ember"/>
                        </a:defRPr>
                      </a:lvl1pPr>
                      <a:lvl2pPr marL="457200" algn="l" defTabSz="457200" rtl="0" eaLnBrk="1" latinLnBrk="0" hangingPunct="1">
                        <a:defRPr sz="1800" b="1" kern="1200">
                          <a:solidFill>
                            <a:schemeClr val="lt1"/>
                          </a:solidFill>
                          <a:latin typeface="Amazon Ember"/>
                        </a:defRPr>
                      </a:lvl2pPr>
                      <a:lvl3pPr marL="914400" algn="l" defTabSz="457200" rtl="0" eaLnBrk="1" latinLnBrk="0" hangingPunct="1">
                        <a:defRPr sz="1800" b="1" kern="1200">
                          <a:solidFill>
                            <a:schemeClr val="lt1"/>
                          </a:solidFill>
                          <a:latin typeface="Amazon Ember"/>
                        </a:defRPr>
                      </a:lvl3pPr>
                      <a:lvl4pPr marL="1371600" algn="l" defTabSz="457200" rtl="0" eaLnBrk="1" latinLnBrk="0" hangingPunct="1">
                        <a:defRPr sz="1800" b="1" kern="1200">
                          <a:solidFill>
                            <a:schemeClr val="lt1"/>
                          </a:solidFill>
                          <a:latin typeface="Amazon Ember"/>
                        </a:defRPr>
                      </a:lvl4pPr>
                      <a:lvl5pPr marL="1828800" algn="l" defTabSz="457200" rtl="0" eaLnBrk="1" latinLnBrk="0" hangingPunct="1">
                        <a:defRPr sz="1800" b="1" kern="1200">
                          <a:solidFill>
                            <a:schemeClr val="lt1"/>
                          </a:solidFill>
                          <a:latin typeface="Amazon Ember"/>
                        </a:defRPr>
                      </a:lvl5pPr>
                      <a:lvl6pPr marL="2286000" algn="l" defTabSz="457200" rtl="0" eaLnBrk="1" latinLnBrk="0" hangingPunct="1">
                        <a:defRPr sz="1800" b="1" kern="1200">
                          <a:solidFill>
                            <a:schemeClr val="lt1"/>
                          </a:solidFill>
                          <a:latin typeface="Amazon Ember"/>
                        </a:defRPr>
                      </a:lvl6pPr>
                      <a:lvl7pPr marL="2743200" algn="l" defTabSz="457200" rtl="0" eaLnBrk="1" latinLnBrk="0" hangingPunct="1">
                        <a:defRPr sz="1800" b="1" kern="1200">
                          <a:solidFill>
                            <a:schemeClr val="lt1"/>
                          </a:solidFill>
                          <a:latin typeface="Amazon Ember"/>
                        </a:defRPr>
                      </a:lvl7pPr>
                      <a:lvl8pPr marL="3200400" algn="l" defTabSz="457200" rtl="0" eaLnBrk="1" latinLnBrk="0" hangingPunct="1">
                        <a:defRPr sz="1800" b="1" kern="1200">
                          <a:solidFill>
                            <a:schemeClr val="lt1"/>
                          </a:solidFill>
                          <a:latin typeface="Amazon Ember"/>
                        </a:defRPr>
                      </a:lvl8pPr>
                      <a:lvl9pPr marL="3657600" algn="l" defTabSz="457200" rtl="0" eaLnBrk="1" latinLnBrk="0" hangingPunct="1">
                        <a:defRPr sz="1800" b="1" kern="1200">
                          <a:solidFill>
                            <a:schemeClr val="lt1"/>
                          </a:solidFill>
                          <a:latin typeface="Amazon Ember"/>
                        </a:defRPr>
                      </a:lvl9pPr>
                    </a:lstStyle>
                    <a:p>
                      <a:pPr algn="ctr"/>
                      <a:r>
                        <a:rPr lang="en-US" sz="1200" dirty="0"/>
                        <a:t>Current Instance Families and Generation</a:t>
                      </a:r>
                    </a:p>
                  </a:txBody>
                  <a:tcPr marL="91451" marR="91451" marT="45710" marB="45710" anchor="ctr"/>
                </a:tc>
                <a:tc>
                  <a:txBody>
                    <a:bodyPr/>
                    <a:lstStyle>
                      <a:lvl1pPr marL="0" algn="l" defTabSz="457200" rtl="0" eaLnBrk="1" latinLnBrk="0" hangingPunct="1">
                        <a:defRPr sz="1800" b="1" kern="1200">
                          <a:solidFill>
                            <a:schemeClr val="lt1"/>
                          </a:solidFill>
                          <a:latin typeface="Amazon Ember"/>
                        </a:defRPr>
                      </a:lvl1pPr>
                      <a:lvl2pPr marL="457200" algn="l" defTabSz="457200" rtl="0" eaLnBrk="1" latinLnBrk="0" hangingPunct="1">
                        <a:defRPr sz="1800" b="1" kern="1200">
                          <a:solidFill>
                            <a:schemeClr val="lt1"/>
                          </a:solidFill>
                          <a:latin typeface="Amazon Ember"/>
                        </a:defRPr>
                      </a:lvl2pPr>
                      <a:lvl3pPr marL="914400" algn="l" defTabSz="457200" rtl="0" eaLnBrk="1" latinLnBrk="0" hangingPunct="1">
                        <a:defRPr sz="1800" b="1" kern="1200">
                          <a:solidFill>
                            <a:schemeClr val="lt1"/>
                          </a:solidFill>
                          <a:latin typeface="Amazon Ember"/>
                        </a:defRPr>
                      </a:lvl3pPr>
                      <a:lvl4pPr marL="1371600" algn="l" defTabSz="457200" rtl="0" eaLnBrk="1" latinLnBrk="0" hangingPunct="1">
                        <a:defRPr sz="1800" b="1" kern="1200">
                          <a:solidFill>
                            <a:schemeClr val="lt1"/>
                          </a:solidFill>
                          <a:latin typeface="Amazon Ember"/>
                        </a:defRPr>
                      </a:lvl4pPr>
                      <a:lvl5pPr marL="1828800" algn="l" defTabSz="457200" rtl="0" eaLnBrk="1" latinLnBrk="0" hangingPunct="1">
                        <a:defRPr sz="1800" b="1" kern="1200">
                          <a:solidFill>
                            <a:schemeClr val="lt1"/>
                          </a:solidFill>
                          <a:latin typeface="Amazon Ember"/>
                        </a:defRPr>
                      </a:lvl5pPr>
                      <a:lvl6pPr marL="2286000" algn="l" defTabSz="457200" rtl="0" eaLnBrk="1" latinLnBrk="0" hangingPunct="1">
                        <a:defRPr sz="1800" b="1" kern="1200">
                          <a:solidFill>
                            <a:schemeClr val="lt1"/>
                          </a:solidFill>
                          <a:latin typeface="Amazon Ember"/>
                        </a:defRPr>
                      </a:lvl6pPr>
                      <a:lvl7pPr marL="2743200" algn="l" defTabSz="457200" rtl="0" eaLnBrk="1" latinLnBrk="0" hangingPunct="1">
                        <a:defRPr sz="1800" b="1" kern="1200">
                          <a:solidFill>
                            <a:schemeClr val="lt1"/>
                          </a:solidFill>
                          <a:latin typeface="Amazon Ember"/>
                        </a:defRPr>
                      </a:lvl7pPr>
                      <a:lvl8pPr marL="3200400" algn="l" defTabSz="457200" rtl="0" eaLnBrk="1" latinLnBrk="0" hangingPunct="1">
                        <a:defRPr sz="1800" b="1" kern="1200">
                          <a:solidFill>
                            <a:schemeClr val="lt1"/>
                          </a:solidFill>
                          <a:latin typeface="Amazon Ember"/>
                        </a:defRPr>
                      </a:lvl8pPr>
                      <a:lvl9pPr marL="3657600" algn="l" defTabSz="457200" rtl="0" eaLnBrk="1" latinLnBrk="0" hangingPunct="1">
                        <a:defRPr sz="1800" b="1" kern="1200">
                          <a:solidFill>
                            <a:schemeClr val="lt1"/>
                          </a:solidFill>
                          <a:latin typeface="Amazon Ember"/>
                        </a:defRPr>
                      </a:lvl9pPr>
                    </a:lstStyle>
                    <a:p>
                      <a:pPr algn="ctr"/>
                      <a:r>
                        <a:rPr lang="en-US" sz="1200" dirty="0"/>
                        <a:t>Family/Usage</a:t>
                      </a:r>
                    </a:p>
                  </a:txBody>
                  <a:tcPr marL="91451" marR="91451" marT="45710" marB="45710" anchor="ctr"/>
                </a:tc>
                <a:extLst>
                  <a:ext uri="{0D108BD9-81ED-4DB2-BD59-A6C34878D82A}">
                    <a16:rowId xmlns:a16="http://schemas.microsoft.com/office/drawing/2014/main" val="3223808229"/>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M5, M4</a:t>
                      </a:r>
                    </a:p>
                  </a:txBody>
                  <a:tcPr marL="45720" marR="45720" marT="27432" marB="27432"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General</a:t>
                      </a:r>
                      <a:r>
                        <a:rPr lang="en-US" sz="1600" b="1" baseline="0" dirty="0">
                          <a:solidFill>
                            <a:schemeClr val="accent1">
                              <a:lumMod val="60000"/>
                              <a:lumOff val="40000"/>
                            </a:schemeClr>
                          </a:solidFill>
                        </a:rPr>
                        <a:t> Purpose </a:t>
                      </a:r>
                      <a:r>
                        <a:rPr lang="en-US" sz="1600" b="1" baseline="0" dirty="0">
                          <a:solidFill>
                            <a:srgbClr val="FFC000"/>
                          </a:solidFill>
                        </a:rPr>
                        <a:t>Compu</a:t>
                      </a:r>
                      <a:r>
                        <a:rPr lang="en-US" sz="1600" baseline="0" dirty="0">
                          <a:solidFill>
                            <a:srgbClr val="FFC000"/>
                          </a:solidFill>
                        </a:rPr>
                        <a:t>te</a:t>
                      </a:r>
                      <a:endParaRPr lang="en-US" sz="1600" dirty="0">
                        <a:solidFill>
                          <a:srgbClr val="FFC000"/>
                        </a:solidFill>
                      </a:endParaRP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37942374"/>
                  </a:ext>
                </a:extLst>
              </a:tr>
              <a:tr h="31091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T3, T2</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Burstable Performance</a:t>
                      </a: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78998238"/>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C5, C4</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Compute </a:t>
                      </a:r>
                      <a:r>
                        <a:rPr lang="en-US" sz="1600" u="none" dirty="0">
                          <a:solidFill>
                            <a:schemeClr val="bg1"/>
                          </a:solidFill>
                        </a:rPr>
                        <a:t>Optimized</a:t>
                      </a:r>
                      <a:endParaRPr lang="en-US" sz="1600" u="none" dirty="0">
                        <a:solidFill>
                          <a:schemeClr val="bg1"/>
                        </a:solidFill>
                        <a:latin typeface="Amazon Ember" panose="02000000000000000000" pitchFamily="2" charset="0"/>
                      </a:endParaRP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5025891"/>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P3, P2, G3, F1</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Accelerated </a:t>
                      </a:r>
                      <a:r>
                        <a:rPr lang="en-US" sz="1600" u="none" dirty="0">
                          <a:solidFill>
                            <a:schemeClr val="bg1"/>
                          </a:solidFill>
                        </a:rPr>
                        <a:t>Computing</a:t>
                      </a:r>
                      <a:endParaRPr lang="en-US" sz="1600" u="none" dirty="0">
                        <a:solidFill>
                          <a:schemeClr val="bg1"/>
                        </a:solidFill>
                        <a:latin typeface="Amazon Ember" panose="02000000000000000000" pitchFamily="2" charset="0"/>
                      </a:endParaRP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32326593"/>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X1, X1E, R5, R4, R3</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Memory </a:t>
                      </a:r>
                      <a:r>
                        <a:rPr lang="en-US" sz="1600" b="1" u="none" dirty="0">
                          <a:solidFill>
                            <a:schemeClr val="accent1">
                              <a:lumMod val="60000"/>
                              <a:lumOff val="40000"/>
                            </a:schemeClr>
                          </a:solidFill>
                        </a:rPr>
                        <a:t>Optimized</a:t>
                      </a:r>
                      <a:endParaRPr lang="en-US" sz="1600" b="1" u="none" dirty="0">
                        <a:solidFill>
                          <a:schemeClr val="accent1">
                            <a:lumMod val="60000"/>
                            <a:lumOff val="40000"/>
                          </a:schemeClr>
                        </a:solidFill>
                        <a:latin typeface="Amazon Ember" panose="02000000000000000000" pitchFamily="2" charset="0"/>
                      </a:endParaRP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82717587"/>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I3, M5D, C5D, R5D</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b="1" dirty="0">
                          <a:solidFill>
                            <a:schemeClr val="accent1">
                              <a:lumMod val="60000"/>
                              <a:lumOff val="40000"/>
                            </a:schemeClr>
                          </a:solidFill>
                        </a:rPr>
                        <a:t>Storage</a:t>
                      </a:r>
                      <a:r>
                        <a:rPr lang="en-US" sz="1600" b="1" baseline="0" dirty="0">
                          <a:solidFill>
                            <a:schemeClr val="accent1">
                              <a:lumMod val="60000"/>
                              <a:lumOff val="40000"/>
                            </a:schemeClr>
                          </a:solidFill>
                        </a:rPr>
                        <a:t> Optimized (I/O)</a:t>
                      </a:r>
                      <a:endParaRPr lang="en-US" sz="1600" b="1" dirty="0">
                        <a:solidFill>
                          <a:schemeClr val="accent1">
                            <a:lumMod val="60000"/>
                            <a:lumOff val="40000"/>
                          </a:schemeClr>
                        </a:solidFill>
                      </a:endParaRP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20152305"/>
                  </a:ext>
                </a:extLst>
              </a:tr>
              <a:tr h="435281">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D2</a:t>
                      </a:r>
                    </a:p>
                  </a:txBody>
                  <a:tcPr marL="91451" marR="91451" marT="45710" marB="45710" anchor="ctr">
                    <a:lnR w="12700" cap="flat" cmpd="sng" algn="ctr">
                      <a:solidFill>
                        <a:schemeClr val="tx1"/>
                      </a:solidFill>
                      <a:prstDash val="solid"/>
                      <a:round/>
                      <a:headEnd type="none" w="med" len="med"/>
                      <a:tailEnd type="none" w="med" len="med"/>
                    </a:lnR>
                  </a:tcPr>
                </a:tc>
                <a:tc>
                  <a:txBody>
                    <a:bodyPr/>
                    <a:lstStyle>
                      <a:lvl1pPr marL="0" algn="l" defTabSz="457200" rtl="0" eaLnBrk="1" latinLnBrk="0" hangingPunct="1">
                        <a:defRPr sz="1800" kern="1200">
                          <a:solidFill>
                            <a:schemeClr val="dk1"/>
                          </a:solidFill>
                          <a:latin typeface="Amazon Ember"/>
                        </a:defRPr>
                      </a:lvl1pPr>
                      <a:lvl2pPr marL="457200" algn="l" defTabSz="457200" rtl="0" eaLnBrk="1" latinLnBrk="0" hangingPunct="1">
                        <a:defRPr sz="1800" kern="1200">
                          <a:solidFill>
                            <a:schemeClr val="dk1"/>
                          </a:solidFill>
                          <a:latin typeface="Amazon Ember"/>
                        </a:defRPr>
                      </a:lvl2pPr>
                      <a:lvl3pPr marL="914400" algn="l" defTabSz="457200" rtl="0" eaLnBrk="1" latinLnBrk="0" hangingPunct="1">
                        <a:defRPr sz="1800" kern="1200">
                          <a:solidFill>
                            <a:schemeClr val="dk1"/>
                          </a:solidFill>
                          <a:latin typeface="Amazon Ember"/>
                        </a:defRPr>
                      </a:lvl3pPr>
                      <a:lvl4pPr marL="1371600" algn="l" defTabSz="457200" rtl="0" eaLnBrk="1" latinLnBrk="0" hangingPunct="1">
                        <a:defRPr sz="1800" kern="1200">
                          <a:solidFill>
                            <a:schemeClr val="dk1"/>
                          </a:solidFill>
                          <a:latin typeface="Amazon Ember"/>
                        </a:defRPr>
                      </a:lvl4pPr>
                      <a:lvl5pPr marL="1828800" algn="l" defTabSz="457200" rtl="0" eaLnBrk="1" latinLnBrk="0" hangingPunct="1">
                        <a:defRPr sz="1800" kern="1200">
                          <a:solidFill>
                            <a:schemeClr val="dk1"/>
                          </a:solidFill>
                          <a:latin typeface="Amazon Ember"/>
                        </a:defRPr>
                      </a:lvl5pPr>
                      <a:lvl6pPr marL="2286000" algn="l" defTabSz="457200" rtl="0" eaLnBrk="1" latinLnBrk="0" hangingPunct="1">
                        <a:defRPr sz="1800" kern="1200">
                          <a:solidFill>
                            <a:schemeClr val="dk1"/>
                          </a:solidFill>
                          <a:latin typeface="Amazon Ember"/>
                        </a:defRPr>
                      </a:lvl6pPr>
                      <a:lvl7pPr marL="2743200" algn="l" defTabSz="457200" rtl="0" eaLnBrk="1" latinLnBrk="0" hangingPunct="1">
                        <a:defRPr sz="1800" kern="1200">
                          <a:solidFill>
                            <a:schemeClr val="dk1"/>
                          </a:solidFill>
                          <a:latin typeface="Amazon Ember"/>
                        </a:defRPr>
                      </a:lvl7pPr>
                      <a:lvl8pPr marL="3200400" algn="l" defTabSz="457200" rtl="0" eaLnBrk="1" latinLnBrk="0" hangingPunct="1">
                        <a:defRPr sz="1800" kern="1200">
                          <a:solidFill>
                            <a:schemeClr val="dk1"/>
                          </a:solidFill>
                          <a:latin typeface="Amazon Ember"/>
                        </a:defRPr>
                      </a:lvl8pPr>
                      <a:lvl9pPr marL="3657600" algn="l" defTabSz="457200" rtl="0" eaLnBrk="1" latinLnBrk="0" hangingPunct="1">
                        <a:defRPr sz="1800" kern="1200">
                          <a:solidFill>
                            <a:schemeClr val="dk1"/>
                          </a:solidFill>
                          <a:latin typeface="Amazon Ember"/>
                        </a:defRPr>
                      </a:lvl9pPr>
                    </a:lstStyle>
                    <a:p>
                      <a:pPr algn="ctr"/>
                      <a:r>
                        <a:rPr lang="en-US" sz="1600" dirty="0">
                          <a:solidFill>
                            <a:schemeClr val="bg1"/>
                          </a:solidFill>
                        </a:rPr>
                        <a:t>Storage Optimized (Density)</a:t>
                      </a:r>
                    </a:p>
                  </a:txBody>
                  <a:tcPr marL="91451" marR="91451" marT="45710" marB="4571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07470898"/>
                  </a:ext>
                </a:extLst>
              </a:tr>
            </a:tbl>
          </a:graphicData>
        </a:graphic>
      </p:graphicFrame>
    </p:spTree>
    <p:extLst>
      <p:ext uri="{BB962C8B-B14F-4D97-AF65-F5344CB8AC3E}">
        <p14:creationId xmlns:p14="http://schemas.microsoft.com/office/powerpoint/2010/main" val="3430178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8198966"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High Availability and Disaster Recovery Options</a:t>
            </a:r>
          </a:p>
        </p:txBody>
      </p:sp>
    </p:spTree>
    <p:extLst>
      <p:ext uri="{BB962C8B-B14F-4D97-AF65-F5344CB8AC3E}">
        <p14:creationId xmlns:p14="http://schemas.microsoft.com/office/powerpoint/2010/main" val="2346881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SQL Server HA/DR on EC2</a:t>
            </a:r>
          </a:p>
        </p:txBody>
      </p:sp>
      <p:sp>
        <p:nvSpPr>
          <p:cNvPr id="3" name="Content Placeholder 2"/>
          <p:cNvSpPr>
            <a:spLocks noGrp="1"/>
          </p:cNvSpPr>
          <p:nvPr>
            <p:ph idx="4294967295"/>
          </p:nvPr>
        </p:nvSpPr>
        <p:spPr>
          <a:xfrm>
            <a:off x="337893" y="806968"/>
            <a:ext cx="8204200" cy="3552825"/>
          </a:xfrm>
        </p:spPr>
        <p:txBody>
          <a:bodyPr vert="horz" lIns="91440" tIns="45720" rIns="91440" bIns="45720" rtlCol="0">
            <a:noAutofit/>
          </a:bodyPr>
          <a:lstStyle/>
          <a:p>
            <a:pPr marL="342900" indent="-342900">
              <a:spcBef>
                <a:spcPts val="1200"/>
              </a:spcBef>
              <a:buClr>
                <a:schemeClr val="accent1"/>
              </a:buClr>
              <a:buFont typeface="Arial" panose="020B0604020202020204" pitchFamily="34" charset="0"/>
              <a:buChar char="•"/>
            </a:pPr>
            <a:r>
              <a:rPr lang="en-US" dirty="0"/>
              <a:t>Basic Always On Availability Groups (Standard Edition, 2016+)</a:t>
            </a:r>
          </a:p>
          <a:p>
            <a:pPr marL="342900" indent="-342900">
              <a:spcBef>
                <a:spcPts val="1200"/>
              </a:spcBef>
              <a:buClr>
                <a:schemeClr val="accent1"/>
              </a:buClr>
              <a:buFont typeface="Arial" panose="020B0604020202020204" pitchFamily="34" charset="0"/>
              <a:buChar char="•"/>
            </a:pPr>
            <a:r>
              <a:rPr lang="en-US" dirty="0"/>
              <a:t>Always On Availability Groups (Enterprise Edition)</a:t>
            </a:r>
          </a:p>
          <a:p>
            <a:pPr marL="342900" indent="-342900">
              <a:spcBef>
                <a:spcPts val="1200"/>
              </a:spcBef>
              <a:buClr>
                <a:schemeClr val="accent1"/>
              </a:buClr>
              <a:buFont typeface="Arial" panose="020B0604020202020204" pitchFamily="34" charset="0"/>
              <a:buChar char="•"/>
            </a:pPr>
            <a:r>
              <a:rPr lang="en-US" dirty="0"/>
              <a:t>Failover Cluster Instance</a:t>
            </a:r>
            <a:r>
              <a:rPr lang="en-US" dirty="0">
                <a:solidFill>
                  <a:schemeClr val="accent1"/>
                </a:solidFill>
              </a:rPr>
              <a:t>*</a:t>
            </a:r>
            <a:endParaRPr lang="en-US" dirty="0"/>
          </a:p>
          <a:p>
            <a:pPr marL="342900" indent="-342900">
              <a:spcBef>
                <a:spcPts val="1200"/>
              </a:spcBef>
              <a:buClr>
                <a:schemeClr val="accent1"/>
              </a:buClr>
              <a:buFont typeface="Arial" panose="020B0604020202020204" pitchFamily="34" charset="0"/>
              <a:buChar char="•"/>
            </a:pPr>
            <a:r>
              <a:rPr lang="en-US" i="1" dirty="0">
                <a:solidFill>
                  <a:schemeClr val="bg2">
                    <a:lumMod val="50000"/>
                  </a:schemeClr>
                </a:solidFill>
              </a:rPr>
              <a:t>Transaction Log Shipping (DR solution)</a:t>
            </a:r>
          </a:p>
          <a:p>
            <a:pPr marL="342900" indent="-342900">
              <a:spcBef>
                <a:spcPts val="1200"/>
              </a:spcBef>
              <a:buClr>
                <a:schemeClr val="accent1"/>
              </a:buClr>
              <a:buFont typeface="Arial" panose="020B0604020202020204" pitchFamily="34" charset="0"/>
              <a:buChar char="•"/>
            </a:pPr>
            <a:r>
              <a:rPr lang="en-US" i="1" dirty="0">
                <a:solidFill>
                  <a:schemeClr val="bg2">
                    <a:lumMod val="50000"/>
                  </a:schemeClr>
                </a:solidFill>
              </a:rPr>
              <a:t>Mirroring</a:t>
            </a:r>
          </a:p>
          <a:p>
            <a:pPr marL="457188" lvl="1" indent="0">
              <a:spcBef>
                <a:spcPts val="600"/>
              </a:spcBef>
              <a:buClr>
                <a:schemeClr val="accent1"/>
              </a:buClr>
              <a:buNone/>
            </a:pPr>
            <a:r>
              <a:rPr lang="en-US" sz="1400" dirty="0">
                <a:solidFill>
                  <a:schemeClr val="bg2">
                    <a:lumMod val="50000"/>
                  </a:schemeClr>
                </a:solidFill>
              </a:rPr>
              <a:t>This feature is in maintenance mode and may be removed in a future version of Microsoft SQL Server. Avoid using this feature in new development work, and plan to modify applications that currently use this feature. Use Always On availability groups instead.</a:t>
            </a:r>
          </a:p>
          <a:p>
            <a:pPr marL="457188" lvl="1" indent="0">
              <a:spcBef>
                <a:spcPts val="600"/>
              </a:spcBef>
              <a:buClr>
                <a:schemeClr val="accent1"/>
              </a:buClr>
              <a:buNone/>
            </a:pPr>
            <a:r>
              <a:rPr lang="en-US" sz="1400" b="1" u="sng" dirty="0">
                <a:solidFill>
                  <a:schemeClr val="bg2">
                    <a:lumMod val="50000"/>
                  </a:schemeClr>
                </a:solidFill>
              </a:rPr>
              <a:t>Basic Always On Availability Groups </a:t>
            </a:r>
            <a:r>
              <a:rPr lang="en-US" sz="1400" dirty="0">
                <a:solidFill>
                  <a:schemeClr val="bg2">
                    <a:lumMod val="50000"/>
                  </a:schemeClr>
                </a:solidFill>
              </a:rPr>
              <a:t>replace the deprecated Database Mirroring feature and provides a similar level of feature support.</a:t>
            </a:r>
          </a:p>
          <a:p>
            <a:pPr>
              <a:spcBef>
                <a:spcPts val="1200"/>
              </a:spcBef>
              <a:buClr>
                <a:schemeClr val="accent1"/>
              </a:buClr>
            </a:pPr>
            <a:r>
              <a:rPr lang="en-US" dirty="0">
                <a:solidFill>
                  <a:schemeClr val="bg1"/>
                </a:solidFill>
              </a:rPr>
              <a:t/>
            </a:r>
            <a:br>
              <a:rPr lang="en-US" dirty="0">
                <a:solidFill>
                  <a:schemeClr val="bg1"/>
                </a:solidFill>
              </a:rPr>
            </a:br>
            <a:endParaRPr lang="en-US" dirty="0">
              <a:solidFill>
                <a:schemeClr val="bg1"/>
              </a:solidFill>
            </a:endParaRPr>
          </a:p>
        </p:txBody>
      </p:sp>
      <p:sp>
        <p:nvSpPr>
          <p:cNvPr id="4" name="TextBox 3"/>
          <p:cNvSpPr txBox="1"/>
          <p:nvPr/>
        </p:nvSpPr>
        <p:spPr>
          <a:xfrm>
            <a:off x="336789" y="4359793"/>
            <a:ext cx="3682418" cy="276999"/>
          </a:xfrm>
          <a:prstGeom prst="rect">
            <a:avLst/>
          </a:prstGeom>
          <a:noFill/>
        </p:spPr>
        <p:txBody>
          <a:bodyPr wrap="none" rtlCol="0">
            <a:spAutoFit/>
          </a:bodyPr>
          <a:lstStyle/>
          <a:p>
            <a:r>
              <a:rPr lang="en-US" sz="1200" dirty="0">
                <a:solidFill>
                  <a:schemeClr val="accent1"/>
                </a:solidFill>
              </a:rPr>
              <a:t>* Some configurations may require third-party tools.</a:t>
            </a:r>
          </a:p>
        </p:txBody>
      </p:sp>
    </p:spTree>
    <p:extLst>
      <p:ext uri="{BB962C8B-B14F-4D97-AF65-F5344CB8AC3E}">
        <p14:creationId xmlns:p14="http://schemas.microsoft.com/office/powerpoint/2010/main" val="1064677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041309-D322-470D-AD44-32A41DB3B171}"/>
              </a:ext>
            </a:extLst>
          </p:cNvPr>
          <p:cNvSpPr>
            <a:spLocks noGrp="1"/>
          </p:cNvSpPr>
          <p:nvPr>
            <p:ph type="title"/>
          </p:nvPr>
        </p:nvSpPr>
        <p:spPr>
          <a:xfrm>
            <a:off x="219582" y="132080"/>
            <a:ext cx="8065677" cy="515354"/>
          </a:xfrm>
        </p:spPr>
        <p:txBody>
          <a:bodyPr/>
          <a:lstStyle/>
          <a:p>
            <a:r>
              <a:rPr lang="en-US" b="1" spc="100" dirty="0"/>
              <a:t>SQL Server 2016+ Enterprise vs. Standard Edition</a:t>
            </a:r>
            <a:endParaRPr lang="en-US" b="1" dirty="0"/>
          </a:p>
        </p:txBody>
      </p:sp>
      <p:graphicFrame>
        <p:nvGraphicFramePr>
          <p:cNvPr id="5" name="Content Placeholder 3">
            <a:extLst>
              <a:ext uri="{FF2B5EF4-FFF2-40B4-BE49-F238E27FC236}">
                <a16:creationId xmlns:a16="http://schemas.microsoft.com/office/drawing/2014/main" id="{8E9EFE1C-7C9C-45F0-81F7-59B4081464FC}"/>
              </a:ext>
            </a:extLst>
          </p:cNvPr>
          <p:cNvGraphicFramePr>
            <a:graphicFrameLocks/>
          </p:cNvGraphicFramePr>
          <p:nvPr>
            <p:extLst>
              <p:ext uri="{D42A27DB-BD31-4B8C-83A1-F6EECF244321}">
                <p14:modId xmlns:p14="http://schemas.microsoft.com/office/powerpoint/2010/main" val="3553649810"/>
              </p:ext>
            </p:extLst>
          </p:nvPr>
        </p:nvGraphicFramePr>
        <p:xfrm>
          <a:off x="440846" y="787169"/>
          <a:ext cx="7774629" cy="3771900"/>
        </p:xfrm>
        <a:graphic>
          <a:graphicData uri="http://schemas.openxmlformats.org/drawingml/2006/table">
            <a:tbl>
              <a:tblPr firstRow="1" bandRow="1">
                <a:tableStyleId>{69012ECD-51FC-41F1-AA8D-1B2483CD663E}</a:tableStyleId>
              </a:tblPr>
              <a:tblGrid>
                <a:gridCol w="4960740">
                  <a:extLst>
                    <a:ext uri="{9D8B030D-6E8A-4147-A177-3AD203B41FA5}">
                      <a16:colId xmlns:a16="http://schemas.microsoft.com/office/drawing/2014/main" val="20000"/>
                    </a:ext>
                  </a:extLst>
                </a:gridCol>
                <a:gridCol w="1534602">
                  <a:extLst>
                    <a:ext uri="{9D8B030D-6E8A-4147-A177-3AD203B41FA5}">
                      <a16:colId xmlns:a16="http://schemas.microsoft.com/office/drawing/2014/main" val="20001"/>
                    </a:ext>
                  </a:extLst>
                </a:gridCol>
                <a:gridCol w="1279287">
                  <a:extLst>
                    <a:ext uri="{9D8B030D-6E8A-4147-A177-3AD203B41FA5}">
                      <a16:colId xmlns:a16="http://schemas.microsoft.com/office/drawing/2014/main" val="20002"/>
                    </a:ext>
                  </a:extLst>
                </a:gridCol>
              </a:tblGrid>
              <a:tr h="333282">
                <a:tc>
                  <a:txBody>
                    <a:bodyPr/>
                    <a:lstStyle/>
                    <a:p>
                      <a:endParaRPr lang="en-US" sz="1800" dirty="0">
                        <a:solidFill>
                          <a:schemeClr val="bg1"/>
                        </a:solidFill>
                      </a:endParaRPr>
                    </a:p>
                  </a:txBody>
                  <a:tcPr marL="122927" marR="122927" marT="34290" marB="34290"/>
                </a:tc>
                <a:tc>
                  <a:txBody>
                    <a:bodyPr/>
                    <a:lstStyle/>
                    <a:p>
                      <a:pPr algn="ctr"/>
                      <a:r>
                        <a:rPr lang="en-US" sz="1800" dirty="0"/>
                        <a:t>AO AG</a:t>
                      </a:r>
                      <a:endParaRPr lang="en-US" sz="1800" dirty="0">
                        <a:solidFill>
                          <a:schemeClr val="bg1"/>
                        </a:solidFill>
                      </a:endParaRPr>
                    </a:p>
                  </a:txBody>
                  <a:tcPr marL="122927" marR="122927" marT="34290" marB="34290"/>
                </a:tc>
                <a:tc>
                  <a:txBody>
                    <a:bodyPr/>
                    <a:lstStyle/>
                    <a:p>
                      <a:pPr algn="ctr"/>
                      <a:r>
                        <a:rPr lang="en-US" sz="1800" dirty="0"/>
                        <a:t>Basic AG</a:t>
                      </a:r>
                      <a:endParaRPr lang="en-US" sz="1800" dirty="0">
                        <a:solidFill>
                          <a:schemeClr val="bg1"/>
                        </a:solidFill>
                      </a:endParaRPr>
                    </a:p>
                  </a:txBody>
                  <a:tcPr marL="122927" marR="122927" marT="34290" marB="34290"/>
                </a:tc>
                <a:extLst>
                  <a:ext uri="{0D108BD9-81ED-4DB2-BD59-A6C34878D82A}">
                    <a16:rowId xmlns:a16="http://schemas.microsoft.com/office/drawing/2014/main" val="10000"/>
                  </a:ext>
                </a:extLst>
              </a:tr>
              <a:tr h="292781">
                <a:tc>
                  <a:txBody>
                    <a:bodyPr/>
                    <a:lstStyle/>
                    <a:p>
                      <a:r>
                        <a:rPr lang="en-US" sz="1800" dirty="0">
                          <a:solidFill>
                            <a:schemeClr val="accent1">
                              <a:lumMod val="40000"/>
                              <a:lumOff val="60000"/>
                            </a:schemeClr>
                          </a:solidFill>
                          <a:latin typeface="Amazon Ember Regular"/>
                        </a:rPr>
                        <a:t>Always On Failover Cluster Instances (FCI)</a:t>
                      </a:r>
                    </a:p>
                  </a:txBody>
                  <a:tcPr marL="122927" marR="122927" marT="34290" marB="34290"/>
                </a:tc>
                <a:tc>
                  <a:txBody>
                    <a:bodyPr/>
                    <a:lstStyle/>
                    <a:p>
                      <a:pPr algn="ct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extLst>
                  <a:ext uri="{0D108BD9-81ED-4DB2-BD59-A6C34878D82A}">
                    <a16:rowId xmlns:a16="http://schemas.microsoft.com/office/drawing/2014/main" val="10003"/>
                  </a:ext>
                </a:extLst>
              </a:tr>
              <a:tr h="292781">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800">
                          <a:solidFill>
                            <a:schemeClr val="accent1">
                              <a:lumMod val="40000"/>
                              <a:lumOff val="60000"/>
                            </a:schemeClr>
                          </a:solidFill>
                          <a:latin typeface="Amazon Ember Regular"/>
                        </a:rPr>
                        <a:t>Clusterless Availability</a:t>
                      </a:r>
                      <a:r>
                        <a:rPr lang="en-US" sz="1800" baseline="0">
                          <a:solidFill>
                            <a:schemeClr val="accent1">
                              <a:lumMod val="40000"/>
                              <a:lumOff val="60000"/>
                            </a:schemeClr>
                          </a:solidFill>
                          <a:latin typeface="Amazon Ember Regular"/>
                        </a:rPr>
                        <a:t> Group</a:t>
                      </a:r>
                      <a:endParaRPr lang="en-US" sz="1800">
                        <a:solidFill>
                          <a:schemeClr val="accent1">
                            <a:lumMod val="40000"/>
                            <a:lumOff val="60000"/>
                          </a:schemeClr>
                        </a:solidFill>
                        <a:latin typeface="Amazon Ember Regular"/>
                      </a:endParaRP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tc>
                  <a:txBody>
                    <a:bodyPr/>
                    <a:lstStyle/>
                    <a:p>
                      <a:pPr algn="ct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extLst>
                  <a:ext uri="{0D108BD9-81ED-4DB2-BD59-A6C34878D82A}">
                    <a16:rowId xmlns:a16="http://schemas.microsoft.com/office/drawing/2014/main" val="10004"/>
                  </a:ext>
                </a:extLst>
              </a:tr>
              <a:tr h="292781">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800" kern="1200" dirty="0">
                          <a:solidFill>
                            <a:schemeClr val="accent1">
                              <a:lumMod val="40000"/>
                              <a:lumOff val="60000"/>
                            </a:schemeClr>
                          </a:solidFill>
                          <a:latin typeface="Amazon Ember Regular"/>
                          <a:ea typeface="+mn-ea"/>
                          <a:cs typeface="+mn-cs"/>
                        </a:rPr>
                        <a:t>Domain Independent Availability Group</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tc>
                  <a:txBody>
                    <a:bodyPr/>
                    <a:lstStyle/>
                    <a:p>
                      <a:pPr algn="ct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extLst>
                  <a:ext uri="{0D108BD9-81ED-4DB2-BD59-A6C34878D82A}">
                    <a16:rowId xmlns:a16="http://schemas.microsoft.com/office/drawing/2014/main" val="969300165"/>
                  </a:ext>
                </a:extLst>
              </a:tr>
              <a:tr h="292781">
                <a:tc>
                  <a:txBody>
                    <a:bodyPr/>
                    <a:lstStyle/>
                    <a:p>
                      <a:r>
                        <a:rPr lang="en-US" sz="1800" dirty="0">
                          <a:solidFill>
                            <a:schemeClr val="accent1">
                              <a:lumMod val="40000"/>
                              <a:lumOff val="60000"/>
                            </a:schemeClr>
                          </a:solidFill>
                          <a:latin typeface="Amazon Ember Regular"/>
                        </a:rPr>
                        <a:t>Log shipping</a:t>
                      </a:r>
                    </a:p>
                  </a:txBody>
                  <a:tcPr marL="122927" marR="122927" marT="34290" marB="34290"/>
                </a:tc>
                <a:tc>
                  <a:txBody>
                    <a:bodyPr/>
                    <a:lstStyle/>
                    <a:p>
                      <a:pPr algn="ct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1">
                              <a:lumMod val="40000"/>
                              <a:lumOff val="60000"/>
                            </a:schemeClr>
                          </a:solidFill>
                          <a:sym typeface="Wingdings" panose="05000000000000000000" pitchFamily="2" charset="2"/>
                        </a:rPr>
                        <a:t></a:t>
                      </a:r>
                      <a:endParaRPr lang="en-US" sz="1600" dirty="0">
                        <a:solidFill>
                          <a:schemeClr val="accent1">
                            <a:lumMod val="40000"/>
                            <a:lumOff val="60000"/>
                          </a:schemeClr>
                        </a:solidFill>
                      </a:endParaRPr>
                    </a:p>
                  </a:txBody>
                  <a:tcPr marL="0" marR="0" marT="0" marB="0"/>
                </a:tc>
                <a:extLst>
                  <a:ext uri="{0D108BD9-81ED-4DB2-BD59-A6C34878D82A}">
                    <a16:rowId xmlns:a16="http://schemas.microsoft.com/office/drawing/2014/main" val="10005"/>
                  </a:ext>
                </a:extLst>
              </a:tr>
              <a:tr h="292781">
                <a:tc>
                  <a:txBody>
                    <a:bodyPr/>
                    <a:lstStyle/>
                    <a:p>
                      <a:r>
                        <a:rPr lang="en-US" sz="1800" dirty="0">
                          <a:solidFill>
                            <a:schemeClr val="accent5">
                              <a:lumMod val="40000"/>
                              <a:lumOff val="60000"/>
                            </a:schemeClr>
                          </a:solidFill>
                          <a:latin typeface="Amazon Ember Regular"/>
                        </a:rPr>
                        <a:t>Multiple Secondary Replicas</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2191769177"/>
                  </a:ext>
                </a:extLst>
              </a:tr>
              <a:tr h="292781">
                <a:tc>
                  <a:txBody>
                    <a:bodyPr/>
                    <a:lstStyle/>
                    <a:p>
                      <a:r>
                        <a:rPr lang="en-US" sz="1800" dirty="0">
                          <a:solidFill>
                            <a:schemeClr val="accent5">
                              <a:lumMod val="40000"/>
                              <a:lumOff val="60000"/>
                            </a:schemeClr>
                          </a:solidFill>
                          <a:latin typeface="Amazon Ember Regular"/>
                        </a:rPr>
                        <a:t>Read Access to Secondary Replica</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1801481270"/>
                  </a:ext>
                </a:extLst>
              </a:tr>
              <a:tr h="292781">
                <a:tc>
                  <a:txBody>
                    <a:bodyPr/>
                    <a:lstStyle/>
                    <a:p>
                      <a:r>
                        <a:rPr lang="en-US" sz="1800" dirty="0">
                          <a:solidFill>
                            <a:schemeClr val="accent5">
                              <a:lumMod val="40000"/>
                              <a:lumOff val="60000"/>
                            </a:schemeClr>
                          </a:solidFill>
                          <a:latin typeface="Amazon Ember Regular"/>
                        </a:rPr>
                        <a:t>Backup from Secondary Replica</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1165891940"/>
                  </a:ext>
                </a:extLst>
              </a:tr>
              <a:tr h="292781">
                <a:tc>
                  <a:txBody>
                    <a:bodyPr/>
                    <a:lstStyle/>
                    <a:p>
                      <a:r>
                        <a:rPr lang="en-US" sz="1800" dirty="0">
                          <a:solidFill>
                            <a:schemeClr val="accent5">
                              <a:lumMod val="40000"/>
                              <a:lumOff val="60000"/>
                            </a:schemeClr>
                          </a:solidFill>
                          <a:latin typeface="Amazon Ember Regular"/>
                        </a:rPr>
                        <a:t>Multiple Databases in Availability Group</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4032184157"/>
                  </a:ext>
                </a:extLst>
              </a:tr>
              <a:tr h="292781">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800" dirty="0">
                          <a:solidFill>
                            <a:schemeClr val="accent5">
                              <a:lumMod val="40000"/>
                              <a:lumOff val="60000"/>
                            </a:schemeClr>
                          </a:solidFill>
                          <a:latin typeface="Amazon Ember Regular"/>
                        </a:rPr>
                        <a:t>Page </a:t>
                      </a:r>
                      <a:r>
                        <a:rPr lang="en-US" sz="1800" kern="1200" dirty="0">
                          <a:solidFill>
                            <a:schemeClr val="accent5">
                              <a:lumMod val="40000"/>
                              <a:lumOff val="60000"/>
                            </a:schemeClr>
                          </a:solidFill>
                          <a:latin typeface="Amazon Ember Regular"/>
                          <a:ea typeface="+mn-ea"/>
                          <a:cs typeface="+mn-cs"/>
                        </a:rPr>
                        <a:t>integrity checks on secondary replicas</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2585206316"/>
                  </a:ext>
                </a:extLst>
              </a:tr>
              <a:tr h="292781">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800" kern="1200" dirty="0">
                          <a:solidFill>
                            <a:schemeClr val="accent5">
                              <a:lumMod val="40000"/>
                              <a:lumOff val="60000"/>
                            </a:schemeClr>
                          </a:solidFill>
                          <a:latin typeface="Amazon Ember Regular"/>
                          <a:ea typeface="+mn-ea"/>
                          <a:cs typeface="+mn-cs"/>
                        </a:rPr>
                        <a:t>Participation in Distributed Availability Group</a:t>
                      </a:r>
                    </a:p>
                  </a:txBody>
                  <a:tcPr marL="122927" marR="122927" marT="34290" marB="34290"/>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dirty="0">
                          <a:solidFill>
                            <a:schemeClr val="accent5">
                              <a:lumMod val="40000"/>
                              <a:lumOff val="60000"/>
                            </a:schemeClr>
                          </a:solidFill>
                          <a:sym typeface="Wingdings" panose="05000000000000000000" pitchFamily="2" charset="2"/>
                        </a:rPr>
                        <a:t></a:t>
                      </a:r>
                      <a:endParaRPr lang="en-US" sz="1600" dirty="0">
                        <a:solidFill>
                          <a:schemeClr val="accent5">
                            <a:lumMod val="40000"/>
                            <a:lumOff val="60000"/>
                          </a:schemeClr>
                        </a:solidFill>
                      </a:endParaRPr>
                    </a:p>
                  </a:txBody>
                  <a:tcPr marL="0" marR="0" marT="0" marB="0"/>
                </a:tc>
                <a:tc>
                  <a:txBody>
                    <a:bodyPr/>
                    <a:lstStyle/>
                    <a:p>
                      <a:pPr algn="ctr"/>
                      <a:endParaRPr lang="en-US" sz="1600" dirty="0">
                        <a:solidFill>
                          <a:schemeClr val="bg1"/>
                        </a:solidFill>
                      </a:endParaRPr>
                    </a:p>
                  </a:txBody>
                  <a:tcPr marL="0" marR="0" marT="0" marB="0"/>
                </a:tc>
                <a:extLst>
                  <a:ext uri="{0D108BD9-81ED-4DB2-BD59-A6C34878D82A}">
                    <a16:rowId xmlns:a16="http://schemas.microsoft.com/office/drawing/2014/main" val="171848906"/>
                  </a:ext>
                </a:extLst>
              </a:tr>
            </a:tbl>
          </a:graphicData>
        </a:graphic>
      </p:graphicFrame>
    </p:spTree>
    <p:extLst>
      <p:ext uri="{BB962C8B-B14F-4D97-AF65-F5344CB8AC3E}">
        <p14:creationId xmlns:p14="http://schemas.microsoft.com/office/powerpoint/2010/main" val="2954661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Basic Availability Group (SQL Server Standard)</a:t>
            </a:r>
            <a:endParaRPr lang="en-US" b="1" dirty="0"/>
          </a:p>
        </p:txBody>
      </p:sp>
      <p:sp>
        <p:nvSpPr>
          <p:cNvPr id="26" name="Rounded Rectangle 4">
            <a:extLst>
              <a:ext uri="{FF2B5EF4-FFF2-40B4-BE49-F238E27FC236}">
                <a16:creationId xmlns:a16="http://schemas.microsoft.com/office/drawing/2014/main" id="{4306DB14-9DB1-41F7-8228-56752E4B8ED9}"/>
              </a:ext>
            </a:extLst>
          </p:cNvPr>
          <p:cNvSpPr/>
          <p:nvPr/>
        </p:nvSpPr>
        <p:spPr>
          <a:xfrm>
            <a:off x="4005767" y="752122"/>
            <a:ext cx="4904629" cy="303797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9" name="TextBox 38">
            <a:extLst>
              <a:ext uri="{FF2B5EF4-FFF2-40B4-BE49-F238E27FC236}">
                <a16:creationId xmlns:a16="http://schemas.microsoft.com/office/drawing/2014/main" id="{FE7E379D-C8C4-4B0B-814C-E4D452AB0E69}"/>
              </a:ext>
            </a:extLst>
          </p:cNvPr>
          <p:cNvSpPr txBox="1"/>
          <p:nvPr/>
        </p:nvSpPr>
        <p:spPr>
          <a:xfrm>
            <a:off x="6071782" y="3661095"/>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grpSp>
        <p:nvGrpSpPr>
          <p:cNvPr id="18" name="Group 17">
            <a:extLst>
              <a:ext uri="{FF2B5EF4-FFF2-40B4-BE49-F238E27FC236}">
                <a16:creationId xmlns:a16="http://schemas.microsoft.com/office/drawing/2014/main" id="{9D746F17-83DE-411D-B7DD-9944657A95CD}"/>
              </a:ext>
            </a:extLst>
          </p:cNvPr>
          <p:cNvGrpSpPr/>
          <p:nvPr/>
        </p:nvGrpSpPr>
        <p:grpSpPr>
          <a:xfrm>
            <a:off x="4239113" y="1203240"/>
            <a:ext cx="2180981" cy="2048214"/>
            <a:chOff x="1276535" y="1166139"/>
            <a:chExt cx="2180981" cy="2048214"/>
          </a:xfrm>
        </p:grpSpPr>
        <p:sp>
          <p:nvSpPr>
            <p:cNvPr id="50" name="Rounded Rectangle 6">
              <a:extLst>
                <a:ext uri="{FF2B5EF4-FFF2-40B4-BE49-F238E27FC236}">
                  <a16:creationId xmlns:a16="http://schemas.microsoft.com/office/drawing/2014/main" id="{43D3B355-81FC-4A57-BFB1-1E744FD27BE3}"/>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TextBox 32">
              <a:extLst>
                <a:ext uri="{FF2B5EF4-FFF2-40B4-BE49-F238E27FC236}">
                  <a16:creationId xmlns:a16="http://schemas.microsoft.com/office/drawing/2014/main" id="{4A94D9CB-99C0-47DF-A8F4-989A469A23A0}"/>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1</a:t>
              </a:r>
            </a:p>
          </p:txBody>
        </p:sp>
        <p:grpSp>
          <p:nvGrpSpPr>
            <p:cNvPr id="28" name="Group 27">
              <a:extLst>
                <a:ext uri="{FF2B5EF4-FFF2-40B4-BE49-F238E27FC236}">
                  <a16:creationId xmlns:a16="http://schemas.microsoft.com/office/drawing/2014/main" id="{1020712F-A6BC-4994-A424-630B3492DB10}"/>
                </a:ext>
              </a:extLst>
            </p:cNvPr>
            <p:cNvGrpSpPr/>
            <p:nvPr/>
          </p:nvGrpSpPr>
          <p:grpSpPr>
            <a:xfrm>
              <a:off x="1608319" y="1338290"/>
              <a:ext cx="1517416" cy="1519357"/>
              <a:chOff x="4629151" y="2824163"/>
              <a:chExt cx="1555751" cy="1487612"/>
            </a:xfrm>
          </p:grpSpPr>
          <p:sp>
            <p:nvSpPr>
              <p:cNvPr id="48" name="Rounded Rectangle 9">
                <a:extLst>
                  <a:ext uri="{FF2B5EF4-FFF2-40B4-BE49-F238E27FC236}">
                    <a16:creationId xmlns:a16="http://schemas.microsoft.com/office/drawing/2014/main" id="{81212020-2253-44B8-9E58-58BCBAA7F048}"/>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TextBox 37">
                <a:extLst>
                  <a:ext uri="{FF2B5EF4-FFF2-40B4-BE49-F238E27FC236}">
                    <a16:creationId xmlns:a16="http://schemas.microsoft.com/office/drawing/2014/main" id="{8F42591A-01F2-4ED6-860E-A7231E34E970}"/>
                  </a:ext>
                </a:extLst>
              </p:cNvPr>
              <p:cNvSpPr txBox="1">
                <a:spLocks noChangeArrowheads="1"/>
              </p:cNvSpPr>
              <p:nvPr/>
            </p:nvSpPr>
            <p:spPr bwMode="auto">
              <a:xfrm>
                <a:off x="4629151" y="4059634"/>
                <a:ext cx="1555750" cy="252141"/>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a</a:t>
                </a:r>
              </a:p>
            </p:txBody>
          </p:sp>
        </p:grpSp>
        <p:pic>
          <p:nvPicPr>
            <p:cNvPr id="30" name="Picture 29">
              <a:extLst>
                <a:ext uri="{FF2B5EF4-FFF2-40B4-BE49-F238E27FC236}">
                  <a16:creationId xmlns:a16="http://schemas.microsoft.com/office/drawing/2014/main" id="{9CAEAE54-EAF1-4DB0-8011-CD3D23983D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5" name="Group 4">
              <a:extLst>
                <a:ext uri="{FF2B5EF4-FFF2-40B4-BE49-F238E27FC236}">
                  <a16:creationId xmlns:a16="http://schemas.microsoft.com/office/drawing/2014/main" id="{61C71648-ECB8-419E-AE05-815A78805B72}"/>
                </a:ext>
              </a:extLst>
            </p:cNvPr>
            <p:cNvGrpSpPr/>
            <p:nvPr/>
          </p:nvGrpSpPr>
          <p:grpSpPr>
            <a:xfrm>
              <a:off x="1920184" y="1515781"/>
              <a:ext cx="1127252" cy="1129223"/>
              <a:chOff x="2009196" y="1540057"/>
              <a:chExt cx="1127252" cy="1129223"/>
            </a:xfrm>
          </p:grpSpPr>
          <p:sp>
            <p:nvSpPr>
              <p:cNvPr id="53" name="Rectangle: Rounded Corners 52">
                <a:extLst>
                  <a:ext uri="{FF2B5EF4-FFF2-40B4-BE49-F238E27FC236}">
                    <a16:creationId xmlns:a16="http://schemas.microsoft.com/office/drawing/2014/main" id="{954678F7-70B7-4203-A9F0-D7C4D4E91E58}"/>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A29512CB-82BA-4244-A64E-724F49614992}"/>
                  </a:ext>
                </a:extLst>
              </p:cNvPr>
              <p:cNvSpPr txBox="1"/>
              <p:nvPr/>
            </p:nvSpPr>
            <p:spPr>
              <a:xfrm>
                <a:off x="2060456" y="1652966"/>
                <a:ext cx="731520" cy="461665"/>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Primary Replica</a:t>
                </a:r>
              </a:p>
            </p:txBody>
          </p:sp>
          <p:pic>
            <p:nvPicPr>
              <p:cNvPr id="31" name="Picture 30" descr="Generic-Database.png">
                <a:extLst>
                  <a:ext uri="{FF2B5EF4-FFF2-40B4-BE49-F238E27FC236}">
                    <a16:creationId xmlns:a16="http://schemas.microsoft.com/office/drawing/2014/main" id="{4B03904E-F89D-4505-84B5-F348B16D7A4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grpSp>
        <p:nvGrpSpPr>
          <p:cNvPr id="3" name="Group 2">
            <a:extLst>
              <a:ext uri="{FF2B5EF4-FFF2-40B4-BE49-F238E27FC236}">
                <a16:creationId xmlns:a16="http://schemas.microsoft.com/office/drawing/2014/main" id="{3D55C13C-1253-4D30-AEA2-8C2A5695742F}"/>
              </a:ext>
            </a:extLst>
          </p:cNvPr>
          <p:cNvGrpSpPr/>
          <p:nvPr/>
        </p:nvGrpSpPr>
        <p:grpSpPr>
          <a:xfrm>
            <a:off x="4221898" y="813652"/>
            <a:ext cx="4508422" cy="2657063"/>
            <a:chOff x="831274" y="813652"/>
            <a:chExt cx="4508422" cy="2657063"/>
          </a:xfrm>
        </p:grpSpPr>
        <p:sp>
          <p:nvSpPr>
            <p:cNvPr id="38" name="Rounded Rectangle 32">
              <a:extLst>
                <a:ext uri="{FF2B5EF4-FFF2-40B4-BE49-F238E27FC236}">
                  <a16:creationId xmlns:a16="http://schemas.microsoft.com/office/drawing/2014/main" id="{B3AE68B3-79F7-47FB-97EC-C465B547A418}"/>
                </a:ext>
              </a:extLst>
            </p:cNvPr>
            <p:cNvSpPr/>
            <p:nvPr/>
          </p:nvSpPr>
          <p:spPr>
            <a:xfrm>
              <a:off x="831274" y="989902"/>
              <a:ext cx="4508422"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2" name="Picture 51">
              <a:extLst>
                <a:ext uri="{FF2B5EF4-FFF2-40B4-BE49-F238E27FC236}">
                  <a16:creationId xmlns:a16="http://schemas.microsoft.com/office/drawing/2014/main" id="{ADB962E8-9EDD-47E8-BD9D-C3218E1E5FE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32" name="Group 31">
            <a:extLst>
              <a:ext uri="{FF2B5EF4-FFF2-40B4-BE49-F238E27FC236}">
                <a16:creationId xmlns:a16="http://schemas.microsoft.com/office/drawing/2014/main" id="{F4F46607-C218-4332-8147-A15D01E396F2}"/>
              </a:ext>
            </a:extLst>
          </p:cNvPr>
          <p:cNvGrpSpPr/>
          <p:nvPr/>
        </p:nvGrpSpPr>
        <p:grpSpPr>
          <a:xfrm>
            <a:off x="6549338" y="1196567"/>
            <a:ext cx="2180981" cy="2048214"/>
            <a:chOff x="1276535" y="1166139"/>
            <a:chExt cx="2180981" cy="2048214"/>
          </a:xfrm>
        </p:grpSpPr>
        <p:sp>
          <p:nvSpPr>
            <p:cNvPr id="33" name="Rounded Rectangle 6">
              <a:extLst>
                <a:ext uri="{FF2B5EF4-FFF2-40B4-BE49-F238E27FC236}">
                  <a16:creationId xmlns:a16="http://schemas.microsoft.com/office/drawing/2014/main" id="{BBF17997-2700-44B1-99F5-7540FA9E0349}"/>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32">
              <a:extLst>
                <a:ext uri="{FF2B5EF4-FFF2-40B4-BE49-F238E27FC236}">
                  <a16:creationId xmlns:a16="http://schemas.microsoft.com/office/drawing/2014/main" id="{1E28A1CC-9ECE-4032-824E-DF47066C7D2F}"/>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2</a:t>
              </a:r>
            </a:p>
          </p:txBody>
        </p:sp>
        <p:grpSp>
          <p:nvGrpSpPr>
            <p:cNvPr id="35" name="Group 34">
              <a:extLst>
                <a:ext uri="{FF2B5EF4-FFF2-40B4-BE49-F238E27FC236}">
                  <a16:creationId xmlns:a16="http://schemas.microsoft.com/office/drawing/2014/main" id="{54041920-AEB5-4DA5-BD61-019E987EF018}"/>
                </a:ext>
              </a:extLst>
            </p:cNvPr>
            <p:cNvGrpSpPr/>
            <p:nvPr/>
          </p:nvGrpSpPr>
          <p:grpSpPr>
            <a:xfrm>
              <a:off x="1608319" y="1338289"/>
              <a:ext cx="1517416" cy="1523445"/>
              <a:chOff x="4629151" y="2824163"/>
              <a:chExt cx="1555751" cy="1491615"/>
            </a:xfrm>
          </p:grpSpPr>
          <p:sp>
            <p:nvSpPr>
              <p:cNvPr id="43" name="Rounded Rectangle 9">
                <a:extLst>
                  <a:ext uri="{FF2B5EF4-FFF2-40B4-BE49-F238E27FC236}">
                    <a16:creationId xmlns:a16="http://schemas.microsoft.com/office/drawing/2014/main" id="{E34B20A4-23ED-45E2-A923-5CD066AA6CDB}"/>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37">
                <a:extLst>
                  <a:ext uri="{FF2B5EF4-FFF2-40B4-BE49-F238E27FC236}">
                    <a16:creationId xmlns:a16="http://schemas.microsoft.com/office/drawing/2014/main" id="{FBF5BF03-F6CC-49CF-BABE-4E601435F473}"/>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b</a:t>
                </a:r>
              </a:p>
            </p:txBody>
          </p:sp>
        </p:grpSp>
        <p:pic>
          <p:nvPicPr>
            <p:cNvPr id="36" name="Picture 35">
              <a:extLst>
                <a:ext uri="{FF2B5EF4-FFF2-40B4-BE49-F238E27FC236}">
                  <a16:creationId xmlns:a16="http://schemas.microsoft.com/office/drawing/2014/main" id="{7CA3FCC2-0810-4F35-A5AC-89CBD9E816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37" name="Group 36">
              <a:extLst>
                <a:ext uri="{FF2B5EF4-FFF2-40B4-BE49-F238E27FC236}">
                  <a16:creationId xmlns:a16="http://schemas.microsoft.com/office/drawing/2014/main" id="{12B063FA-1CF9-475C-BDC8-D1A916282455}"/>
                </a:ext>
              </a:extLst>
            </p:cNvPr>
            <p:cNvGrpSpPr/>
            <p:nvPr/>
          </p:nvGrpSpPr>
          <p:grpSpPr>
            <a:xfrm>
              <a:off x="1868863" y="1515781"/>
              <a:ext cx="1178573" cy="1129223"/>
              <a:chOff x="1957875" y="1540057"/>
              <a:chExt cx="1178573" cy="1129223"/>
            </a:xfrm>
          </p:grpSpPr>
          <p:sp>
            <p:nvSpPr>
              <p:cNvPr id="40" name="Rectangle: Rounded Corners 39">
                <a:extLst>
                  <a:ext uri="{FF2B5EF4-FFF2-40B4-BE49-F238E27FC236}">
                    <a16:creationId xmlns:a16="http://schemas.microsoft.com/office/drawing/2014/main" id="{AC0B7432-B97A-42BA-AE8C-CA683E1FCCAE}"/>
                  </a:ext>
                </a:extLst>
              </p:cNvPr>
              <p:cNvSpPr/>
              <p:nvPr/>
            </p:nvSpPr>
            <p:spPr>
              <a:xfrm>
                <a:off x="2009196" y="1540057"/>
                <a:ext cx="791464" cy="731521"/>
              </a:xfrm>
              <a:prstGeom prst="roundRect">
                <a:avLst/>
              </a:prstGeom>
              <a:solidFill>
                <a:schemeClr val="bg2">
                  <a:lumMod val="65000"/>
                </a:schemeClr>
              </a:solidFill>
              <a:ln>
                <a:noFill/>
              </a:ln>
              <a:effectLst>
                <a:outerShdw dist="76200" dir="8100000" algn="tr" rotWithShape="0">
                  <a:schemeClr val="bg2">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D01CAEC8-9AE3-4B1E-9181-0854ACAC3081}"/>
                  </a:ext>
                </a:extLst>
              </p:cNvPr>
              <p:cNvSpPr txBox="1"/>
              <p:nvPr/>
            </p:nvSpPr>
            <p:spPr>
              <a:xfrm>
                <a:off x="1957875" y="1652966"/>
                <a:ext cx="842785" cy="461665"/>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Secondary Replica</a:t>
                </a:r>
              </a:p>
            </p:txBody>
          </p:sp>
          <p:pic>
            <p:nvPicPr>
              <p:cNvPr id="42" name="Picture 41" descr="Generic-Database.png">
                <a:extLst>
                  <a:ext uri="{FF2B5EF4-FFF2-40B4-BE49-F238E27FC236}">
                    <a16:creationId xmlns:a16="http://schemas.microsoft.com/office/drawing/2014/main" id="{DE3D83F9-179B-4070-AE86-B7AEAE7A458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sp>
        <p:nvSpPr>
          <p:cNvPr id="67" name="TextBox 66">
            <a:extLst>
              <a:ext uri="{FF2B5EF4-FFF2-40B4-BE49-F238E27FC236}">
                <a16:creationId xmlns:a16="http://schemas.microsoft.com/office/drawing/2014/main" id="{2BC66BD8-70A7-433F-8CDE-F90A358D21CB}"/>
              </a:ext>
            </a:extLst>
          </p:cNvPr>
          <p:cNvSpPr txBox="1"/>
          <p:nvPr/>
        </p:nvSpPr>
        <p:spPr>
          <a:xfrm>
            <a:off x="6071782" y="3654705"/>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65" name="Rectangle: Rounded Corners 64">
            <a:extLst>
              <a:ext uri="{FF2B5EF4-FFF2-40B4-BE49-F238E27FC236}">
                <a16:creationId xmlns:a16="http://schemas.microsoft.com/office/drawing/2014/main" id="{A9E63A13-4B9D-4AEB-873A-FF9D475BCD31}"/>
              </a:ext>
            </a:extLst>
          </p:cNvPr>
          <p:cNvSpPr/>
          <p:nvPr/>
        </p:nvSpPr>
        <p:spPr>
          <a:xfrm>
            <a:off x="4535825" y="1926190"/>
            <a:ext cx="3920708" cy="649262"/>
          </a:xfrm>
          <a:prstGeom prst="roundRect">
            <a:avLst/>
          </a:prstGeom>
          <a:solidFill>
            <a:schemeClr val="accent4">
              <a:lumMod val="7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6" name="TextBox 5">
            <a:extLst>
              <a:ext uri="{FF2B5EF4-FFF2-40B4-BE49-F238E27FC236}">
                <a16:creationId xmlns:a16="http://schemas.microsoft.com/office/drawing/2014/main" id="{18B21056-99E5-49AF-A18F-EB8B131C3D1E}"/>
              </a:ext>
            </a:extLst>
          </p:cNvPr>
          <p:cNvSpPr txBox="1"/>
          <p:nvPr/>
        </p:nvSpPr>
        <p:spPr>
          <a:xfrm>
            <a:off x="5870509" y="1935511"/>
            <a:ext cx="1258678" cy="646331"/>
          </a:xfrm>
          <a:prstGeom prst="rect">
            <a:avLst/>
          </a:prstGeom>
          <a:noFill/>
        </p:spPr>
        <p:txBody>
          <a:bodyPr wrap="none" rtlCol="0">
            <a:spAutoFit/>
          </a:bodyPr>
          <a:lstStyle/>
          <a:p>
            <a:pPr algn="ctr"/>
            <a:r>
              <a:rPr lang="en-US" sz="1200" dirty="0">
                <a:solidFill>
                  <a:schemeClr val="bg1"/>
                </a:solidFill>
              </a:rPr>
              <a:t>Synchronous or</a:t>
            </a:r>
          </a:p>
          <a:p>
            <a:pPr algn="ctr"/>
            <a:r>
              <a:rPr lang="en-US" sz="1200" dirty="0">
                <a:solidFill>
                  <a:schemeClr val="bg1"/>
                </a:solidFill>
              </a:rPr>
              <a:t>Asynchronous</a:t>
            </a:r>
          </a:p>
          <a:p>
            <a:pPr algn="ctr"/>
            <a:r>
              <a:rPr lang="en-US" sz="1200" dirty="0">
                <a:solidFill>
                  <a:schemeClr val="bg1"/>
                </a:solidFill>
              </a:rPr>
              <a:t>commit</a:t>
            </a:r>
          </a:p>
        </p:txBody>
      </p:sp>
      <p:sp>
        <p:nvSpPr>
          <p:cNvPr id="84" name="TextBox 83">
            <a:extLst>
              <a:ext uri="{FF2B5EF4-FFF2-40B4-BE49-F238E27FC236}">
                <a16:creationId xmlns:a16="http://schemas.microsoft.com/office/drawing/2014/main" id="{50F7687E-78A6-4692-B9CE-7B66B3FD3D9C}"/>
              </a:ext>
            </a:extLst>
          </p:cNvPr>
          <p:cNvSpPr txBox="1"/>
          <p:nvPr/>
        </p:nvSpPr>
        <p:spPr>
          <a:xfrm>
            <a:off x="393319" y="791048"/>
            <a:ext cx="3423897" cy="3323987"/>
          </a:xfrm>
          <a:prstGeom prst="rect">
            <a:avLst/>
          </a:prstGeom>
          <a:noFill/>
        </p:spPr>
        <p:txBody>
          <a:bodyPr wrap="square" rtlCol="0">
            <a:spAutoFit/>
          </a:bodyPr>
          <a:lstStyle/>
          <a:p>
            <a:pPr marL="171450" indent="-171450">
              <a:spcBef>
                <a:spcPts val="1200"/>
              </a:spcBef>
              <a:buFont typeface="Arial" panose="020B0604020202020204" pitchFamily="34" charset="0"/>
              <a:buChar char="•"/>
            </a:pPr>
            <a:r>
              <a:rPr lang="en-US" dirty="0">
                <a:solidFill>
                  <a:schemeClr val="bg1"/>
                </a:solidFill>
                <a:latin typeface="Amazon Ember Regular"/>
              </a:rPr>
              <a:t>In many practical cases, </a:t>
            </a:r>
            <a:r>
              <a:rPr lang="en-US" b="1" dirty="0">
                <a:solidFill>
                  <a:schemeClr val="accent1">
                    <a:lumMod val="60000"/>
                    <a:lumOff val="40000"/>
                  </a:schemeClr>
                </a:solidFill>
                <a:latin typeface="Amazon Ember Regular"/>
              </a:rPr>
              <a:t>Basic AG suffices</a:t>
            </a:r>
            <a:r>
              <a:rPr lang="en-US" dirty="0">
                <a:solidFill>
                  <a:schemeClr val="bg1"/>
                </a:solidFill>
                <a:latin typeface="Amazon Ember Regular"/>
              </a:rPr>
              <a:t> for business needs</a:t>
            </a:r>
          </a:p>
          <a:p>
            <a:pPr marL="171450" indent="-171450">
              <a:spcBef>
                <a:spcPts val="1200"/>
              </a:spcBef>
              <a:buFont typeface="Arial" panose="020B0604020202020204" pitchFamily="34" charset="0"/>
              <a:buChar char="•"/>
            </a:pPr>
            <a:r>
              <a:rPr lang="en-US" dirty="0">
                <a:solidFill>
                  <a:schemeClr val="bg1"/>
                </a:solidFill>
                <a:latin typeface="Amazon Ember Regular"/>
              </a:rPr>
              <a:t>Can deliver high performance and resiliency</a:t>
            </a:r>
          </a:p>
          <a:p>
            <a:pPr marL="171450" indent="-171450">
              <a:spcBef>
                <a:spcPts val="1200"/>
              </a:spcBef>
              <a:buFont typeface="Arial" panose="020B0604020202020204" pitchFamily="34" charset="0"/>
              <a:buChar char="•"/>
            </a:pPr>
            <a:r>
              <a:rPr lang="en-US" dirty="0">
                <a:solidFill>
                  <a:schemeClr val="bg1"/>
                </a:solidFill>
                <a:latin typeface="Amazon Ember Regular"/>
              </a:rPr>
              <a:t>Basic Availability Group contains only one DB (</a:t>
            </a:r>
            <a:r>
              <a:rPr lang="en-US" b="1" dirty="0">
                <a:solidFill>
                  <a:schemeClr val="accent1">
                    <a:lumMod val="60000"/>
                    <a:lumOff val="40000"/>
                  </a:schemeClr>
                </a:solidFill>
                <a:latin typeface="Amazon Ember Regular"/>
              </a:rPr>
              <a:t>but you may have multiple BAGs!</a:t>
            </a:r>
            <a:r>
              <a:rPr lang="en-US" dirty="0">
                <a:solidFill>
                  <a:schemeClr val="bg1"/>
                </a:solidFill>
                <a:latin typeface="Amazon Ember Regular"/>
              </a:rPr>
              <a:t>)</a:t>
            </a:r>
          </a:p>
          <a:p>
            <a:pPr marL="171450" indent="-171450">
              <a:spcBef>
                <a:spcPts val="1200"/>
              </a:spcBef>
              <a:buFont typeface="Arial" panose="020B0604020202020204" pitchFamily="34" charset="0"/>
              <a:buChar char="•"/>
            </a:pPr>
            <a:r>
              <a:rPr lang="en-US" dirty="0">
                <a:solidFill>
                  <a:schemeClr val="bg1"/>
                </a:solidFill>
                <a:latin typeface="Amazon Ember Regular"/>
              </a:rPr>
              <a:t>With Asynchronous Commit across regions can deliver DR solution (requires VPC peering)</a:t>
            </a:r>
          </a:p>
        </p:txBody>
      </p:sp>
    </p:spTree>
    <p:extLst>
      <p:ext uri="{BB962C8B-B14F-4D97-AF65-F5344CB8AC3E}">
        <p14:creationId xmlns:p14="http://schemas.microsoft.com/office/powerpoint/2010/main" val="264288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02" y="145630"/>
            <a:ext cx="8809022" cy="515354"/>
          </a:xfrm>
        </p:spPr>
        <p:txBody>
          <a:bodyPr/>
          <a:lstStyle/>
          <a:p>
            <a:r>
              <a:rPr lang="en-US" b="1" spc="100" dirty="0"/>
              <a:t>Always On Availability Group (SQL Server Enterprise)</a:t>
            </a:r>
            <a:endParaRPr lang="en-US" b="1" dirty="0"/>
          </a:p>
        </p:txBody>
      </p:sp>
      <p:sp>
        <p:nvSpPr>
          <p:cNvPr id="26" name="Rounded Rectangle 4">
            <a:extLst>
              <a:ext uri="{FF2B5EF4-FFF2-40B4-BE49-F238E27FC236}">
                <a16:creationId xmlns:a16="http://schemas.microsoft.com/office/drawing/2014/main" id="{4306DB14-9DB1-41F7-8228-56752E4B8ED9}"/>
              </a:ext>
            </a:extLst>
          </p:cNvPr>
          <p:cNvSpPr/>
          <p:nvPr/>
        </p:nvSpPr>
        <p:spPr>
          <a:xfrm>
            <a:off x="615143" y="752122"/>
            <a:ext cx="4904629" cy="303797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9" name="TextBox 38">
            <a:extLst>
              <a:ext uri="{FF2B5EF4-FFF2-40B4-BE49-F238E27FC236}">
                <a16:creationId xmlns:a16="http://schemas.microsoft.com/office/drawing/2014/main" id="{FE7E379D-C8C4-4B0B-814C-E4D452AB0E69}"/>
              </a:ext>
            </a:extLst>
          </p:cNvPr>
          <p:cNvSpPr txBox="1"/>
          <p:nvPr/>
        </p:nvSpPr>
        <p:spPr>
          <a:xfrm>
            <a:off x="2681158" y="3661095"/>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grpSp>
        <p:nvGrpSpPr>
          <p:cNvPr id="18" name="Group 17">
            <a:extLst>
              <a:ext uri="{FF2B5EF4-FFF2-40B4-BE49-F238E27FC236}">
                <a16:creationId xmlns:a16="http://schemas.microsoft.com/office/drawing/2014/main" id="{9D746F17-83DE-411D-B7DD-9944657A95CD}"/>
              </a:ext>
            </a:extLst>
          </p:cNvPr>
          <p:cNvGrpSpPr/>
          <p:nvPr/>
        </p:nvGrpSpPr>
        <p:grpSpPr>
          <a:xfrm>
            <a:off x="848489" y="1203240"/>
            <a:ext cx="2180981" cy="2048214"/>
            <a:chOff x="1276535" y="1166139"/>
            <a:chExt cx="2180981" cy="2048214"/>
          </a:xfrm>
        </p:grpSpPr>
        <p:sp>
          <p:nvSpPr>
            <p:cNvPr id="50" name="Rounded Rectangle 6">
              <a:extLst>
                <a:ext uri="{FF2B5EF4-FFF2-40B4-BE49-F238E27FC236}">
                  <a16:creationId xmlns:a16="http://schemas.microsoft.com/office/drawing/2014/main" id="{43D3B355-81FC-4A57-BFB1-1E744FD27BE3}"/>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TextBox 32">
              <a:extLst>
                <a:ext uri="{FF2B5EF4-FFF2-40B4-BE49-F238E27FC236}">
                  <a16:creationId xmlns:a16="http://schemas.microsoft.com/office/drawing/2014/main" id="{4A94D9CB-99C0-47DF-A8F4-989A469A23A0}"/>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1</a:t>
              </a:r>
            </a:p>
          </p:txBody>
        </p:sp>
        <p:grpSp>
          <p:nvGrpSpPr>
            <p:cNvPr id="28" name="Group 27">
              <a:extLst>
                <a:ext uri="{FF2B5EF4-FFF2-40B4-BE49-F238E27FC236}">
                  <a16:creationId xmlns:a16="http://schemas.microsoft.com/office/drawing/2014/main" id="{1020712F-A6BC-4994-A424-630B3492DB10}"/>
                </a:ext>
              </a:extLst>
            </p:cNvPr>
            <p:cNvGrpSpPr/>
            <p:nvPr/>
          </p:nvGrpSpPr>
          <p:grpSpPr>
            <a:xfrm>
              <a:off x="1608319" y="1338290"/>
              <a:ext cx="1517416" cy="1519357"/>
              <a:chOff x="4629151" y="2824163"/>
              <a:chExt cx="1555751" cy="1487612"/>
            </a:xfrm>
          </p:grpSpPr>
          <p:sp>
            <p:nvSpPr>
              <p:cNvPr id="48" name="Rounded Rectangle 9">
                <a:extLst>
                  <a:ext uri="{FF2B5EF4-FFF2-40B4-BE49-F238E27FC236}">
                    <a16:creationId xmlns:a16="http://schemas.microsoft.com/office/drawing/2014/main" id="{81212020-2253-44B8-9E58-58BCBAA7F048}"/>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TextBox 37">
                <a:extLst>
                  <a:ext uri="{FF2B5EF4-FFF2-40B4-BE49-F238E27FC236}">
                    <a16:creationId xmlns:a16="http://schemas.microsoft.com/office/drawing/2014/main" id="{8F42591A-01F2-4ED6-860E-A7231E34E970}"/>
                  </a:ext>
                </a:extLst>
              </p:cNvPr>
              <p:cNvSpPr txBox="1">
                <a:spLocks noChangeArrowheads="1"/>
              </p:cNvSpPr>
              <p:nvPr/>
            </p:nvSpPr>
            <p:spPr bwMode="auto">
              <a:xfrm>
                <a:off x="4629151" y="4059634"/>
                <a:ext cx="1555750" cy="252141"/>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a</a:t>
                </a:r>
              </a:p>
            </p:txBody>
          </p:sp>
        </p:grpSp>
        <p:pic>
          <p:nvPicPr>
            <p:cNvPr id="30" name="Picture 29">
              <a:extLst>
                <a:ext uri="{FF2B5EF4-FFF2-40B4-BE49-F238E27FC236}">
                  <a16:creationId xmlns:a16="http://schemas.microsoft.com/office/drawing/2014/main" id="{9CAEAE54-EAF1-4DB0-8011-CD3D23983D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5" name="Group 4">
              <a:extLst>
                <a:ext uri="{FF2B5EF4-FFF2-40B4-BE49-F238E27FC236}">
                  <a16:creationId xmlns:a16="http://schemas.microsoft.com/office/drawing/2014/main" id="{61C71648-ECB8-419E-AE05-815A78805B72}"/>
                </a:ext>
              </a:extLst>
            </p:cNvPr>
            <p:cNvGrpSpPr/>
            <p:nvPr/>
          </p:nvGrpSpPr>
          <p:grpSpPr>
            <a:xfrm>
              <a:off x="1920184" y="1515781"/>
              <a:ext cx="1127252" cy="1129223"/>
              <a:chOff x="2009196" y="1540057"/>
              <a:chExt cx="1127252" cy="1129223"/>
            </a:xfrm>
          </p:grpSpPr>
          <p:sp>
            <p:nvSpPr>
              <p:cNvPr id="53" name="Rectangle: Rounded Corners 52">
                <a:extLst>
                  <a:ext uri="{FF2B5EF4-FFF2-40B4-BE49-F238E27FC236}">
                    <a16:creationId xmlns:a16="http://schemas.microsoft.com/office/drawing/2014/main" id="{954678F7-70B7-4203-A9F0-D7C4D4E91E58}"/>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A29512CB-82BA-4244-A64E-724F49614992}"/>
                  </a:ext>
                </a:extLst>
              </p:cNvPr>
              <p:cNvSpPr txBox="1"/>
              <p:nvPr/>
            </p:nvSpPr>
            <p:spPr>
              <a:xfrm>
                <a:off x="2060456" y="1652966"/>
                <a:ext cx="731520" cy="430887"/>
              </a:xfrm>
              <a:prstGeom prst="rect">
                <a:avLst/>
              </a:prstGeom>
              <a:noFill/>
            </p:spPr>
            <p:txBody>
              <a:bodyPr wrap="square" rtlCol="0">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Primary Replica</a:t>
                </a:r>
              </a:p>
            </p:txBody>
          </p:sp>
          <p:pic>
            <p:nvPicPr>
              <p:cNvPr id="31" name="Picture 30" descr="Generic-Database.png">
                <a:extLst>
                  <a:ext uri="{FF2B5EF4-FFF2-40B4-BE49-F238E27FC236}">
                    <a16:creationId xmlns:a16="http://schemas.microsoft.com/office/drawing/2014/main" id="{4B03904E-F89D-4505-84B5-F348B16D7A4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grpSp>
        <p:nvGrpSpPr>
          <p:cNvPr id="3" name="Group 2">
            <a:extLst>
              <a:ext uri="{FF2B5EF4-FFF2-40B4-BE49-F238E27FC236}">
                <a16:creationId xmlns:a16="http://schemas.microsoft.com/office/drawing/2014/main" id="{3D55C13C-1253-4D30-AEA2-8C2A5695742F}"/>
              </a:ext>
            </a:extLst>
          </p:cNvPr>
          <p:cNvGrpSpPr/>
          <p:nvPr/>
        </p:nvGrpSpPr>
        <p:grpSpPr>
          <a:xfrm>
            <a:off x="831274" y="813652"/>
            <a:ext cx="4508422" cy="2657063"/>
            <a:chOff x="831274" y="813652"/>
            <a:chExt cx="4508422" cy="2657063"/>
          </a:xfrm>
        </p:grpSpPr>
        <p:sp>
          <p:nvSpPr>
            <p:cNvPr id="38" name="Rounded Rectangle 32">
              <a:extLst>
                <a:ext uri="{FF2B5EF4-FFF2-40B4-BE49-F238E27FC236}">
                  <a16:creationId xmlns:a16="http://schemas.microsoft.com/office/drawing/2014/main" id="{B3AE68B3-79F7-47FB-97EC-C465B547A418}"/>
                </a:ext>
              </a:extLst>
            </p:cNvPr>
            <p:cNvSpPr/>
            <p:nvPr/>
          </p:nvSpPr>
          <p:spPr>
            <a:xfrm>
              <a:off x="831274" y="989902"/>
              <a:ext cx="4508422"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2" name="Picture 51">
              <a:extLst>
                <a:ext uri="{FF2B5EF4-FFF2-40B4-BE49-F238E27FC236}">
                  <a16:creationId xmlns:a16="http://schemas.microsoft.com/office/drawing/2014/main" id="{ADB962E8-9EDD-47E8-BD9D-C3218E1E5FE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32" name="Group 31">
            <a:extLst>
              <a:ext uri="{FF2B5EF4-FFF2-40B4-BE49-F238E27FC236}">
                <a16:creationId xmlns:a16="http://schemas.microsoft.com/office/drawing/2014/main" id="{F4F46607-C218-4332-8147-A15D01E396F2}"/>
              </a:ext>
            </a:extLst>
          </p:cNvPr>
          <p:cNvGrpSpPr/>
          <p:nvPr/>
        </p:nvGrpSpPr>
        <p:grpSpPr>
          <a:xfrm>
            <a:off x="3158714" y="1196567"/>
            <a:ext cx="2180981" cy="2048214"/>
            <a:chOff x="1276535" y="1166139"/>
            <a:chExt cx="2180981" cy="2048214"/>
          </a:xfrm>
        </p:grpSpPr>
        <p:sp>
          <p:nvSpPr>
            <p:cNvPr id="33" name="Rounded Rectangle 6">
              <a:extLst>
                <a:ext uri="{FF2B5EF4-FFF2-40B4-BE49-F238E27FC236}">
                  <a16:creationId xmlns:a16="http://schemas.microsoft.com/office/drawing/2014/main" id="{BBF17997-2700-44B1-99F5-7540FA9E0349}"/>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32">
              <a:extLst>
                <a:ext uri="{FF2B5EF4-FFF2-40B4-BE49-F238E27FC236}">
                  <a16:creationId xmlns:a16="http://schemas.microsoft.com/office/drawing/2014/main" id="{1E28A1CC-9ECE-4032-824E-DF47066C7D2F}"/>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2</a:t>
              </a:r>
            </a:p>
          </p:txBody>
        </p:sp>
        <p:grpSp>
          <p:nvGrpSpPr>
            <p:cNvPr id="35" name="Group 34">
              <a:extLst>
                <a:ext uri="{FF2B5EF4-FFF2-40B4-BE49-F238E27FC236}">
                  <a16:creationId xmlns:a16="http://schemas.microsoft.com/office/drawing/2014/main" id="{54041920-AEB5-4DA5-BD61-019E987EF018}"/>
                </a:ext>
              </a:extLst>
            </p:cNvPr>
            <p:cNvGrpSpPr/>
            <p:nvPr/>
          </p:nvGrpSpPr>
          <p:grpSpPr>
            <a:xfrm>
              <a:off x="1608319" y="1338289"/>
              <a:ext cx="1517416" cy="1523445"/>
              <a:chOff x="4629151" y="2824163"/>
              <a:chExt cx="1555751" cy="1491615"/>
            </a:xfrm>
          </p:grpSpPr>
          <p:sp>
            <p:nvSpPr>
              <p:cNvPr id="43" name="Rounded Rectangle 9">
                <a:extLst>
                  <a:ext uri="{FF2B5EF4-FFF2-40B4-BE49-F238E27FC236}">
                    <a16:creationId xmlns:a16="http://schemas.microsoft.com/office/drawing/2014/main" id="{E34B20A4-23ED-45E2-A923-5CD066AA6CDB}"/>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37">
                <a:extLst>
                  <a:ext uri="{FF2B5EF4-FFF2-40B4-BE49-F238E27FC236}">
                    <a16:creationId xmlns:a16="http://schemas.microsoft.com/office/drawing/2014/main" id="{FBF5BF03-F6CC-49CF-BABE-4E601435F473}"/>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b</a:t>
                </a:r>
              </a:p>
            </p:txBody>
          </p:sp>
        </p:grpSp>
        <p:pic>
          <p:nvPicPr>
            <p:cNvPr id="36" name="Picture 35">
              <a:extLst>
                <a:ext uri="{FF2B5EF4-FFF2-40B4-BE49-F238E27FC236}">
                  <a16:creationId xmlns:a16="http://schemas.microsoft.com/office/drawing/2014/main" id="{7CA3FCC2-0810-4F35-A5AC-89CBD9E816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37" name="Group 36">
              <a:extLst>
                <a:ext uri="{FF2B5EF4-FFF2-40B4-BE49-F238E27FC236}">
                  <a16:creationId xmlns:a16="http://schemas.microsoft.com/office/drawing/2014/main" id="{12B063FA-1CF9-475C-BDC8-D1A916282455}"/>
                </a:ext>
              </a:extLst>
            </p:cNvPr>
            <p:cNvGrpSpPr/>
            <p:nvPr/>
          </p:nvGrpSpPr>
          <p:grpSpPr>
            <a:xfrm>
              <a:off x="1856384" y="1515781"/>
              <a:ext cx="1191052" cy="1129223"/>
              <a:chOff x="1945396" y="1540057"/>
              <a:chExt cx="1191052" cy="1129223"/>
            </a:xfrm>
          </p:grpSpPr>
          <p:sp>
            <p:nvSpPr>
              <p:cNvPr id="40" name="Rectangle: Rounded Corners 39">
                <a:extLst>
                  <a:ext uri="{FF2B5EF4-FFF2-40B4-BE49-F238E27FC236}">
                    <a16:creationId xmlns:a16="http://schemas.microsoft.com/office/drawing/2014/main" id="{AC0B7432-B97A-42BA-AE8C-CA683E1FCCAE}"/>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D01CAEC8-9AE3-4B1E-9181-0854ACAC3081}"/>
                  </a:ext>
                </a:extLst>
              </p:cNvPr>
              <p:cNvSpPr txBox="1"/>
              <p:nvPr/>
            </p:nvSpPr>
            <p:spPr>
              <a:xfrm>
                <a:off x="1945396" y="1652966"/>
                <a:ext cx="890885" cy="430887"/>
              </a:xfrm>
              <a:prstGeom prst="rect">
                <a:avLst/>
              </a:prstGeom>
              <a:noFill/>
            </p:spPr>
            <p:txBody>
              <a:bodyPr wrap="square" rtlCol="0">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Secondary Replica</a:t>
                </a:r>
              </a:p>
            </p:txBody>
          </p:sp>
          <p:pic>
            <p:nvPicPr>
              <p:cNvPr id="42" name="Picture 41" descr="Generic-Database.png">
                <a:extLst>
                  <a:ext uri="{FF2B5EF4-FFF2-40B4-BE49-F238E27FC236}">
                    <a16:creationId xmlns:a16="http://schemas.microsoft.com/office/drawing/2014/main" id="{DE3D83F9-179B-4070-AE86-B7AEAE7A458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sp>
        <p:nvSpPr>
          <p:cNvPr id="45" name="Rounded Rectangle 4">
            <a:extLst>
              <a:ext uri="{FF2B5EF4-FFF2-40B4-BE49-F238E27FC236}">
                <a16:creationId xmlns:a16="http://schemas.microsoft.com/office/drawing/2014/main" id="{290F3611-80EF-48E0-BAC6-EE9FAA8525B4}"/>
              </a:ext>
            </a:extLst>
          </p:cNvPr>
          <p:cNvSpPr/>
          <p:nvPr/>
        </p:nvSpPr>
        <p:spPr>
          <a:xfrm>
            <a:off x="6047292" y="752122"/>
            <a:ext cx="2702409" cy="303797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6" name="TextBox 45">
            <a:extLst>
              <a:ext uri="{FF2B5EF4-FFF2-40B4-BE49-F238E27FC236}">
                <a16:creationId xmlns:a16="http://schemas.microsoft.com/office/drawing/2014/main" id="{0030EAC7-300D-47CE-9628-D1228AF78AB3}"/>
              </a:ext>
            </a:extLst>
          </p:cNvPr>
          <p:cNvSpPr txBox="1"/>
          <p:nvPr/>
        </p:nvSpPr>
        <p:spPr>
          <a:xfrm>
            <a:off x="6990599" y="3651594"/>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67" name="TextBox 66">
            <a:extLst>
              <a:ext uri="{FF2B5EF4-FFF2-40B4-BE49-F238E27FC236}">
                <a16:creationId xmlns:a16="http://schemas.microsoft.com/office/drawing/2014/main" id="{2BC66BD8-70A7-433F-8CDE-F90A358D21CB}"/>
              </a:ext>
            </a:extLst>
          </p:cNvPr>
          <p:cNvSpPr txBox="1"/>
          <p:nvPr/>
        </p:nvSpPr>
        <p:spPr>
          <a:xfrm>
            <a:off x="2681158" y="3654705"/>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grpSp>
        <p:nvGrpSpPr>
          <p:cNvPr id="68" name="Group 67">
            <a:extLst>
              <a:ext uri="{FF2B5EF4-FFF2-40B4-BE49-F238E27FC236}">
                <a16:creationId xmlns:a16="http://schemas.microsoft.com/office/drawing/2014/main" id="{61A433AD-965D-450D-B7FC-D2DC774594B4}"/>
              </a:ext>
            </a:extLst>
          </p:cNvPr>
          <p:cNvGrpSpPr/>
          <p:nvPr/>
        </p:nvGrpSpPr>
        <p:grpSpPr>
          <a:xfrm>
            <a:off x="6274646" y="829066"/>
            <a:ext cx="2254211" cy="2657063"/>
            <a:chOff x="831274" y="813652"/>
            <a:chExt cx="2254211" cy="2657063"/>
          </a:xfrm>
        </p:grpSpPr>
        <p:sp>
          <p:nvSpPr>
            <p:cNvPr id="69" name="Rounded Rectangle 32">
              <a:extLst>
                <a:ext uri="{FF2B5EF4-FFF2-40B4-BE49-F238E27FC236}">
                  <a16:creationId xmlns:a16="http://schemas.microsoft.com/office/drawing/2014/main" id="{B750F409-4DBB-4869-B950-3AA5D27DF472}"/>
                </a:ext>
              </a:extLst>
            </p:cNvPr>
            <p:cNvSpPr/>
            <p:nvPr/>
          </p:nvSpPr>
          <p:spPr>
            <a:xfrm>
              <a:off x="831274" y="989902"/>
              <a:ext cx="2254211"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0" name="Picture 69">
              <a:extLst>
                <a:ext uri="{FF2B5EF4-FFF2-40B4-BE49-F238E27FC236}">
                  <a16:creationId xmlns:a16="http://schemas.microsoft.com/office/drawing/2014/main" id="{B17E2E7A-6D16-4436-A6E0-167646B00C3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71" name="Group 70">
            <a:extLst>
              <a:ext uri="{FF2B5EF4-FFF2-40B4-BE49-F238E27FC236}">
                <a16:creationId xmlns:a16="http://schemas.microsoft.com/office/drawing/2014/main" id="{7F9D964B-31BF-47BA-A684-FDBB7ACA4B66}"/>
              </a:ext>
            </a:extLst>
          </p:cNvPr>
          <p:cNvGrpSpPr/>
          <p:nvPr/>
        </p:nvGrpSpPr>
        <p:grpSpPr>
          <a:xfrm>
            <a:off x="6347876" y="1223421"/>
            <a:ext cx="2180981" cy="2048214"/>
            <a:chOff x="1276535" y="1166139"/>
            <a:chExt cx="2180981" cy="2048214"/>
          </a:xfrm>
        </p:grpSpPr>
        <p:sp>
          <p:nvSpPr>
            <p:cNvPr id="72" name="Rounded Rectangle 6">
              <a:extLst>
                <a:ext uri="{FF2B5EF4-FFF2-40B4-BE49-F238E27FC236}">
                  <a16:creationId xmlns:a16="http://schemas.microsoft.com/office/drawing/2014/main" id="{D34EB8C5-9971-488F-8B1D-30797C38F520}"/>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3" name="TextBox 32">
              <a:extLst>
                <a:ext uri="{FF2B5EF4-FFF2-40B4-BE49-F238E27FC236}">
                  <a16:creationId xmlns:a16="http://schemas.microsoft.com/office/drawing/2014/main" id="{64367C94-96BC-450E-BC18-3CBC874EB892}"/>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3</a:t>
              </a:r>
            </a:p>
          </p:txBody>
        </p:sp>
        <p:grpSp>
          <p:nvGrpSpPr>
            <p:cNvPr id="74" name="Group 73">
              <a:extLst>
                <a:ext uri="{FF2B5EF4-FFF2-40B4-BE49-F238E27FC236}">
                  <a16:creationId xmlns:a16="http://schemas.microsoft.com/office/drawing/2014/main" id="{AB7266FF-F148-49F8-BB78-1DB9EDA19674}"/>
                </a:ext>
              </a:extLst>
            </p:cNvPr>
            <p:cNvGrpSpPr/>
            <p:nvPr/>
          </p:nvGrpSpPr>
          <p:grpSpPr>
            <a:xfrm>
              <a:off x="1608319" y="1338289"/>
              <a:ext cx="1517416" cy="1523445"/>
              <a:chOff x="4629151" y="2824163"/>
              <a:chExt cx="1555751" cy="1491615"/>
            </a:xfrm>
          </p:grpSpPr>
          <p:sp>
            <p:nvSpPr>
              <p:cNvPr id="80" name="Rounded Rectangle 9">
                <a:extLst>
                  <a:ext uri="{FF2B5EF4-FFF2-40B4-BE49-F238E27FC236}">
                    <a16:creationId xmlns:a16="http://schemas.microsoft.com/office/drawing/2014/main" id="{C0EF2F52-CFBD-432F-BD62-E50C14845689}"/>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1" name="TextBox 37">
                <a:extLst>
                  <a:ext uri="{FF2B5EF4-FFF2-40B4-BE49-F238E27FC236}">
                    <a16:creationId xmlns:a16="http://schemas.microsoft.com/office/drawing/2014/main" id="{3A2E0237-D8E2-46A0-9DAF-7E910AFBC940}"/>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c</a:t>
                </a:r>
              </a:p>
            </p:txBody>
          </p:sp>
        </p:grpSp>
        <p:pic>
          <p:nvPicPr>
            <p:cNvPr id="75" name="Picture 74">
              <a:extLst>
                <a:ext uri="{FF2B5EF4-FFF2-40B4-BE49-F238E27FC236}">
                  <a16:creationId xmlns:a16="http://schemas.microsoft.com/office/drawing/2014/main" id="{C3A9FB7F-B0FE-4CDC-B85A-757BD5AEBA8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76" name="Group 75">
              <a:extLst>
                <a:ext uri="{FF2B5EF4-FFF2-40B4-BE49-F238E27FC236}">
                  <a16:creationId xmlns:a16="http://schemas.microsoft.com/office/drawing/2014/main" id="{7338BDFE-E866-421C-AF57-3B1AEDEB4A60}"/>
                </a:ext>
              </a:extLst>
            </p:cNvPr>
            <p:cNvGrpSpPr/>
            <p:nvPr/>
          </p:nvGrpSpPr>
          <p:grpSpPr>
            <a:xfrm>
              <a:off x="1865933" y="1515781"/>
              <a:ext cx="1181503" cy="1129223"/>
              <a:chOff x="1954945" y="1540057"/>
              <a:chExt cx="1181503" cy="1129223"/>
            </a:xfrm>
          </p:grpSpPr>
          <p:sp>
            <p:nvSpPr>
              <p:cNvPr id="77" name="Rectangle: Rounded Corners 76">
                <a:extLst>
                  <a:ext uri="{FF2B5EF4-FFF2-40B4-BE49-F238E27FC236}">
                    <a16:creationId xmlns:a16="http://schemas.microsoft.com/office/drawing/2014/main" id="{55309DE1-E394-4D40-803E-A6B9C7A2407D}"/>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8" name="TextBox 77">
                <a:extLst>
                  <a:ext uri="{FF2B5EF4-FFF2-40B4-BE49-F238E27FC236}">
                    <a16:creationId xmlns:a16="http://schemas.microsoft.com/office/drawing/2014/main" id="{BA684F8A-5B6E-403E-A9AC-A7BAF00E4F29}"/>
                  </a:ext>
                </a:extLst>
              </p:cNvPr>
              <p:cNvSpPr txBox="1"/>
              <p:nvPr/>
            </p:nvSpPr>
            <p:spPr>
              <a:xfrm>
                <a:off x="1954945" y="1652966"/>
                <a:ext cx="895895" cy="430887"/>
              </a:xfrm>
              <a:prstGeom prst="rect">
                <a:avLst/>
              </a:prstGeom>
              <a:noFill/>
            </p:spPr>
            <p:txBody>
              <a:bodyPr wrap="square" rtlCol="0">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Secondary Replica</a:t>
                </a:r>
              </a:p>
            </p:txBody>
          </p:sp>
          <p:pic>
            <p:nvPicPr>
              <p:cNvPr id="79" name="Picture 78" descr="Generic-Database.png">
                <a:extLst>
                  <a:ext uri="{FF2B5EF4-FFF2-40B4-BE49-F238E27FC236}">
                    <a16:creationId xmlns:a16="http://schemas.microsoft.com/office/drawing/2014/main" id="{CFCBA0AD-9C0F-4114-A8F6-221D141F2AE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sp>
        <p:nvSpPr>
          <p:cNvPr id="4" name="Arrow: Left-Right 3">
            <a:extLst>
              <a:ext uri="{FF2B5EF4-FFF2-40B4-BE49-F238E27FC236}">
                <a16:creationId xmlns:a16="http://schemas.microsoft.com/office/drawing/2014/main" id="{3B32D0AB-4338-4F30-8069-1079E3EADDE1}"/>
              </a:ext>
            </a:extLst>
          </p:cNvPr>
          <p:cNvSpPr/>
          <p:nvPr/>
        </p:nvSpPr>
        <p:spPr>
          <a:xfrm>
            <a:off x="5339695" y="2836868"/>
            <a:ext cx="934951" cy="649261"/>
          </a:xfrm>
          <a:prstGeom prst="leftRightArrow">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dirty="0"/>
          </a:p>
        </p:txBody>
      </p:sp>
      <p:sp>
        <p:nvSpPr>
          <p:cNvPr id="65" name="Rectangle: Rounded Corners 64">
            <a:extLst>
              <a:ext uri="{FF2B5EF4-FFF2-40B4-BE49-F238E27FC236}">
                <a16:creationId xmlns:a16="http://schemas.microsoft.com/office/drawing/2014/main" id="{A9E63A13-4B9D-4AEB-873A-FF9D475BCD31}"/>
              </a:ext>
            </a:extLst>
          </p:cNvPr>
          <p:cNvSpPr/>
          <p:nvPr/>
        </p:nvSpPr>
        <p:spPr>
          <a:xfrm>
            <a:off x="1107960" y="1955842"/>
            <a:ext cx="7204766" cy="649262"/>
          </a:xfrm>
          <a:prstGeom prst="roundRect">
            <a:avLst/>
          </a:prstGeom>
          <a:solidFill>
            <a:schemeClr val="accent4">
              <a:lumMod val="7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6" name="TextBox 5">
            <a:extLst>
              <a:ext uri="{FF2B5EF4-FFF2-40B4-BE49-F238E27FC236}">
                <a16:creationId xmlns:a16="http://schemas.microsoft.com/office/drawing/2014/main" id="{18B21056-99E5-49AF-A18F-EB8B131C3D1E}"/>
              </a:ext>
            </a:extLst>
          </p:cNvPr>
          <p:cNvSpPr txBox="1"/>
          <p:nvPr/>
        </p:nvSpPr>
        <p:spPr>
          <a:xfrm>
            <a:off x="2393159" y="1949107"/>
            <a:ext cx="1380506" cy="584775"/>
          </a:xfrm>
          <a:prstGeom prst="rect">
            <a:avLst/>
          </a:prstGeom>
          <a:noFill/>
        </p:spPr>
        <p:txBody>
          <a:bodyPr wrap="none" rtlCol="0">
            <a:spAutoFit/>
          </a:bodyPr>
          <a:lstStyle/>
          <a:p>
            <a:pPr algn="ctr"/>
            <a:r>
              <a:rPr lang="en-US" sz="1600" dirty="0">
                <a:solidFill>
                  <a:schemeClr val="bg1"/>
                </a:solidFill>
              </a:rPr>
              <a:t>Synchronous</a:t>
            </a:r>
          </a:p>
          <a:p>
            <a:pPr algn="ctr"/>
            <a:r>
              <a:rPr lang="en-US" sz="1600" dirty="0">
                <a:solidFill>
                  <a:schemeClr val="bg1"/>
                </a:solidFill>
              </a:rPr>
              <a:t>commit</a:t>
            </a:r>
          </a:p>
        </p:txBody>
      </p:sp>
      <p:sp>
        <p:nvSpPr>
          <p:cNvPr id="83" name="TextBox 82">
            <a:extLst>
              <a:ext uri="{FF2B5EF4-FFF2-40B4-BE49-F238E27FC236}">
                <a16:creationId xmlns:a16="http://schemas.microsoft.com/office/drawing/2014/main" id="{14C93B56-CD64-4729-9B81-DCB17A8DE2EF}"/>
              </a:ext>
            </a:extLst>
          </p:cNvPr>
          <p:cNvSpPr txBox="1"/>
          <p:nvPr/>
        </p:nvSpPr>
        <p:spPr>
          <a:xfrm>
            <a:off x="5156969" y="1970766"/>
            <a:ext cx="1483099" cy="584775"/>
          </a:xfrm>
          <a:prstGeom prst="rect">
            <a:avLst/>
          </a:prstGeom>
          <a:noFill/>
        </p:spPr>
        <p:txBody>
          <a:bodyPr wrap="none" rtlCol="0">
            <a:spAutoFit/>
          </a:bodyPr>
          <a:lstStyle/>
          <a:p>
            <a:pPr algn="ctr"/>
            <a:r>
              <a:rPr lang="en-US" sz="1600" dirty="0">
                <a:solidFill>
                  <a:schemeClr val="bg1"/>
                </a:solidFill>
              </a:rPr>
              <a:t>Asynchronous</a:t>
            </a:r>
          </a:p>
          <a:p>
            <a:pPr algn="ctr"/>
            <a:r>
              <a:rPr lang="en-US" sz="1600" dirty="0">
                <a:solidFill>
                  <a:schemeClr val="bg1"/>
                </a:solidFill>
              </a:rPr>
              <a:t>commit</a:t>
            </a:r>
          </a:p>
        </p:txBody>
      </p:sp>
      <p:sp>
        <p:nvSpPr>
          <p:cNvPr id="7" name="TextBox 6">
            <a:extLst>
              <a:ext uri="{FF2B5EF4-FFF2-40B4-BE49-F238E27FC236}">
                <a16:creationId xmlns:a16="http://schemas.microsoft.com/office/drawing/2014/main" id="{A9E378F1-CA21-41FC-9D55-E066E05EEBA9}"/>
              </a:ext>
            </a:extLst>
          </p:cNvPr>
          <p:cNvSpPr txBox="1"/>
          <p:nvPr/>
        </p:nvSpPr>
        <p:spPr>
          <a:xfrm>
            <a:off x="5461454" y="2914928"/>
            <a:ext cx="694421" cy="461665"/>
          </a:xfrm>
          <a:prstGeom prst="rect">
            <a:avLst/>
          </a:prstGeom>
          <a:noFill/>
        </p:spPr>
        <p:txBody>
          <a:bodyPr wrap="none" rtlCol="0">
            <a:spAutoFit/>
          </a:bodyPr>
          <a:lstStyle/>
          <a:p>
            <a:pPr algn="ctr"/>
            <a:r>
              <a:rPr lang="en-US" sz="1200" dirty="0">
                <a:solidFill>
                  <a:schemeClr val="bg1"/>
                </a:solidFill>
              </a:rPr>
              <a:t>VPC</a:t>
            </a:r>
          </a:p>
          <a:p>
            <a:pPr algn="ctr"/>
            <a:r>
              <a:rPr lang="en-US" sz="1200" dirty="0">
                <a:solidFill>
                  <a:schemeClr val="bg1"/>
                </a:solidFill>
              </a:rPr>
              <a:t>peering</a:t>
            </a:r>
          </a:p>
        </p:txBody>
      </p:sp>
      <p:sp>
        <p:nvSpPr>
          <p:cNvPr id="8" name="TextBox 7">
            <a:extLst>
              <a:ext uri="{FF2B5EF4-FFF2-40B4-BE49-F238E27FC236}">
                <a16:creationId xmlns:a16="http://schemas.microsoft.com/office/drawing/2014/main" id="{C5A14F1F-1503-45E8-95DC-9E4A7F29CA17}"/>
              </a:ext>
            </a:extLst>
          </p:cNvPr>
          <p:cNvSpPr txBox="1"/>
          <p:nvPr/>
        </p:nvSpPr>
        <p:spPr>
          <a:xfrm>
            <a:off x="831274" y="3917541"/>
            <a:ext cx="1755609" cy="738664"/>
          </a:xfrm>
          <a:prstGeom prst="rect">
            <a:avLst/>
          </a:prstGeom>
          <a:noFill/>
        </p:spPr>
        <p:txBody>
          <a:bodyPr wrap="square" rtlCol="0">
            <a:spAutoFit/>
          </a:bodyPr>
          <a:lstStyle/>
          <a:p>
            <a:pPr marL="285750" indent="-285750">
              <a:buFont typeface="Arial" panose="020B0604020202020204" pitchFamily="34" charset="0"/>
              <a:buChar char="•"/>
            </a:pPr>
            <a:r>
              <a:rPr lang="en-US" sz="1400" b="1" dirty="0">
                <a:solidFill>
                  <a:schemeClr val="accent1">
                    <a:lumMod val="40000"/>
                    <a:lumOff val="60000"/>
                  </a:schemeClr>
                </a:solidFill>
              </a:rPr>
              <a:t>HA/DR </a:t>
            </a:r>
            <a:r>
              <a:rPr lang="en-US" sz="1400" dirty="0">
                <a:solidFill>
                  <a:schemeClr val="bg1"/>
                </a:solidFill>
              </a:rPr>
              <a:t>Solution</a:t>
            </a:r>
          </a:p>
          <a:p>
            <a:pPr marL="285750" indent="-285750">
              <a:buFont typeface="Arial" panose="020B0604020202020204" pitchFamily="34" charset="0"/>
              <a:buChar char="•"/>
            </a:pPr>
            <a:r>
              <a:rPr lang="en-US" sz="1400" dirty="0">
                <a:solidFill>
                  <a:schemeClr val="bg1"/>
                </a:solidFill>
              </a:rPr>
              <a:t>Read </a:t>
            </a:r>
            <a:r>
              <a:rPr lang="en-US" sz="1400" b="1" dirty="0">
                <a:solidFill>
                  <a:schemeClr val="accent1">
                    <a:lumMod val="40000"/>
                    <a:lumOff val="60000"/>
                  </a:schemeClr>
                </a:solidFill>
              </a:rPr>
              <a:t>Scale-out</a:t>
            </a:r>
          </a:p>
          <a:p>
            <a:pPr marL="285750" indent="-285750">
              <a:buFont typeface="Arial" panose="020B0604020202020204" pitchFamily="34" charset="0"/>
              <a:buChar char="•"/>
            </a:pPr>
            <a:r>
              <a:rPr lang="en-US" sz="1400" b="1" dirty="0">
                <a:solidFill>
                  <a:schemeClr val="accent1">
                    <a:lumMod val="40000"/>
                    <a:lumOff val="60000"/>
                  </a:schemeClr>
                </a:solidFill>
              </a:rPr>
              <a:t>Offload</a:t>
            </a:r>
            <a:r>
              <a:rPr lang="en-US" sz="1400" dirty="0">
                <a:solidFill>
                  <a:schemeClr val="bg1"/>
                </a:solidFill>
              </a:rPr>
              <a:t> backup</a:t>
            </a:r>
          </a:p>
        </p:txBody>
      </p:sp>
      <p:sp>
        <p:nvSpPr>
          <p:cNvPr id="54" name="TextBox 53">
            <a:extLst>
              <a:ext uri="{FF2B5EF4-FFF2-40B4-BE49-F238E27FC236}">
                <a16:creationId xmlns:a16="http://schemas.microsoft.com/office/drawing/2014/main" id="{3D646234-7CC3-457C-9377-58D1DD71455A}"/>
              </a:ext>
            </a:extLst>
          </p:cNvPr>
          <p:cNvSpPr txBox="1"/>
          <p:nvPr/>
        </p:nvSpPr>
        <p:spPr>
          <a:xfrm>
            <a:off x="3300672" y="4007936"/>
            <a:ext cx="4641014" cy="523220"/>
          </a:xfrm>
          <a:prstGeom prst="rect">
            <a:avLst/>
          </a:prstGeom>
          <a:noFill/>
        </p:spPr>
        <p:txBody>
          <a:bodyPr wrap="none" rtlCol="0">
            <a:spAutoFit/>
          </a:bodyPr>
          <a:lstStyle/>
          <a:p>
            <a:pPr marL="285750" indent="-285750">
              <a:buFont typeface="Arial" panose="020B0604020202020204" pitchFamily="34" charset="0"/>
              <a:buChar char="•"/>
            </a:pPr>
            <a:r>
              <a:rPr lang="en-US" sz="1400" b="1" dirty="0">
                <a:solidFill>
                  <a:schemeClr val="accent1">
                    <a:lumMod val="40000"/>
                    <a:lumOff val="60000"/>
                  </a:schemeClr>
                </a:solidFill>
              </a:rPr>
              <a:t>Synchronous commit </a:t>
            </a:r>
            <a:r>
              <a:rPr lang="en-US" sz="1400" dirty="0">
                <a:solidFill>
                  <a:schemeClr val="bg1"/>
                </a:solidFill>
              </a:rPr>
              <a:t>– supports automatic failover</a:t>
            </a:r>
          </a:p>
          <a:p>
            <a:pPr marL="285750" indent="-285750">
              <a:buFont typeface="Arial" panose="020B0604020202020204" pitchFamily="34" charset="0"/>
              <a:buChar char="•"/>
            </a:pPr>
            <a:r>
              <a:rPr lang="en-US" sz="1400" b="1" dirty="0">
                <a:solidFill>
                  <a:schemeClr val="accent1">
                    <a:lumMod val="40000"/>
                    <a:lumOff val="60000"/>
                  </a:schemeClr>
                </a:solidFill>
              </a:rPr>
              <a:t>Asynchronous commit </a:t>
            </a:r>
            <a:r>
              <a:rPr lang="en-US" sz="1400" dirty="0">
                <a:solidFill>
                  <a:schemeClr val="bg1"/>
                </a:solidFill>
              </a:rPr>
              <a:t>– only manual failover</a:t>
            </a:r>
          </a:p>
        </p:txBody>
      </p:sp>
    </p:spTree>
    <p:extLst>
      <p:ext uri="{BB962C8B-B14F-4D97-AF65-F5344CB8AC3E}">
        <p14:creationId xmlns:p14="http://schemas.microsoft.com/office/powerpoint/2010/main" val="3707135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Always On Failover Cluster Instance</a:t>
            </a:r>
            <a:endParaRPr lang="en-US" b="1" dirty="0"/>
          </a:p>
        </p:txBody>
      </p:sp>
      <p:sp>
        <p:nvSpPr>
          <p:cNvPr id="26" name="Rounded Rectangle 4">
            <a:extLst>
              <a:ext uri="{FF2B5EF4-FFF2-40B4-BE49-F238E27FC236}">
                <a16:creationId xmlns:a16="http://schemas.microsoft.com/office/drawing/2014/main" id="{4306DB14-9DB1-41F7-8228-56752E4B8ED9}"/>
              </a:ext>
            </a:extLst>
          </p:cNvPr>
          <p:cNvSpPr/>
          <p:nvPr/>
        </p:nvSpPr>
        <p:spPr>
          <a:xfrm>
            <a:off x="4005767" y="752122"/>
            <a:ext cx="4924651" cy="376648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8" name="Group 17">
            <a:extLst>
              <a:ext uri="{FF2B5EF4-FFF2-40B4-BE49-F238E27FC236}">
                <a16:creationId xmlns:a16="http://schemas.microsoft.com/office/drawing/2014/main" id="{9D746F17-83DE-411D-B7DD-9944657A95CD}"/>
              </a:ext>
            </a:extLst>
          </p:cNvPr>
          <p:cNvGrpSpPr/>
          <p:nvPr/>
        </p:nvGrpSpPr>
        <p:grpSpPr>
          <a:xfrm>
            <a:off x="4239113" y="1203240"/>
            <a:ext cx="2180981" cy="2048214"/>
            <a:chOff x="1276535" y="1166139"/>
            <a:chExt cx="2180981" cy="2048214"/>
          </a:xfrm>
        </p:grpSpPr>
        <p:sp>
          <p:nvSpPr>
            <p:cNvPr id="50" name="Rounded Rectangle 6">
              <a:extLst>
                <a:ext uri="{FF2B5EF4-FFF2-40B4-BE49-F238E27FC236}">
                  <a16:creationId xmlns:a16="http://schemas.microsoft.com/office/drawing/2014/main" id="{43D3B355-81FC-4A57-BFB1-1E744FD27BE3}"/>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TextBox 32">
              <a:extLst>
                <a:ext uri="{FF2B5EF4-FFF2-40B4-BE49-F238E27FC236}">
                  <a16:creationId xmlns:a16="http://schemas.microsoft.com/office/drawing/2014/main" id="{4A94D9CB-99C0-47DF-A8F4-989A469A23A0}"/>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1</a:t>
              </a:r>
            </a:p>
          </p:txBody>
        </p:sp>
        <p:grpSp>
          <p:nvGrpSpPr>
            <p:cNvPr id="28" name="Group 27">
              <a:extLst>
                <a:ext uri="{FF2B5EF4-FFF2-40B4-BE49-F238E27FC236}">
                  <a16:creationId xmlns:a16="http://schemas.microsoft.com/office/drawing/2014/main" id="{1020712F-A6BC-4994-A424-630B3492DB10}"/>
                </a:ext>
              </a:extLst>
            </p:cNvPr>
            <p:cNvGrpSpPr/>
            <p:nvPr/>
          </p:nvGrpSpPr>
          <p:grpSpPr>
            <a:xfrm>
              <a:off x="1608319" y="1338290"/>
              <a:ext cx="1517416" cy="1519357"/>
              <a:chOff x="4629151" y="2824163"/>
              <a:chExt cx="1555751" cy="1487612"/>
            </a:xfrm>
          </p:grpSpPr>
          <p:sp>
            <p:nvSpPr>
              <p:cNvPr id="48" name="Rounded Rectangle 9">
                <a:extLst>
                  <a:ext uri="{FF2B5EF4-FFF2-40B4-BE49-F238E27FC236}">
                    <a16:creationId xmlns:a16="http://schemas.microsoft.com/office/drawing/2014/main" id="{81212020-2253-44B8-9E58-58BCBAA7F048}"/>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TextBox 37">
                <a:extLst>
                  <a:ext uri="{FF2B5EF4-FFF2-40B4-BE49-F238E27FC236}">
                    <a16:creationId xmlns:a16="http://schemas.microsoft.com/office/drawing/2014/main" id="{8F42591A-01F2-4ED6-860E-A7231E34E970}"/>
                  </a:ext>
                </a:extLst>
              </p:cNvPr>
              <p:cNvSpPr txBox="1">
                <a:spLocks noChangeArrowheads="1"/>
              </p:cNvSpPr>
              <p:nvPr/>
            </p:nvSpPr>
            <p:spPr bwMode="auto">
              <a:xfrm>
                <a:off x="4629151" y="4059634"/>
                <a:ext cx="1555750" cy="252141"/>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a</a:t>
                </a:r>
              </a:p>
            </p:txBody>
          </p:sp>
        </p:grpSp>
        <p:pic>
          <p:nvPicPr>
            <p:cNvPr id="30" name="Picture 29">
              <a:extLst>
                <a:ext uri="{FF2B5EF4-FFF2-40B4-BE49-F238E27FC236}">
                  <a16:creationId xmlns:a16="http://schemas.microsoft.com/office/drawing/2014/main" id="{9CAEAE54-EAF1-4DB0-8011-CD3D23983D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5" name="Group 4">
              <a:extLst>
                <a:ext uri="{FF2B5EF4-FFF2-40B4-BE49-F238E27FC236}">
                  <a16:creationId xmlns:a16="http://schemas.microsoft.com/office/drawing/2014/main" id="{61C71648-ECB8-419E-AE05-815A78805B72}"/>
                </a:ext>
              </a:extLst>
            </p:cNvPr>
            <p:cNvGrpSpPr/>
            <p:nvPr/>
          </p:nvGrpSpPr>
          <p:grpSpPr>
            <a:xfrm>
              <a:off x="1920184" y="1515781"/>
              <a:ext cx="791464" cy="731521"/>
              <a:chOff x="2009196" y="1540057"/>
              <a:chExt cx="791464" cy="731521"/>
            </a:xfrm>
          </p:grpSpPr>
          <p:sp>
            <p:nvSpPr>
              <p:cNvPr id="53" name="Rectangle: Rounded Corners 52">
                <a:extLst>
                  <a:ext uri="{FF2B5EF4-FFF2-40B4-BE49-F238E27FC236}">
                    <a16:creationId xmlns:a16="http://schemas.microsoft.com/office/drawing/2014/main" id="{954678F7-70B7-4203-A9F0-D7C4D4E91E58}"/>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A29512CB-82BA-4244-A64E-724F49614992}"/>
                  </a:ext>
                </a:extLst>
              </p:cNvPr>
              <p:cNvSpPr txBox="1"/>
              <p:nvPr/>
            </p:nvSpPr>
            <p:spPr>
              <a:xfrm>
                <a:off x="2060456" y="1652966"/>
                <a:ext cx="731520" cy="276999"/>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Active</a:t>
                </a:r>
              </a:p>
            </p:txBody>
          </p:sp>
        </p:grpSp>
      </p:grpSp>
      <p:grpSp>
        <p:nvGrpSpPr>
          <p:cNvPr id="3" name="Group 2">
            <a:extLst>
              <a:ext uri="{FF2B5EF4-FFF2-40B4-BE49-F238E27FC236}">
                <a16:creationId xmlns:a16="http://schemas.microsoft.com/office/drawing/2014/main" id="{3D55C13C-1253-4D30-AEA2-8C2A5695742F}"/>
              </a:ext>
            </a:extLst>
          </p:cNvPr>
          <p:cNvGrpSpPr/>
          <p:nvPr/>
        </p:nvGrpSpPr>
        <p:grpSpPr>
          <a:xfrm>
            <a:off x="4221898" y="813652"/>
            <a:ext cx="4508422" cy="3561137"/>
            <a:chOff x="831274" y="813652"/>
            <a:chExt cx="4508422" cy="2657063"/>
          </a:xfrm>
        </p:grpSpPr>
        <p:sp>
          <p:nvSpPr>
            <p:cNvPr id="38" name="Rounded Rectangle 32">
              <a:extLst>
                <a:ext uri="{FF2B5EF4-FFF2-40B4-BE49-F238E27FC236}">
                  <a16:creationId xmlns:a16="http://schemas.microsoft.com/office/drawing/2014/main" id="{B3AE68B3-79F7-47FB-97EC-C465B547A418}"/>
                </a:ext>
              </a:extLst>
            </p:cNvPr>
            <p:cNvSpPr/>
            <p:nvPr/>
          </p:nvSpPr>
          <p:spPr>
            <a:xfrm>
              <a:off x="831274" y="989902"/>
              <a:ext cx="4508422"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2" name="Picture 51">
              <a:extLst>
                <a:ext uri="{FF2B5EF4-FFF2-40B4-BE49-F238E27FC236}">
                  <a16:creationId xmlns:a16="http://schemas.microsoft.com/office/drawing/2014/main" id="{ADB962E8-9EDD-47E8-BD9D-C3218E1E5F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32" name="Group 31">
            <a:extLst>
              <a:ext uri="{FF2B5EF4-FFF2-40B4-BE49-F238E27FC236}">
                <a16:creationId xmlns:a16="http://schemas.microsoft.com/office/drawing/2014/main" id="{F4F46607-C218-4332-8147-A15D01E396F2}"/>
              </a:ext>
            </a:extLst>
          </p:cNvPr>
          <p:cNvGrpSpPr/>
          <p:nvPr/>
        </p:nvGrpSpPr>
        <p:grpSpPr>
          <a:xfrm>
            <a:off x="6549338" y="1196567"/>
            <a:ext cx="2180981" cy="2048214"/>
            <a:chOff x="1276535" y="1166139"/>
            <a:chExt cx="2180981" cy="2048214"/>
          </a:xfrm>
        </p:grpSpPr>
        <p:sp>
          <p:nvSpPr>
            <p:cNvPr id="33" name="Rounded Rectangle 6">
              <a:extLst>
                <a:ext uri="{FF2B5EF4-FFF2-40B4-BE49-F238E27FC236}">
                  <a16:creationId xmlns:a16="http://schemas.microsoft.com/office/drawing/2014/main" id="{BBF17997-2700-44B1-99F5-7540FA9E0349}"/>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32">
              <a:extLst>
                <a:ext uri="{FF2B5EF4-FFF2-40B4-BE49-F238E27FC236}">
                  <a16:creationId xmlns:a16="http://schemas.microsoft.com/office/drawing/2014/main" id="{1E28A1CC-9ECE-4032-824E-DF47066C7D2F}"/>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2</a:t>
              </a:r>
            </a:p>
          </p:txBody>
        </p:sp>
        <p:grpSp>
          <p:nvGrpSpPr>
            <p:cNvPr id="35" name="Group 34">
              <a:extLst>
                <a:ext uri="{FF2B5EF4-FFF2-40B4-BE49-F238E27FC236}">
                  <a16:creationId xmlns:a16="http://schemas.microsoft.com/office/drawing/2014/main" id="{54041920-AEB5-4DA5-BD61-019E987EF018}"/>
                </a:ext>
              </a:extLst>
            </p:cNvPr>
            <p:cNvGrpSpPr/>
            <p:nvPr/>
          </p:nvGrpSpPr>
          <p:grpSpPr>
            <a:xfrm>
              <a:off x="1608319" y="1338289"/>
              <a:ext cx="1517416" cy="1523445"/>
              <a:chOff x="4629151" y="2824163"/>
              <a:chExt cx="1555751" cy="1491615"/>
            </a:xfrm>
          </p:grpSpPr>
          <p:sp>
            <p:nvSpPr>
              <p:cNvPr id="43" name="Rounded Rectangle 9">
                <a:extLst>
                  <a:ext uri="{FF2B5EF4-FFF2-40B4-BE49-F238E27FC236}">
                    <a16:creationId xmlns:a16="http://schemas.microsoft.com/office/drawing/2014/main" id="{E34B20A4-23ED-45E2-A923-5CD066AA6CDB}"/>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37">
                <a:extLst>
                  <a:ext uri="{FF2B5EF4-FFF2-40B4-BE49-F238E27FC236}">
                    <a16:creationId xmlns:a16="http://schemas.microsoft.com/office/drawing/2014/main" id="{FBF5BF03-F6CC-49CF-BABE-4E601435F473}"/>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b</a:t>
                </a:r>
              </a:p>
            </p:txBody>
          </p:sp>
        </p:grpSp>
        <p:pic>
          <p:nvPicPr>
            <p:cNvPr id="36" name="Picture 35">
              <a:extLst>
                <a:ext uri="{FF2B5EF4-FFF2-40B4-BE49-F238E27FC236}">
                  <a16:creationId xmlns:a16="http://schemas.microsoft.com/office/drawing/2014/main" id="{7CA3FCC2-0810-4F35-A5AC-89CBD9E816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37" name="Group 36">
              <a:extLst>
                <a:ext uri="{FF2B5EF4-FFF2-40B4-BE49-F238E27FC236}">
                  <a16:creationId xmlns:a16="http://schemas.microsoft.com/office/drawing/2014/main" id="{12B063FA-1CF9-475C-BDC8-D1A916282455}"/>
                </a:ext>
              </a:extLst>
            </p:cNvPr>
            <p:cNvGrpSpPr/>
            <p:nvPr/>
          </p:nvGrpSpPr>
          <p:grpSpPr>
            <a:xfrm>
              <a:off x="1868863" y="1515781"/>
              <a:ext cx="842785" cy="731521"/>
              <a:chOff x="1957875" y="1540057"/>
              <a:chExt cx="842785" cy="731521"/>
            </a:xfrm>
          </p:grpSpPr>
          <p:sp>
            <p:nvSpPr>
              <p:cNvPr id="40" name="Rectangle: Rounded Corners 39">
                <a:extLst>
                  <a:ext uri="{FF2B5EF4-FFF2-40B4-BE49-F238E27FC236}">
                    <a16:creationId xmlns:a16="http://schemas.microsoft.com/office/drawing/2014/main" id="{AC0B7432-B97A-42BA-AE8C-CA683E1FCCAE}"/>
                  </a:ext>
                </a:extLst>
              </p:cNvPr>
              <p:cNvSpPr/>
              <p:nvPr/>
            </p:nvSpPr>
            <p:spPr>
              <a:xfrm>
                <a:off x="2009196" y="1540057"/>
                <a:ext cx="791464" cy="731521"/>
              </a:xfrm>
              <a:prstGeom prst="roundRect">
                <a:avLst/>
              </a:prstGeom>
              <a:solidFill>
                <a:schemeClr val="bg2">
                  <a:lumMod val="65000"/>
                </a:schemeClr>
              </a:solidFill>
              <a:ln>
                <a:noFill/>
              </a:ln>
              <a:effectLst>
                <a:outerShdw dist="76200" dir="8100000" algn="tr" rotWithShape="0">
                  <a:schemeClr val="bg2">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D01CAEC8-9AE3-4B1E-9181-0854ACAC3081}"/>
                  </a:ext>
                </a:extLst>
              </p:cNvPr>
              <p:cNvSpPr txBox="1"/>
              <p:nvPr/>
            </p:nvSpPr>
            <p:spPr>
              <a:xfrm>
                <a:off x="1957875" y="1652966"/>
                <a:ext cx="842785" cy="276999"/>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Standby</a:t>
                </a:r>
              </a:p>
            </p:txBody>
          </p:sp>
        </p:grpSp>
      </p:grpSp>
      <p:sp>
        <p:nvSpPr>
          <p:cNvPr id="67" name="TextBox 66">
            <a:extLst>
              <a:ext uri="{FF2B5EF4-FFF2-40B4-BE49-F238E27FC236}">
                <a16:creationId xmlns:a16="http://schemas.microsoft.com/office/drawing/2014/main" id="{2BC66BD8-70A7-433F-8CDE-F90A358D21CB}"/>
              </a:ext>
            </a:extLst>
          </p:cNvPr>
          <p:cNvSpPr txBox="1"/>
          <p:nvPr/>
        </p:nvSpPr>
        <p:spPr>
          <a:xfrm>
            <a:off x="6135582" y="4374789"/>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45" name="Flowchart: Magnetic Disk 44">
            <a:extLst>
              <a:ext uri="{FF2B5EF4-FFF2-40B4-BE49-F238E27FC236}">
                <a16:creationId xmlns:a16="http://schemas.microsoft.com/office/drawing/2014/main" id="{18262255-C075-4B2C-9C68-D72ED8815D64}"/>
              </a:ext>
            </a:extLst>
          </p:cNvPr>
          <p:cNvSpPr/>
          <p:nvPr/>
        </p:nvSpPr>
        <p:spPr>
          <a:xfrm>
            <a:off x="7639828" y="3360715"/>
            <a:ext cx="938187" cy="898140"/>
          </a:xfrm>
          <a:prstGeom prst="flowChartMagneticDisk">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Amazon Ember Regular"/>
              </a:rPr>
              <a:t>DB files on virtual shared storage</a:t>
            </a:r>
          </a:p>
        </p:txBody>
      </p:sp>
      <p:cxnSp>
        <p:nvCxnSpPr>
          <p:cNvPr id="7" name="Straight Arrow Connector 6">
            <a:extLst>
              <a:ext uri="{FF2B5EF4-FFF2-40B4-BE49-F238E27FC236}">
                <a16:creationId xmlns:a16="http://schemas.microsoft.com/office/drawing/2014/main" id="{C837DA7A-3B7B-4C29-B1F6-8A6549FB431D}"/>
              </a:ext>
            </a:extLst>
          </p:cNvPr>
          <p:cNvCxnSpPr>
            <a:cxnSpLocks/>
          </p:cNvCxnSpPr>
          <p:nvPr/>
        </p:nvCxnSpPr>
        <p:spPr>
          <a:xfrm flipH="1">
            <a:off x="4517175" y="2284403"/>
            <a:ext cx="365586" cy="1139202"/>
          </a:xfrm>
          <a:prstGeom prst="straightConnector1">
            <a:avLst/>
          </a:prstGeom>
          <a:ln w="63500">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3A80957-4AA8-4FF0-8036-5D6705A3F23F}"/>
              </a:ext>
            </a:extLst>
          </p:cNvPr>
          <p:cNvCxnSpPr>
            <a:cxnSpLocks/>
          </p:cNvCxnSpPr>
          <p:nvPr/>
        </p:nvCxnSpPr>
        <p:spPr>
          <a:xfrm>
            <a:off x="7919157" y="2277730"/>
            <a:ext cx="512136" cy="1113746"/>
          </a:xfrm>
          <a:prstGeom prst="straightConnector1">
            <a:avLst/>
          </a:prstGeom>
          <a:ln w="63500">
            <a:solidFill>
              <a:schemeClr val="bg2">
                <a:lumMod val="6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8FE31ED9-5271-4191-86E5-58BEE42BF09F}"/>
              </a:ext>
            </a:extLst>
          </p:cNvPr>
          <p:cNvSpPr txBox="1"/>
          <p:nvPr/>
        </p:nvSpPr>
        <p:spPr>
          <a:xfrm>
            <a:off x="295912" y="753626"/>
            <a:ext cx="3786204" cy="3785652"/>
          </a:xfrm>
          <a:prstGeom prst="rect">
            <a:avLst/>
          </a:prstGeom>
          <a:noFill/>
        </p:spPr>
        <p:txBody>
          <a:bodyPr wrap="square" rtlCol="0">
            <a:spAutoFit/>
          </a:bodyPr>
          <a:lstStyle/>
          <a:p>
            <a:r>
              <a:rPr lang="en-US" b="1" u="sng" dirty="0">
                <a:solidFill>
                  <a:schemeClr val="bg1"/>
                </a:solidFill>
                <a:latin typeface="Amazon Ember Regular"/>
              </a:rPr>
              <a:t>HA at instance level</a:t>
            </a:r>
          </a:p>
          <a:p>
            <a:pPr marL="171450" indent="-171450">
              <a:buFont typeface="Arial" panose="020B0604020202020204" pitchFamily="34" charset="0"/>
              <a:buChar char="•"/>
            </a:pPr>
            <a:r>
              <a:rPr lang="en-US" sz="1600" dirty="0">
                <a:solidFill>
                  <a:schemeClr val="bg1"/>
                </a:solidFill>
                <a:latin typeface="Amazon Ember Regular"/>
              </a:rPr>
              <a:t>Relies upon a shared storage </a:t>
            </a:r>
            <a:r>
              <a:rPr lang="en-US" sz="1600" b="1" dirty="0">
                <a:solidFill>
                  <a:schemeClr val="accent1">
                    <a:lumMod val="60000"/>
                    <a:lumOff val="40000"/>
                  </a:schemeClr>
                </a:solidFill>
                <a:latin typeface="Amazon Ember Regular"/>
              </a:rPr>
              <a:t>available to all nodes</a:t>
            </a:r>
          </a:p>
          <a:p>
            <a:pPr marL="171450" indent="-171450">
              <a:buFont typeface="Arial" panose="020B0604020202020204" pitchFamily="34" charset="0"/>
              <a:buChar char="•"/>
            </a:pPr>
            <a:r>
              <a:rPr lang="en-US" sz="1600" dirty="0">
                <a:solidFill>
                  <a:schemeClr val="bg1"/>
                </a:solidFill>
                <a:latin typeface="Amazon Ember Regular"/>
              </a:rPr>
              <a:t>Only </a:t>
            </a:r>
            <a:r>
              <a:rPr lang="en-US" sz="1600" b="1" dirty="0">
                <a:solidFill>
                  <a:schemeClr val="accent1">
                    <a:lumMod val="60000"/>
                    <a:lumOff val="40000"/>
                  </a:schemeClr>
                </a:solidFill>
                <a:latin typeface="Amazon Ember Regular"/>
              </a:rPr>
              <a:t>one instance of SQL Server active</a:t>
            </a:r>
          </a:p>
          <a:p>
            <a:pPr marL="171450" indent="-171450">
              <a:buFont typeface="Arial" panose="020B0604020202020204" pitchFamily="34" charset="0"/>
              <a:buChar char="•"/>
            </a:pPr>
            <a:r>
              <a:rPr lang="en-US" sz="1600" dirty="0">
                <a:solidFill>
                  <a:schemeClr val="bg1"/>
                </a:solidFill>
                <a:latin typeface="Amazon Ember Regular"/>
              </a:rPr>
              <a:t>No read access to standby instance</a:t>
            </a:r>
          </a:p>
          <a:p>
            <a:pPr marL="171450" indent="-171450">
              <a:buFont typeface="Arial" panose="020B0604020202020204" pitchFamily="34" charset="0"/>
              <a:buChar char="•"/>
            </a:pPr>
            <a:r>
              <a:rPr lang="en-US" sz="1600" b="1" dirty="0">
                <a:solidFill>
                  <a:schemeClr val="accent1">
                    <a:lumMod val="60000"/>
                    <a:lumOff val="40000"/>
                  </a:schemeClr>
                </a:solidFill>
                <a:latin typeface="Amazon Ember Regular"/>
              </a:rPr>
              <a:t>Standard Edition </a:t>
            </a:r>
            <a:r>
              <a:rPr lang="en-US" sz="1600" dirty="0">
                <a:solidFill>
                  <a:schemeClr val="bg1"/>
                </a:solidFill>
                <a:latin typeface="Amazon Ember Regular"/>
              </a:rPr>
              <a:t>supports </a:t>
            </a:r>
            <a:r>
              <a:rPr lang="en-US" sz="1600" b="1" dirty="0">
                <a:solidFill>
                  <a:schemeClr val="accent1">
                    <a:lumMod val="60000"/>
                    <a:lumOff val="40000"/>
                  </a:schemeClr>
                </a:solidFill>
                <a:latin typeface="Amazon Ember Regular"/>
              </a:rPr>
              <a:t>2 nodes </a:t>
            </a:r>
            <a:r>
              <a:rPr lang="en-US" sz="1600" dirty="0">
                <a:solidFill>
                  <a:schemeClr val="bg1"/>
                </a:solidFill>
                <a:latin typeface="Amazon Ember Regular"/>
              </a:rPr>
              <a:t>in AO FCI</a:t>
            </a:r>
          </a:p>
          <a:p>
            <a:endParaRPr lang="en-US" dirty="0">
              <a:solidFill>
                <a:schemeClr val="bg1"/>
              </a:solidFill>
              <a:latin typeface="Amazon Ember Regular"/>
            </a:endParaRPr>
          </a:p>
          <a:p>
            <a:r>
              <a:rPr lang="en-US" sz="1600" b="1" u="sng" dirty="0">
                <a:solidFill>
                  <a:schemeClr val="bg1"/>
                </a:solidFill>
                <a:latin typeface="Amazon Ember Regular"/>
              </a:rPr>
              <a:t>Shared Storage options in Windows:</a:t>
            </a:r>
          </a:p>
          <a:p>
            <a:pPr marL="285750" indent="-285750">
              <a:buFont typeface="Arial" panose="020B0604020202020204" pitchFamily="34" charset="0"/>
              <a:buChar char="•"/>
            </a:pPr>
            <a:r>
              <a:rPr lang="en-US" sz="1600" b="1" dirty="0">
                <a:solidFill>
                  <a:schemeClr val="accent1">
                    <a:lumMod val="60000"/>
                    <a:lumOff val="40000"/>
                  </a:schemeClr>
                </a:solidFill>
                <a:latin typeface="Amazon Ember Regular"/>
              </a:rPr>
              <a:t>Storage Spaces Direct (S2D)</a:t>
            </a:r>
          </a:p>
          <a:p>
            <a:pPr marL="285750" indent="-285750">
              <a:buFont typeface="Arial" panose="020B0604020202020204" pitchFamily="34" charset="0"/>
              <a:buChar char="•"/>
            </a:pPr>
            <a:r>
              <a:rPr lang="en-US" sz="1600" b="1" dirty="0" err="1">
                <a:solidFill>
                  <a:schemeClr val="accent1">
                    <a:lumMod val="60000"/>
                    <a:lumOff val="40000"/>
                  </a:schemeClr>
                </a:solidFill>
                <a:latin typeface="Amazon Ember Regular"/>
              </a:rPr>
              <a:t>FSx</a:t>
            </a:r>
            <a:r>
              <a:rPr lang="en-US" sz="1600" b="1" dirty="0">
                <a:solidFill>
                  <a:schemeClr val="accent1">
                    <a:lumMod val="60000"/>
                    <a:lumOff val="40000"/>
                  </a:schemeClr>
                </a:solidFill>
                <a:latin typeface="Amazon Ember Regular"/>
              </a:rPr>
              <a:t> (as of </a:t>
            </a:r>
            <a:r>
              <a:rPr lang="en-US" sz="1600" b="1" dirty="0" err="1">
                <a:solidFill>
                  <a:schemeClr val="accent1">
                    <a:lumMod val="60000"/>
                    <a:lumOff val="40000"/>
                  </a:schemeClr>
                </a:solidFill>
                <a:latin typeface="Amazon Ember Regular"/>
              </a:rPr>
              <a:t>re:Invent</a:t>
            </a:r>
            <a:r>
              <a:rPr lang="en-US" sz="1600" b="1" dirty="0">
                <a:solidFill>
                  <a:schemeClr val="accent1">
                    <a:lumMod val="60000"/>
                    <a:lumOff val="40000"/>
                  </a:schemeClr>
                </a:solidFill>
                <a:latin typeface="Amazon Ember Regular"/>
              </a:rPr>
              <a:t> 2019)</a:t>
            </a:r>
          </a:p>
          <a:p>
            <a:pPr marL="285750" indent="-285750">
              <a:buFont typeface="Arial" panose="020B0604020202020204" pitchFamily="34" charset="0"/>
              <a:buChar char="•"/>
            </a:pPr>
            <a:r>
              <a:rPr lang="en-US" sz="1400" dirty="0">
                <a:solidFill>
                  <a:schemeClr val="bg1"/>
                </a:solidFill>
                <a:latin typeface="Amazon Ember Regular"/>
              </a:rPr>
              <a:t>SIOS </a:t>
            </a:r>
            <a:r>
              <a:rPr lang="en-US" sz="1400" dirty="0" err="1">
                <a:solidFill>
                  <a:schemeClr val="bg1"/>
                </a:solidFill>
                <a:latin typeface="Amazon Ember Regular"/>
              </a:rPr>
              <a:t>Datakeeper</a:t>
            </a:r>
            <a:r>
              <a:rPr lang="en-US" sz="1400" dirty="0">
                <a:solidFill>
                  <a:schemeClr val="accent1">
                    <a:lumMod val="60000"/>
                    <a:lumOff val="40000"/>
                  </a:schemeClr>
                </a:solidFill>
                <a:latin typeface="Amazon Ember Regular"/>
              </a:rPr>
              <a:t>*</a:t>
            </a:r>
          </a:p>
          <a:p>
            <a:pPr marL="285750" indent="-285750">
              <a:buFont typeface="Arial" panose="020B0604020202020204" pitchFamily="34" charset="0"/>
              <a:buChar char="•"/>
            </a:pPr>
            <a:r>
              <a:rPr lang="en-US" sz="1400" dirty="0" err="1">
                <a:solidFill>
                  <a:schemeClr val="bg1"/>
                </a:solidFill>
                <a:latin typeface="Amazon Ember Regular"/>
              </a:rPr>
              <a:t>SoftNAS</a:t>
            </a:r>
            <a:r>
              <a:rPr lang="en-US" sz="1400" dirty="0">
                <a:solidFill>
                  <a:schemeClr val="accent1">
                    <a:lumMod val="60000"/>
                    <a:lumOff val="40000"/>
                  </a:schemeClr>
                </a:solidFill>
                <a:latin typeface="Amazon Ember Regular"/>
              </a:rPr>
              <a:t>*</a:t>
            </a:r>
            <a:endParaRPr lang="en-US" sz="1400" dirty="0">
              <a:solidFill>
                <a:schemeClr val="bg1"/>
              </a:solidFill>
              <a:latin typeface="Amazon Ember Regular"/>
            </a:endParaRPr>
          </a:p>
          <a:p>
            <a:r>
              <a:rPr lang="en-US" sz="1600" dirty="0">
                <a:solidFill>
                  <a:schemeClr val="accent1">
                    <a:lumMod val="60000"/>
                    <a:lumOff val="40000"/>
                  </a:schemeClr>
                </a:solidFill>
                <a:latin typeface="Amazon Ember Regular"/>
              </a:rPr>
              <a:t>*</a:t>
            </a:r>
            <a:r>
              <a:rPr lang="en-US" sz="1400" dirty="0">
                <a:solidFill>
                  <a:schemeClr val="accent1">
                    <a:lumMod val="60000"/>
                    <a:lumOff val="40000"/>
                  </a:schemeClr>
                </a:solidFill>
                <a:latin typeface="Amazon Ember Regular"/>
              </a:rPr>
              <a:t>Third-party solutions</a:t>
            </a:r>
          </a:p>
        </p:txBody>
      </p:sp>
      <p:sp>
        <p:nvSpPr>
          <p:cNvPr id="39" name="Flowchart: Magnetic Disk 38">
            <a:extLst>
              <a:ext uri="{FF2B5EF4-FFF2-40B4-BE49-F238E27FC236}">
                <a16:creationId xmlns:a16="http://schemas.microsoft.com/office/drawing/2014/main" id="{18262255-C075-4B2C-9C68-D72ED8815D64}"/>
              </a:ext>
            </a:extLst>
          </p:cNvPr>
          <p:cNvSpPr/>
          <p:nvPr/>
        </p:nvSpPr>
        <p:spPr>
          <a:xfrm>
            <a:off x="4408487" y="3364363"/>
            <a:ext cx="938187" cy="898140"/>
          </a:xfrm>
          <a:prstGeom prst="flowChartMagneticDisk">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Amazon Ember Regular"/>
              </a:rPr>
              <a:t>DB files on virtual shared storage</a:t>
            </a:r>
          </a:p>
        </p:txBody>
      </p:sp>
      <p:cxnSp>
        <p:nvCxnSpPr>
          <p:cNvPr id="54" name="Straight Arrow Connector 53">
            <a:extLst>
              <a:ext uri="{FF2B5EF4-FFF2-40B4-BE49-F238E27FC236}">
                <a16:creationId xmlns:a16="http://schemas.microsoft.com/office/drawing/2014/main" id="{C837DA7A-3B7B-4C29-B1F6-8A6549FB431D}"/>
              </a:ext>
            </a:extLst>
          </p:cNvPr>
          <p:cNvCxnSpPr>
            <a:cxnSpLocks/>
            <a:stCxn id="39" idx="4"/>
            <a:endCxn id="45" idx="2"/>
          </p:cNvCxnSpPr>
          <p:nvPr/>
        </p:nvCxnSpPr>
        <p:spPr>
          <a:xfrm flipV="1">
            <a:off x="5346674" y="3809785"/>
            <a:ext cx="2293154" cy="3648"/>
          </a:xfrm>
          <a:prstGeom prst="straightConnector1">
            <a:avLst/>
          </a:prstGeom>
          <a:ln w="254000">
            <a:solidFill>
              <a:schemeClr val="tx1">
                <a:lumMod val="75000"/>
                <a:lumOff val="25000"/>
              </a:schemeClr>
            </a:solidFill>
            <a:headEnd type="stealth"/>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2318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Always On FCI in Availability Group</a:t>
            </a:r>
            <a:endParaRPr lang="en-US" b="1" dirty="0"/>
          </a:p>
        </p:txBody>
      </p:sp>
      <p:sp>
        <p:nvSpPr>
          <p:cNvPr id="26" name="Rounded Rectangle 4">
            <a:extLst>
              <a:ext uri="{FF2B5EF4-FFF2-40B4-BE49-F238E27FC236}">
                <a16:creationId xmlns:a16="http://schemas.microsoft.com/office/drawing/2014/main" id="{4306DB14-9DB1-41F7-8228-56752E4B8ED9}"/>
              </a:ext>
            </a:extLst>
          </p:cNvPr>
          <p:cNvSpPr/>
          <p:nvPr/>
        </p:nvSpPr>
        <p:spPr>
          <a:xfrm>
            <a:off x="474971" y="752122"/>
            <a:ext cx="4924651" cy="376648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8" name="Group 17">
            <a:extLst>
              <a:ext uri="{FF2B5EF4-FFF2-40B4-BE49-F238E27FC236}">
                <a16:creationId xmlns:a16="http://schemas.microsoft.com/office/drawing/2014/main" id="{9D746F17-83DE-411D-B7DD-9944657A95CD}"/>
              </a:ext>
            </a:extLst>
          </p:cNvPr>
          <p:cNvGrpSpPr/>
          <p:nvPr/>
        </p:nvGrpSpPr>
        <p:grpSpPr>
          <a:xfrm>
            <a:off x="708317" y="1203240"/>
            <a:ext cx="2180981" cy="2048214"/>
            <a:chOff x="1276535" y="1166139"/>
            <a:chExt cx="2180981" cy="2048214"/>
          </a:xfrm>
        </p:grpSpPr>
        <p:sp>
          <p:nvSpPr>
            <p:cNvPr id="50" name="Rounded Rectangle 6">
              <a:extLst>
                <a:ext uri="{FF2B5EF4-FFF2-40B4-BE49-F238E27FC236}">
                  <a16:creationId xmlns:a16="http://schemas.microsoft.com/office/drawing/2014/main" id="{43D3B355-81FC-4A57-BFB1-1E744FD27BE3}"/>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TextBox 32">
              <a:extLst>
                <a:ext uri="{FF2B5EF4-FFF2-40B4-BE49-F238E27FC236}">
                  <a16:creationId xmlns:a16="http://schemas.microsoft.com/office/drawing/2014/main" id="{4A94D9CB-99C0-47DF-A8F4-989A469A23A0}"/>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1</a:t>
              </a:r>
            </a:p>
          </p:txBody>
        </p:sp>
        <p:grpSp>
          <p:nvGrpSpPr>
            <p:cNvPr id="28" name="Group 27">
              <a:extLst>
                <a:ext uri="{FF2B5EF4-FFF2-40B4-BE49-F238E27FC236}">
                  <a16:creationId xmlns:a16="http://schemas.microsoft.com/office/drawing/2014/main" id="{1020712F-A6BC-4994-A424-630B3492DB10}"/>
                </a:ext>
              </a:extLst>
            </p:cNvPr>
            <p:cNvGrpSpPr/>
            <p:nvPr/>
          </p:nvGrpSpPr>
          <p:grpSpPr>
            <a:xfrm>
              <a:off x="1608319" y="1338290"/>
              <a:ext cx="1517416" cy="1519357"/>
              <a:chOff x="4629151" y="2824163"/>
              <a:chExt cx="1555751" cy="1487612"/>
            </a:xfrm>
          </p:grpSpPr>
          <p:sp>
            <p:nvSpPr>
              <p:cNvPr id="48" name="Rounded Rectangle 9">
                <a:extLst>
                  <a:ext uri="{FF2B5EF4-FFF2-40B4-BE49-F238E27FC236}">
                    <a16:creationId xmlns:a16="http://schemas.microsoft.com/office/drawing/2014/main" id="{81212020-2253-44B8-9E58-58BCBAA7F048}"/>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TextBox 37">
                <a:extLst>
                  <a:ext uri="{FF2B5EF4-FFF2-40B4-BE49-F238E27FC236}">
                    <a16:creationId xmlns:a16="http://schemas.microsoft.com/office/drawing/2014/main" id="{8F42591A-01F2-4ED6-860E-A7231E34E970}"/>
                  </a:ext>
                </a:extLst>
              </p:cNvPr>
              <p:cNvSpPr txBox="1">
                <a:spLocks noChangeArrowheads="1"/>
              </p:cNvSpPr>
              <p:nvPr/>
            </p:nvSpPr>
            <p:spPr bwMode="auto">
              <a:xfrm>
                <a:off x="4629151" y="4059634"/>
                <a:ext cx="1555750" cy="252141"/>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a</a:t>
                </a:r>
              </a:p>
            </p:txBody>
          </p:sp>
        </p:grpSp>
        <p:pic>
          <p:nvPicPr>
            <p:cNvPr id="30" name="Picture 29">
              <a:extLst>
                <a:ext uri="{FF2B5EF4-FFF2-40B4-BE49-F238E27FC236}">
                  <a16:creationId xmlns:a16="http://schemas.microsoft.com/office/drawing/2014/main" id="{9CAEAE54-EAF1-4DB0-8011-CD3D23983D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5" name="Group 4">
              <a:extLst>
                <a:ext uri="{FF2B5EF4-FFF2-40B4-BE49-F238E27FC236}">
                  <a16:creationId xmlns:a16="http://schemas.microsoft.com/office/drawing/2014/main" id="{61C71648-ECB8-419E-AE05-815A78805B72}"/>
                </a:ext>
              </a:extLst>
            </p:cNvPr>
            <p:cNvGrpSpPr/>
            <p:nvPr/>
          </p:nvGrpSpPr>
          <p:grpSpPr>
            <a:xfrm>
              <a:off x="1920184" y="1515781"/>
              <a:ext cx="791464" cy="731521"/>
              <a:chOff x="2009196" y="1540057"/>
              <a:chExt cx="791464" cy="731521"/>
            </a:xfrm>
          </p:grpSpPr>
          <p:sp>
            <p:nvSpPr>
              <p:cNvPr id="53" name="Rectangle: Rounded Corners 52">
                <a:extLst>
                  <a:ext uri="{FF2B5EF4-FFF2-40B4-BE49-F238E27FC236}">
                    <a16:creationId xmlns:a16="http://schemas.microsoft.com/office/drawing/2014/main" id="{954678F7-70B7-4203-A9F0-D7C4D4E91E58}"/>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A29512CB-82BA-4244-A64E-724F49614992}"/>
                  </a:ext>
                </a:extLst>
              </p:cNvPr>
              <p:cNvSpPr txBox="1"/>
              <p:nvPr/>
            </p:nvSpPr>
            <p:spPr>
              <a:xfrm>
                <a:off x="2060456" y="1652966"/>
                <a:ext cx="731520" cy="276999"/>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Active</a:t>
                </a:r>
              </a:p>
            </p:txBody>
          </p:sp>
        </p:grpSp>
      </p:grpSp>
      <p:grpSp>
        <p:nvGrpSpPr>
          <p:cNvPr id="3" name="Group 2">
            <a:extLst>
              <a:ext uri="{FF2B5EF4-FFF2-40B4-BE49-F238E27FC236}">
                <a16:creationId xmlns:a16="http://schemas.microsoft.com/office/drawing/2014/main" id="{3D55C13C-1253-4D30-AEA2-8C2A5695742F}"/>
              </a:ext>
            </a:extLst>
          </p:cNvPr>
          <p:cNvGrpSpPr/>
          <p:nvPr/>
        </p:nvGrpSpPr>
        <p:grpSpPr>
          <a:xfrm>
            <a:off x="691102" y="813652"/>
            <a:ext cx="4508422" cy="3561137"/>
            <a:chOff x="831274" y="813652"/>
            <a:chExt cx="4508422" cy="2657063"/>
          </a:xfrm>
        </p:grpSpPr>
        <p:sp>
          <p:nvSpPr>
            <p:cNvPr id="38" name="Rounded Rectangle 32">
              <a:extLst>
                <a:ext uri="{FF2B5EF4-FFF2-40B4-BE49-F238E27FC236}">
                  <a16:creationId xmlns:a16="http://schemas.microsoft.com/office/drawing/2014/main" id="{B3AE68B3-79F7-47FB-97EC-C465B547A418}"/>
                </a:ext>
              </a:extLst>
            </p:cNvPr>
            <p:cNvSpPr/>
            <p:nvPr/>
          </p:nvSpPr>
          <p:spPr>
            <a:xfrm>
              <a:off x="831274" y="989902"/>
              <a:ext cx="4508422"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2" name="Picture 51">
              <a:extLst>
                <a:ext uri="{FF2B5EF4-FFF2-40B4-BE49-F238E27FC236}">
                  <a16:creationId xmlns:a16="http://schemas.microsoft.com/office/drawing/2014/main" id="{ADB962E8-9EDD-47E8-BD9D-C3218E1E5F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32" name="Group 31">
            <a:extLst>
              <a:ext uri="{FF2B5EF4-FFF2-40B4-BE49-F238E27FC236}">
                <a16:creationId xmlns:a16="http://schemas.microsoft.com/office/drawing/2014/main" id="{F4F46607-C218-4332-8147-A15D01E396F2}"/>
              </a:ext>
            </a:extLst>
          </p:cNvPr>
          <p:cNvGrpSpPr/>
          <p:nvPr/>
        </p:nvGrpSpPr>
        <p:grpSpPr>
          <a:xfrm>
            <a:off x="3018542" y="1196567"/>
            <a:ext cx="2180981" cy="2048214"/>
            <a:chOff x="1276535" y="1166139"/>
            <a:chExt cx="2180981" cy="2048214"/>
          </a:xfrm>
        </p:grpSpPr>
        <p:sp>
          <p:nvSpPr>
            <p:cNvPr id="33" name="Rounded Rectangle 6">
              <a:extLst>
                <a:ext uri="{FF2B5EF4-FFF2-40B4-BE49-F238E27FC236}">
                  <a16:creationId xmlns:a16="http://schemas.microsoft.com/office/drawing/2014/main" id="{BBF17997-2700-44B1-99F5-7540FA9E0349}"/>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32">
              <a:extLst>
                <a:ext uri="{FF2B5EF4-FFF2-40B4-BE49-F238E27FC236}">
                  <a16:creationId xmlns:a16="http://schemas.microsoft.com/office/drawing/2014/main" id="{1E28A1CC-9ECE-4032-824E-DF47066C7D2F}"/>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2</a:t>
              </a:r>
            </a:p>
          </p:txBody>
        </p:sp>
        <p:grpSp>
          <p:nvGrpSpPr>
            <p:cNvPr id="35" name="Group 34">
              <a:extLst>
                <a:ext uri="{FF2B5EF4-FFF2-40B4-BE49-F238E27FC236}">
                  <a16:creationId xmlns:a16="http://schemas.microsoft.com/office/drawing/2014/main" id="{54041920-AEB5-4DA5-BD61-019E987EF018}"/>
                </a:ext>
              </a:extLst>
            </p:cNvPr>
            <p:cNvGrpSpPr/>
            <p:nvPr/>
          </p:nvGrpSpPr>
          <p:grpSpPr>
            <a:xfrm>
              <a:off x="1608319" y="1338289"/>
              <a:ext cx="1517416" cy="1523445"/>
              <a:chOff x="4629151" y="2824163"/>
              <a:chExt cx="1555751" cy="1491615"/>
            </a:xfrm>
          </p:grpSpPr>
          <p:sp>
            <p:nvSpPr>
              <p:cNvPr id="43" name="Rounded Rectangle 9">
                <a:extLst>
                  <a:ext uri="{FF2B5EF4-FFF2-40B4-BE49-F238E27FC236}">
                    <a16:creationId xmlns:a16="http://schemas.microsoft.com/office/drawing/2014/main" id="{E34B20A4-23ED-45E2-A923-5CD066AA6CDB}"/>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37">
                <a:extLst>
                  <a:ext uri="{FF2B5EF4-FFF2-40B4-BE49-F238E27FC236}">
                    <a16:creationId xmlns:a16="http://schemas.microsoft.com/office/drawing/2014/main" id="{FBF5BF03-F6CC-49CF-BABE-4E601435F473}"/>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b</a:t>
                </a:r>
              </a:p>
            </p:txBody>
          </p:sp>
        </p:grpSp>
        <p:pic>
          <p:nvPicPr>
            <p:cNvPr id="36" name="Picture 35">
              <a:extLst>
                <a:ext uri="{FF2B5EF4-FFF2-40B4-BE49-F238E27FC236}">
                  <a16:creationId xmlns:a16="http://schemas.microsoft.com/office/drawing/2014/main" id="{7CA3FCC2-0810-4F35-A5AC-89CBD9E816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37" name="Group 36">
              <a:extLst>
                <a:ext uri="{FF2B5EF4-FFF2-40B4-BE49-F238E27FC236}">
                  <a16:creationId xmlns:a16="http://schemas.microsoft.com/office/drawing/2014/main" id="{12B063FA-1CF9-475C-BDC8-D1A916282455}"/>
                </a:ext>
              </a:extLst>
            </p:cNvPr>
            <p:cNvGrpSpPr/>
            <p:nvPr/>
          </p:nvGrpSpPr>
          <p:grpSpPr>
            <a:xfrm>
              <a:off x="1868863" y="1515781"/>
              <a:ext cx="842785" cy="731521"/>
              <a:chOff x="1957875" y="1540057"/>
              <a:chExt cx="842785" cy="731521"/>
            </a:xfrm>
          </p:grpSpPr>
          <p:sp>
            <p:nvSpPr>
              <p:cNvPr id="40" name="Rectangle: Rounded Corners 39">
                <a:extLst>
                  <a:ext uri="{FF2B5EF4-FFF2-40B4-BE49-F238E27FC236}">
                    <a16:creationId xmlns:a16="http://schemas.microsoft.com/office/drawing/2014/main" id="{AC0B7432-B97A-42BA-AE8C-CA683E1FCCAE}"/>
                  </a:ext>
                </a:extLst>
              </p:cNvPr>
              <p:cNvSpPr/>
              <p:nvPr/>
            </p:nvSpPr>
            <p:spPr>
              <a:xfrm>
                <a:off x="2009196" y="1540057"/>
                <a:ext cx="791464" cy="731521"/>
              </a:xfrm>
              <a:prstGeom prst="roundRect">
                <a:avLst/>
              </a:prstGeom>
              <a:solidFill>
                <a:schemeClr val="bg2">
                  <a:lumMod val="65000"/>
                </a:schemeClr>
              </a:solidFill>
              <a:ln>
                <a:noFill/>
              </a:ln>
              <a:effectLst>
                <a:outerShdw dist="76200" dir="8100000" algn="tr" rotWithShape="0">
                  <a:schemeClr val="bg2">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D01CAEC8-9AE3-4B1E-9181-0854ACAC3081}"/>
                  </a:ext>
                </a:extLst>
              </p:cNvPr>
              <p:cNvSpPr txBox="1"/>
              <p:nvPr/>
            </p:nvSpPr>
            <p:spPr>
              <a:xfrm>
                <a:off x="1957875" y="1652966"/>
                <a:ext cx="842785" cy="276999"/>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Standby</a:t>
                </a:r>
              </a:p>
            </p:txBody>
          </p:sp>
        </p:grpSp>
      </p:grpSp>
      <p:sp>
        <p:nvSpPr>
          <p:cNvPr id="67" name="TextBox 66">
            <a:extLst>
              <a:ext uri="{FF2B5EF4-FFF2-40B4-BE49-F238E27FC236}">
                <a16:creationId xmlns:a16="http://schemas.microsoft.com/office/drawing/2014/main" id="{2BC66BD8-70A7-433F-8CDE-F90A358D21CB}"/>
              </a:ext>
            </a:extLst>
          </p:cNvPr>
          <p:cNvSpPr txBox="1"/>
          <p:nvPr/>
        </p:nvSpPr>
        <p:spPr>
          <a:xfrm>
            <a:off x="2604786" y="4374789"/>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sp>
        <p:nvSpPr>
          <p:cNvPr id="39" name="Rounded Rectangle 4">
            <a:extLst>
              <a:ext uri="{FF2B5EF4-FFF2-40B4-BE49-F238E27FC236}">
                <a16:creationId xmlns:a16="http://schemas.microsoft.com/office/drawing/2014/main" id="{E85FE086-CB9C-4F3F-8B39-C84975746A35}"/>
              </a:ext>
            </a:extLst>
          </p:cNvPr>
          <p:cNvSpPr/>
          <p:nvPr/>
        </p:nvSpPr>
        <p:spPr>
          <a:xfrm>
            <a:off x="6047292" y="752122"/>
            <a:ext cx="2702409" cy="3037972"/>
          </a:xfrm>
          <a:prstGeom prst="roundRect">
            <a:avLst>
              <a:gd name="adj" fmla="val 9818"/>
            </a:avLst>
          </a:prstGeom>
          <a:noFill/>
          <a:ln w="6350">
            <a:solidFill>
              <a:schemeClr val="accent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b"/>
          <a:lstStyle/>
          <a:p>
            <a:pPr algn="ctr" fontAlgn="auto">
              <a:spcBef>
                <a:spcPts val="0"/>
              </a:spcBef>
              <a:spcAft>
                <a:spcPts val="0"/>
              </a:spcAft>
              <a:defRPr/>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TextBox 41">
            <a:extLst>
              <a:ext uri="{FF2B5EF4-FFF2-40B4-BE49-F238E27FC236}">
                <a16:creationId xmlns:a16="http://schemas.microsoft.com/office/drawing/2014/main" id="{B5585363-AEF5-4CF2-ADCA-EF649E84202A}"/>
              </a:ext>
            </a:extLst>
          </p:cNvPr>
          <p:cNvSpPr txBox="1"/>
          <p:nvPr/>
        </p:nvSpPr>
        <p:spPr>
          <a:xfrm>
            <a:off x="6990599" y="3651594"/>
            <a:ext cx="1057405" cy="276999"/>
          </a:xfrm>
          <a:prstGeom prst="rect">
            <a:avLst/>
          </a:prstGeom>
          <a:noFill/>
        </p:spPr>
        <p:txBody>
          <a:bodyPr wrap="none" rtlCol="0">
            <a:spAutoFit/>
          </a:bodyPr>
          <a:lstStyle/>
          <a:p>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 Region</a:t>
            </a:r>
          </a:p>
        </p:txBody>
      </p:sp>
      <p:grpSp>
        <p:nvGrpSpPr>
          <p:cNvPr id="54" name="Group 53">
            <a:extLst>
              <a:ext uri="{FF2B5EF4-FFF2-40B4-BE49-F238E27FC236}">
                <a16:creationId xmlns:a16="http://schemas.microsoft.com/office/drawing/2014/main" id="{CB41D5DE-F272-4FC1-8E8A-28B6835E3E3C}"/>
              </a:ext>
            </a:extLst>
          </p:cNvPr>
          <p:cNvGrpSpPr/>
          <p:nvPr/>
        </p:nvGrpSpPr>
        <p:grpSpPr>
          <a:xfrm>
            <a:off x="6274646" y="829066"/>
            <a:ext cx="2254211" cy="2657063"/>
            <a:chOff x="831274" y="813652"/>
            <a:chExt cx="2254211" cy="2657063"/>
          </a:xfrm>
        </p:grpSpPr>
        <p:sp>
          <p:nvSpPr>
            <p:cNvPr id="55" name="Rounded Rectangle 32">
              <a:extLst>
                <a:ext uri="{FF2B5EF4-FFF2-40B4-BE49-F238E27FC236}">
                  <a16:creationId xmlns:a16="http://schemas.microsoft.com/office/drawing/2014/main" id="{A1F0FBE6-E31E-4785-AD24-AF2B44A84457}"/>
                </a:ext>
              </a:extLst>
            </p:cNvPr>
            <p:cNvSpPr/>
            <p:nvPr/>
          </p:nvSpPr>
          <p:spPr>
            <a:xfrm>
              <a:off x="831274" y="989902"/>
              <a:ext cx="2254211" cy="2480813"/>
            </a:xfrm>
            <a:prstGeom prst="roundRect">
              <a:avLst>
                <a:gd name="adj" fmla="val 9818"/>
              </a:avLst>
            </a:prstGeom>
            <a:noFill/>
            <a:ln w="6350">
              <a:solidFill>
                <a:schemeClr val="tx1">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6" name="Picture 55">
              <a:extLst>
                <a:ext uri="{FF2B5EF4-FFF2-40B4-BE49-F238E27FC236}">
                  <a16:creationId xmlns:a16="http://schemas.microsoft.com/office/drawing/2014/main" id="{0D189164-D3BA-42B7-97FF-CD1947A4E7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36702" y="813652"/>
              <a:ext cx="457200" cy="298450"/>
            </a:xfrm>
            <a:prstGeom prst="rect">
              <a:avLst/>
            </a:prstGeom>
          </p:spPr>
        </p:pic>
      </p:grpSp>
      <p:grpSp>
        <p:nvGrpSpPr>
          <p:cNvPr id="57" name="Group 56">
            <a:extLst>
              <a:ext uri="{FF2B5EF4-FFF2-40B4-BE49-F238E27FC236}">
                <a16:creationId xmlns:a16="http://schemas.microsoft.com/office/drawing/2014/main" id="{7B37AF24-81F4-4623-9A0E-8CB92A65E985}"/>
              </a:ext>
            </a:extLst>
          </p:cNvPr>
          <p:cNvGrpSpPr/>
          <p:nvPr/>
        </p:nvGrpSpPr>
        <p:grpSpPr>
          <a:xfrm>
            <a:off x="6347876" y="1223421"/>
            <a:ext cx="2180981" cy="2048214"/>
            <a:chOff x="1276535" y="1166139"/>
            <a:chExt cx="2180981" cy="2048214"/>
          </a:xfrm>
        </p:grpSpPr>
        <p:sp>
          <p:nvSpPr>
            <p:cNvPr id="58" name="Rounded Rectangle 6">
              <a:extLst>
                <a:ext uri="{FF2B5EF4-FFF2-40B4-BE49-F238E27FC236}">
                  <a16:creationId xmlns:a16="http://schemas.microsoft.com/office/drawing/2014/main" id="{8255BCB8-3479-45C6-BECD-070D280FDAAE}"/>
                </a:ext>
              </a:extLst>
            </p:cNvPr>
            <p:cNvSpPr/>
            <p:nvPr/>
          </p:nvSpPr>
          <p:spPr>
            <a:xfrm>
              <a:off x="1442568" y="1166139"/>
              <a:ext cx="1875167" cy="2048214"/>
            </a:xfrm>
            <a:prstGeom prst="roundRect">
              <a:avLst>
                <a:gd name="adj" fmla="val 9818"/>
              </a:avLst>
            </a:prstGeom>
            <a:noFill/>
            <a:ln w="19050">
              <a:solidFill>
                <a:srgbClr val="00B0F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9" name="TextBox 32">
              <a:extLst>
                <a:ext uri="{FF2B5EF4-FFF2-40B4-BE49-F238E27FC236}">
                  <a16:creationId xmlns:a16="http://schemas.microsoft.com/office/drawing/2014/main" id="{B1D70927-7A40-46C1-9EC1-789E2D9ABC1C}"/>
                </a:ext>
              </a:extLst>
            </p:cNvPr>
            <p:cNvSpPr txBox="1">
              <a:spLocks noChangeArrowheads="1"/>
            </p:cNvSpPr>
            <p:nvPr/>
          </p:nvSpPr>
          <p:spPr bwMode="auto">
            <a:xfrm>
              <a:off x="1276535" y="2951265"/>
              <a:ext cx="2180981" cy="261610"/>
            </a:xfrm>
            <a:prstGeom prst="rect">
              <a:avLst/>
            </a:prstGeom>
            <a:noFill/>
            <a:ln w="9525">
              <a:noFill/>
              <a:miter lim="800000"/>
              <a:headEnd/>
              <a:tailEnd/>
            </a:ln>
          </p:spPr>
          <p:txBody>
            <a:bodyPr wrap="square">
              <a:spAutoFit/>
            </a:bodyPr>
            <a:lstStyle/>
            <a:p>
              <a:pPr algn="ctr"/>
              <a:r>
                <a:rPr lang="en-US" sz="11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Availability Zone 3</a:t>
              </a:r>
            </a:p>
          </p:txBody>
        </p:sp>
        <p:grpSp>
          <p:nvGrpSpPr>
            <p:cNvPr id="60" name="Group 59">
              <a:extLst>
                <a:ext uri="{FF2B5EF4-FFF2-40B4-BE49-F238E27FC236}">
                  <a16:creationId xmlns:a16="http://schemas.microsoft.com/office/drawing/2014/main" id="{C1BD20FA-8B02-4607-A923-0B674A0B2128}"/>
                </a:ext>
              </a:extLst>
            </p:cNvPr>
            <p:cNvGrpSpPr/>
            <p:nvPr/>
          </p:nvGrpSpPr>
          <p:grpSpPr>
            <a:xfrm>
              <a:off x="1608319" y="1338289"/>
              <a:ext cx="1517416" cy="1523445"/>
              <a:chOff x="4629151" y="2824163"/>
              <a:chExt cx="1555751" cy="1491615"/>
            </a:xfrm>
          </p:grpSpPr>
          <p:sp>
            <p:nvSpPr>
              <p:cNvPr id="66" name="Rounded Rectangle 9">
                <a:extLst>
                  <a:ext uri="{FF2B5EF4-FFF2-40B4-BE49-F238E27FC236}">
                    <a16:creationId xmlns:a16="http://schemas.microsoft.com/office/drawing/2014/main" id="{6465FA4F-7FA6-4971-9632-945C4E927D4E}"/>
                  </a:ext>
                </a:extLst>
              </p:cNvPr>
              <p:cNvSpPr/>
              <p:nvPr/>
            </p:nvSpPr>
            <p:spPr>
              <a:xfrm>
                <a:off x="4629151" y="2824163"/>
                <a:ext cx="1555751" cy="1487612"/>
              </a:xfrm>
              <a:prstGeom prst="roundRect">
                <a:avLst>
                  <a:gd name="adj" fmla="val 9818"/>
                </a:avLst>
              </a:prstGeom>
              <a:noFill/>
              <a:ln w="6350">
                <a:solidFill>
                  <a:schemeClr val="accent5">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8" name="TextBox 37">
                <a:extLst>
                  <a:ext uri="{FF2B5EF4-FFF2-40B4-BE49-F238E27FC236}">
                    <a16:creationId xmlns:a16="http://schemas.microsoft.com/office/drawing/2014/main" id="{DC2FA9B8-0243-4718-8E67-34C09859C780}"/>
                  </a:ext>
                </a:extLst>
              </p:cNvPr>
              <p:cNvSpPr txBox="1">
                <a:spLocks noChangeArrowheads="1"/>
              </p:cNvSpPr>
              <p:nvPr/>
            </p:nvSpPr>
            <p:spPr bwMode="auto">
              <a:xfrm>
                <a:off x="4629151" y="4059634"/>
                <a:ext cx="1555750" cy="256144"/>
              </a:xfrm>
              <a:prstGeom prst="rect">
                <a:avLst/>
              </a:prstGeom>
              <a:noFill/>
              <a:ln w="9525">
                <a:noFill/>
                <a:miter lim="800000"/>
                <a:headEnd/>
                <a:tailEnd/>
              </a:ln>
            </p:spPr>
            <p:txBody>
              <a:bodyPr>
                <a:spAutoFit/>
              </a:bodyPr>
              <a:lstStyle/>
              <a:p>
                <a:pPr algn="ctr"/>
                <a:r>
                  <a:rPr lang="en-US" sz="11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Subnet c</a:t>
                </a:r>
              </a:p>
            </p:txBody>
          </p:sp>
        </p:grpSp>
        <p:pic>
          <p:nvPicPr>
            <p:cNvPr id="61" name="Picture 60">
              <a:extLst>
                <a:ext uri="{FF2B5EF4-FFF2-40B4-BE49-F238E27FC236}">
                  <a16:creationId xmlns:a16="http://schemas.microsoft.com/office/drawing/2014/main" id="{15972B8A-53A5-4FA1-ACC6-FFC043C1224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4727" y="1292453"/>
              <a:ext cx="215900" cy="241300"/>
            </a:xfrm>
            <a:prstGeom prst="rect">
              <a:avLst/>
            </a:prstGeom>
          </p:spPr>
        </p:pic>
        <p:grpSp>
          <p:nvGrpSpPr>
            <p:cNvPr id="62" name="Group 61">
              <a:extLst>
                <a:ext uri="{FF2B5EF4-FFF2-40B4-BE49-F238E27FC236}">
                  <a16:creationId xmlns:a16="http://schemas.microsoft.com/office/drawing/2014/main" id="{C4A393EC-C6F5-43B6-8D26-D01AFE36D6CC}"/>
                </a:ext>
              </a:extLst>
            </p:cNvPr>
            <p:cNvGrpSpPr/>
            <p:nvPr/>
          </p:nvGrpSpPr>
          <p:grpSpPr>
            <a:xfrm>
              <a:off x="1819247" y="1515781"/>
              <a:ext cx="1228189" cy="1129223"/>
              <a:chOff x="1908259" y="1540057"/>
              <a:chExt cx="1228189" cy="1129223"/>
            </a:xfrm>
          </p:grpSpPr>
          <p:sp>
            <p:nvSpPr>
              <p:cNvPr id="63" name="Rectangle: Rounded Corners 62">
                <a:extLst>
                  <a:ext uri="{FF2B5EF4-FFF2-40B4-BE49-F238E27FC236}">
                    <a16:creationId xmlns:a16="http://schemas.microsoft.com/office/drawing/2014/main" id="{9360924D-1AB3-45DA-8061-17E61174074C}"/>
                  </a:ext>
                </a:extLst>
              </p:cNvPr>
              <p:cNvSpPr/>
              <p:nvPr/>
            </p:nvSpPr>
            <p:spPr>
              <a:xfrm>
                <a:off x="2009196" y="1540057"/>
                <a:ext cx="791464" cy="731521"/>
              </a:xfrm>
              <a:prstGeom prst="roundRect">
                <a:avLst/>
              </a:prstGeom>
              <a:solidFill>
                <a:schemeClr val="accent1"/>
              </a:solidFill>
              <a:ln>
                <a:noFill/>
              </a:ln>
              <a:effectLst>
                <a:outerShdw dist="76200" dir="8100000" algn="tr" rotWithShape="0">
                  <a:schemeClr val="accent1">
                    <a:lumMod val="5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191B33EB-CF38-465A-92D9-4A43035D04A9}"/>
                  </a:ext>
                </a:extLst>
              </p:cNvPr>
              <p:cNvSpPr txBox="1"/>
              <p:nvPr/>
            </p:nvSpPr>
            <p:spPr>
              <a:xfrm>
                <a:off x="1908259" y="1652966"/>
                <a:ext cx="958766" cy="461665"/>
              </a:xfrm>
              <a:prstGeom prst="rect">
                <a:avLst/>
              </a:prstGeom>
              <a:noFill/>
            </p:spPr>
            <p:txBody>
              <a:bodyPr wrap="square" rtlCol="0">
                <a:spAutoFit/>
              </a:bodyPr>
              <a:lstStyle/>
              <a:p>
                <a:pPr algn="ctr"/>
                <a:r>
                  <a:rPr lang="en-US" sz="12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Secondary Replica</a:t>
                </a:r>
              </a:p>
            </p:txBody>
          </p:sp>
          <p:pic>
            <p:nvPicPr>
              <p:cNvPr id="65" name="Picture 64" descr="Generic-Database.png">
                <a:extLst>
                  <a:ext uri="{FF2B5EF4-FFF2-40B4-BE49-F238E27FC236}">
                    <a16:creationId xmlns:a16="http://schemas.microsoft.com/office/drawing/2014/main" id="{2FE945DD-E467-49BA-B752-CA1859DCC1A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404928" y="1937760"/>
                <a:ext cx="731520" cy="731520"/>
              </a:xfrm>
              <a:prstGeom prst="rect">
                <a:avLst/>
              </a:prstGeom>
            </p:spPr>
          </p:pic>
        </p:grpSp>
      </p:grpSp>
      <p:sp>
        <p:nvSpPr>
          <p:cNvPr id="69" name="Arrow: Left-Right 68">
            <a:extLst>
              <a:ext uri="{FF2B5EF4-FFF2-40B4-BE49-F238E27FC236}">
                <a16:creationId xmlns:a16="http://schemas.microsoft.com/office/drawing/2014/main" id="{196C6EF5-BD9C-4EE7-9744-A36AD451E725}"/>
              </a:ext>
            </a:extLst>
          </p:cNvPr>
          <p:cNvSpPr/>
          <p:nvPr/>
        </p:nvSpPr>
        <p:spPr>
          <a:xfrm>
            <a:off x="5199523" y="2836868"/>
            <a:ext cx="1075123" cy="649261"/>
          </a:xfrm>
          <a:prstGeom prst="leftRightArrow">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dirty="0"/>
          </a:p>
        </p:txBody>
      </p:sp>
      <p:sp>
        <p:nvSpPr>
          <p:cNvPr id="70" name="TextBox 69">
            <a:extLst>
              <a:ext uri="{FF2B5EF4-FFF2-40B4-BE49-F238E27FC236}">
                <a16:creationId xmlns:a16="http://schemas.microsoft.com/office/drawing/2014/main" id="{3281B247-EF29-4D41-8465-131AB115FC7C}"/>
              </a:ext>
            </a:extLst>
          </p:cNvPr>
          <p:cNvSpPr txBox="1"/>
          <p:nvPr/>
        </p:nvSpPr>
        <p:spPr>
          <a:xfrm>
            <a:off x="5461454" y="2914928"/>
            <a:ext cx="694421" cy="461665"/>
          </a:xfrm>
          <a:prstGeom prst="rect">
            <a:avLst/>
          </a:prstGeom>
          <a:noFill/>
        </p:spPr>
        <p:txBody>
          <a:bodyPr wrap="none" rtlCol="0">
            <a:spAutoFit/>
          </a:bodyPr>
          <a:lstStyle/>
          <a:p>
            <a:pPr algn="ctr"/>
            <a:r>
              <a:rPr lang="en-US" sz="1200" dirty="0">
                <a:solidFill>
                  <a:schemeClr val="bg1"/>
                </a:solidFill>
              </a:rPr>
              <a:t>VPC</a:t>
            </a:r>
          </a:p>
          <a:p>
            <a:pPr algn="ctr"/>
            <a:r>
              <a:rPr lang="en-US" sz="1200" dirty="0">
                <a:solidFill>
                  <a:schemeClr val="bg1"/>
                </a:solidFill>
              </a:rPr>
              <a:t>peering</a:t>
            </a:r>
          </a:p>
        </p:txBody>
      </p:sp>
      <p:sp>
        <p:nvSpPr>
          <p:cNvPr id="71" name="Rectangle: Rounded Corners 70">
            <a:extLst>
              <a:ext uri="{FF2B5EF4-FFF2-40B4-BE49-F238E27FC236}">
                <a16:creationId xmlns:a16="http://schemas.microsoft.com/office/drawing/2014/main" id="{EEB4FE12-7EA2-4520-863F-5F6D3CF00100}"/>
              </a:ext>
            </a:extLst>
          </p:cNvPr>
          <p:cNvSpPr/>
          <p:nvPr/>
        </p:nvSpPr>
        <p:spPr>
          <a:xfrm>
            <a:off x="1054568" y="1969176"/>
            <a:ext cx="7204766" cy="649262"/>
          </a:xfrm>
          <a:prstGeom prst="roundRect">
            <a:avLst/>
          </a:prstGeom>
          <a:solidFill>
            <a:schemeClr val="accent4">
              <a:lumMod val="7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72" name="TextBox 71">
            <a:extLst>
              <a:ext uri="{FF2B5EF4-FFF2-40B4-BE49-F238E27FC236}">
                <a16:creationId xmlns:a16="http://schemas.microsoft.com/office/drawing/2014/main" id="{D14BDF83-1EE7-4065-94DE-17A90A660831}"/>
              </a:ext>
            </a:extLst>
          </p:cNvPr>
          <p:cNvSpPr txBox="1"/>
          <p:nvPr/>
        </p:nvSpPr>
        <p:spPr>
          <a:xfrm>
            <a:off x="5092976" y="1970766"/>
            <a:ext cx="1450910" cy="584775"/>
          </a:xfrm>
          <a:prstGeom prst="rect">
            <a:avLst/>
          </a:prstGeom>
          <a:noFill/>
        </p:spPr>
        <p:txBody>
          <a:bodyPr wrap="none" rtlCol="0">
            <a:spAutoFit/>
          </a:bodyPr>
          <a:lstStyle/>
          <a:p>
            <a:pPr algn="ctr"/>
            <a:r>
              <a:rPr lang="en-US" sz="1600" dirty="0">
                <a:solidFill>
                  <a:schemeClr val="accent6">
                    <a:lumMod val="60000"/>
                    <a:lumOff val="40000"/>
                  </a:schemeClr>
                </a:solidFill>
              </a:rPr>
              <a:t>NO Automatic</a:t>
            </a:r>
          </a:p>
          <a:p>
            <a:pPr algn="ctr"/>
            <a:r>
              <a:rPr lang="en-US" sz="1600" dirty="0">
                <a:solidFill>
                  <a:schemeClr val="accent6">
                    <a:lumMod val="60000"/>
                    <a:lumOff val="40000"/>
                  </a:schemeClr>
                </a:solidFill>
              </a:rPr>
              <a:t>Failover!</a:t>
            </a:r>
          </a:p>
        </p:txBody>
      </p:sp>
      <p:sp>
        <p:nvSpPr>
          <p:cNvPr id="73" name="Flowchart: Magnetic Disk 72">
            <a:extLst>
              <a:ext uri="{FF2B5EF4-FFF2-40B4-BE49-F238E27FC236}">
                <a16:creationId xmlns:a16="http://schemas.microsoft.com/office/drawing/2014/main" id="{18262255-C075-4B2C-9C68-D72ED8815D64}"/>
              </a:ext>
            </a:extLst>
          </p:cNvPr>
          <p:cNvSpPr/>
          <p:nvPr/>
        </p:nvSpPr>
        <p:spPr>
          <a:xfrm>
            <a:off x="4130184" y="3323397"/>
            <a:ext cx="938187" cy="898140"/>
          </a:xfrm>
          <a:prstGeom prst="flowChartMagneticDisk">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Amazon Ember Regular"/>
              </a:rPr>
              <a:t>DB files on virtual shared storage</a:t>
            </a:r>
          </a:p>
        </p:txBody>
      </p:sp>
      <p:cxnSp>
        <p:nvCxnSpPr>
          <p:cNvPr id="74" name="Straight Arrow Connector 73">
            <a:extLst>
              <a:ext uri="{FF2B5EF4-FFF2-40B4-BE49-F238E27FC236}">
                <a16:creationId xmlns:a16="http://schemas.microsoft.com/office/drawing/2014/main" id="{C837DA7A-3B7B-4C29-B1F6-8A6549FB431D}"/>
              </a:ext>
            </a:extLst>
          </p:cNvPr>
          <p:cNvCxnSpPr>
            <a:cxnSpLocks/>
          </p:cNvCxnSpPr>
          <p:nvPr/>
        </p:nvCxnSpPr>
        <p:spPr>
          <a:xfrm flipH="1">
            <a:off x="1007531" y="2247085"/>
            <a:ext cx="365586" cy="1139202"/>
          </a:xfrm>
          <a:prstGeom prst="straightConnector1">
            <a:avLst/>
          </a:prstGeom>
          <a:ln w="63500">
            <a:tailEnd type="triangle"/>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F3A80957-4AA8-4FF0-8036-5D6705A3F23F}"/>
              </a:ext>
            </a:extLst>
          </p:cNvPr>
          <p:cNvCxnSpPr>
            <a:cxnSpLocks/>
          </p:cNvCxnSpPr>
          <p:nvPr/>
        </p:nvCxnSpPr>
        <p:spPr>
          <a:xfrm>
            <a:off x="4409513" y="2240412"/>
            <a:ext cx="512136" cy="1113746"/>
          </a:xfrm>
          <a:prstGeom prst="straightConnector1">
            <a:avLst/>
          </a:prstGeom>
          <a:ln w="63500">
            <a:solidFill>
              <a:schemeClr val="bg2">
                <a:lumMod val="6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76" name="Flowchart: Magnetic Disk 75">
            <a:extLst>
              <a:ext uri="{FF2B5EF4-FFF2-40B4-BE49-F238E27FC236}">
                <a16:creationId xmlns:a16="http://schemas.microsoft.com/office/drawing/2014/main" id="{18262255-C075-4B2C-9C68-D72ED8815D64}"/>
              </a:ext>
            </a:extLst>
          </p:cNvPr>
          <p:cNvSpPr/>
          <p:nvPr/>
        </p:nvSpPr>
        <p:spPr>
          <a:xfrm>
            <a:off x="898843" y="3327045"/>
            <a:ext cx="938187" cy="898140"/>
          </a:xfrm>
          <a:prstGeom prst="flowChartMagneticDisk">
            <a:avLst/>
          </a:prstGeom>
          <a:solidFill>
            <a:schemeClr val="accent3">
              <a:lumMod val="75000"/>
            </a:schemeClr>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Amazon Ember Regular"/>
              </a:rPr>
              <a:t>DB files on virtual shared storage</a:t>
            </a:r>
          </a:p>
        </p:txBody>
      </p:sp>
      <p:cxnSp>
        <p:nvCxnSpPr>
          <p:cNvPr id="77" name="Straight Arrow Connector 76">
            <a:extLst>
              <a:ext uri="{FF2B5EF4-FFF2-40B4-BE49-F238E27FC236}">
                <a16:creationId xmlns:a16="http://schemas.microsoft.com/office/drawing/2014/main" id="{C837DA7A-3B7B-4C29-B1F6-8A6549FB431D}"/>
              </a:ext>
            </a:extLst>
          </p:cNvPr>
          <p:cNvCxnSpPr>
            <a:cxnSpLocks/>
            <a:stCxn id="76" idx="4"/>
            <a:endCxn id="73" idx="2"/>
          </p:cNvCxnSpPr>
          <p:nvPr/>
        </p:nvCxnSpPr>
        <p:spPr>
          <a:xfrm flipV="1">
            <a:off x="1837030" y="3772467"/>
            <a:ext cx="2293154" cy="3648"/>
          </a:xfrm>
          <a:prstGeom prst="straightConnector1">
            <a:avLst/>
          </a:prstGeom>
          <a:ln w="254000">
            <a:solidFill>
              <a:schemeClr val="tx1">
                <a:lumMod val="75000"/>
                <a:lumOff val="25000"/>
              </a:schemeClr>
            </a:solidFill>
            <a:headEnd type="stealth"/>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2770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29"/>
            <a:ext cx="8509183" cy="736573"/>
          </a:xfrm>
        </p:spPr>
        <p:txBody>
          <a:bodyPr/>
          <a:lstStyle/>
          <a:p>
            <a:r>
              <a:rPr lang="en-US" b="1" spc="100" dirty="0"/>
              <a:t>Always On Availability Group Special Configurations</a:t>
            </a:r>
            <a:br>
              <a:rPr lang="en-US" b="1" spc="100" dirty="0"/>
            </a:br>
            <a:r>
              <a:rPr lang="en-US" sz="1800" spc="100" dirty="0"/>
              <a:t>(starting with SQL 2016/Windows 2016)</a:t>
            </a:r>
            <a:endParaRPr lang="en-US" dirty="0"/>
          </a:p>
        </p:txBody>
      </p:sp>
      <p:sp>
        <p:nvSpPr>
          <p:cNvPr id="4" name="TextBox 3">
            <a:extLst>
              <a:ext uri="{FF2B5EF4-FFF2-40B4-BE49-F238E27FC236}">
                <a16:creationId xmlns:a16="http://schemas.microsoft.com/office/drawing/2014/main" id="{EA6DF562-3415-4433-8CD8-B7FCFB67482E}"/>
              </a:ext>
            </a:extLst>
          </p:cNvPr>
          <p:cNvSpPr txBox="1"/>
          <p:nvPr/>
        </p:nvSpPr>
        <p:spPr>
          <a:xfrm>
            <a:off x="590689" y="1074681"/>
            <a:ext cx="7962622" cy="3447098"/>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2000" b="1" dirty="0">
                <a:solidFill>
                  <a:schemeClr val="bg1"/>
                </a:solidFill>
                <a:latin typeface="Amazon Ember Regular"/>
              </a:rPr>
              <a:t>Multiple Availability Groups across same set of servers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Distributed Availability Groups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Domain-Independent Availability Group (based on </a:t>
            </a:r>
            <a:r>
              <a:rPr lang="en-US" sz="2000" b="1" dirty="0">
                <a:solidFill>
                  <a:schemeClr val="accent1">
                    <a:lumMod val="60000"/>
                    <a:lumOff val="40000"/>
                  </a:schemeClr>
                </a:solidFill>
                <a:latin typeface="Amazon Ember Regular"/>
              </a:rPr>
              <a:t>Workgroup WSFC</a:t>
            </a:r>
            <a:r>
              <a:rPr lang="en-US" sz="2000" b="1" dirty="0">
                <a:solidFill>
                  <a:schemeClr val="bg1"/>
                </a:solidFill>
                <a:latin typeface="Amazon Ember Regular"/>
              </a:rPr>
              <a:t>)</a:t>
            </a:r>
          </a:p>
          <a:p>
            <a:pPr marL="285750" indent="-285750">
              <a:spcBef>
                <a:spcPts val="1200"/>
              </a:spcBef>
              <a:buFont typeface="Arial" panose="020B0604020202020204" pitchFamily="34" charset="0"/>
              <a:buChar char="•"/>
            </a:pPr>
            <a:r>
              <a:rPr lang="en-US" sz="2000" b="1" dirty="0" err="1">
                <a:solidFill>
                  <a:schemeClr val="bg1"/>
                </a:solidFill>
                <a:latin typeface="Amazon Ember Regular"/>
              </a:rPr>
              <a:t>Clusterless</a:t>
            </a:r>
            <a:r>
              <a:rPr lang="en-US" sz="2000" b="1" dirty="0">
                <a:solidFill>
                  <a:schemeClr val="bg1"/>
                </a:solidFill>
                <a:latin typeface="Amazon Ember Regular"/>
              </a:rPr>
              <a:t> Availability Group</a:t>
            </a:r>
            <a:r>
              <a:rPr lang="en-US" sz="2000" b="1" dirty="0">
                <a:solidFill>
                  <a:schemeClr val="accent1">
                    <a:lumMod val="60000"/>
                    <a:lumOff val="40000"/>
                  </a:schemeClr>
                </a:solidFill>
                <a:latin typeface="Amazon Ember Regular"/>
              </a:rPr>
              <a:t>*</a:t>
            </a:r>
          </a:p>
          <a:p>
            <a:pPr marL="285750" indent="-285750">
              <a:spcBef>
                <a:spcPts val="1200"/>
              </a:spcBef>
              <a:buFont typeface="Arial" panose="020B0604020202020204" pitchFamily="34" charset="0"/>
              <a:buChar char="•"/>
            </a:pPr>
            <a:endParaRPr lang="en-US" b="1" dirty="0">
              <a:solidFill>
                <a:schemeClr val="accent1">
                  <a:lumMod val="60000"/>
                  <a:lumOff val="40000"/>
                </a:schemeClr>
              </a:solidFill>
              <a:latin typeface="Amazon Ember Regular"/>
            </a:endParaRPr>
          </a:p>
          <a:p>
            <a:pPr marL="285750" indent="-285750">
              <a:spcBef>
                <a:spcPts val="1200"/>
              </a:spcBef>
              <a:buFont typeface="Arial" panose="020B0604020202020204" pitchFamily="34" charset="0"/>
              <a:buChar char="•"/>
            </a:pPr>
            <a:endParaRPr lang="en-US" b="1" dirty="0">
              <a:solidFill>
                <a:schemeClr val="accent1">
                  <a:lumMod val="60000"/>
                  <a:lumOff val="40000"/>
                </a:schemeClr>
              </a:solidFill>
              <a:latin typeface="Amazon Ember Regular"/>
            </a:endParaRPr>
          </a:p>
          <a:p>
            <a:pPr>
              <a:spcBef>
                <a:spcPts val="1200"/>
              </a:spcBef>
            </a:pPr>
            <a:endParaRPr lang="en-US" b="1" dirty="0">
              <a:solidFill>
                <a:schemeClr val="accent1">
                  <a:lumMod val="60000"/>
                  <a:lumOff val="40000"/>
                </a:schemeClr>
              </a:solidFill>
              <a:latin typeface="Amazon Ember Regular"/>
            </a:endParaRPr>
          </a:p>
          <a:p>
            <a:pPr>
              <a:spcBef>
                <a:spcPts val="1200"/>
              </a:spcBef>
            </a:pPr>
            <a:r>
              <a:rPr lang="en-US" sz="1600" dirty="0">
                <a:solidFill>
                  <a:schemeClr val="accent1">
                    <a:lumMod val="60000"/>
                    <a:lumOff val="40000"/>
                  </a:schemeClr>
                </a:solidFill>
                <a:latin typeface="Amazon Ember Regular"/>
              </a:rPr>
              <a:t>* Not an HA solution – no automatic failover</a:t>
            </a:r>
          </a:p>
        </p:txBody>
      </p:sp>
    </p:spTree>
    <p:extLst>
      <p:ext uri="{BB962C8B-B14F-4D97-AF65-F5344CB8AC3E}">
        <p14:creationId xmlns:p14="http://schemas.microsoft.com/office/powerpoint/2010/main" val="1459946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Always On Availability Group Issues of Concern</a:t>
            </a:r>
            <a:endParaRPr lang="en-US" b="1" dirty="0"/>
          </a:p>
        </p:txBody>
      </p:sp>
      <p:sp>
        <p:nvSpPr>
          <p:cNvPr id="4" name="TextBox 3">
            <a:extLst>
              <a:ext uri="{FF2B5EF4-FFF2-40B4-BE49-F238E27FC236}">
                <a16:creationId xmlns:a16="http://schemas.microsoft.com/office/drawing/2014/main" id="{EA6DF562-3415-4433-8CD8-B7FCFB67482E}"/>
              </a:ext>
            </a:extLst>
          </p:cNvPr>
          <p:cNvSpPr txBox="1"/>
          <p:nvPr/>
        </p:nvSpPr>
        <p:spPr>
          <a:xfrm>
            <a:off x="594026" y="894377"/>
            <a:ext cx="7962622" cy="2677656"/>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b="1" dirty="0">
                <a:solidFill>
                  <a:schemeClr val="bg1"/>
                </a:solidFill>
                <a:latin typeface="Amazon Ember Regular"/>
              </a:rPr>
              <a:t>SQL Server Logins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Server-level objects (linked servers, triggers, etc.)</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SQL Server Agent jobs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Integration Services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Reporting Services</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Analyses Services</a:t>
            </a:r>
          </a:p>
        </p:txBody>
      </p:sp>
    </p:spTree>
    <p:extLst>
      <p:ext uri="{BB962C8B-B14F-4D97-AF65-F5344CB8AC3E}">
        <p14:creationId xmlns:p14="http://schemas.microsoft.com/office/powerpoint/2010/main" val="3931467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Migrating to the AWS Cloud</a:t>
            </a:r>
          </a:p>
        </p:txBody>
      </p:sp>
    </p:spTree>
    <p:extLst>
      <p:ext uri="{BB962C8B-B14F-4D97-AF65-F5344CB8AC3E}">
        <p14:creationId xmlns:p14="http://schemas.microsoft.com/office/powerpoint/2010/main" val="11003294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DB Migration Options</a:t>
            </a:r>
            <a:endParaRPr lang="en-US" b="1" dirty="0"/>
          </a:p>
        </p:txBody>
      </p:sp>
      <p:sp>
        <p:nvSpPr>
          <p:cNvPr id="4" name="TextBox 3">
            <a:extLst>
              <a:ext uri="{FF2B5EF4-FFF2-40B4-BE49-F238E27FC236}">
                <a16:creationId xmlns:a16="http://schemas.microsoft.com/office/drawing/2014/main" id="{EA6DF562-3415-4433-8CD8-B7FCFB67482E}"/>
              </a:ext>
            </a:extLst>
          </p:cNvPr>
          <p:cNvSpPr txBox="1"/>
          <p:nvPr/>
        </p:nvSpPr>
        <p:spPr>
          <a:xfrm>
            <a:off x="594026" y="894377"/>
            <a:ext cx="7962622" cy="2708434"/>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2000" b="1" dirty="0">
                <a:solidFill>
                  <a:schemeClr val="bg1"/>
                </a:solidFill>
                <a:latin typeface="Amazon Ember Regular"/>
              </a:rPr>
              <a:t>Extending Availability Group to the Cloud</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SQL Server Backup/Restore</a:t>
            </a:r>
          </a:p>
          <a:p>
            <a:pPr marL="285750" indent="-285750">
              <a:spcBef>
                <a:spcPts val="1200"/>
              </a:spcBef>
              <a:buFont typeface="Arial" panose="020B0604020202020204" pitchFamily="34" charset="0"/>
              <a:buChar char="•"/>
            </a:pPr>
            <a:r>
              <a:rPr lang="en-US" sz="2000" b="1" dirty="0">
                <a:solidFill>
                  <a:schemeClr val="bg1"/>
                </a:solidFill>
                <a:latin typeface="Amazon Ember Regular"/>
              </a:rPr>
              <a:t>AWS Database Migration Service (DMS)</a:t>
            </a:r>
          </a:p>
          <a:p>
            <a:pPr marL="285750" indent="-285750">
              <a:spcBef>
                <a:spcPts val="1200"/>
              </a:spcBef>
              <a:buFont typeface="Arial" panose="020B0604020202020204" pitchFamily="34" charset="0"/>
              <a:buChar char="•"/>
            </a:pPr>
            <a:r>
              <a:rPr lang="en-US" sz="2000" b="1" dirty="0">
                <a:solidFill>
                  <a:schemeClr val="bg1">
                    <a:lumMod val="50000"/>
                  </a:schemeClr>
                </a:solidFill>
                <a:latin typeface="Amazon Ember Regular"/>
              </a:rPr>
              <a:t>SQL Server Replication</a:t>
            </a:r>
            <a:r>
              <a:rPr lang="en-US" sz="2000" b="1" dirty="0">
                <a:solidFill>
                  <a:schemeClr val="accent1">
                    <a:lumMod val="60000"/>
                    <a:lumOff val="40000"/>
                  </a:schemeClr>
                </a:solidFill>
                <a:latin typeface="Amazon Ember Regular"/>
              </a:rPr>
              <a:t>*</a:t>
            </a:r>
          </a:p>
          <a:p>
            <a:pPr marL="285750" indent="-285750">
              <a:spcBef>
                <a:spcPts val="1200"/>
              </a:spcBef>
              <a:buFont typeface="Arial" panose="020B0604020202020204" pitchFamily="34" charset="0"/>
              <a:buChar char="•"/>
            </a:pPr>
            <a:r>
              <a:rPr lang="en-US" sz="2000" b="1" dirty="0">
                <a:solidFill>
                  <a:schemeClr val="bg1">
                    <a:lumMod val="50000"/>
                  </a:schemeClr>
                </a:solidFill>
                <a:latin typeface="Amazon Ember Regular"/>
              </a:rPr>
              <a:t>Scripting DB and Data</a:t>
            </a:r>
            <a:r>
              <a:rPr lang="en-US" sz="2000" b="1" dirty="0">
                <a:solidFill>
                  <a:schemeClr val="accent1">
                    <a:lumMod val="60000"/>
                    <a:lumOff val="40000"/>
                  </a:schemeClr>
                </a:solidFill>
                <a:latin typeface="Amazon Ember Regular"/>
              </a:rPr>
              <a:t>*</a:t>
            </a:r>
          </a:p>
          <a:p>
            <a:pPr marL="285750" indent="-285750">
              <a:spcBef>
                <a:spcPts val="1200"/>
              </a:spcBef>
              <a:buFont typeface="Arial" panose="020B0604020202020204" pitchFamily="34" charset="0"/>
              <a:buChar char="•"/>
            </a:pPr>
            <a:r>
              <a:rPr lang="en-US" sz="2000" b="1" dirty="0">
                <a:solidFill>
                  <a:srgbClr val="595A5D"/>
                </a:solidFill>
                <a:latin typeface="Amazon Ember Regular"/>
              </a:rPr>
              <a:t>SQL Server  Mirroring (must be the same version)</a:t>
            </a:r>
          </a:p>
        </p:txBody>
      </p:sp>
      <p:pic>
        <p:nvPicPr>
          <p:cNvPr id="6" name="Picture 5" descr="Deck_Databases.png">
            <a:extLst>
              <a:ext uri="{FF2B5EF4-FFF2-40B4-BE49-F238E27FC236}">
                <a16:creationId xmlns:a16="http://schemas.microsoft.com/office/drawing/2014/main" id="{49AA4767-6E32-48C7-9614-1F229666550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33526" y="660984"/>
            <a:ext cx="2609612" cy="2609612"/>
          </a:xfrm>
          <a:prstGeom prst="rect">
            <a:avLst/>
          </a:prstGeom>
        </p:spPr>
      </p:pic>
      <p:pic>
        <p:nvPicPr>
          <p:cNvPr id="7" name="Picture 6" descr="Deck_ArrowsSync.png">
            <a:extLst>
              <a:ext uri="{FF2B5EF4-FFF2-40B4-BE49-F238E27FC236}">
                <a16:creationId xmlns:a16="http://schemas.microsoft.com/office/drawing/2014/main" id="{C795960A-1FFE-4BB0-A171-77D792FAE2E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35142" y="1661292"/>
            <a:ext cx="2242981" cy="2242981"/>
          </a:xfrm>
          <a:prstGeom prst="rect">
            <a:avLst/>
          </a:prstGeom>
        </p:spPr>
      </p:pic>
    </p:spTree>
    <p:extLst>
      <p:ext uri="{BB962C8B-B14F-4D97-AF65-F5344CB8AC3E}">
        <p14:creationId xmlns:p14="http://schemas.microsoft.com/office/powerpoint/2010/main" val="34640023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932C381E-F294-439D-98FB-450B993D0DA9}"/>
              </a:ext>
            </a:extLst>
          </p:cNvPr>
          <p:cNvSpPr/>
          <p:nvPr/>
        </p:nvSpPr>
        <p:spPr>
          <a:xfrm>
            <a:off x="4081376" y="2141035"/>
            <a:ext cx="1685386" cy="566095"/>
          </a:xfrm>
          <a:prstGeom prst="rect">
            <a:avLst/>
          </a:prstGeom>
          <a:solidFill>
            <a:srgbClr val="0070C0"/>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146301" tIns="73150" rIns="146301" bIns="73150" rtlCol="0" anchor="ctr"/>
          <a:lstStyle/>
          <a:p>
            <a:pPr algn="ctr"/>
            <a:endParaRPr lang="en-US" sz="2160" dirty="0">
              <a:solidFill>
                <a:schemeClr val="tx1"/>
              </a:solidFill>
            </a:endParaRPr>
          </a:p>
        </p:txBody>
      </p:sp>
      <p:sp>
        <p:nvSpPr>
          <p:cNvPr id="2" name="Title 1">
            <a:extLst>
              <a:ext uri="{FF2B5EF4-FFF2-40B4-BE49-F238E27FC236}">
                <a16:creationId xmlns:a16="http://schemas.microsoft.com/office/drawing/2014/main" id="{B1D6AA4A-4BBF-A743-A1E3-BB06289B3040}"/>
              </a:ext>
            </a:extLst>
          </p:cNvPr>
          <p:cNvSpPr>
            <a:spLocks noGrp="1"/>
          </p:cNvSpPr>
          <p:nvPr>
            <p:ph type="title"/>
          </p:nvPr>
        </p:nvSpPr>
        <p:spPr>
          <a:xfrm>
            <a:off x="336789" y="114936"/>
            <a:ext cx="8205304" cy="673767"/>
          </a:xfrm>
        </p:spPr>
        <p:txBody>
          <a:bodyPr/>
          <a:lstStyle/>
          <a:p>
            <a:pPr>
              <a:spcBef>
                <a:spcPts val="1200"/>
              </a:spcBef>
            </a:pPr>
            <a:r>
              <a:rPr lang="en-US" dirty="0">
                <a:latin typeface="Amazon Ember Regular"/>
              </a:rPr>
              <a:t>SQL Server Backup/Restore (with log shipping)</a:t>
            </a:r>
          </a:p>
        </p:txBody>
      </p:sp>
      <p:grpSp>
        <p:nvGrpSpPr>
          <p:cNvPr id="74" name="Group 73">
            <a:extLst>
              <a:ext uri="{FF2B5EF4-FFF2-40B4-BE49-F238E27FC236}">
                <a16:creationId xmlns:a16="http://schemas.microsoft.com/office/drawing/2014/main" id="{7D484D73-CAFF-9B44-8A36-0FF95D0D812C}"/>
              </a:ext>
            </a:extLst>
          </p:cNvPr>
          <p:cNvGrpSpPr/>
          <p:nvPr/>
        </p:nvGrpSpPr>
        <p:grpSpPr>
          <a:xfrm>
            <a:off x="2326506" y="1892939"/>
            <a:ext cx="1543227" cy="1490035"/>
            <a:chOff x="7540697" y="2621036"/>
            <a:chExt cx="2410707" cy="2315697"/>
          </a:xfrm>
          <a:solidFill>
            <a:schemeClr val="accent4">
              <a:lumMod val="75000"/>
            </a:schemeClr>
          </a:solidFill>
        </p:grpSpPr>
        <p:sp>
          <p:nvSpPr>
            <p:cNvPr id="75" name="Rounded Rectangle 74">
              <a:extLst>
                <a:ext uri="{FF2B5EF4-FFF2-40B4-BE49-F238E27FC236}">
                  <a16:creationId xmlns:a16="http://schemas.microsoft.com/office/drawing/2014/main" id="{D935CFED-DC7F-E44D-8199-5905F7085D07}"/>
                </a:ext>
              </a:extLst>
            </p:cNvPr>
            <p:cNvSpPr/>
            <p:nvPr/>
          </p:nvSpPr>
          <p:spPr>
            <a:xfrm>
              <a:off x="7540697" y="2621036"/>
              <a:ext cx="2410707" cy="2315697"/>
            </a:xfrm>
            <a:prstGeom prst="roundRect">
              <a:avLst>
                <a:gd name="adj" fmla="val 4469"/>
              </a:avLst>
            </a:prstGeom>
            <a:grpFill/>
            <a:ln w="28575" cap="flat" cmpd="sng" algn="ctr">
              <a:solidFill>
                <a:srgbClr val="A7A9AC"/>
              </a:solidFill>
              <a:prstDash val="solid"/>
            </a:ln>
            <a:effectLst/>
          </p:spPr>
          <p:txBody>
            <a:bodyPr rtlCol="0" anchor="ctr"/>
            <a:lstStyle/>
            <a:p>
              <a:pPr algn="ctr" defTabSz="914378">
                <a:defRPr/>
              </a:pPr>
              <a:endParaRPr lang="en-US" sz="1000" kern="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6" name="Rectangle 75">
              <a:extLst>
                <a:ext uri="{FF2B5EF4-FFF2-40B4-BE49-F238E27FC236}">
                  <a16:creationId xmlns:a16="http://schemas.microsoft.com/office/drawing/2014/main" id="{DA4366F8-561F-E341-AA7D-14A6DB41F86E}"/>
                </a:ext>
              </a:extLst>
            </p:cNvPr>
            <p:cNvSpPr/>
            <p:nvPr/>
          </p:nvSpPr>
          <p:spPr>
            <a:xfrm>
              <a:off x="7743751" y="2842907"/>
              <a:ext cx="2003425" cy="1841502"/>
            </a:xfrm>
            <a:prstGeom prst="rect">
              <a:avLst/>
            </a:prstGeom>
            <a:grpFill/>
            <a:ln w="9525" cap="flat" cmpd="sng" algn="ctr">
              <a:noFill/>
              <a:prstDash val="solid"/>
            </a:ln>
            <a:effectLst/>
          </p:spPr>
          <p:txBody>
            <a:bodyPr rtlCol="0" anchor="ctr"/>
            <a:lstStyle/>
            <a:p>
              <a:pPr algn="ctr" defTabSz="914378">
                <a:defRPr/>
              </a:pPr>
              <a:endParaRPr lang="en-US" sz="1000" kern="0" dirty="0">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78" name="Group 77">
            <a:extLst>
              <a:ext uri="{FF2B5EF4-FFF2-40B4-BE49-F238E27FC236}">
                <a16:creationId xmlns:a16="http://schemas.microsoft.com/office/drawing/2014/main" id="{7E71FA41-EC96-DD48-BA11-3AAA498C09CA}"/>
              </a:ext>
            </a:extLst>
          </p:cNvPr>
          <p:cNvGrpSpPr/>
          <p:nvPr/>
        </p:nvGrpSpPr>
        <p:grpSpPr>
          <a:xfrm>
            <a:off x="3280750" y="2244273"/>
            <a:ext cx="236973" cy="307007"/>
            <a:chOff x="2386694" y="1836827"/>
            <a:chExt cx="470308" cy="537444"/>
          </a:xfrm>
        </p:grpSpPr>
        <p:sp>
          <p:nvSpPr>
            <p:cNvPr id="79" name="Can 78">
              <a:extLst>
                <a:ext uri="{FF2B5EF4-FFF2-40B4-BE49-F238E27FC236}">
                  <a16:creationId xmlns:a16="http://schemas.microsoft.com/office/drawing/2014/main" id="{B980BE4D-502B-2649-A365-13DB23D6BD5A}"/>
                </a:ext>
              </a:extLst>
            </p:cNvPr>
            <p:cNvSpPr/>
            <p:nvPr/>
          </p:nvSpPr>
          <p:spPr>
            <a:xfrm>
              <a:off x="2386694" y="1836827"/>
              <a:ext cx="470308" cy="537444"/>
            </a:xfrm>
            <a:prstGeom prst="can">
              <a:avLst/>
            </a:prstGeom>
            <a:solidFill>
              <a:srgbClr val="545B64">
                <a:lumMod val="50000"/>
              </a:srgbClr>
            </a:solidFill>
            <a:ln w="19050" cap="flat" cmpd="sng" algn="ctr">
              <a:solidFill>
                <a:srgbClr val="03BAFF"/>
              </a:solidFill>
              <a:prstDash val="sysDash"/>
            </a:ln>
            <a:effectLst/>
          </p:spPr>
          <p:txBody>
            <a:bodyPr rtlCol="0" anchor="ctr"/>
            <a:lstStyle/>
            <a:p>
              <a:pPr algn="ctr" defTabSz="914378">
                <a:defRPr/>
              </a:pPr>
              <a:endParaRPr lang="en-US" sz="1000" kern="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0" name="Rectangle 79">
              <a:extLst>
                <a:ext uri="{FF2B5EF4-FFF2-40B4-BE49-F238E27FC236}">
                  <a16:creationId xmlns:a16="http://schemas.microsoft.com/office/drawing/2014/main" id="{C900C99F-47D3-6D4F-9116-E0FE432E3723}"/>
                </a:ext>
              </a:extLst>
            </p:cNvPr>
            <p:cNvSpPr/>
            <p:nvPr/>
          </p:nvSpPr>
          <p:spPr>
            <a:xfrm>
              <a:off x="2420684" y="2024812"/>
              <a:ext cx="407613" cy="278035"/>
            </a:xfrm>
            <a:prstGeom prst="rect">
              <a:avLst/>
            </a:prstGeom>
            <a:pattFill prst="wdDnDiag">
              <a:fgClr>
                <a:srgbClr val="00A1C9"/>
              </a:fgClr>
              <a:bgClr>
                <a:srgbClr val="292E32"/>
              </a:bgClr>
            </a:pattFill>
            <a:ln w="9525" cap="flat" cmpd="sng" algn="ctr">
              <a:noFill/>
              <a:prstDash val="solid"/>
            </a:ln>
            <a:effectLst/>
          </p:spPr>
          <p:txBody>
            <a:bodyPr rtlCol="0" anchor="ctr"/>
            <a:lstStyle/>
            <a:p>
              <a:pPr algn="ctr" defTabSz="914378">
                <a:defRPr/>
              </a:pPr>
              <a:endParaRPr lang="en-US" sz="1000" kern="0" dirty="0">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88" name="TextBox 87">
            <a:extLst>
              <a:ext uri="{FF2B5EF4-FFF2-40B4-BE49-F238E27FC236}">
                <a16:creationId xmlns:a16="http://schemas.microsoft.com/office/drawing/2014/main" id="{30F5E97F-97C8-8642-B4F6-1AF61D7747BF}"/>
              </a:ext>
            </a:extLst>
          </p:cNvPr>
          <p:cNvSpPr txBox="1"/>
          <p:nvPr/>
        </p:nvSpPr>
        <p:spPr>
          <a:xfrm>
            <a:off x="1220117" y="2797209"/>
            <a:ext cx="1199781" cy="335863"/>
          </a:xfrm>
          <a:prstGeom prst="rect">
            <a:avLst/>
          </a:prstGeom>
          <a:noFill/>
        </p:spPr>
        <p:txBody>
          <a:bodyPr wrap="square" lIns="0" tIns="0" rIns="0" bIns="0" rtlCol="0">
            <a:noAutofit/>
          </a:bodyPr>
          <a:lstStyle/>
          <a:p>
            <a:pPr algn="ctr" defTabSz="914378">
              <a:defRPr/>
            </a:pPr>
            <a:r>
              <a:rPr lang="en-US" sz="1125" kern="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SQL Server</a:t>
            </a:r>
          </a:p>
          <a:p>
            <a:pPr algn="ctr" defTabSz="914378">
              <a:defRPr/>
            </a:pPr>
            <a:r>
              <a:rPr lang="en-US" sz="1000" kern="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(native SQL agent)</a:t>
            </a:r>
          </a:p>
        </p:txBody>
      </p:sp>
      <p:sp>
        <p:nvSpPr>
          <p:cNvPr id="91" name="TextBox 90">
            <a:extLst>
              <a:ext uri="{FF2B5EF4-FFF2-40B4-BE49-F238E27FC236}">
                <a16:creationId xmlns:a16="http://schemas.microsoft.com/office/drawing/2014/main" id="{B3D15822-D19B-F542-9A55-84CCE94090EC}"/>
              </a:ext>
            </a:extLst>
          </p:cNvPr>
          <p:cNvSpPr txBox="1"/>
          <p:nvPr/>
        </p:nvSpPr>
        <p:spPr>
          <a:xfrm>
            <a:off x="955523" y="2383226"/>
            <a:ext cx="890050" cy="272618"/>
          </a:xfrm>
          <a:prstGeom prst="rect">
            <a:avLst/>
          </a:prstGeom>
          <a:noFill/>
        </p:spPr>
        <p:txBody>
          <a:bodyPr wrap="square" lIns="0" tIns="0" rIns="0" bIns="0" rtlCol="0">
            <a:noAutofit/>
          </a:bodyPr>
          <a:lstStyle/>
          <a:p>
            <a:pPr algn="ctr" defTabSz="457189"/>
            <a:r>
              <a:rPr lang="en-US" sz="1000" dirty="0">
                <a:latin typeface="Amazon Ember" panose="020B0603020204020204" pitchFamily="34" charset="0"/>
                <a:ea typeface="Amazon Ember" panose="020B0603020204020204" pitchFamily="34" charset="0"/>
                <a:cs typeface="Amazon Ember" panose="020B0603020204020204" pitchFamily="34" charset="0"/>
              </a:rPr>
              <a:t>Domain controller</a:t>
            </a:r>
          </a:p>
        </p:txBody>
      </p:sp>
      <p:cxnSp>
        <p:nvCxnSpPr>
          <p:cNvPr id="122" name="Straight Arrow Connector 123">
            <a:extLst>
              <a:ext uri="{FF2B5EF4-FFF2-40B4-BE49-F238E27FC236}">
                <a16:creationId xmlns:a16="http://schemas.microsoft.com/office/drawing/2014/main" id="{8234B4B5-3B39-A643-9F15-F462418BE512}"/>
              </a:ext>
            </a:extLst>
          </p:cNvPr>
          <p:cNvCxnSpPr>
            <a:cxnSpLocks/>
            <a:stCxn id="52" idx="0"/>
            <a:endCxn id="53" idx="0"/>
          </p:cNvCxnSpPr>
          <p:nvPr/>
        </p:nvCxnSpPr>
        <p:spPr>
          <a:xfrm rot="16200000" flipH="1">
            <a:off x="7257867" y="1388299"/>
            <a:ext cx="39330" cy="1771447"/>
          </a:xfrm>
          <a:prstGeom prst="curvedConnector3">
            <a:avLst>
              <a:gd name="adj1" fmla="val -1406222"/>
            </a:avLst>
          </a:prstGeom>
          <a:noFill/>
          <a:ln w="25400" cap="flat" cmpd="sng" algn="ctr">
            <a:solidFill>
              <a:srgbClr val="00B0F0"/>
            </a:solidFill>
            <a:prstDash val="sysDash"/>
            <a:tailEnd type="triangle"/>
          </a:ln>
          <a:effectLst>
            <a:outerShdw blurRad="40000" dist="20000" dir="5400000" rotWithShape="0">
              <a:srgbClr val="000000">
                <a:alpha val="38000"/>
              </a:srgbClr>
            </a:outerShdw>
          </a:effectLst>
        </p:spPr>
      </p:cxnSp>
      <p:grpSp>
        <p:nvGrpSpPr>
          <p:cNvPr id="126" name="Group 125">
            <a:extLst>
              <a:ext uri="{FF2B5EF4-FFF2-40B4-BE49-F238E27FC236}">
                <a16:creationId xmlns:a16="http://schemas.microsoft.com/office/drawing/2014/main" id="{00959A8B-B42C-5B48-A4B8-71147591B498}"/>
              </a:ext>
            </a:extLst>
          </p:cNvPr>
          <p:cNvGrpSpPr/>
          <p:nvPr/>
        </p:nvGrpSpPr>
        <p:grpSpPr>
          <a:xfrm>
            <a:off x="2517506" y="2245890"/>
            <a:ext cx="579005" cy="798356"/>
            <a:chOff x="-73888" y="2852450"/>
            <a:chExt cx="579005" cy="798355"/>
          </a:xfrm>
        </p:grpSpPr>
        <p:pic>
          <p:nvPicPr>
            <p:cNvPr id="127" name="Picture 126">
              <a:extLst>
                <a:ext uri="{FF2B5EF4-FFF2-40B4-BE49-F238E27FC236}">
                  <a16:creationId xmlns:a16="http://schemas.microsoft.com/office/drawing/2014/main" id="{D9474C9D-98F7-054F-A07B-5682358115E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432" y="2852450"/>
              <a:ext cx="449442" cy="305388"/>
            </a:xfrm>
            <a:prstGeom prst="rect">
              <a:avLst/>
            </a:prstGeom>
          </p:spPr>
        </p:pic>
        <p:sp>
          <p:nvSpPr>
            <p:cNvPr id="128" name="TextBox 127">
              <a:extLst>
                <a:ext uri="{FF2B5EF4-FFF2-40B4-BE49-F238E27FC236}">
                  <a16:creationId xmlns:a16="http://schemas.microsoft.com/office/drawing/2014/main" id="{7BFAFAE6-730C-5E40-85DB-334E1E04D3AC}"/>
                </a:ext>
              </a:extLst>
            </p:cNvPr>
            <p:cNvSpPr txBox="1"/>
            <p:nvPr/>
          </p:nvSpPr>
          <p:spPr>
            <a:xfrm>
              <a:off x="-73888" y="3158363"/>
              <a:ext cx="579005" cy="492442"/>
            </a:xfrm>
            <a:prstGeom prst="rect">
              <a:avLst/>
            </a:prstGeom>
            <a:noFill/>
          </p:spPr>
          <p:txBody>
            <a:bodyPr wrap="none" rtlCol="0">
              <a:spAutoFit/>
            </a:bodyPr>
            <a:lstStyle/>
            <a:p>
              <a:pPr algn="ctr" defTabSz="457189"/>
              <a:r>
                <a:rPr lang="en-US" sz="1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Share</a:t>
              </a:r>
              <a:endParaRPr lang="en-US" sz="14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algn="ctr" defTabSz="457189"/>
              <a:r>
                <a:rPr lang="en-US" sz="14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r>
                <a:rPr lang="en-US" sz="1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SMB</a:t>
              </a:r>
              <a:r>
                <a:rPr lang="en-US" sz="14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grpSp>
      <p:sp>
        <p:nvSpPr>
          <p:cNvPr id="129" name="Oval 128">
            <a:extLst>
              <a:ext uri="{FF2B5EF4-FFF2-40B4-BE49-F238E27FC236}">
                <a16:creationId xmlns:a16="http://schemas.microsoft.com/office/drawing/2014/main" id="{637985CD-CF9D-EB40-B0C1-FA35F904B300}"/>
              </a:ext>
            </a:extLst>
          </p:cNvPr>
          <p:cNvSpPr/>
          <p:nvPr/>
        </p:nvSpPr>
        <p:spPr>
          <a:xfrm>
            <a:off x="3363833" y="2374355"/>
            <a:ext cx="65315" cy="65315"/>
          </a:xfrm>
          <a:prstGeom prst="ellipse">
            <a:avLst/>
          </a:prstGeom>
          <a:solidFill>
            <a:srgbClr val="69AF34"/>
          </a:solidFill>
          <a:ln w="9525" cap="flat" cmpd="sng" algn="ctr">
            <a:noFill/>
            <a:prstDash val="solid"/>
          </a:ln>
          <a:effectLst/>
        </p:spPr>
        <p:txBody>
          <a:bodyPr rtlCol="0" anchor="ctr"/>
          <a:lstStyle/>
          <a:p>
            <a:pPr algn="ctr" defTabSz="914378">
              <a:defRPr/>
            </a:pPr>
            <a:endParaRPr lang="en-US" sz="2118" kern="0" dirty="0">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30" name="Straight Arrow Connector 129">
            <a:extLst>
              <a:ext uri="{FF2B5EF4-FFF2-40B4-BE49-F238E27FC236}">
                <a16:creationId xmlns:a16="http://schemas.microsoft.com/office/drawing/2014/main" id="{488BD7AA-4ACD-7E43-AB59-ED45B148041D}"/>
              </a:ext>
            </a:extLst>
          </p:cNvPr>
          <p:cNvCxnSpPr>
            <a:cxnSpLocks/>
            <a:stCxn id="79" idx="4"/>
          </p:cNvCxnSpPr>
          <p:nvPr/>
        </p:nvCxnSpPr>
        <p:spPr>
          <a:xfrm>
            <a:off x="3517723" y="2397777"/>
            <a:ext cx="2607272" cy="0"/>
          </a:xfrm>
          <a:prstGeom prst="straightConnector1">
            <a:avLst/>
          </a:prstGeom>
          <a:noFill/>
          <a:ln w="25400" cap="flat" cmpd="sng" algn="ctr">
            <a:solidFill>
              <a:srgbClr val="69AF34"/>
            </a:solidFill>
            <a:prstDash val="solid"/>
            <a:tailEnd type="triangle"/>
          </a:ln>
          <a:effectLst>
            <a:outerShdw blurRad="40000" dist="20000" dir="5400000" rotWithShape="0">
              <a:srgbClr val="000000">
                <a:alpha val="38000"/>
              </a:srgbClr>
            </a:outerShdw>
          </a:effectLst>
        </p:spPr>
      </p:cxnSp>
      <p:grpSp>
        <p:nvGrpSpPr>
          <p:cNvPr id="134" name="Group 133">
            <a:extLst>
              <a:ext uri="{FF2B5EF4-FFF2-40B4-BE49-F238E27FC236}">
                <a16:creationId xmlns:a16="http://schemas.microsoft.com/office/drawing/2014/main" id="{17F89405-46A0-1A4F-B101-32ADD9C79575}"/>
              </a:ext>
            </a:extLst>
          </p:cNvPr>
          <p:cNvGrpSpPr/>
          <p:nvPr/>
        </p:nvGrpSpPr>
        <p:grpSpPr>
          <a:xfrm>
            <a:off x="1757719" y="2474684"/>
            <a:ext cx="335863" cy="335863"/>
            <a:chOff x="6307866" y="153403"/>
            <a:chExt cx="914400" cy="914400"/>
          </a:xfrm>
        </p:grpSpPr>
        <p:sp>
          <p:nvSpPr>
            <p:cNvPr id="135" name="Oval 134">
              <a:extLst>
                <a:ext uri="{FF2B5EF4-FFF2-40B4-BE49-F238E27FC236}">
                  <a16:creationId xmlns:a16="http://schemas.microsoft.com/office/drawing/2014/main" id="{268BDE26-B560-1A49-98DF-5BC60215EC5F}"/>
                </a:ext>
              </a:extLst>
            </p:cNvPr>
            <p:cNvSpPr/>
            <p:nvPr/>
          </p:nvSpPr>
          <p:spPr>
            <a:xfrm>
              <a:off x="6307866" y="153403"/>
              <a:ext cx="914400" cy="914400"/>
            </a:xfrm>
            <a:prstGeom prst="ellipse">
              <a:avLst/>
            </a:prstGeom>
            <a:solidFill>
              <a:srgbClr val="69AF34"/>
            </a:solidFill>
            <a:ln w="9525" cap="flat" cmpd="sng" algn="ctr">
              <a:noFill/>
              <a:prstDash val="solid"/>
            </a:ln>
            <a:effectLst/>
          </p:spPr>
          <p:txBody>
            <a:bodyPr rtlCol="0" anchor="ctr"/>
            <a:lstStyle/>
            <a:p>
              <a:pPr algn="ctr" defTabSz="914378">
                <a:defRPr/>
              </a:pPr>
              <a:endParaRPr lang="en-US" sz="2118" kern="0" dirty="0">
                <a:latin typeface="Arial"/>
              </a:endParaRPr>
            </a:p>
          </p:txBody>
        </p:sp>
        <p:grpSp>
          <p:nvGrpSpPr>
            <p:cNvPr id="136" name="Group 135">
              <a:extLst>
                <a:ext uri="{FF2B5EF4-FFF2-40B4-BE49-F238E27FC236}">
                  <a16:creationId xmlns:a16="http://schemas.microsoft.com/office/drawing/2014/main" id="{EA2D0EC2-41B0-7848-811D-73683BF9B460}"/>
                </a:ext>
              </a:extLst>
            </p:cNvPr>
            <p:cNvGrpSpPr/>
            <p:nvPr/>
          </p:nvGrpSpPr>
          <p:grpSpPr>
            <a:xfrm rot="18827665">
              <a:off x="6494375" y="375389"/>
              <a:ext cx="541381" cy="365668"/>
              <a:chOff x="6534017" y="362491"/>
              <a:chExt cx="688248" cy="464867"/>
            </a:xfrm>
          </p:grpSpPr>
          <p:sp>
            <p:nvSpPr>
              <p:cNvPr id="137" name="Rectangle 136">
                <a:extLst>
                  <a:ext uri="{FF2B5EF4-FFF2-40B4-BE49-F238E27FC236}">
                    <a16:creationId xmlns:a16="http://schemas.microsoft.com/office/drawing/2014/main" id="{FE642FF0-33C6-B245-AB58-F01183FC0068}"/>
                  </a:ext>
                </a:extLst>
              </p:cNvPr>
              <p:cNvSpPr/>
              <p:nvPr/>
            </p:nvSpPr>
            <p:spPr>
              <a:xfrm>
                <a:off x="6534018" y="362491"/>
                <a:ext cx="213015" cy="336653"/>
              </a:xfrm>
              <a:prstGeom prst="rect">
                <a:avLst/>
              </a:prstGeom>
              <a:solidFill>
                <a:srgbClr val="545B64">
                  <a:lumMod val="50000"/>
                </a:srgbClr>
              </a:solidFill>
              <a:ln w="9525" cap="flat" cmpd="sng" algn="ctr">
                <a:noFill/>
                <a:prstDash val="solid"/>
              </a:ln>
              <a:effectLst/>
            </p:spPr>
            <p:txBody>
              <a:bodyPr rtlCol="0" anchor="ctr"/>
              <a:lstStyle/>
              <a:p>
                <a:pPr algn="ctr" defTabSz="914378">
                  <a:defRPr/>
                </a:pPr>
                <a:endParaRPr lang="en-US" sz="2118" kern="0" dirty="0">
                  <a:latin typeface="Arial"/>
                </a:endParaRPr>
              </a:p>
            </p:txBody>
          </p:sp>
          <p:sp>
            <p:nvSpPr>
              <p:cNvPr id="138" name="Rectangle 137">
                <a:extLst>
                  <a:ext uri="{FF2B5EF4-FFF2-40B4-BE49-F238E27FC236}">
                    <a16:creationId xmlns:a16="http://schemas.microsoft.com/office/drawing/2014/main" id="{A6223725-D253-6141-88F2-583B26052E62}"/>
                  </a:ext>
                </a:extLst>
              </p:cNvPr>
              <p:cNvSpPr/>
              <p:nvPr/>
            </p:nvSpPr>
            <p:spPr>
              <a:xfrm rot="5400000">
                <a:off x="6771633" y="376727"/>
                <a:ext cx="213015" cy="688248"/>
              </a:xfrm>
              <a:prstGeom prst="rect">
                <a:avLst/>
              </a:prstGeom>
              <a:solidFill>
                <a:srgbClr val="545B64">
                  <a:lumMod val="50000"/>
                </a:srgbClr>
              </a:solidFill>
              <a:ln w="9525" cap="flat" cmpd="sng" algn="ctr">
                <a:noFill/>
                <a:prstDash val="solid"/>
              </a:ln>
              <a:effectLst/>
            </p:spPr>
            <p:txBody>
              <a:bodyPr rtlCol="0" anchor="ctr"/>
              <a:lstStyle/>
              <a:p>
                <a:pPr algn="ctr" defTabSz="914378">
                  <a:defRPr/>
                </a:pPr>
                <a:endParaRPr lang="en-US" sz="2118" kern="0" dirty="0">
                  <a:latin typeface="Arial"/>
                </a:endParaRPr>
              </a:p>
            </p:txBody>
          </p:sp>
        </p:grpSp>
      </p:grpSp>
      <p:sp>
        <p:nvSpPr>
          <p:cNvPr id="139" name="TextBox 138">
            <a:extLst>
              <a:ext uri="{FF2B5EF4-FFF2-40B4-BE49-F238E27FC236}">
                <a16:creationId xmlns:a16="http://schemas.microsoft.com/office/drawing/2014/main" id="{C42E9374-4C3A-6840-B43E-152EE394FB8C}"/>
              </a:ext>
            </a:extLst>
          </p:cNvPr>
          <p:cNvSpPr txBox="1"/>
          <p:nvPr/>
        </p:nvSpPr>
        <p:spPr>
          <a:xfrm>
            <a:off x="6036023" y="2918717"/>
            <a:ext cx="711570" cy="301899"/>
          </a:xfrm>
          <a:prstGeom prst="rect">
            <a:avLst/>
          </a:prstGeom>
          <a:noFill/>
        </p:spPr>
        <p:txBody>
          <a:bodyPr wrap="square" lIns="0" tIns="0" rIns="0" bIns="0" rtlCol="0" anchor="t">
            <a:noAutofit/>
          </a:bodyPr>
          <a:lstStyle/>
          <a:p>
            <a:pPr algn="ctr"/>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Backup bucket</a:t>
            </a:r>
          </a:p>
        </p:txBody>
      </p:sp>
      <p:cxnSp>
        <p:nvCxnSpPr>
          <p:cNvPr id="141" name="Straight Arrow Connector 123">
            <a:extLst>
              <a:ext uri="{FF2B5EF4-FFF2-40B4-BE49-F238E27FC236}">
                <a16:creationId xmlns:a16="http://schemas.microsoft.com/office/drawing/2014/main" id="{8234B4B5-3B39-A643-9F15-F462418BE512}"/>
              </a:ext>
            </a:extLst>
          </p:cNvPr>
          <p:cNvCxnSpPr>
            <a:cxnSpLocks/>
            <a:stCxn id="52" idx="0"/>
            <a:endCxn id="44" idx="0"/>
          </p:cNvCxnSpPr>
          <p:nvPr/>
        </p:nvCxnSpPr>
        <p:spPr>
          <a:xfrm rot="16200000" flipH="1">
            <a:off x="6813906" y="1832260"/>
            <a:ext cx="63014" cy="907209"/>
          </a:xfrm>
          <a:prstGeom prst="curvedConnector3">
            <a:avLst>
              <a:gd name="adj1" fmla="val -362777"/>
            </a:avLst>
          </a:prstGeom>
          <a:noFill/>
          <a:ln w="25400" cap="flat" cmpd="sng" algn="ctr">
            <a:solidFill>
              <a:srgbClr val="00B0F0"/>
            </a:solidFill>
            <a:prstDash val="sysDash"/>
            <a:tailEnd type="triangle"/>
          </a:ln>
          <a:effectLst>
            <a:outerShdw blurRad="40000" dist="20000" dir="5400000" rotWithShape="0">
              <a:srgbClr val="000000">
                <a:alpha val="38000"/>
              </a:srgbClr>
            </a:outerShdw>
          </a:effectLst>
        </p:spPr>
      </p:cxnSp>
      <p:sp>
        <p:nvSpPr>
          <p:cNvPr id="62" name="TextBox 33">
            <a:extLst>
              <a:ext uri="{FF2B5EF4-FFF2-40B4-BE49-F238E27FC236}">
                <a16:creationId xmlns:a16="http://schemas.microsoft.com/office/drawing/2014/main" id="{BEED451F-7BC8-4F4F-B8DF-2E0B44E11BB1}"/>
              </a:ext>
            </a:extLst>
          </p:cNvPr>
          <p:cNvSpPr txBox="1">
            <a:spLocks noChangeArrowheads="1"/>
          </p:cNvSpPr>
          <p:nvPr/>
        </p:nvSpPr>
        <p:spPr bwMode="auto">
          <a:xfrm>
            <a:off x="656120" y="3513027"/>
            <a:ext cx="3057335" cy="261610"/>
          </a:xfrm>
          <a:prstGeom prst="rect">
            <a:avLst/>
          </a:prstGeom>
          <a:noFill/>
          <a:ln w="9525">
            <a:noFill/>
            <a:miter lim="800000"/>
            <a:headEnd/>
            <a:tailEnd/>
          </a:ln>
        </p:spPr>
        <p:txBody>
          <a:bodyPr>
            <a:spAutoFit/>
          </a:bodyPr>
          <a:lstStyle/>
          <a:p>
            <a:pPr algn="ctr" defTabSz="914378">
              <a:defRPr/>
            </a:pPr>
            <a:r>
              <a:rPr lang="en-US" sz="1100" b="1" kern="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Corporate data center</a:t>
            </a:r>
          </a:p>
        </p:txBody>
      </p:sp>
      <p:grpSp>
        <p:nvGrpSpPr>
          <p:cNvPr id="45" name="Group 44">
            <a:extLst>
              <a:ext uri="{FF2B5EF4-FFF2-40B4-BE49-F238E27FC236}">
                <a16:creationId xmlns:a16="http://schemas.microsoft.com/office/drawing/2014/main" id="{1E4F59C0-6273-8D4A-8F4F-FDCB7813DDA4}"/>
              </a:ext>
            </a:extLst>
          </p:cNvPr>
          <p:cNvGrpSpPr/>
          <p:nvPr/>
        </p:nvGrpSpPr>
        <p:grpSpPr>
          <a:xfrm>
            <a:off x="459592" y="1438799"/>
            <a:ext cx="3643884" cy="2364262"/>
            <a:chOff x="528320" y="3668045"/>
            <a:chExt cx="1765300" cy="1765301"/>
          </a:xfrm>
        </p:grpSpPr>
        <p:sp>
          <p:nvSpPr>
            <p:cNvPr id="46" name="Rectangle 45">
              <a:extLst>
                <a:ext uri="{FF2B5EF4-FFF2-40B4-BE49-F238E27FC236}">
                  <a16:creationId xmlns:a16="http://schemas.microsoft.com/office/drawing/2014/main" id="{25D33175-4B7E-0346-A89A-8864D1AD0A5B}"/>
                </a:ext>
              </a:extLst>
            </p:cNvPr>
            <p:cNvSpPr/>
            <p:nvPr/>
          </p:nvSpPr>
          <p:spPr>
            <a:xfrm>
              <a:off x="528320" y="3668046"/>
              <a:ext cx="1765300" cy="1765300"/>
            </a:xfrm>
            <a:prstGeom prst="rect">
              <a:avLst/>
            </a:prstGeom>
            <a:noFill/>
            <a:ln w="12700">
              <a:solidFill>
                <a:srgbClr val="AAB7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750" tIns="57150" rIns="57150" bIns="28575" numCol="1" spcCol="0" rtlCol="0" fromWordArt="0" anchor="t" anchorCtr="0" forceAA="0" compatLnSpc="1">
              <a:prstTxWarp prst="textNoShape">
                <a:avLst/>
              </a:prstTxWarp>
              <a:noAutofit/>
            </a:bodyPr>
            <a:lstStyle/>
            <a:p>
              <a:pPr algn="l"/>
              <a:r>
                <a:rPr lang="en-US" sz="750" dirty="0">
                  <a:solidFill>
                    <a:srgbClr val="AAB7B8"/>
                  </a:solidFill>
                </a:rPr>
                <a:t>         </a:t>
              </a:r>
              <a:r>
                <a:rPr lang="en-US" sz="1000" dirty="0">
                  <a:solidFill>
                    <a:srgbClr val="AAB7B8"/>
                  </a:solidFill>
                </a:rPr>
                <a:t>On-Premises</a:t>
              </a:r>
              <a:endParaRPr lang="en-US" sz="750" dirty="0">
                <a:solidFill>
                  <a:srgbClr val="AAB7B8"/>
                </a:solidFill>
              </a:endParaRPr>
            </a:p>
          </p:txBody>
        </p:sp>
        <p:pic>
          <p:nvPicPr>
            <p:cNvPr id="47" name="Graphic 46">
              <a:extLst>
                <a:ext uri="{FF2B5EF4-FFF2-40B4-BE49-F238E27FC236}">
                  <a16:creationId xmlns:a16="http://schemas.microsoft.com/office/drawing/2014/main" id="{F0E41BB1-43BD-1849-B1B8-9A025BF20F4F}"/>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528320" y="3668045"/>
              <a:ext cx="230631" cy="230631"/>
            </a:xfrm>
            <a:prstGeom prst="rect">
              <a:avLst/>
            </a:prstGeom>
          </p:spPr>
        </p:pic>
      </p:grpSp>
      <p:grpSp>
        <p:nvGrpSpPr>
          <p:cNvPr id="48" name="Group 47">
            <a:extLst>
              <a:ext uri="{FF2B5EF4-FFF2-40B4-BE49-F238E27FC236}">
                <a16:creationId xmlns:a16="http://schemas.microsoft.com/office/drawing/2014/main" id="{10613C5B-1B2D-C84C-BD93-5D5ECC1B2C82}"/>
              </a:ext>
            </a:extLst>
          </p:cNvPr>
          <p:cNvGrpSpPr/>
          <p:nvPr/>
        </p:nvGrpSpPr>
        <p:grpSpPr>
          <a:xfrm>
            <a:off x="5768149" y="1448962"/>
            <a:ext cx="2921427" cy="2325675"/>
            <a:chOff x="7004050" y="3975542"/>
            <a:chExt cx="1765300" cy="1768033"/>
          </a:xfrm>
        </p:grpSpPr>
        <p:pic>
          <p:nvPicPr>
            <p:cNvPr id="49" name="Graphic 48">
              <a:extLst>
                <a:ext uri="{FF2B5EF4-FFF2-40B4-BE49-F238E27FC236}">
                  <a16:creationId xmlns:a16="http://schemas.microsoft.com/office/drawing/2014/main" id="{49813737-A451-9B4D-886A-AEDB445BDD0D}"/>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7005158" y="3975542"/>
              <a:ext cx="227093" cy="227093"/>
            </a:xfrm>
            <a:prstGeom prst="rect">
              <a:avLst/>
            </a:prstGeom>
          </p:spPr>
        </p:pic>
        <p:sp>
          <p:nvSpPr>
            <p:cNvPr id="50" name="Rectangle 49">
              <a:extLst>
                <a:ext uri="{FF2B5EF4-FFF2-40B4-BE49-F238E27FC236}">
                  <a16:creationId xmlns:a16="http://schemas.microsoft.com/office/drawing/2014/main" id="{001A6584-4E96-DA44-A3DD-7ECA9B44783A}"/>
                </a:ext>
              </a:extLst>
            </p:cNvPr>
            <p:cNvSpPr/>
            <p:nvPr/>
          </p:nvSpPr>
          <p:spPr>
            <a:xfrm>
              <a:off x="7004050" y="3978275"/>
              <a:ext cx="1765300" cy="1765300"/>
            </a:xfrm>
            <a:prstGeom prst="rect">
              <a:avLst/>
            </a:prstGeom>
            <a:noFill/>
            <a:ln w="12700">
              <a:solidFill>
                <a:srgbClr val="AAB7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750" tIns="57150" rIns="57150" bIns="28575" numCol="1" spcCol="0" rtlCol="0" fromWordArt="0" anchor="t" anchorCtr="0" forceAA="0" compatLnSpc="1">
              <a:prstTxWarp prst="textNoShape">
                <a:avLst/>
              </a:prstTxWarp>
              <a:noAutofit/>
            </a:bodyPr>
            <a:lstStyle/>
            <a:p>
              <a:pPr algn="l"/>
              <a:r>
                <a:rPr lang="en-US" sz="750" dirty="0">
                  <a:solidFill>
                    <a:srgbClr val="AAB7B8"/>
                  </a:solidFill>
                </a:rPr>
                <a:t>       </a:t>
              </a:r>
              <a:r>
                <a:rPr lang="en-US" sz="900" dirty="0">
                  <a:solidFill>
                    <a:srgbClr val="AAB7B8"/>
                  </a:solidFill>
                </a:rPr>
                <a:t>AWS Cloud</a:t>
              </a:r>
              <a:endParaRPr lang="en-US" sz="750" dirty="0">
                <a:solidFill>
                  <a:srgbClr val="AAB7B8"/>
                </a:solidFill>
              </a:endParaRPr>
            </a:p>
          </p:txBody>
        </p:sp>
      </p:grpSp>
      <p:pic>
        <p:nvPicPr>
          <p:cNvPr id="44" name="Graphic 43">
            <a:extLst>
              <a:ext uri="{FF2B5EF4-FFF2-40B4-BE49-F238E27FC236}">
                <a16:creationId xmlns:a16="http://schemas.microsoft.com/office/drawing/2014/main" id="{D9E40453-BBC4-C74D-A73C-8A4BCF4B9314}"/>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 xmlns:asvg="http://schemas.microsoft.com/office/drawing/2016/SVG/main" r:embed="rId9"/>
              </a:ext>
            </a:extLst>
          </a:blip>
          <a:stretch>
            <a:fillRect/>
          </a:stretch>
        </p:blipFill>
        <p:spPr>
          <a:xfrm>
            <a:off x="7027572" y="2317371"/>
            <a:ext cx="542891" cy="542891"/>
          </a:xfrm>
          <a:prstGeom prst="rect">
            <a:avLst/>
          </a:prstGeom>
        </p:spPr>
      </p:pic>
      <p:sp>
        <p:nvSpPr>
          <p:cNvPr id="51" name="TextBox 50">
            <a:extLst>
              <a:ext uri="{FF2B5EF4-FFF2-40B4-BE49-F238E27FC236}">
                <a16:creationId xmlns:a16="http://schemas.microsoft.com/office/drawing/2014/main" id="{75D7AE2B-32DF-B245-BA41-4AFD848F2E46}"/>
              </a:ext>
            </a:extLst>
          </p:cNvPr>
          <p:cNvSpPr txBox="1"/>
          <p:nvPr/>
        </p:nvSpPr>
        <p:spPr>
          <a:xfrm>
            <a:off x="6124995" y="2899810"/>
            <a:ext cx="896112" cy="155632"/>
          </a:xfrm>
          <a:prstGeom prst="rect">
            <a:avLst/>
          </a:prstGeom>
          <a:noFill/>
        </p:spPr>
        <p:txBody>
          <a:bodyPr wrap="square" lIns="0" tIns="0" rIns="0" bIns="0" rtlCol="0" anchor="t">
            <a:noAutofit/>
          </a:bodyPr>
          <a:lstStyle/>
          <a:p>
            <a:pPr algn="ctr"/>
            <a:r>
              <a:rPr lang="en-US" sz="1000" dirty="0">
                <a:latin typeface="Amazon Ember Light" panose="020B0403020204020204" pitchFamily="34" charset="0"/>
                <a:ea typeface="Amazon Ember Light" panose="020B0403020204020204" pitchFamily="34" charset="0"/>
                <a:cs typeface="Amazon Ember Light" panose="020B0403020204020204" pitchFamily="34" charset="0"/>
              </a:rPr>
              <a:t>Amazon </a:t>
            </a:r>
          </a:p>
          <a:p>
            <a:pPr algn="ctr"/>
            <a:r>
              <a:rPr lang="en-US" sz="1000" dirty="0">
                <a:latin typeface="Amazon Ember Light" panose="020B0403020204020204" pitchFamily="34" charset="0"/>
                <a:ea typeface="Amazon Ember Light" panose="020B0403020204020204" pitchFamily="34" charset="0"/>
                <a:cs typeface="Amazon Ember Light" panose="020B0403020204020204" pitchFamily="34" charset="0"/>
              </a:rPr>
              <a:t>EC2</a:t>
            </a:r>
            <a:endParaRPr lang="en-US" sz="2118"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52" name="Graphic 51">
            <a:extLst>
              <a:ext uri="{FF2B5EF4-FFF2-40B4-BE49-F238E27FC236}">
                <a16:creationId xmlns:a16="http://schemas.microsoft.com/office/drawing/2014/main" id="{7237AFD2-29A8-A642-AAB8-68E18CBE8FF3}"/>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 xmlns:asvg="http://schemas.microsoft.com/office/drawing/2016/SVG/main" r:embed="rId11"/>
              </a:ext>
            </a:extLst>
          </a:blip>
          <a:stretch>
            <a:fillRect/>
          </a:stretch>
        </p:blipFill>
        <p:spPr>
          <a:xfrm>
            <a:off x="6115095" y="2254357"/>
            <a:ext cx="553427" cy="553427"/>
          </a:xfrm>
          <a:prstGeom prst="rect">
            <a:avLst/>
          </a:prstGeom>
        </p:spPr>
      </p:pic>
      <p:grpSp>
        <p:nvGrpSpPr>
          <p:cNvPr id="3" name="Group 2">
            <a:extLst>
              <a:ext uri="{FF2B5EF4-FFF2-40B4-BE49-F238E27FC236}">
                <a16:creationId xmlns:a16="http://schemas.microsoft.com/office/drawing/2014/main" id="{F6180E86-76DC-4DFE-A094-FE962521BBD2}"/>
              </a:ext>
            </a:extLst>
          </p:cNvPr>
          <p:cNvGrpSpPr/>
          <p:nvPr/>
        </p:nvGrpSpPr>
        <p:grpSpPr>
          <a:xfrm>
            <a:off x="7882632" y="2293687"/>
            <a:ext cx="561248" cy="701560"/>
            <a:chOff x="7521297" y="2566531"/>
            <a:chExt cx="561248" cy="701560"/>
          </a:xfrm>
        </p:grpSpPr>
        <p:pic>
          <p:nvPicPr>
            <p:cNvPr id="53" name="Graphic 29">
              <a:extLst>
                <a:ext uri="{FF2B5EF4-FFF2-40B4-BE49-F238E27FC236}">
                  <a16:creationId xmlns:a16="http://schemas.microsoft.com/office/drawing/2014/main" id="{1E49BFD1-3689-F540-A4EA-778C08339EA6}"/>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 xmlns:asvg="http://schemas.microsoft.com/office/drawing/2016/SVG/main" r:embed="rId13"/>
                </a:ext>
              </a:extLst>
            </a:blip>
            <a:stretch>
              <a:fillRect/>
            </a:stretch>
          </p:blipFill>
          <p:spPr>
            <a:xfrm>
              <a:off x="7521297" y="2566531"/>
              <a:ext cx="561248" cy="701560"/>
            </a:xfrm>
            <a:prstGeom prst="rect">
              <a:avLst/>
            </a:prstGeom>
          </p:spPr>
        </p:pic>
        <p:pic>
          <p:nvPicPr>
            <p:cNvPr id="54" name="Graphic 53">
              <a:extLst>
                <a:ext uri="{FF2B5EF4-FFF2-40B4-BE49-F238E27FC236}">
                  <a16:creationId xmlns:a16="http://schemas.microsoft.com/office/drawing/2014/main" id="{5AE70609-7BFE-B343-A515-1E73A73404E5}"/>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 xmlns:asvg="http://schemas.microsoft.com/office/drawing/2016/SVG/main" r:embed="rId15"/>
                </a:ext>
              </a:extLst>
            </a:blip>
            <a:stretch>
              <a:fillRect/>
            </a:stretch>
          </p:blipFill>
          <p:spPr>
            <a:xfrm>
              <a:off x="7536324" y="2581441"/>
              <a:ext cx="532362" cy="532362"/>
            </a:xfrm>
            <a:prstGeom prst="rect">
              <a:avLst/>
            </a:prstGeom>
          </p:spPr>
        </p:pic>
      </p:grpSp>
      <p:sp>
        <p:nvSpPr>
          <p:cNvPr id="55" name="TextBox 54">
            <a:extLst>
              <a:ext uri="{FF2B5EF4-FFF2-40B4-BE49-F238E27FC236}">
                <a16:creationId xmlns:a16="http://schemas.microsoft.com/office/drawing/2014/main" id="{8D81E7F5-E434-514D-B178-29C0818C92DE}"/>
              </a:ext>
            </a:extLst>
          </p:cNvPr>
          <p:cNvSpPr txBox="1"/>
          <p:nvPr/>
        </p:nvSpPr>
        <p:spPr>
          <a:xfrm>
            <a:off x="6851641" y="2862663"/>
            <a:ext cx="894752" cy="155632"/>
          </a:xfrm>
          <a:prstGeom prst="rect">
            <a:avLst/>
          </a:prstGeom>
          <a:noFill/>
        </p:spPr>
        <p:txBody>
          <a:bodyPr wrap="square" lIns="0" tIns="0" rIns="0" bIns="0" rtlCol="0" anchor="t">
            <a:noAutofit/>
          </a:bodyPr>
          <a:lstStyle/>
          <a:p>
            <a:pPr algn="ctr"/>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SQL Server</a:t>
            </a:r>
            <a:endParaRPr lang="en-US" sz="2118"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56" name="Graphic 55">
            <a:extLst>
              <a:ext uri="{FF2B5EF4-FFF2-40B4-BE49-F238E27FC236}">
                <a16:creationId xmlns:a16="http://schemas.microsoft.com/office/drawing/2014/main" id="{89411F46-5CF6-9D48-8C65-0324724A24E6}"/>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 xmlns:asvg="http://schemas.microsoft.com/office/drawing/2016/SVG/main" r:embed="rId17"/>
              </a:ext>
            </a:extLst>
          </a:blip>
          <a:stretch>
            <a:fillRect/>
          </a:stretch>
        </p:blipFill>
        <p:spPr>
          <a:xfrm>
            <a:off x="3442181" y="2962493"/>
            <a:ext cx="387887" cy="387887"/>
          </a:xfrm>
          <a:prstGeom prst="rect">
            <a:avLst/>
          </a:prstGeom>
        </p:spPr>
      </p:pic>
      <p:cxnSp>
        <p:nvCxnSpPr>
          <p:cNvPr id="57" name="Straight Arrow Connector 56">
            <a:extLst>
              <a:ext uri="{FF2B5EF4-FFF2-40B4-BE49-F238E27FC236}">
                <a16:creationId xmlns:a16="http://schemas.microsoft.com/office/drawing/2014/main" id="{73C1D3C1-20DE-472B-9118-35E2883AA6FE}"/>
              </a:ext>
            </a:extLst>
          </p:cNvPr>
          <p:cNvCxnSpPr>
            <a:cxnSpLocks/>
            <a:stCxn id="58" idx="3"/>
            <a:endCxn id="127" idx="1"/>
          </p:cNvCxnSpPr>
          <p:nvPr/>
        </p:nvCxnSpPr>
        <p:spPr>
          <a:xfrm>
            <a:off x="1658728" y="2392496"/>
            <a:ext cx="885234" cy="6088"/>
          </a:xfrm>
          <a:prstGeom prst="straightConnector1">
            <a:avLst/>
          </a:prstGeom>
          <a:noFill/>
          <a:ln w="25400" cap="flat" cmpd="sng" algn="ctr">
            <a:solidFill>
              <a:srgbClr val="69AF34"/>
            </a:solidFill>
            <a:prstDash val="solid"/>
            <a:tailEnd type="triangle"/>
          </a:ln>
          <a:effectLst>
            <a:outerShdw blurRad="40000" dist="20000" dir="5400000" rotWithShape="0">
              <a:srgbClr val="000000">
                <a:alpha val="38000"/>
              </a:srgbClr>
            </a:outerShdw>
          </a:effectLst>
        </p:spPr>
      </p:cxnSp>
      <p:pic>
        <p:nvPicPr>
          <p:cNvPr id="58" name="Picture 57">
            <a:extLst>
              <a:ext uri="{FF2B5EF4-FFF2-40B4-BE49-F238E27FC236}">
                <a16:creationId xmlns:a16="http://schemas.microsoft.com/office/drawing/2014/main" id="{85FDCB51-DA79-4E70-8B37-030CD7C927F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652888" y="2141036"/>
            <a:ext cx="1005840" cy="502920"/>
          </a:xfrm>
          <a:prstGeom prst="rect">
            <a:avLst/>
          </a:prstGeom>
          <a:ln>
            <a:solidFill>
              <a:schemeClr val="bg1">
                <a:lumMod val="95000"/>
              </a:schemeClr>
            </a:solidFill>
          </a:ln>
        </p:spPr>
      </p:pic>
      <p:cxnSp>
        <p:nvCxnSpPr>
          <p:cNvPr id="61" name="Straight Arrow Connector 60">
            <a:extLst>
              <a:ext uri="{FF2B5EF4-FFF2-40B4-BE49-F238E27FC236}">
                <a16:creationId xmlns:a16="http://schemas.microsoft.com/office/drawing/2014/main" id="{8C96988E-934A-4372-B6F2-66AA155A170B}"/>
              </a:ext>
            </a:extLst>
          </p:cNvPr>
          <p:cNvCxnSpPr>
            <a:cxnSpLocks/>
            <a:stCxn id="127" idx="3"/>
            <a:endCxn id="79" idx="2"/>
          </p:cNvCxnSpPr>
          <p:nvPr/>
        </p:nvCxnSpPr>
        <p:spPr>
          <a:xfrm flipV="1">
            <a:off x="2993404" y="2397777"/>
            <a:ext cx="287346" cy="807"/>
          </a:xfrm>
          <a:prstGeom prst="straightConnector1">
            <a:avLst/>
          </a:prstGeom>
          <a:noFill/>
          <a:ln w="25400" cap="flat" cmpd="sng" algn="ctr">
            <a:solidFill>
              <a:srgbClr val="69AF34"/>
            </a:solidFill>
            <a:prstDash val="solid"/>
            <a:tailEnd type="triangle"/>
          </a:ln>
          <a:effectLst>
            <a:outerShdw blurRad="40000" dist="20000" dir="5400000" rotWithShape="0">
              <a:srgbClr val="000000">
                <a:alpha val="38000"/>
              </a:srgbClr>
            </a:outerShdw>
          </a:effectLst>
        </p:spPr>
      </p:cxnSp>
      <p:grpSp>
        <p:nvGrpSpPr>
          <p:cNvPr id="67" name="Group 66">
            <a:extLst>
              <a:ext uri="{FF2B5EF4-FFF2-40B4-BE49-F238E27FC236}">
                <a16:creationId xmlns:a16="http://schemas.microsoft.com/office/drawing/2014/main" id="{66B9471E-7CC3-4F9F-AA19-16CE691FABD7}"/>
              </a:ext>
            </a:extLst>
          </p:cNvPr>
          <p:cNvGrpSpPr/>
          <p:nvPr/>
        </p:nvGrpSpPr>
        <p:grpSpPr>
          <a:xfrm>
            <a:off x="4363773" y="2035702"/>
            <a:ext cx="1025808" cy="1067534"/>
            <a:chOff x="421033" y="2534063"/>
            <a:chExt cx="847725" cy="793314"/>
          </a:xfrm>
        </p:grpSpPr>
        <p:sp>
          <p:nvSpPr>
            <p:cNvPr id="68" name="TextBox 4">
              <a:extLst>
                <a:ext uri="{FF2B5EF4-FFF2-40B4-BE49-F238E27FC236}">
                  <a16:creationId xmlns:a16="http://schemas.microsoft.com/office/drawing/2014/main" id="{39C2814C-5DF9-4CC4-ABEB-D95AF3044E7F}"/>
                </a:ext>
              </a:extLst>
            </p:cNvPr>
            <p:cNvSpPr txBox="1">
              <a:spLocks noChangeArrowheads="1"/>
            </p:cNvSpPr>
            <p:nvPr/>
          </p:nvSpPr>
          <p:spPr bwMode="auto">
            <a:xfrm>
              <a:off x="455889" y="3086499"/>
              <a:ext cx="738188" cy="240878"/>
            </a:xfrm>
            <a:prstGeom prst="rect">
              <a:avLst/>
            </a:prstGeom>
            <a:noFill/>
            <a:ln w="9525">
              <a:noFill/>
              <a:miter lim="800000"/>
              <a:headEnd/>
              <a:tailEnd/>
            </a:ln>
          </p:spPr>
          <p:txBody>
            <a:bodyPr>
              <a:spAutoFit/>
            </a:bodyPr>
            <a:lstStyle/>
            <a:p>
              <a:pPr algn="ctr"/>
              <a:r>
                <a:rPr lang="en-US" sz="1440" dirty="0">
                  <a:solidFill>
                    <a:schemeClr val="bg1"/>
                  </a:solidFill>
                  <a:latin typeface="Arial"/>
                  <a:ea typeface="Verdana" pitchFamily="34" charset="0"/>
                  <a:cs typeface="Arial"/>
                </a:rPr>
                <a:t>Internet</a:t>
              </a:r>
            </a:p>
          </p:txBody>
        </p:sp>
        <p:sp>
          <p:nvSpPr>
            <p:cNvPr id="69" name="Freeform 251">
              <a:extLst>
                <a:ext uri="{FF2B5EF4-FFF2-40B4-BE49-F238E27FC236}">
                  <a16:creationId xmlns:a16="http://schemas.microsoft.com/office/drawing/2014/main" id="{CCB747A9-B5AA-44E1-A32B-429B279E7AA8}"/>
                </a:ext>
              </a:extLst>
            </p:cNvPr>
            <p:cNvSpPr>
              <a:spLocks/>
            </p:cNvSpPr>
            <p:nvPr/>
          </p:nvSpPr>
          <p:spPr bwMode="auto">
            <a:xfrm>
              <a:off x="421033" y="2534063"/>
              <a:ext cx="847725" cy="523875"/>
            </a:xfrm>
            <a:custGeom>
              <a:avLst/>
              <a:gdLst/>
              <a:ahLst/>
              <a:cxnLst>
                <a:cxn ang="0">
                  <a:pos x="77" y="23"/>
                </a:cxn>
                <a:cxn ang="0">
                  <a:pos x="77" y="23"/>
                </a:cxn>
                <a:cxn ang="0">
                  <a:pos x="55" y="0"/>
                </a:cxn>
                <a:cxn ang="0">
                  <a:pos x="34" y="13"/>
                </a:cxn>
                <a:cxn ang="0">
                  <a:pos x="28" y="11"/>
                </a:cxn>
                <a:cxn ang="0">
                  <a:pos x="16" y="23"/>
                </a:cxn>
                <a:cxn ang="0">
                  <a:pos x="0" y="39"/>
                </a:cxn>
                <a:cxn ang="0">
                  <a:pos x="0" y="40"/>
                </a:cxn>
                <a:cxn ang="0">
                  <a:pos x="18" y="55"/>
                </a:cxn>
                <a:cxn ang="0">
                  <a:pos x="71" y="55"/>
                </a:cxn>
                <a:cxn ang="0">
                  <a:pos x="89" y="40"/>
                </a:cxn>
                <a:cxn ang="0">
                  <a:pos x="89" y="39"/>
                </a:cxn>
                <a:cxn ang="0">
                  <a:pos x="77" y="23"/>
                </a:cxn>
              </a:cxnLst>
              <a:rect l="0" t="0" r="r" b="b"/>
              <a:pathLst>
                <a:path w="89" h="55">
                  <a:moveTo>
                    <a:pt x="77" y="23"/>
                  </a:moveTo>
                  <a:cubicBezTo>
                    <a:pt x="77" y="23"/>
                    <a:pt x="77" y="23"/>
                    <a:pt x="77" y="23"/>
                  </a:cubicBezTo>
                  <a:cubicBezTo>
                    <a:pt x="77" y="10"/>
                    <a:pt x="67" y="0"/>
                    <a:pt x="55" y="0"/>
                  </a:cubicBezTo>
                  <a:cubicBezTo>
                    <a:pt x="46" y="0"/>
                    <a:pt x="38" y="6"/>
                    <a:pt x="34" y="13"/>
                  </a:cubicBezTo>
                  <a:cubicBezTo>
                    <a:pt x="32" y="12"/>
                    <a:pt x="30" y="11"/>
                    <a:pt x="28" y="11"/>
                  </a:cubicBezTo>
                  <a:cubicBezTo>
                    <a:pt x="22" y="11"/>
                    <a:pt x="17" y="16"/>
                    <a:pt x="16" y="23"/>
                  </a:cubicBezTo>
                  <a:cubicBezTo>
                    <a:pt x="7" y="23"/>
                    <a:pt x="0" y="32"/>
                    <a:pt x="0" y="39"/>
                  </a:cubicBezTo>
                  <a:cubicBezTo>
                    <a:pt x="0" y="40"/>
                    <a:pt x="0" y="40"/>
                    <a:pt x="0" y="40"/>
                  </a:cubicBezTo>
                  <a:cubicBezTo>
                    <a:pt x="0" y="48"/>
                    <a:pt x="8" y="55"/>
                    <a:pt x="18" y="55"/>
                  </a:cubicBezTo>
                  <a:cubicBezTo>
                    <a:pt x="71" y="55"/>
                    <a:pt x="71" y="55"/>
                    <a:pt x="71" y="55"/>
                  </a:cubicBezTo>
                  <a:cubicBezTo>
                    <a:pt x="81" y="55"/>
                    <a:pt x="89" y="48"/>
                    <a:pt x="89" y="40"/>
                  </a:cubicBezTo>
                  <a:cubicBezTo>
                    <a:pt x="89" y="39"/>
                    <a:pt x="89" y="39"/>
                    <a:pt x="89" y="39"/>
                  </a:cubicBezTo>
                  <a:cubicBezTo>
                    <a:pt x="89" y="33"/>
                    <a:pt x="84" y="25"/>
                    <a:pt x="77" y="23"/>
                  </a:cubicBezTo>
                  <a:close/>
                </a:path>
              </a:pathLst>
            </a:custGeom>
            <a:solidFill>
              <a:srgbClr val="C5C7C9"/>
            </a:solidFill>
            <a:ln w="9525">
              <a:solidFill>
                <a:srgbClr val="646364"/>
              </a:solidFill>
              <a:round/>
              <a:headEnd/>
              <a:tailEnd/>
            </a:ln>
          </p:spPr>
          <p:txBody>
            <a:bodyPr vert="horz" wrap="square" lIns="109728" tIns="54864" rIns="109728" bIns="54864" numCol="1" anchor="t" anchorCtr="0" compatLnSpc="1">
              <a:prstTxWarp prst="textNoShape">
                <a:avLst/>
              </a:prstTxWarp>
            </a:bodyPr>
            <a:lstStyle/>
            <a:p>
              <a:endParaRPr lang="en-US" sz="2160" dirty="0">
                <a:latin typeface="Arial"/>
                <a:cs typeface="Arial"/>
              </a:endParaRPr>
            </a:p>
          </p:txBody>
        </p:sp>
      </p:grpSp>
      <p:sp>
        <p:nvSpPr>
          <p:cNvPr id="70" name="TextBox 69">
            <a:extLst>
              <a:ext uri="{FF2B5EF4-FFF2-40B4-BE49-F238E27FC236}">
                <a16:creationId xmlns:a16="http://schemas.microsoft.com/office/drawing/2014/main" id="{1BDD6BAE-835F-4BC3-9D0E-54FE0AF03C36}"/>
              </a:ext>
            </a:extLst>
          </p:cNvPr>
          <p:cNvSpPr txBox="1"/>
          <p:nvPr/>
        </p:nvSpPr>
        <p:spPr>
          <a:xfrm>
            <a:off x="4660460" y="2348752"/>
            <a:ext cx="1375563" cy="480127"/>
          </a:xfrm>
          <a:prstGeom prst="rect">
            <a:avLst/>
          </a:prstGeom>
          <a:noFill/>
        </p:spPr>
        <p:txBody>
          <a:bodyPr wrap="square" lIns="146301" tIns="73150" rIns="146301" bIns="73150" rtlCol="0">
            <a:spAutoFit/>
          </a:bodyPr>
          <a:lstStyle/>
          <a:p>
            <a:r>
              <a:rPr lang="en-US" sz="2160" dirty="0">
                <a:latin typeface="Amazon Ember Light" panose="020B0403020204020204" pitchFamily="34" charset="0"/>
                <a:ea typeface="Amazon Ember Light" panose="020B0403020204020204" pitchFamily="34" charset="0"/>
                <a:cs typeface="Amazon Ember Light" panose="020B0403020204020204" pitchFamily="34" charset="0"/>
              </a:rPr>
              <a:t>VPN/</a:t>
            </a:r>
            <a:r>
              <a:rPr lang="en-US" sz="216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DX</a:t>
            </a:r>
          </a:p>
        </p:txBody>
      </p:sp>
      <p:sp>
        <p:nvSpPr>
          <p:cNvPr id="20" name="Rectangle 19">
            <a:extLst>
              <a:ext uri="{FF2B5EF4-FFF2-40B4-BE49-F238E27FC236}">
                <a16:creationId xmlns:a16="http://schemas.microsoft.com/office/drawing/2014/main" id="{E7860724-FF3D-446A-A976-D124FC071627}"/>
              </a:ext>
            </a:extLst>
          </p:cNvPr>
          <p:cNvSpPr/>
          <p:nvPr/>
        </p:nvSpPr>
        <p:spPr>
          <a:xfrm>
            <a:off x="2210399" y="1577788"/>
            <a:ext cx="1869410" cy="307777"/>
          </a:xfrm>
          <a:prstGeom prst="rect">
            <a:avLst/>
          </a:prstGeom>
        </p:spPr>
        <p:txBody>
          <a:bodyPr wrap="square">
            <a:spAutoFit/>
          </a:bodyPr>
          <a:lstStyle/>
          <a:p>
            <a:r>
              <a:rPr lang="en-US" sz="1400" b="1" dirty="0">
                <a:solidFill>
                  <a:schemeClr val="bg1"/>
                </a:solidFill>
                <a:latin typeface="Amazon Ember Heavy"/>
              </a:rPr>
              <a:t>AWS Storage Gateway </a:t>
            </a:r>
            <a:endParaRPr lang="en-US" sz="1400" dirty="0">
              <a:solidFill>
                <a:schemeClr val="bg1"/>
              </a:solidFill>
            </a:endParaRPr>
          </a:p>
        </p:txBody>
      </p:sp>
      <p:sp>
        <p:nvSpPr>
          <p:cNvPr id="132" name="TextBox 131">
            <a:extLst>
              <a:ext uri="{FF2B5EF4-FFF2-40B4-BE49-F238E27FC236}">
                <a16:creationId xmlns:a16="http://schemas.microsoft.com/office/drawing/2014/main" id="{D2117912-A531-224F-8592-6AEA099C5A8F}"/>
              </a:ext>
            </a:extLst>
          </p:cNvPr>
          <p:cNvSpPr txBox="1"/>
          <p:nvPr/>
        </p:nvSpPr>
        <p:spPr>
          <a:xfrm>
            <a:off x="3069107" y="2557460"/>
            <a:ext cx="583172" cy="461665"/>
          </a:xfrm>
          <a:prstGeom prst="rect">
            <a:avLst/>
          </a:prstGeom>
          <a:noFill/>
        </p:spPr>
        <p:txBody>
          <a:bodyPr wrap="square" rtlCol="0">
            <a:spAutoFit/>
          </a:bodyPr>
          <a:lstStyle/>
          <a:p>
            <a:pPr algn="ctr" defTabSz="457189"/>
            <a:r>
              <a:rPr lang="en-US" sz="1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Local</a:t>
            </a:r>
          </a:p>
          <a:p>
            <a:pPr algn="ctr" defTabSz="457189"/>
            <a:r>
              <a:rPr lang="en-US" sz="1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cache</a:t>
            </a:r>
          </a:p>
        </p:txBody>
      </p:sp>
    </p:spTree>
    <p:extLst>
      <p:ext uri="{BB962C8B-B14F-4D97-AF65-F5344CB8AC3E}">
        <p14:creationId xmlns:p14="http://schemas.microsoft.com/office/powerpoint/2010/main" val="403396232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Content Placeholder 5">
            <a:extLst>
              <a:ext uri="{FF2B5EF4-FFF2-40B4-BE49-F238E27FC236}">
                <a16:creationId xmlns:a16="http://schemas.microsoft.com/office/drawing/2014/main" id="{79CDF3E8-AA9C-3C41-8B19-5A378C9A05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0605" y="1519158"/>
            <a:ext cx="3575144" cy="2066999"/>
          </a:xfrm>
          <a:prstGeom prst="rect">
            <a:avLst/>
          </a:prstGeom>
        </p:spPr>
      </p:pic>
      <p:grpSp>
        <p:nvGrpSpPr>
          <p:cNvPr id="4" name="Group 3"/>
          <p:cNvGrpSpPr/>
          <p:nvPr/>
        </p:nvGrpSpPr>
        <p:grpSpPr>
          <a:xfrm>
            <a:off x="4209356" y="1593014"/>
            <a:ext cx="2023533" cy="2532623"/>
            <a:chOff x="5406009" y="2646264"/>
            <a:chExt cx="3237653" cy="4052197"/>
          </a:xfrm>
        </p:grpSpPr>
        <p:grpSp>
          <p:nvGrpSpPr>
            <p:cNvPr id="3" name="Group 2"/>
            <p:cNvGrpSpPr/>
            <p:nvPr/>
          </p:nvGrpSpPr>
          <p:grpSpPr>
            <a:xfrm>
              <a:off x="5406009" y="2646264"/>
              <a:ext cx="3237653" cy="4052197"/>
              <a:chOff x="-43783" y="2768452"/>
              <a:chExt cx="3237653" cy="4052197"/>
            </a:xfrm>
          </p:grpSpPr>
          <p:sp>
            <p:nvSpPr>
              <p:cNvPr id="10" name="Right Arrow 9"/>
              <p:cNvSpPr/>
              <p:nvPr/>
            </p:nvSpPr>
            <p:spPr>
              <a:xfrm rot="16200000">
                <a:off x="1144097" y="2791098"/>
                <a:ext cx="681986" cy="636693"/>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600" b="1">
                  <a:solidFill>
                    <a:schemeClr val="tx1"/>
                  </a:solidFill>
                </a:endParaRPr>
              </a:p>
            </p:txBody>
          </p:sp>
          <p:sp>
            <p:nvSpPr>
              <p:cNvPr id="11" name="TextBox 10"/>
              <p:cNvSpPr txBox="1"/>
              <p:nvPr/>
            </p:nvSpPr>
            <p:spPr>
              <a:xfrm>
                <a:off x="-43783" y="6151439"/>
                <a:ext cx="3237653" cy="669210"/>
              </a:xfrm>
              <a:prstGeom prst="rect">
                <a:avLst/>
              </a:prstGeom>
              <a:noFill/>
            </p:spPr>
            <p:txBody>
              <a:bodyPr wrap="square" rtlCol="0">
                <a:spAutoFit/>
              </a:bodyPr>
              <a:lstStyle/>
              <a:p>
                <a:pPr algn="ctr"/>
                <a:r>
                  <a:rPr lang="en-US" sz="2118"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Cloud Migration</a:t>
                </a:r>
              </a:p>
            </p:txBody>
          </p:sp>
          <p:pic>
            <p:nvPicPr>
              <p:cNvPr id="22" name="Picture 21" descr="Disk.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4525" y="3927216"/>
                <a:ext cx="932893" cy="932893"/>
              </a:xfrm>
              <a:prstGeom prst="rect">
                <a:avLst/>
              </a:prstGeom>
            </p:spPr>
          </p:pic>
          <p:pic>
            <p:nvPicPr>
              <p:cNvPr id="23" name="Picture 22" descr="Generic-Database.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0544" y="4912544"/>
                <a:ext cx="932893" cy="932893"/>
              </a:xfrm>
              <a:prstGeom prst="rect">
                <a:avLst/>
              </a:prstGeom>
            </p:spPr>
          </p:pic>
          <p:pic>
            <p:nvPicPr>
              <p:cNvPr id="24" name="Picture 23" descr="Tape.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24525" y="4899187"/>
                <a:ext cx="932893" cy="932893"/>
              </a:xfrm>
              <a:prstGeom prst="rect">
                <a:avLst/>
              </a:prstGeom>
            </p:spPr>
          </p:pic>
          <p:pic>
            <p:nvPicPr>
              <p:cNvPr id="25" name="Picture 24" descr="Traditional-Servers.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70544" y="3927216"/>
                <a:ext cx="932893" cy="932893"/>
              </a:xfrm>
              <a:prstGeom prst="rect">
                <a:avLst/>
              </a:prstGeom>
            </p:spPr>
          </p:pic>
        </p:grpSp>
        <p:sp>
          <p:nvSpPr>
            <p:cNvPr id="42" name="Rounded Rectangle 41">
              <a:extLst>
                <a:ext uri="{FF2B5EF4-FFF2-40B4-BE49-F238E27FC236}">
                  <a16:creationId xmlns:a16="http://schemas.microsoft.com/office/drawing/2014/main" id="{222B6859-0083-DA45-B3B0-1D38BFCDF429}"/>
                </a:ext>
              </a:extLst>
            </p:cNvPr>
            <p:cNvSpPr/>
            <p:nvPr/>
          </p:nvSpPr>
          <p:spPr>
            <a:xfrm>
              <a:off x="5748382" y="3616783"/>
              <a:ext cx="2451870" cy="2422359"/>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125" dirty="0">
                <a:solidFill>
                  <a:schemeClr val="tx1"/>
                </a:solidFill>
                <a:latin typeface="Helvetica Neue"/>
                <a:cs typeface="Helvetica Neue"/>
              </a:endParaRPr>
            </a:p>
          </p:txBody>
        </p:sp>
      </p:grpSp>
      <p:sp>
        <p:nvSpPr>
          <p:cNvPr id="49" name="Rounded Rectangle 48">
            <a:extLst>
              <a:ext uri="{FF2B5EF4-FFF2-40B4-BE49-F238E27FC236}">
                <a16:creationId xmlns:a16="http://schemas.microsoft.com/office/drawing/2014/main" id="{71022609-2975-6546-8584-FE79025460AF}"/>
              </a:ext>
            </a:extLst>
          </p:cNvPr>
          <p:cNvSpPr/>
          <p:nvPr/>
        </p:nvSpPr>
        <p:spPr>
          <a:xfrm>
            <a:off x="6634946" y="2178449"/>
            <a:ext cx="1486959" cy="151063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125" dirty="0">
              <a:solidFill>
                <a:schemeClr val="bg1"/>
              </a:solidFill>
              <a:latin typeface="Helvetica Neue"/>
              <a:cs typeface="Helvetica Neue"/>
            </a:endParaRPr>
          </a:p>
        </p:txBody>
      </p:sp>
      <p:sp>
        <p:nvSpPr>
          <p:cNvPr id="91" name="Right Arrow 90"/>
          <p:cNvSpPr/>
          <p:nvPr/>
        </p:nvSpPr>
        <p:spPr>
          <a:xfrm rot="5400000">
            <a:off x="7201343" y="1966621"/>
            <a:ext cx="426241" cy="397933"/>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600" b="1">
              <a:solidFill>
                <a:schemeClr val="bg1"/>
              </a:solidFill>
            </a:endParaRPr>
          </a:p>
        </p:txBody>
      </p:sp>
      <p:sp>
        <p:nvSpPr>
          <p:cNvPr id="45" name="TextBox 44">
            <a:extLst>
              <a:ext uri="{FF2B5EF4-FFF2-40B4-BE49-F238E27FC236}">
                <a16:creationId xmlns:a16="http://schemas.microsoft.com/office/drawing/2014/main" id="{9A2C6146-E54A-A44E-B41F-ECF8C48DD5EF}"/>
              </a:ext>
            </a:extLst>
          </p:cNvPr>
          <p:cNvSpPr txBox="1"/>
          <p:nvPr/>
        </p:nvSpPr>
        <p:spPr>
          <a:xfrm>
            <a:off x="6697745" y="3108374"/>
            <a:ext cx="670469" cy="369332"/>
          </a:xfrm>
          <a:prstGeom prst="rect">
            <a:avLst/>
          </a:prstGeom>
          <a:noFill/>
        </p:spPr>
        <p:txBody>
          <a:bodyPr wrap="square" rtlCol="0">
            <a:spAutoFit/>
          </a:bodyPr>
          <a:lstStyle/>
          <a:p>
            <a:pPr algn="ctr"/>
            <a:r>
              <a:rPr lang="en-US" sz="900" dirty="0">
                <a:solidFill>
                  <a:schemeClr val="bg1"/>
                </a:solidFill>
              </a:rPr>
              <a:t>MS SQL instance</a:t>
            </a:r>
          </a:p>
        </p:txBody>
      </p:sp>
      <p:sp>
        <p:nvSpPr>
          <p:cNvPr id="26" name="Title 1">
            <a:extLst>
              <a:ext uri="{FF2B5EF4-FFF2-40B4-BE49-F238E27FC236}">
                <a16:creationId xmlns:a16="http://schemas.microsoft.com/office/drawing/2014/main" id="{B254A79F-AE50-3D4E-97F9-4BA0AB64166F}"/>
              </a:ext>
            </a:extLst>
          </p:cNvPr>
          <p:cNvSpPr txBox="1">
            <a:spLocks/>
          </p:cNvSpPr>
          <p:nvPr/>
        </p:nvSpPr>
        <p:spPr>
          <a:xfrm>
            <a:off x="201930" y="217134"/>
            <a:ext cx="8741880" cy="527224"/>
          </a:xfrm>
          <a:prstGeom prst="rect">
            <a:avLst/>
          </a:prstGeom>
        </p:spPr>
        <p:txBody>
          <a:bodyPr vert="horz" wrap="square" lIns="114300" tIns="91440" rIns="114300" bIns="91440" rtlCol="0" anchor="t">
            <a:noAutofit/>
          </a:bodyPr>
          <a:lstStyle>
            <a:lvl1pPr algn="l" defTabSz="1097278" rtl="0" eaLnBrk="1" latinLnBrk="0" hangingPunct="1">
              <a:lnSpc>
                <a:spcPct val="90000"/>
              </a:lnSpc>
              <a:spcBef>
                <a:spcPct val="0"/>
              </a:spcBef>
              <a:buNone/>
              <a:defRPr lang="en-US" sz="4800" b="0" kern="1200" cap="none" spc="-120" baseline="0" dirty="0">
                <a:ln w="3175">
                  <a:noFill/>
                </a:ln>
                <a:solidFill>
                  <a:schemeClr val="tx1"/>
                </a:solidFill>
                <a:effectLst/>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sz="2400" b="1" dirty="0">
                <a:solidFill>
                  <a:schemeClr val="bg1"/>
                </a:solidFill>
                <a:latin typeface="Amazon Ember Regular"/>
              </a:rPr>
              <a:t>SQL Server Backup/Restore</a:t>
            </a:r>
            <a:endParaRPr lang="en-US" sz="2400" b="1" dirty="0">
              <a:solidFill>
                <a:schemeClr val="bg1"/>
              </a:solidFill>
            </a:endParaRPr>
          </a:p>
        </p:txBody>
      </p:sp>
      <p:pic>
        <p:nvPicPr>
          <p:cNvPr id="27" name="Graphic 26">
            <a:extLst>
              <a:ext uri="{FF2B5EF4-FFF2-40B4-BE49-F238E27FC236}">
                <a16:creationId xmlns:a16="http://schemas.microsoft.com/office/drawing/2014/main" id="{D665FC62-C898-EA4D-BBCA-BD3F12538878}"/>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 xmlns:asvg="http://schemas.microsoft.com/office/drawing/2016/SVG/main" r:embed="rId9"/>
              </a:ext>
            </a:extLst>
          </a:blip>
          <a:stretch>
            <a:fillRect/>
          </a:stretch>
        </p:blipFill>
        <p:spPr>
          <a:xfrm>
            <a:off x="6596121" y="1641485"/>
            <a:ext cx="444500" cy="444500"/>
          </a:xfrm>
          <a:prstGeom prst="rect">
            <a:avLst/>
          </a:prstGeom>
        </p:spPr>
      </p:pic>
      <p:sp>
        <p:nvSpPr>
          <p:cNvPr id="28" name="TextBox 27">
            <a:extLst>
              <a:ext uri="{FF2B5EF4-FFF2-40B4-BE49-F238E27FC236}">
                <a16:creationId xmlns:a16="http://schemas.microsoft.com/office/drawing/2014/main" id="{08091690-89B8-A44D-95CF-8165310F7A79}"/>
              </a:ext>
            </a:extLst>
          </p:cNvPr>
          <p:cNvSpPr txBox="1"/>
          <p:nvPr/>
        </p:nvSpPr>
        <p:spPr>
          <a:xfrm>
            <a:off x="6099026" y="2085985"/>
            <a:ext cx="1438690" cy="253916"/>
          </a:xfrm>
          <a:prstGeom prst="rect">
            <a:avLst/>
          </a:prstGeom>
          <a:noFill/>
        </p:spPr>
        <p:txBody>
          <a:bodyPr wrap="square" rtlCol="0">
            <a:spAutoFit/>
          </a:bodyPr>
          <a:lstStyle/>
          <a:p>
            <a:pPr algn="ctr"/>
            <a:r>
              <a:rPr lang="en-US" sz="105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pic>
        <p:nvPicPr>
          <p:cNvPr id="29" name="Graphic 28">
            <a:extLst>
              <a:ext uri="{FF2B5EF4-FFF2-40B4-BE49-F238E27FC236}">
                <a16:creationId xmlns:a16="http://schemas.microsoft.com/office/drawing/2014/main" id="{13D59A02-3572-BE45-B82A-975E08596CB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 xmlns:asvg="http://schemas.microsoft.com/office/drawing/2016/SVG/main" r:embed="rId11"/>
              </a:ext>
            </a:extLst>
          </a:blip>
          <a:stretch>
            <a:fillRect/>
          </a:stretch>
        </p:blipFill>
        <p:spPr>
          <a:xfrm>
            <a:off x="7738823" y="1627615"/>
            <a:ext cx="444500" cy="444500"/>
          </a:xfrm>
          <a:prstGeom prst="rect">
            <a:avLst/>
          </a:prstGeom>
        </p:spPr>
      </p:pic>
      <p:sp>
        <p:nvSpPr>
          <p:cNvPr id="31" name="TextBox 30">
            <a:extLst>
              <a:ext uri="{FF2B5EF4-FFF2-40B4-BE49-F238E27FC236}">
                <a16:creationId xmlns:a16="http://schemas.microsoft.com/office/drawing/2014/main" id="{667F273B-9785-894A-BA75-CB969281D177}"/>
              </a:ext>
            </a:extLst>
          </p:cNvPr>
          <p:cNvSpPr txBox="1"/>
          <p:nvPr/>
        </p:nvSpPr>
        <p:spPr>
          <a:xfrm>
            <a:off x="7627037" y="2098267"/>
            <a:ext cx="850084" cy="400110"/>
          </a:xfrm>
          <a:prstGeom prst="rect">
            <a:avLst/>
          </a:prstGeom>
          <a:noFill/>
        </p:spPr>
        <p:txBody>
          <a:bodyPr wrap="square" rtlCol="0">
            <a:spAutoFit/>
          </a:bodyPr>
          <a:lstStyle/>
          <a:p>
            <a:pPr algn="ctr"/>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Amazon S3</a:t>
            </a:r>
          </a:p>
          <a:p>
            <a:pPr algn="ctr"/>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Glacier</a:t>
            </a:r>
          </a:p>
        </p:txBody>
      </p:sp>
      <p:pic>
        <p:nvPicPr>
          <p:cNvPr id="32" name="Graphic 31">
            <a:extLst>
              <a:ext uri="{FF2B5EF4-FFF2-40B4-BE49-F238E27FC236}">
                <a16:creationId xmlns:a16="http://schemas.microsoft.com/office/drawing/2014/main" id="{56010343-FA56-5B4F-935E-D187C5204A1F}"/>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 xmlns:asvg="http://schemas.microsoft.com/office/drawing/2016/SVG/main" r:embed="rId13"/>
              </a:ext>
            </a:extLst>
          </a:blip>
          <a:stretch>
            <a:fillRect/>
          </a:stretch>
        </p:blipFill>
        <p:spPr>
          <a:xfrm>
            <a:off x="6761534" y="2566501"/>
            <a:ext cx="542891" cy="542891"/>
          </a:xfrm>
          <a:prstGeom prst="rect">
            <a:avLst/>
          </a:prstGeom>
        </p:spPr>
      </p:pic>
      <p:pic>
        <p:nvPicPr>
          <p:cNvPr id="39" name="Graphic 29">
            <a:extLst>
              <a:ext uri="{FF2B5EF4-FFF2-40B4-BE49-F238E27FC236}">
                <a16:creationId xmlns:a16="http://schemas.microsoft.com/office/drawing/2014/main" id="{7B8DFDD5-D5B9-7F46-816C-42ED61FAB2F8}"/>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 xmlns:asvg="http://schemas.microsoft.com/office/drawing/2016/SVG/main" r:embed="rId15"/>
              </a:ext>
            </a:extLst>
          </a:blip>
          <a:stretch>
            <a:fillRect/>
          </a:stretch>
        </p:blipFill>
        <p:spPr>
          <a:xfrm>
            <a:off x="7456188" y="2566531"/>
            <a:ext cx="561248" cy="701560"/>
          </a:xfrm>
          <a:prstGeom prst="rect">
            <a:avLst/>
          </a:prstGeom>
        </p:spPr>
      </p:pic>
      <p:pic>
        <p:nvPicPr>
          <p:cNvPr id="43" name="Graphic 42">
            <a:extLst>
              <a:ext uri="{FF2B5EF4-FFF2-40B4-BE49-F238E27FC236}">
                <a16:creationId xmlns:a16="http://schemas.microsoft.com/office/drawing/2014/main" id="{050AC51A-5D80-974C-B413-3B8EB9505313}"/>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 xmlns:asvg="http://schemas.microsoft.com/office/drawing/2016/SVG/main" r:embed="rId17"/>
              </a:ext>
            </a:extLst>
          </a:blip>
          <a:stretch>
            <a:fillRect/>
          </a:stretch>
        </p:blipFill>
        <p:spPr>
          <a:xfrm>
            <a:off x="7471207" y="2581441"/>
            <a:ext cx="532362" cy="532362"/>
          </a:xfrm>
          <a:prstGeom prst="rect">
            <a:avLst/>
          </a:prstGeom>
        </p:spPr>
      </p:pic>
      <p:sp>
        <p:nvSpPr>
          <p:cNvPr id="46" name="TextBox 45">
            <a:extLst>
              <a:ext uri="{FF2B5EF4-FFF2-40B4-BE49-F238E27FC236}">
                <a16:creationId xmlns:a16="http://schemas.microsoft.com/office/drawing/2014/main" id="{668C8645-7A1E-7546-9B8C-E04F6DF666DC}"/>
              </a:ext>
            </a:extLst>
          </p:cNvPr>
          <p:cNvSpPr txBox="1"/>
          <p:nvPr/>
        </p:nvSpPr>
        <p:spPr>
          <a:xfrm>
            <a:off x="7282202" y="3294243"/>
            <a:ext cx="894752" cy="155632"/>
          </a:xfrm>
          <a:prstGeom prst="rect">
            <a:avLst/>
          </a:prstGeom>
          <a:noFill/>
        </p:spPr>
        <p:txBody>
          <a:bodyPr wrap="square" lIns="0" tIns="0" rIns="0" bIns="0" rtlCol="0" anchor="t">
            <a:noAutofit/>
          </a:bodyPr>
          <a:lstStyle/>
          <a:p>
            <a:pPr algn="ctr"/>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SQL Server</a:t>
            </a:r>
            <a:endParaRPr lang="en-US" sz="2118"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47" name="Graphic 46">
            <a:extLst>
              <a:ext uri="{FF2B5EF4-FFF2-40B4-BE49-F238E27FC236}">
                <a16:creationId xmlns:a16="http://schemas.microsoft.com/office/drawing/2014/main" id="{EF92B225-A24E-4541-8325-955A76EF2C3E}"/>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 xmlns:asvg="http://schemas.microsoft.com/office/drawing/2016/SVG/main" r:embed="rId19"/>
              </a:ext>
            </a:extLst>
          </a:blip>
          <a:stretch>
            <a:fillRect/>
          </a:stretch>
        </p:blipFill>
        <p:spPr>
          <a:xfrm>
            <a:off x="4907107" y="855012"/>
            <a:ext cx="482078" cy="482078"/>
          </a:xfrm>
          <a:prstGeom prst="rect">
            <a:avLst/>
          </a:prstGeom>
        </p:spPr>
      </p:pic>
      <p:sp>
        <p:nvSpPr>
          <p:cNvPr id="48" name="TextBox 47">
            <a:extLst>
              <a:ext uri="{FF2B5EF4-FFF2-40B4-BE49-F238E27FC236}">
                <a16:creationId xmlns:a16="http://schemas.microsoft.com/office/drawing/2014/main" id="{42666F06-B011-6343-B438-2102B860FCBB}"/>
              </a:ext>
            </a:extLst>
          </p:cNvPr>
          <p:cNvSpPr txBox="1"/>
          <p:nvPr/>
        </p:nvSpPr>
        <p:spPr>
          <a:xfrm>
            <a:off x="4651815" y="1326759"/>
            <a:ext cx="992662" cy="226985"/>
          </a:xfrm>
          <a:prstGeom prst="rect">
            <a:avLst/>
          </a:prstGeom>
          <a:noFill/>
        </p:spPr>
        <p:txBody>
          <a:bodyPr wrap="square" rtlCol="0">
            <a:spAutoFit/>
          </a:bodyPr>
          <a:lstStyle/>
          <a:p>
            <a:pPr algn="ctr"/>
            <a:r>
              <a:rPr lang="en-US" sz="875"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AWS Cloud</a:t>
            </a:r>
          </a:p>
        </p:txBody>
      </p:sp>
      <p:grpSp>
        <p:nvGrpSpPr>
          <p:cNvPr id="30" name="Group 29">
            <a:extLst>
              <a:ext uri="{FF2B5EF4-FFF2-40B4-BE49-F238E27FC236}">
                <a16:creationId xmlns:a16="http://schemas.microsoft.com/office/drawing/2014/main" id="{67179200-EDBB-4DD6-A55E-99BFBF364CFF}"/>
              </a:ext>
            </a:extLst>
          </p:cNvPr>
          <p:cNvGrpSpPr/>
          <p:nvPr/>
        </p:nvGrpSpPr>
        <p:grpSpPr>
          <a:xfrm>
            <a:off x="6209070" y="1045640"/>
            <a:ext cx="2374491" cy="2737322"/>
            <a:chOff x="7004050" y="3975541"/>
            <a:chExt cx="1765300" cy="1768034"/>
          </a:xfrm>
        </p:grpSpPr>
        <p:pic>
          <p:nvPicPr>
            <p:cNvPr id="33" name="Graphic 32">
              <a:extLst>
                <a:ext uri="{FF2B5EF4-FFF2-40B4-BE49-F238E27FC236}">
                  <a16:creationId xmlns:a16="http://schemas.microsoft.com/office/drawing/2014/main" id="{599EFE4D-874E-4030-A7BA-ACCA7F6E772E}"/>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 xmlns:asvg="http://schemas.microsoft.com/office/drawing/2016/SVG/main" r:embed="rId21"/>
                </a:ext>
              </a:extLst>
            </a:blip>
            <a:stretch>
              <a:fillRect/>
            </a:stretch>
          </p:blipFill>
          <p:spPr>
            <a:xfrm>
              <a:off x="7005158" y="3975541"/>
              <a:ext cx="287102" cy="287102"/>
            </a:xfrm>
            <a:prstGeom prst="rect">
              <a:avLst/>
            </a:prstGeom>
          </p:spPr>
        </p:pic>
        <p:sp>
          <p:nvSpPr>
            <p:cNvPr id="35" name="Rectangle 34">
              <a:extLst>
                <a:ext uri="{FF2B5EF4-FFF2-40B4-BE49-F238E27FC236}">
                  <a16:creationId xmlns:a16="http://schemas.microsoft.com/office/drawing/2014/main" id="{493B9ACF-B240-4CE4-ACE8-BFBD6306A265}"/>
                </a:ext>
              </a:extLst>
            </p:cNvPr>
            <p:cNvSpPr/>
            <p:nvPr/>
          </p:nvSpPr>
          <p:spPr>
            <a:xfrm>
              <a:off x="7004050" y="3978275"/>
              <a:ext cx="1765300" cy="1765300"/>
            </a:xfrm>
            <a:prstGeom prst="rect">
              <a:avLst/>
            </a:prstGeom>
            <a:noFill/>
            <a:ln w="12700">
              <a:solidFill>
                <a:srgbClr val="AAB7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750" tIns="57150" rIns="57150" bIns="28575" numCol="1" spcCol="0" rtlCol="0" fromWordArt="0" anchor="t" anchorCtr="0" forceAA="0" compatLnSpc="1">
              <a:prstTxWarp prst="textNoShape">
                <a:avLst/>
              </a:prstTxWarp>
              <a:noAutofit/>
            </a:bodyPr>
            <a:lstStyle/>
            <a:p>
              <a:pPr algn="l"/>
              <a:r>
                <a:rPr lang="en-US" sz="750" dirty="0">
                  <a:solidFill>
                    <a:srgbClr val="AAB7B8"/>
                  </a:solidFill>
                </a:rPr>
                <a:t>       </a:t>
              </a:r>
              <a:r>
                <a:rPr lang="en-US" sz="900" dirty="0">
                  <a:solidFill>
                    <a:srgbClr val="AAB7B8"/>
                  </a:solidFill>
                </a:rPr>
                <a:t>AWS Cloud</a:t>
              </a:r>
              <a:endParaRPr lang="en-US" sz="750" dirty="0">
                <a:solidFill>
                  <a:srgbClr val="AAB7B8"/>
                </a:solidFill>
              </a:endParaRPr>
            </a:p>
          </p:txBody>
        </p:sp>
      </p:grpSp>
    </p:spTree>
    <p:extLst>
      <p:ext uri="{BB962C8B-B14F-4D97-AF65-F5344CB8AC3E}">
        <p14:creationId xmlns:p14="http://schemas.microsoft.com/office/powerpoint/2010/main" val="631789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AWS Database Migration Service</a:t>
            </a:r>
            <a:endParaRPr lang="en-US" b="1" dirty="0"/>
          </a:p>
        </p:txBody>
      </p:sp>
      <p:sp>
        <p:nvSpPr>
          <p:cNvPr id="6" name="Title 3">
            <a:extLst>
              <a:ext uri="{FF2B5EF4-FFF2-40B4-BE49-F238E27FC236}">
                <a16:creationId xmlns:a16="http://schemas.microsoft.com/office/drawing/2014/main" id="{E7334670-93F7-43CE-8EAE-141E9CC6BD18}"/>
              </a:ext>
            </a:extLst>
          </p:cNvPr>
          <p:cNvSpPr txBox="1">
            <a:spLocks/>
          </p:cNvSpPr>
          <p:nvPr/>
        </p:nvSpPr>
        <p:spPr>
          <a:xfrm>
            <a:off x="224367" y="2840171"/>
            <a:ext cx="3842167" cy="1600436"/>
          </a:xfrm>
          <a:prstGeom prst="rect">
            <a:avLst/>
          </a:prstGeom>
        </p:spPr>
        <p:txBody>
          <a:bodyPr vert="horz" wrap="square" lIns="121917" tIns="60959" rIns="121917" bIns="60959" rtlCol="0" anchor="ctr">
            <a:spAutoFit/>
          </a:bodyPr>
          <a:lstStyle>
            <a:lvl1pPr algn="ctr" defTabSz="914400" rtl="0" eaLnBrk="1" latinLnBrk="0" hangingPunct="1">
              <a:spcBef>
                <a:spcPct val="0"/>
              </a:spcBef>
              <a:buNone/>
              <a:defRPr sz="3600" kern="1200">
                <a:solidFill>
                  <a:schemeClr val="tx1">
                    <a:lumMod val="75000"/>
                  </a:schemeClr>
                </a:solidFill>
                <a:latin typeface="+mj-lt"/>
                <a:ea typeface="+mj-ea"/>
                <a:cs typeface="+mj-cs"/>
              </a:defRPr>
            </a:lvl1pPr>
          </a:lstStyle>
          <a:p>
            <a:r>
              <a:rPr lang="en-US" sz="3200" dirty="0">
                <a:solidFill>
                  <a:schemeClr val="bg1"/>
                </a:solidFill>
                <a:latin typeface="Arial"/>
                <a:ea typeface="+mn-ea"/>
                <a:cs typeface="Arial"/>
              </a:rPr>
              <a:t>AWS Database Migration Service</a:t>
            </a:r>
          </a:p>
          <a:p>
            <a:r>
              <a:rPr lang="en-US" sz="3200" dirty="0">
                <a:solidFill>
                  <a:schemeClr val="bg1"/>
                </a:solidFill>
                <a:latin typeface="Arial"/>
                <a:ea typeface="+mn-ea"/>
                <a:cs typeface="Arial"/>
              </a:rPr>
              <a:t>(AWS DMS)</a:t>
            </a:r>
          </a:p>
        </p:txBody>
      </p:sp>
      <p:pic>
        <p:nvPicPr>
          <p:cNvPr id="7" name="Picture 2" descr="https://design.amazon.com/mockups/com/aws/management_console/datamigration/sirocco/latest/img/sirocco.png">
            <a:extLst>
              <a:ext uri="{FF2B5EF4-FFF2-40B4-BE49-F238E27FC236}">
                <a16:creationId xmlns:a16="http://schemas.microsoft.com/office/drawing/2014/main" id="{AC90B0C4-F97A-4B5C-B214-A30A7D33D94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319983" y="778011"/>
            <a:ext cx="1511300" cy="182880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5E050799-6594-40AC-8243-9B0821812258}"/>
              </a:ext>
            </a:extLst>
          </p:cNvPr>
          <p:cNvCxnSpPr>
            <a:cxnSpLocks/>
          </p:cNvCxnSpPr>
          <p:nvPr/>
        </p:nvCxnSpPr>
        <p:spPr>
          <a:xfrm>
            <a:off x="3894290" y="778011"/>
            <a:ext cx="0" cy="3662596"/>
          </a:xfrm>
          <a:prstGeom prst="straightConnector1">
            <a:avLst/>
          </a:prstGeom>
          <a:ln w="9525" cmpd="sng">
            <a:solidFill>
              <a:srgbClr val="BFBFBF"/>
            </a:solidFill>
            <a:headEnd type="none"/>
            <a:tailEnd type="none" w="sm" len="sm"/>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273436B-D8BA-41DA-B79F-CB973ADFEEB9}"/>
              </a:ext>
            </a:extLst>
          </p:cNvPr>
          <p:cNvSpPr txBox="1"/>
          <p:nvPr/>
        </p:nvSpPr>
        <p:spPr>
          <a:xfrm>
            <a:off x="4066535" y="914400"/>
            <a:ext cx="4577928" cy="2616101"/>
          </a:xfrm>
          <a:prstGeom prst="rect">
            <a:avLst/>
          </a:prstGeom>
          <a:noFill/>
        </p:spPr>
        <p:txBody>
          <a:bodyPr wrap="square" rtlCol="0">
            <a:spAutoFit/>
          </a:bodyPr>
          <a:lstStyle/>
          <a:p>
            <a:pPr>
              <a:spcBef>
                <a:spcPts val="1200"/>
              </a:spcBef>
            </a:pPr>
            <a:r>
              <a:rPr lang="en-US" dirty="0">
                <a:solidFill>
                  <a:schemeClr val="bg1"/>
                </a:solidFill>
                <a:latin typeface="Amazon Ember Regular"/>
              </a:rPr>
              <a:t>AWS Database Migration Service helps you migrate databases to AWS quickly, securely, and reliably </a:t>
            </a:r>
          </a:p>
          <a:p>
            <a:pPr>
              <a:spcBef>
                <a:spcPts val="1200"/>
              </a:spcBef>
            </a:pPr>
            <a:r>
              <a:rPr lang="en-US" dirty="0">
                <a:solidFill>
                  <a:schemeClr val="bg1"/>
                </a:solidFill>
                <a:latin typeface="Amazon Ember Regular"/>
              </a:rPr>
              <a:t>The source database remains fully operational during the migration, minimizing downtime to applications that rely on the database.</a:t>
            </a:r>
          </a:p>
          <a:p>
            <a:pPr>
              <a:spcBef>
                <a:spcPts val="1200"/>
              </a:spcBef>
            </a:pPr>
            <a:r>
              <a:rPr lang="en-US" dirty="0">
                <a:solidFill>
                  <a:schemeClr val="bg1"/>
                </a:solidFill>
                <a:latin typeface="Amazon Ember Regular"/>
              </a:rPr>
              <a:t>Start your first migration in 10 minutes or less</a:t>
            </a:r>
          </a:p>
          <a:p>
            <a:endParaRPr lang="en-US" dirty="0">
              <a:solidFill>
                <a:schemeClr val="bg1"/>
              </a:solidFill>
              <a:latin typeface="Amazon Ember Regular"/>
            </a:endParaRPr>
          </a:p>
        </p:txBody>
      </p:sp>
      <p:pic>
        <p:nvPicPr>
          <p:cNvPr id="12" name="Picture 11">
            <a:extLst>
              <a:ext uri="{FF2B5EF4-FFF2-40B4-BE49-F238E27FC236}">
                <a16:creationId xmlns:a16="http://schemas.microsoft.com/office/drawing/2014/main" id="{49C4067D-25BF-415F-8486-633A473C6F5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60932" y="3830367"/>
            <a:ext cx="4389133" cy="639258"/>
          </a:xfrm>
          <a:prstGeom prst="rect">
            <a:avLst/>
          </a:prstGeom>
        </p:spPr>
      </p:pic>
    </p:spTree>
    <p:extLst>
      <p:ext uri="{BB962C8B-B14F-4D97-AF65-F5344CB8AC3E}">
        <p14:creationId xmlns:p14="http://schemas.microsoft.com/office/powerpoint/2010/main" val="1194303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Initial Data Load (table by table)</a:t>
            </a:r>
            <a:endParaRPr lang="en-US" b="1" dirty="0"/>
          </a:p>
        </p:txBody>
      </p:sp>
      <p:sp>
        <p:nvSpPr>
          <p:cNvPr id="8" name="Can 2">
            <a:extLst>
              <a:ext uri="{FF2B5EF4-FFF2-40B4-BE49-F238E27FC236}">
                <a16:creationId xmlns:a16="http://schemas.microsoft.com/office/drawing/2014/main" id="{F280D38E-81D7-4FF5-B64F-D43D5F1E7570}"/>
              </a:ext>
            </a:extLst>
          </p:cNvPr>
          <p:cNvSpPr/>
          <p:nvPr/>
        </p:nvSpPr>
        <p:spPr>
          <a:xfrm>
            <a:off x="2000251" y="1642869"/>
            <a:ext cx="848678" cy="2106596"/>
          </a:xfrm>
          <a:prstGeom prst="can">
            <a:avLst/>
          </a:prstGeom>
          <a:solidFill>
            <a:srgbClr val="FFFFFF"/>
          </a:solidFill>
          <a:ln w="25400" cap="flat" cmpd="sng" algn="ctr">
            <a:solidFill>
              <a:srgbClr val="1D516C">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9" name="Rectangle 8">
            <a:extLst>
              <a:ext uri="{FF2B5EF4-FFF2-40B4-BE49-F238E27FC236}">
                <a16:creationId xmlns:a16="http://schemas.microsoft.com/office/drawing/2014/main" id="{70064322-B19E-42A2-A67B-30C138B8FBF8}"/>
              </a:ext>
            </a:extLst>
          </p:cNvPr>
          <p:cNvSpPr/>
          <p:nvPr/>
        </p:nvSpPr>
        <p:spPr>
          <a:xfrm>
            <a:off x="1885951" y="1548092"/>
            <a:ext cx="1077278" cy="2348944"/>
          </a:xfrm>
          <a:prstGeom prst="rect">
            <a:avLst/>
          </a:prstGeom>
          <a:solidFill>
            <a:srgbClr val="FF9900"/>
          </a:solidFill>
          <a:ln w="25400" cap="flat" cmpd="sng" algn="ctr">
            <a:solidFill>
              <a:srgbClr val="FF9900">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0" name="Flowchart: Process 9">
            <a:extLst>
              <a:ext uri="{FF2B5EF4-FFF2-40B4-BE49-F238E27FC236}">
                <a16:creationId xmlns:a16="http://schemas.microsoft.com/office/drawing/2014/main" id="{45B1339F-EC18-45E6-A272-7F962F166EF8}"/>
              </a:ext>
            </a:extLst>
          </p:cNvPr>
          <p:cNvSpPr/>
          <p:nvPr/>
        </p:nvSpPr>
        <p:spPr>
          <a:xfrm>
            <a:off x="2323723" y="1956844"/>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1" name="Flowchart: Process 10">
            <a:extLst>
              <a:ext uri="{FF2B5EF4-FFF2-40B4-BE49-F238E27FC236}">
                <a16:creationId xmlns:a16="http://schemas.microsoft.com/office/drawing/2014/main" id="{1EF9C6E3-6451-4256-99E1-33FB34533E04}"/>
              </a:ext>
            </a:extLst>
          </p:cNvPr>
          <p:cNvSpPr/>
          <p:nvPr/>
        </p:nvSpPr>
        <p:spPr>
          <a:xfrm>
            <a:off x="2323723" y="2257864"/>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2" name="Flowchart: Process 11">
            <a:extLst>
              <a:ext uri="{FF2B5EF4-FFF2-40B4-BE49-F238E27FC236}">
                <a16:creationId xmlns:a16="http://schemas.microsoft.com/office/drawing/2014/main" id="{2125ED2D-6330-4131-A8BA-1FBDD2F5A7B4}"/>
              </a:ext>
            </a:extLst>
          </p:cNvPr>
          <p:cNvSpPr/>
          <p:nvPr/>
        </p:nvSpPr>
        <p:spPr>
          <a:xfrm>
            <a:off x="2323723" y="2558881"/>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3" name="Flowchart: Process 12">
            <a:extLst>
              <a:ext uri="{FF2B5EF4-FFF2-40B4-BE49-F238E27FC236}">
                <a16:creationId xmlns:a16="http://schemas.microsoft.com/office/drawing/2014/main" id="{A8FA3965-9360-4ADB-8BF1-CB2AD8EDB046}"/>
              </a:ext>
            </a:extLst>
          </p:cNvPr>
          <p:cNvSpPr/>
          <p:nvPr/>
        </p:nvSpPr>
        <p:spPr>
          <a:xfrm>
            <a:off x="2323723" y="1956156"/>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4" name="Flowchart: Process 13">
            <a:extLst>
              <a:ext uri="{FF2B5EF4-FFF2-40B4-BE49-F238E27FC236}">
                <a16:creationId xmlns:a16="http://schemas.microsoft.com/office/drawing/2014/main" id="{F9F90331-2519-46E2-A245-3EE779AE5BDD}"/>
              </a:ext>
            </a:extLst>
          </p:cNvPr>
          <p:cNvSpPr/>
          <p:nvPr/>
        </p:nvSpPr>
        <p:spPr>
          <a:xfrm>
            <a:off x="2323723" y="2257174"/>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5" name="Flowchart: Process 14">
            <a:extLst>
              <a:ext uri="{FF2B5EF4-FFF2-40B4-BE49-F238E27FC236}">
                <a16:creationId xmlns:a16="http://schemas.microsoft.com/office/drawing/2014/main" id="{61FFE1F2-007A-4CDF-9159-99801D995AC4}"/>
              </a:ext>
            </a:extLst>
          </p:cNvPr>
          <p:cNvSpPr/>
          <p:nvPr/>
        </p:nvSpPr>
        <p:spPr>
          <a:xfrm>
            <a:off x="2323723" y="2558191"/>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6" name="Can 31">
            <a:extLst>
              <a:ext uri="{FF2B5EF4-FFF2-40B4-BE49-F238E27FC236}">
                <a16:creationId xmlns:a16="http://schemas.microsoft.com/office/drawing/2014/main" id="{A0DF4854-79CE-43C0-B61A-D03E6863104D}"/>
              </a:ext>
            </a:extLst>
          </p:cNvPr>
          <p:cNvSpPr/>
          <p:nvPr/>
        </p:nvSpPr>
        <p:spPr>
          <a:xfrm>
            <a:off x="6197638" y="1642869"/>
            <a:ext cx="848678" cy="2106596"/>
          </a:xfrm>
          <a:prstGeom prst="can">
            <a:avLst/>
          </a:prstGeom>
          <a:solidFill>
            <a:srgbClr val="FFFFFF"/>
          </a:solidFill>
          <a:ln w="25400" cap="flat" cmpd="sng" algn="ctr">
            <a:solidFill>
              <a:srgbClr val="1D516C">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2E695850-F856-4654-B9DE-A79069101F4D}"/>
              </a:ext>
            </a:extLst>
          </p:cNvPr>
          <p:cNvSpPr/>
          <p:nvPr/>
        </p:nvSpPr>
        <p:spPr>
          <a:xfrm>
            <a:off x="6083338" y="1548092"/>
            <a:ext cx="1077278" cy="2348944"/>
          </a:xfrm>
          <a:prstGeom prst="rect">
            <a:avLst/>
          </a:prstGeom>
          <a:solidFill>
            <a:srgbClr val="FF9900"/>
          </a:solidFill>
          <a:ln w="25400" cap="flat" cmpd="sng" algn="ctr">
            <a:solidFill>
              <a:srgbClr val="FF9900">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8" name="Flowchart: Process 17">
            <a:extLst>
              <a:ext uri="{FF2B5EF4-FFF2-40B4-BE49-F238E27FC236}">
                <a16:creationId xmlns:a16="http://schemas.microsoft.com/office/drawing/2014/main" id="{9FC070D9-77B1-4619-A39B-5A9D24F04B6C}"/>
              </a:ext>
            </a:extLst>
          </p:cNvPr>
          <p:cNvSpPr/>
          <p:nvPr/>
        </p:nvSpPr>
        <p:spPr>
          <a:xfrm>
            <a:off x="6521110" y="1954672"/>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19" name="Flowchart: Process 18">
            <a:extLst>
              <a:ext uri="{FF2B5EF4-FFF2-40B4-BE49-F238E27FC236}">
                <a16:creationId xmlns:a16="http://schemas.microsoft.com/office/drawing/2014/main" id="{084EA35C-B432-4855-9998-6C42A98EB42E}"/>
              </a:ext>
            </a:extLst>
          </p:cNvPr>
          <p:cNvSpPr/>
          <p:nvPr/>
        </p:nvSpPr>
        <p:spPr>
          <a:xfrm>
            <a:off x="6521110" y="2255691"/>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0" name="Flowchart: Process 19">
            <a:extLst>
              <a:ext uri="{FF2B5EF4-FFF2-40B4-BE49-F238E27FC236}">
                <a16:creationId xmlns:a16="http://schemas.microsoft.com/office/drawing/2014/main" id="{3C89E74E-4E19-4154-B956-AEE8B37BB68B}"/>
              </a:ext>
            </a:extLst>
          </p:cNvPr>
          <p:cNvSpPr/>
          <p:nvPr/>
        </p:nvSpPr>
        <p:spPr>
          <a:xfrm>
            <a:off x="6521110" y="2556708"/>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1" name="TextBox 20">
            <a:extLst>
              <a:ext uri="{FF2B5EF4-FFF2-40B4-BE49-F238E27FC236}">
                <a16:creationId xmlns:a16="http://schemas.microsoft.com/office/drawing/2014/main" id="{448F40C0-4CD8-4734-9056-E282B01813B3}"/>
              </a:ext>
            </a:extLst>
          </p:cNvPr>
          <p:cNvSpPr txBox="1"/>
          <p:nvPr/>
        </p:nvSpPr>
        <p:spPr>
          <a:xfrm>
            <a:off x="3633905" y="2086678"/>
            <a:ext cx="1778754" cy="307775"/>
          </a:xfrm>
          <a:prstGeom prst="rect">
            <a:avLst/>
          </a:prstGeom>
          <a:noFill/>
        </p:spPr>
        <p:txBody>
          <a:bodyPr wrap="square" lIns="91438" tIns="45719" rIns="91438" bIns="45719"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rPr>
              <a:t>Replication</a:t>
            </a:r>
            <a:r>
              <a:rPr kumimoji="0" lang="en-US" sz="1400" b="0" i="0" u="none" strike="noStrike" kern="0" cap="none" spc="0" normalizeH="0" baseline="0" noProof="0" dirty="0">
                <a:ln>
                  <a:noFill/>
                </a:ln>
                <a:solidFill>
                  <a:srgbClr val="474746"/>
                </a:solidFill>
                <a:effectLst/>
                <a:uLnTx/>
                <a:uFillTx/>
              </a:rPr>
              <a:t> </a:t>
            </a:r>
            <a:r>
              <a:rPr kumimoji="0" lang="en-US" sz="1400" b="0" i="0" u="none" strike="noStrike" kern="0" cap="none" spc="0" normalizeH="0" baseline="0" noProof="0" dirty="0">
                <a:ln>
                  <a:noFill/>
                </a:ln>
                <a:solidFill>
                  <a:schemeClr val="bg1"/>
                </a:solidFill>
                <a:effectLst/>
                <a:uLnTx/>
                <a:uFillTx/>
              </a:rPr>
              <a:t>instance</a:t>
            </a:r>
          </a:p>
        </p:txBody>
      </p:sp>
      <p:sp>
        <p:nvSpPr>
          <p:cNvPr id="22" name="TextBox 21">
            <a:extLst>
              <a:ext uri="{FF2B5EF4-FFF2-40B4-BE49-F238E27FC236}">
                <a16:creationId xmlns:a16="http://schemas.microsoft.com/office/drawing/2014/main" id="{BF6DA9F9-05DF-412A-BA24-D4216F22C5D4}"/>
              </a:ext>
            </a:extLst>
          </p:cNvPr>
          <p:cNvSpPr txBox="1"/>
          <p:nvPr/>
        </p:nvSpPr>
        <p:spPr>
          <a:xfrm>
            <a:off x="2000251" y="1268012"/>
            <a:ext cx="885825" cy="307775"/>
          </a:xfrm>
          <a:prstGeom prst="rect">
            <a:avLst/>
          </a:prstGeom>
          <a:noFill/>
        </p:spPr>
        <p:txBody>
          <a:bodyPr wrap="square" lIns="91438" tIns="45719" rIns="91438" bIns="45719"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rPr>
              <a:t>Source</a:t>
            </a:r>
          </a:p>
        </p:txBody>
      </p:sp>
      <p:sp>
        <p:nvSpPr>
          <p:cNvPr id="23" name="Flowchart: Process 22">
            <a:extLst>
              <a:ext uri="{FF2B5EF4-FFF2-40B4-BE49-F238E27FC236}">
                <a16:creationId xmlns:a16="http://schemas.microsoft.com/office/drawing/2014/main" id="{E9B0A87C-80D1-4751-A031-4B226D7E36B0}"/>
              </a:ext>
            </a:extLst>
          </p:cNvPr>
          <p:cNvSpPr/>
          <p:nvPr/>
        </p:nvSpPr>
        <p:spPr>
          <a:xfrm>
            <a:off x="2323723" y="2859901"/>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4" name="Flowchart: Process 23">
            <a:extLst>
              <a:ext uri="{FF2B5EF4-FFF2-40B4-BE49-F238E27FC236}">
                <a16:creationId xmlns:a16="http://schemas.microsoft.com/office/drawing/2014/main" id="{D3B3BD58-B255-4D97-94C4-F07C60240252}"/>
              </a:ext>
            </a:extLst>
          </p:cNvPr>
          <p:cNvSpPr/>
          <p:nvPr/>
        </p:nvSpPr>
        <p:spPr>
          <a:xfrm>
            <a:off x="2323723" y="3160918"/>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5" name="Flowchart: Process 24">
            <a:extLst>
              <a:ext uri="{FF2B5EF4-FFF2-40B4-BE49-F238E27FC236}">
                <a16:creationId xmlns:a16="http://schemas.microsoft.com/office/drawing/2014/main" id="{4DD205F7-A8C5-4258-A158-FC1D06119E81}"/>
              </a:ext>
            </a:extLst>
          </p:cNvPr>
          <p:cNvSpPr/>
          <p:nvPr/>
        </p:nvSpPr>
        <p:spPr>
          <a:xfrm>
            <a:off x="2323723" y="3461935"/>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6" name="TextBox 25">
            <a:extLst>
              <a:ext uri="{FF2B5EF4-FFF2-40B4-BE49-F238E27FC236}">
                <a16:creationId xmlns:a16="http://schemas.microsoft.com/office/drawing/2014/main" id="{141E006D-1061-49F5-B245-B24E1A93F15E}"/>
              </a:ext>
            </a:extLst>
          </p:cNvPr>
          <p:cNvSpPr txBox="1"/>
          <p:nvPr/>
        </p:nvSpPr>
        <p:spPr>
          <a:xfrm>
            <a:off x="6197638" y="1267329"/>
            <a:ext cx="885825" cy="307775"/>
          </a:xfrm>
          <a:prstGeom prst="rect">
            <a:avLst/>
          </a:prstGeom>
          <a:noFill/>
        </p:spPr>
        <p:txBody>
          <a:bodyPr wrap="square" lIns="91438" tIns="45719" rIns="91438" bIns="45719"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rPr>
              <a:t>Target</a:t>
            </a:r>
            <a:endParaRPr kumimoji="0" lang="en-US" sz="1200" b="0" i="0" u="none" strike="noStrike" kern="0" cap="none" spc="0" normalizeH="0" baseline="0" noProof="0" dirty="0">
              <a:ln>
                <a:noFill/>
              </a:ln>
              <a:solidFill>
                <a:schemeClr val="bg1"/>
              </a:solidFill>
              <a:effectLst/>
              <a:uLnTx/>
              <a:uFillTx/>
            </a:endParaRPr>
          </a:p>
        </p:txBody>
      </p:sp>
      <p:sp>
        <p:nvSpPr>
          <p:cNvPr id="27" name="Flowchart: Process 26">
            <a:extLst>
              <a:ext uri="{FF2B5EF4-FFF2-40B4-BE49-F238E27FC236}">
                <a16:creationId xmlns:a16="http://schemas.microsoft.com/office/drawing/2014/main" id="{C6445456-8BDF-4E0C-97EC-A419036E8FDE}"/>
              </a:ext>
            </a:extLst>
          </p:cNvPr>
          <p:cNvSpPr/>
          <p:nvPr/>
        </p:nvSpPr>
        <p:spPr>
          <a:xfrm>
            <a:off x="6521110" y="1956844"/>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8" name="Flowchart: Process 27">
            <a:extLst>
              <a:ext uri="{FF2B5EF4-FFF2-40B4-BE49-F238E27FC236}">
                <a16:creationId xmlns:a16="http://schemas.microsoft.com/office/drawing/2014/main" id="{401C8483-778B-49D5-A19E-BDC2AAB3B294}"/>
              </a:ext>
            </a:extLst>
          </p:cNvPr>
          <p:cNvSpPr/>
          <p:nvPr/>
        </p:nvSpPr>
        <p:spPr>
          <a:xfrm>
            <a:off x="6521110" y="2257864"/>
            <a:ext cx="201734"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29" name="Flowchart: Process 28">
            <a:extLst>
              <a:ext uri="{FF2B5EF4-FFF2-40B4-BE49-F238E27FC236}">
                <a16:creationId xmlns:a16="http://schemas.microsoft.com/office/drawing/2014/main" id="{3CC3F5BD-83B0-4DBB-90DA-34A8E269B0F5}"/>
              </a:ext>
            </a:extLst>
          </p:cNvPr>
          <p:cNvSpPr/>
          <p:nvPr/>
        </p:nvSpPr>
        <p:spPr>
          <a:xfrm>
            <a:off x="6521110" y="2617179"/>
            <a:ext cx="201734" cy="87476"/>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30" name="Flowchart: Process 29">
            <a:extLst>
              <a:ext uri="{FF2B5EF4-FFF2-40B4-BE49-F238E27FC236}">
                <a16:creationId xmlns:a16="http://schemas.microsoft.com/office/drawing/2014/main" id="{56F2B770-5E6D-44BA-8ABF-93D251FCC547}"/>
              </a:ext>
            </a:extLst>
          </p:cNvPr>
          <p:cNvSpPr/>
          <p:nvPr/>
        </p:nvSpPr>
        <p:spPr>
          <a:xfrm>
            <a:off x="6521110" y="2859901"/>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31" name="Flowchart: Process 30">
            <a:extLst>
              <a:ext uri="{FF2B5EF4-FFF2-40B4-BE49-F238E27FC236}">
                <a16:creationId xmlns:a16="http://schemas.microsoft.com/office/drawing/2014/main" id="{BAFF4C33-D92E-47CD-8A52-7A6738B6511C}"/>
              </a:ext>
            </a:extLst>
          </p:cNvPr>
          <p:cNvSpPr/>
          <p:nvPr/>
        </p:nvSpPr>
        <p:spPr>
          <a:xfrm>
            <a:off x="6521110" y="3160918"/>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32" name="Flowchart: Process 31">
            <a:extLst>
              <a:ext uri="{FF2B5EF4-FFF2-40B4-BE49-F238E27FC236}">
                <a16:creationId xmlns:a16="http://schemas.microsoft.com/office/drawing/2014/main" id="{63825529-6C6A-4CFA-BDAA-E5472D8D7AF7}"/>
              </a:ext>
            </a:extLst>
          </p:cNvPr>
          <p:cNvSpPr/>
          <p:nvPr/>
        </p:nvSpPr>
        <p:spPr>
          <a:xfrm>
            <a:off x="6521110" y="3461935"/>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77DEC076-3F18-47D4-B3AC-0F90A176D4F9}"/>
              </a:ext>
            </a:extLst>
          </p:cNvPr>
          <p:cNvGrpSpPr/>
          <p:nvPr/>
        </p:nvGrpSpPr>
        <p:grpSpPr>
          <a:xfrm>
            <a:off x="4008932" y="2379663"/>
            <a:ext cx="1028700" cy="685800"/>
            <a:chOff x="3798570" y="2730127"/>
            <a:chExt cx="1371600" cy="914400"/>
          </a:xfrm>
        </p:grpSpPr>
        <p:sp>
          <p:nvSpPr>
            <p:cNvPr id="34" name="Rectangle 33">
              <a:extLst>
                <a:ext uri="{FF2B5EF4-FFF2-40B4-BE49-F238E27FC236}">
                  <a16:creationId xmlns:a16="http://schemas.microsoft.com/office/drawing/2014/main" id="{B14C27F7-A1D9-41D4-A3FD-DC870BE5BEE7}"/>
                </a:ext>
              </a:extLst>
            </p:cNvPr>
            <p:cNvSpPr/>
            <p:nvPr/>
          </p:nvSpPr>
          <p:spPr>
            <a:xfrm>
              <a:off x="3798570" y="2730127"/>
              <a:ext cx="1371600" cy="914400"/>
            </a:xfrm>
            <a:prstGeom prst="rect">
              <a:avLst/>
            </a:prstGeom>
            <a:solidFill>
              <a:srgbClr val="00A1C9"/>
            </a:solidFill>
            <a:ln w="25400" cap="flat" cmpd="sng" algn="ctr">
              <a:solidFill>
                <a:srgbClr val="00A1C9">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35" name="Flowchart: Multidocument 34">
              <a:extLst>
                <a:ext uri="{FF2B5EF4-FFF2-40B4-BE49-F238E27FC236}">
                  <a16:creationId xmlns:a16="http://schemas.microsoft.com/office/drawing/2014/main" id="{6A0830DB-41D1-4F35-8320-FC0B3D4D87AC}"/>
                </a:ext>
              </a:extLst>
            </p:cNvPr>
            <p:cNvSpPr/>
            <p:nvPr/>
          </p:nvSpPr>
          <p:spPr>
            <a:xfrm>
              <a:off x="4199488" y="2967739"/>
              <a:ext cx="533400" cy="506841"/>
            </a:xfrm>
            <a:prstGeom prst="flowChartMultidocument">
              <a:avLst/>
            </a:prstGeom>
            <a:solidFill>
              <a:srgbClr val="FFFFFF"/>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grpSp>
      <p:cxnSp>
        <p:nvCxnSpPr>
          <p:cNvPr id="36" name="Straight Arrow Connector 35">
            <a:extLst>
              <a:ext uri="{FF2B5EF4-FFF2-40B4-BE49-F238E27FC236}">
                <a16:creationId xmlns:a16="http://schemas.microsoft.com/office/drawing/2014/main" id="{6AEDEB8A-4180-42EB-804F-F4E15AF0D760}"/>
              </a:ext>
            </a:extLst>
          </p:cNvPr>
          <p:cNvCxnSpPr>
            <a:stCxn id="10" idx="3"/>
            <a:endCxn id="35" idx="1"/>
          </p:cNvCxnSpPr>
          <p:nvPr/>
        </p:nvCxnSpPr>
        <p:spPr>
          <a:xfrm>
            <a:off x="2525457" y="2029732"/>
            <a:ext cx="1784165" cy="718207"/>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095906BB-1C8F-4681-BD85-33026B178097}"/>
              </a:ext>
            </a:extLst>
          </p:cNvPr>
          <p:cNvCxnSpPr>
            <a:stCxn id="11" idx="3"/>
            <a:endCxn id="35" idx="1"/>
          </p:cNvCxnSpPr>
          <p:nvPr/>
        </p:nvCxnSpPr>
        <p:spPr>
          <a:xfrm>
            <a:off x="2525457" y="2330751"/>
            <a:ext cx="1784165" cy="417188"/>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06E57E50-EF74-49CE-8D43-85A9A4612F70}"/>
              </a:ext>
            </a:extLst>
          </p:cNvPr>
          <p:cNvCxnSpPr>
            <a:stCxn id="12" idx="3"/>
            <a:endCxn id="35" idx="1"/>
          </p:cNvCxnSpPr>
          <p:nvPr/>
        </p:nvCxnSpPr>
        <p:spPr>
          <a:xfrm>
            <a:off x="2525457" y="2631769"/>
            <a:ext cx="1784165" cy="116170"/>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92E45A9E-CD6E-4128-97F5-914CEE83B0A4}"/>
              </a:ext>
            </a:extLst>
          </p:cNvPr>
          <p:cNvCxnSpPr>
            <a:stCxn id="35" idx="3"/>
            <a:endCxn id="27" idx="1"/>
          </p:cNvCxnSpPr>
          <p:nvPr/>
        </p:nvCxnSpPr>
        <p:spPr>
          <a:xfrm flipV="1">
            <a:off x="4709671" y="2029732"/>
            <a:ext cx="1811438" cy="718207"/>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DECDA59F-201D-464B-9CA5-897F4AE4853F}"/>
              </a:ext>
            </a:extLst>
          </p:cNvPr>
          <p:cNvCxnSpPr>
            <a:stCxn id="35" idx="3"/>
            <a:endCxn id="28" idx="1"/>
          </p:cNvCxnSpPr>
          <p:nvPr/>
        </p:nvCxnSpPr>
        <p:spPr>
          <a:xfrm flipV="1">
            <a:off x="4709671" y="2330751"/>
            <a:ext cx="1811438" cy="417188"/>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A462AA12-5C99-4E28-BE7E-39B0708336B7}"/>
              </a:ext>
            </a:extLst>
          </p:cNvPr>
          <p:cNvCxnSpPr>
            <a:stCxn id="35" idx="3"/>
          </p:cNvCxnSpPr>
          <p:nvPr/>
        </p:nvCxnSpPr>
        <p:spPr>
          <a:xfrm flipV="1">
            <a:off x="4709671" y="2619352"/>
            <a:ext cx="1811438" cy="128586"/>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0759DC82-4ACA-407E-85B1-C4F9F37B83E6}"/>
              </a:ext>
            </a:extLst>
          </p:cNvPr>
          <p:cNvCxnSpPr>
            <a:stCxn id="23" idx="3"/>
            <a:endCxn id="35" idx="1"/>
          </p:cNvCxnSpPr>
          <p:nvPr/>
        </p:nvCxnSpPr>
        <p:spPr>
          <a:xfrm flipV="1">
            <a:off x="2525457" y="2747939"/>
            <a:ext cx="1784165" cy="184849"/>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77C301AB-F21A-4A1B-9A63-93CD5682CD31}"/>
              </a:ext>
            </a:extLst>
          </p:cNvPr>
          <p:cNvCxnSpPr>
            <a:stCxn id="24" idx="3"/>
            <a:endCxn id="35" idx="1"/>
          </p:cNvCxnSpPr>
          <p:nvPr/>
        </p:nvCxnSpPr>
        <p:spPr>
          <a:xfrm flipV="1">
            <a:off x="2525457" y="2747939"/>
            <a:ext cx="1784165" cy="485867"/>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FD43A324-9089-462C-BA93-E3C3B9922C51}"/>
              </a:ext>
            </a:extLst>
          </p:cNvPr>
          <p:cNvCxnSpPr>
            <a:stCxn id="35" idx="3"/>
            <a:endCxn id="30" idx="1"/>
          </p:cNvCxnSpPr>
          <p:nvPr/>
        </p:nvCxnSpPr>
        <p:spPr>
          <a:xfrm>
            <a:off x="4709671" y="2747939"/>
            <a:ext cx="1811438" cy="184849"/>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8CBFFB0D-677C-450A-831C-5E3660801E06}"/>
              </a:ext>
            </a:extLst>
          </p:cNvPr>
          <p:cNvCxnSpPr>
            <a:stCxn id="35" idx="3"/>
            <a:endCxn id="31" idx="1"/>
          </p:cNvCxnSpPr>
          <p:nvPr/>
        </p:nvCxnSpPr>
        <p:spPr>
          <a:xfrm>
            <a:off x="4709671" y="2747939"/>
            <a:ext cx="1811438" cy="485867"/>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771149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Change Data Capture (CDC) and Apply to Target</a:t>
            </a:r>
            <a:endParaRPr lang="en-US" b="1" dirty="0"/>
          </a:p>
        </p:txBody>
      </p:sp>
      <p:sp>
        <p:nvSpPr>
          <p:cNvPr id="46" name="Cloud 45">
            <a:extLst>
              <a:ext uri="{FF2B5EF4-FFF2-40B4-BE49-F238E27FC236}">
                <a16:creationId xmlns:a16="http://schemas.microsoft.com/office/drawing/2014/main" id="{5447938D-213A-4414-AAA9-B9EEEBC9A76B}"/>
              </a:ext>
            </a:extLst>
          </p:cNvPr>
          <p:cNvSpPr/>
          <p:nvPr/>
        </p:nvSpPr>
        <p:spPr>
          <a:xfrm rot="735029">
            <a:off x="3146283" y="1094819"/>
            <a:ext cx="5197066" cy="3563094"/>
          </a:xfrm>
          <a:prstGeom prst="cloud">
            <a:avLst/>
          </a:prstGeom>
          <a:solidFill>
            <a:srgbClr val="E9EAEB"/>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47" name="TextBox 46">
            <a:extLst>
              <a:ext uri="{FF2B5EF4-FFF2-40B4-BE49-F238E27FC236}">
                <a16:creationId xmlns:a16="http://schemas.microsoft.com/office/drawing/2014/main" id="{58DA933E-8205-404F-ABE9-3D45FBB21C26}"/>
              </a:ext>
            </a:extLst>
          </p:cNvPr>
          <p:cNvSpPr txBox="1"/>
          <p:nvPr/>
        </p:nvSpPr>
        <p:spPr>
          <a:xfrm>
            <a:off x="3872605" y="2257525"/>
            <a:ext cx="1102710" cy="523218"/>
          </a:xfrm>
          <a:prstGeom prst="rect">
            <a:avLst/>
          </a:prstGeom>
          <a:noFill/>
        </p:spPr>
        <p:txBody>
          <a:bodyPr wrap="square" lIns="91438" tIns="45719" rIns="91438" bIns="45719"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rPr>
              <a:t>Replication instance</a:t>
            </a:r>
          </a:p>
        </p:txBody>
      </p:sp>
      <p:sp>
        <p:nvSpPr>
          <p:cNvPr id="48" name="TextBox 47">
            <a:extLst>
              <a:ext uri="{FF2B5EF4-FFF2-40B4-BE49-F238E27FC236}">
                <a16:creationId xmlns:a16="http://schemas.microsoft.com/office/drawing/2014/main" id="{6FC1FFB2-A817-4D28-81C8-B51751B199EB}"/>
              </a:ext>
            </a:extLst>
          </p:cNvPr>
          <p:cNvSpPr txBox="1"/>
          <p:nvPr/>
        </p:nvSpPr>
        <p:spPr>
          <a:xfrm>
            <a:off x="1720522" y="3558833"/>
            <a:ext cx="885825" cy="307775"/>
          </a:xfrm>
          <a:prstGeom prst="rect">
            <a:avLst/>
          </a:prstGeom>
          <a:noFill/>
        </p:spPr>
        <p:txBody>
          <a:bodyPr wrap="square" lIns="91438" tIns="45719" rIns="91438" bIns="45719"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rPr>
              <a:t>Source</a:t>
            </a:r>
          </a:p>
        </p:txBody>
      </p:sp>
      <p:sp>
        <p:nvSpPr>
          <p:cNvPr id="49" name="TextBox 48">
            <a:extLst>
              <a:ext uri="{FF2B5EF4-FFF2-40B4-BE49-F238E27FC236}">
                <a16:creationId xmlns:a16="http://schemas.microsoft.com/office/drawing/2014/main" id="{E4DA728E-9AEE-4887-A08A-139EF0535D5C}"/>
              </a:ext>
            </a:extLst>
          </p:cNvPr>
          <p:cNvSpPr txBox="1"/>
          <p:nvPr/>
        </p:nvSpPr>
        <p:spPr>
          <a:xfrm>
            <a:off x="6416797" y="3553766"/>
            <a:ext cx="885825" cy="307775"/>
          </a:xfrm>
          <a:prstGeom prst="rect">
            <a:avLst/>
          </a:prstGeom>
          <a:noFill/>
        </p:spPr>
        <p:txBody>
          <a:bodyPr wrap="square" lIns="91438" tIns="45719" rIns="91438" bIns="45719"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rPr>
              <a:t>Target</a:t>
            </a:r>
          </a:p>
        </p:txBody>
      </p:sp>
      <p:sp>
        <p:nvSpPr>
          <p:cNvPr id="50" name="Rectangle 49">
            <a:extLst>
              <a:ext uri="{FF2B5EF4-FFF2-40B4-BE49-F238E27FC236}">
                <a16:creationId xmlns:a16="http://schemas.microsoft.com/office/drawing/2014/main" id="{E4B50DEC-04AD-4ECE-A940-1F6DF4B10955}"/>
              </a:ext>
            </a:extLst>
          </p:cNvPr>
          <p:cNvSpPr/>
          <p:nvPr/>
        </p:nvSpPr>
        <p:spPr>
          <a:xfrm>
            <a:off x="3946614" y="2756687"/>
            <a:ext cx="1028700" cy="685800"/>
          </a:xfrm>
          <a:prstGeom prst="rect">
            <a:avLst/>
          </a:prstGeom>
          <a:solidFill>
            <a:srgbClr val="00A1C9"/>
          </a:solidFill>
          <a:ln w="25400" cap="flat" cmpd="sng" algn="ctr">
            <a:solidFill>
              <a:srgbClr val="00A1C9">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1" name="Flowchart: Document 50">
            <a:extLst>
              <a:ext uri="{FF2B5EF4-FFF2-40B4-BE49-F238E27FC236}">
                <a16:creationId xmlns:a16="http://schemas.microsoft.com/office/drawing/2014/main" id="{F21B432E-70BA-48EB-8029-A68FBBCFFB0A}"/>
              </a:ext>
            </a:extLst>
          </p:cNvPr>
          <p:cNvSpPr/>
          <p:nvPr/>
        </p:nvSpPr>
        <p:spPr>
          <a:xfrm>
            <a:off x="4274807" y="3024946"/>
            <a:ext cx="342900" cy="236611"/>
          </a:xfrm>
          <a:prstGeom prst="flowChartDocument">
            <a:avLst/>
          </a:prstGeom>
          <a:solidFill>
            <a:srgbClr val="FFFF00"/>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2" name="Oval 51">
            <a:extLst>
              <a:ext uri="{FF2B5EF4-FFF2-40B4-BE49-F238E27FC236}">
                <a16:creationId xmlns:a16="http://schemas.microsoft.com/office/drawing/2014/main" id="{AC9BCD1B-7425-4F99-B1AE-1F6F23E15BCA}"/>
              </a:ext>
            </a:extLst>
          </p:cNvPr>
          <p:cNvSpPr/>
          <p:nvPr/>
        </p:nvSpPr>
        <p:spPr>
          <a:xfrm>
            <a:off x="1800774" y="1134722"/>
            <a:ext cx="1077278" cy="344711"/>
          </a:xfrm>
          <a:prstGeom prst="ellipse">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74746"/>
                </a:solidFill>
                <a:effectLst/>
                <a:uLnTx/>
                <a:uFillTx/>
                <a:latin typeface="Arial"/>
                <a:ea typeface="+mn-ea"/>
                <a:cs typeface="+mn-cs"/>
              </a:rPr>
              <a:t>Update</a:t>
            </a:r>
            <a:endParaRPr kumimoji="0" lang="en-US" sz="1200" b="1" i="0" u="none" strike="noStrike" kern="0" cap="none" spc="0" normalizeH="0" baseline="0" noProof="0" dirty="0">
              <a:ln>
                <a:noFill/>
              </a:ln>
              <a:solidFill>
                <a:prstClr val="white"/>
              </a:solidFill>
              <a:effectLst/>
              <a:uLnTx/>
              <a:uFillTx/>
              <a:latin typeface="Arial"/>
              <a:ea typeface="+mn-ea"/>
              <a:cs typeface="+mn-cs"/>
            </a:endParaRPr>
          </a:p>
        </p:txBody>
      </p:sp>
      <p:cxnSp>
        <p:nvCxnSpPr>
          <p:cNvPr id="53" name="Straight Connector 52">
            <a:extLst>
              <a:ext uri="{FF2B5EF4-FFF2-40B4-BE49-F238E27FC236}">
                <a16:creationId xmlns:a16="http://schemas.microsoft.com/office/drawing/2014/main" id="{1EB4438C-DF38-4AF4-913C-6D14209216A6}"/>
              </a:ext>
            </a:extLst>
          </p:cNvPr>
          <p:cNvCxnSpPr>
            <a:cxnSpLocks/>
            <a:stCxn id="52" idx="4"/>
          </p:cNvCxnSpPr>
          <p:nvPr/>
        </p:nvCxnSpPr>
        <p:spPr>
          <a:xfrm>
            <a:off x="2339413" y="1479433"/>
            <a:ext cx="20069" cy="343134"/>
          </a:xfrm>
          <a:prstGeom prst="line">
            <a:avLst/>
          </a:prstGeom>
          <a:noFill/>
          <a:ln w="9525" cap="flat" cmpd="sng" algn="ctr">
            <a:solidFill>
              <a:srgbClr val="1D516C"/>
            </a:solidFill>
            <a:prstDash val="solid"/>
          </a:ln>
          <a:effectLst/>
        </p:spPr>
      </p:cxnSp>
      <p:sp>
        <p:nvSpPr>
          <p:cNvPr id="54" name="Rectangle 53">
            <a:extLst>
              <a:ext uri="{FF2B5EF4-FFF2-40B4-BE49-F238E27FC236}">
                <a16:creationId xmlns:a16="http://schemas.microsoft.com/office/drawing/2014/main" id="{0B712D8E-10A6-4506-84E2-3E69A6584107}"/>
              </a:ext>
            </a:extLst>
          </p:cNvPr>
          <p:cNvSpPr/>
          <p:nvPr/>
        </p:nvSpPr>
        <p:spPr>
          <a:xfrm>
            <a:off x="1823632" y="1925116"/>
            <a:ext cx="1077278" cy="1618184"/>
          </a:xfrm>
          <a:prstGeom prst="rect">
            <a:avLst/>
          </a:prstGeom>
          <a:solidFill>
            <a:srgbClr val="FF9900"/>
          </a:solidFill>
          <a:ln w="25400" cap="flat" cmpd="sng" algn="ctr">
            <a:solidFill>
              <a:srgbClr val="FF9900">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5" name="Can 2">
            <a:extLst>
              <a:ext uri="{FF2B5EF4-FFF2-40B4-BE49-F238E27FC236}">
                <a16:creationId xmlns:a16="http://schemas.microsoft.com/office/drawing/2014/main" id="{7C14AD23-0901-4A2E-87F2-6E9A29651E77}"/>
              </a:ext>
            </a:extLst>
          </p:cNvPr>
          <p:cNvSpPr/>
          <p:nvPr/>
        </p:nvSpPr>
        <p:spPr>
          <a:xfrm>
            <a:off x="1937932" y="2019895"/>
            <a:ext cx="848678" cy="916013"/>
          </a:xfrm>
          <a:prstGeom prst="can">
            <a:avLst/>
          </a:prstGeom>
          <a:solidFill>
            <a:srgbClr val="FFFFFF"/>
          </a:solidFill>
          <a:ln w="25400" cap="flat" cmpd="sng" algn="ctr">
            <a:solidFill>
              <a:srgbClr val="1D516C">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6" name="Flowchart: Process 55">
            <a:extLst>
              <a:ext uri="{FF2B5EF4-FFF2-40B4-BE49-F238E27FC236}">
                <a16:creationId xmlns:a16="http://schemas.microsoft.com/office/drawing/2014/main" id="{01CA1A5E-B3FB-4770-8483-3DFD015261E2}"/>
              </a:ext>
            </a:extLst>
          </p:cNvPr>
          <p:cNvSpPr/>
          <p:nvPr/>
        </p:nvSpPr>
        <p:spPr>
          <a:xfrm>
            <a:off x="2062567" y="2582192"/>
            <a:ext cx="201734" cy="145773"/>
          </a:xfrm>
          <a:prstGeom prst="flowChartProcess">
            <a:avLst/>
          </a:prstGeom>
          <a:solidFill>
            <a:srgbClr val="FFFF00"/>
          </a:solidFill>
          <a:ln w="25400" cap="flat" cmpd="sng" algn="ctr">
            <a:solidFill>
              <a:srgbClr val="1D516C"/>
            </a:solid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675" b="1" i="0" u="none" strike="noStrike" kern="0" cap="none" spc="0" normalizeH="0" baseline="0" noProof="0" dirty="0">
                <a:ln>
                  <a:noFill/>
                </a:ln>
                <a:solidFill>
                  <a:srgbClr val="474746"/>
                </a:solidFill>
                <a:effectLst/>
                <a:uLnTx/>
                <a:uFillTx/>
                <a:latin typeface="Arial"/>
                <a:ea typeface="+mn-ea"/>
                <a:cs typeface="+mn-cs"/>
              </a:rPr>
              <a:t>t1</a:t>
            </a:r>
          </a:p>
        </p:txBody>
      </p:sp>
      <p:sp>
        <p:nvSpPr>
          <p:cNvPr id="57" name="Flowchart: Process 56">
            <a:extLst>
              <a:ext uri="{FF2B5EF4-FFF2-40B4-BE49-F238E27FC236}">
                <a16:creationId xmlns:a16="http://schemas.microsoft.com/office/drawing/2014/main" id="{93BD8EFC-1163-49DE-B478-C222B4E2A547}"/>
              </a:ext>
            </a:extLst>
          </p:cNvPr>
          <p:cNvSpPr/>
          <p:nvPr/>
        </p:nvSpPr>
        <p:spPr>
          <a:xfrm>
            <a:off x="2264302" y="2333870"/>
            <a:ext cx="201734" cy="14577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8" name="Flowchart: Process 57">
            <a:extLst>
              <a:ext uri="{FF2B5EF4-FFF2-40B4-BE49-F238E27FC236}">
                <a16:creationId xmlns:a16="http://schemas.microsoft.com/office/drawing/2014/main" id="{B0331DBC-25A0-412D-8732-ECF13918E9F8}"/>
              </a:ext>
            </a:extLst>
          </p:cNvPr>
          <p:cNvSpPr/>
          <p:nvPr/>
        </p:nvSpPr>
        <p:spPr>
          <a:xfrm>
            <a:off x="2457451" y="2582192"/>
            <a:ext cx="201734" cy="145773"/>
          </a:xfrm>
          <a:prstGeom prst="flowChartProcess">
            <a:avLst/>
          </a:prstGeom>
          <a:solidFill>
            <a:srgbClr val="FFFF00"/>
          </a:solidFill>
          <a:ln w="25400" cap="flat" cmpd="sng" algn="ctr">
            <a:solidFill>
              <a:srgbClr val="1D516C"/>
            </a:solid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675" b="1" i="0" u="none" strike="noStrike" kern="0" cap="none" spc="0" normalizeH="0" baseline="0" noProof="0" dirty="0">
                <a:ln>
                  <a:noFill/>
                </a:ln>
                <a:solidFill>
                  <a:srgbClr val="474746"/>
                </a:solidFill>
                <a:effectLst/>
                <a:uLnTx/>
                <a:uFillTx/>
                <a:latin typeface="Arial"/>
                <a:ea typeface="+mn-ea"/>
                <a:cs typeface="+mn-cs"/>
              </a:rPr>
              <a:t>t2</a:t>
            </a:r>
          </a:p>
        </p:txBody>
      </p:sp>
      <p:cxnSp>
        <p:nvCxnSpPr>
          <p:cNvPr id="59" name="Straight Arrow Connector 58">
            <a:extLst>
              <a:ext uri="{FF2B5EF4-FFF2-40B4-BE49-F238E27FC236}">
                <a16:creationId xmlns:a16="http://schemas.microsoft.com/office/drawing/2014/main" id="{909E2786-196B-4D0A-8142-5E6A6C0890E0}"/>
              </a:ext>
            </a:extLst>
          </p:cNvPr>
          <p:cNvCxnSpPr>
            <a:stCxn id="56" idx="2"/>
            <a:endCxn id="60" idx="0"/>
          </p:cNvCxnSpPr>
          <p:nvPr/>
        </p:nvCxnSpPr>
        <p:spPr>
          <a:xfrm>
            <a:off x="2163435" y="2727964"/>
            <a:ext cx="102080" cy="311726"/>
          </a:xfrm>
          <a:prstGeom prst="straightConnector1">
            <a:avLst/>
          </a:prstGeom>
          <a:noFill/>
          <a:ln w="9525" cap="flat" cmpd="sng" algn="ctr">
            <a:solidFill>
              <a:srgbClr val="1D516C"/>
            </a:solidFill>
            <a:prstDash val="solid"/>
            <a:tailEnd type="triangle"/>
          </a:ln>
          <a:effectLst/>
        </p:spPr>
      </p:cxnSp>
      <p:sp>
        <p:nvSpPr>
          <p:cNvPr id="60" name="Flowchart: Document 59">
            <a:extLst>
              <a:ext uri="{FF2B5EF4-FFF2-40B4-BE49-F238E27FC236}">
                <a16:creationId xmlns:a16="http://schemas.microsoft.com/office/drawing/2014/main" id="{87E22708-3903-424E-BCF2-8B8EED755D9A}"/>
              </a:ext>
            </a:extLst>
          </p:cNvPr>
          <p:cNvSpPr/>
          <p:nvPr/>
        </p:nvSpPr>
        <p:spPr>
          <a:xfrm>
            <a:off x="2094064" y="3039691"/>
            <a:ext cx="342900" cy="236611"/>
          </a:xfrm>
          <a:prstGeom prst="flowChartDocument">
            <a:avLst/>
          </a:prstGeom>
          <a:solidFill>
            <a:srgbClr val="FFFF00"/>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cxnSp>
        <p:nvCxnSpPr>
          <p:cNvPr id="61" name="Straight Arrow Connector 60">
            <a:extLst>
              <a:ext uri="{FF2B5EF4-FFF2-40B4-BE49-F238E27FC236}">
                <a16:creationId xmlns:a16="http://schemas.microsoft.com/office/drawing/2014/main" id="{25A4485A-4183-49FF-9A1B-48D4E5A454F6}"/>
              </a:ext>
            </a:extLst>
          </p:cNvPr>
          <p:cNvCxnSpPr>
            <a:stCxn id="58" idx="2"/>
            <a:endCxn id="60" idx="0"/>
          </p:cNvCxnSpPr>
          <p:nvPr/>
        </p:nvCxnSpPr>
        <p:spPr>
          <a:xfrm flipH="1">
            <a:off x="2265515" y="2727964"/>
            <a:ext cx="292804" cy="311726"/>
          </a:xfrm>
          <a:prstGeom prst="straightConnector1">
            <a:avLst/>
          </a:prstGeom>
          <a:noFill/>
          <a:ln w="9525" cap="flat" cmpd="sng" algn="ctr">
            <a:solidFill>
              <a:srgbClr val="1D516C"/>
            </a:solidFill>
            <a:prstDash val="solid"/>
            <a:tailEnd type="triangle"/>
          </a:ln>
          <a:effectLst/>
        </p:spPr>
      </p:cxnSp>
      <p:cxnSp>
        <p:nvCxnSpPr>
          <p:cNvPr id="62" name="Straight Arrow Connector 61">
            <a:extLst>
              <a:ext uri="{FF2B5EF4-FFF2-40B4-BE49-F238E27FC236}">
                <a16:creationId xmlns:a16="http://schemas.microsoft.com/office/drawing/2014/main" id="{11964313-23B0-42EB-A2F4-DB2342BDFBDE}"/>
              </a:ext>
            </a:extLst>
          </p:cNvPr>
          <p:cNvCxnSpPr>
            <a:endCxn id="58" idx="0"/>
          </p:cNvCxnSpPr>
          <p:nvPr/>
        </p:nvCxnSpPr>
        <p:spPr>
          <a:xfrm>
            <a:off x="2362271" y="1822567"/>
            <a:ext cx="196047" cy="759624"/>
          </a:xfrm>
          <a:prstGeom prst="straightConnector1">
            <a:avLst/>
          </a:prstGeom>
          <a:noFill/>
          <a:ln w="9525" cap="flat" cmpd="sng" algn="ctr">
            <a:solidFill>
              <a:srgbClr val="1D516C"/>
            </a:solidFill>
            <a:prstDash val="solid"/>
            <a:tailEnd type="triangle"/>
          </a:ln>
          <a:effectLst/>
        </p:spPr>
      </p:cxnSp>
      <p:cxnSp>
        <p:nvCxnSpPr>
          <p:cNvPr id="63" name="Straight Arrow Connector 62">
            <a:extLst>
              <a:ext uri="{FF2B5EF4-FFF2-40B4-BE49-F238E27FC236}">
                <a16:creationId xmlns:a16="http://schemas.microsoft.com/office/drawing/2014/main" id="{49E2BA47-CFBB-40F2-B97E-5E077C16FD96}"/>
              </a:ext>
            </a:extLst>
          </p:cNvPr>
          <p:cNvCxnSpPr/>
          <p:nvPr/>
        </p:nvCxnSpPr>
        <p:spPr>
          <a:xfrm flipH="1">
            <a:off x="2163436" y="1822567"/>
            <a:ext cx="196046" cy="759624"/>
          </a:xfrm>
          <a:prstGeom prst="straightConnector1">
            <a:avLst/>
          </a:prstGeom>
          <a:noFill/>
          <a:ln w="9525" cap="flat" cmpd="sng" algn="ctr">
            <a:solidFill>
              <a:srgbClr val="1D516C"/>
            </a:solidFill>
            <a:prstDash val="solid"/>
            <a:tailEnd type="triangle"/>
          </a:ln>
          <a:effectLst/>
        </p:spPr>
      </p:cxnSp>
      <p:sp>
        <p:nvSpPr>
          <p:cNvPr id="64" name="Rectangle 63">
            <a:extLst>
              <a:ext uri="{FF2B5EF4-FFF2-40B4-BE49-F238E27FC236}">
                <a16:creationId xmlns:a16="http://schemas.microsoft.com/office/drawing/2014/main" id="{D4DE3618-5188-4460-B167-3F87A2B6BC1B}"/>
              </a:ext>
            </a:extLst>
          </p:cNvPr>
          <p:cNvSpPr/>
          <p:nvPr/>
        </p:nvSpPr>
        <p:spPr>
          <a:xfrm>
            <a:off x="6488437" y="1925116"/>
            <a:ext cx="1077278" cy="1618184"/>
          </a:xfrm>
          <a:prstGeom prst="rect">
            <a:avLst/>
          </a:prstGeom>
          <a:solidFill>
            <a:srgbClr val="FF9900"/>
          </a:solidFill>
          <a:ln w="25400" cap="flat" cmpd="sng" algn="ctr">
            <a:solidFill>
              <a:srgbClr val="FF9900">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5" name="Can 68">
            <a:extLst>
              <a:ext uri="{FF2B5EF4-FFF2-40B4-BE49-F238E27FC236}">
                <a16:creationId xmlns:a16="http://schemas.microsoft.com/office/drawing/2014/main" id="{AB14E73F-43A8-40B8-B09D-EA42A1FE1D79}"/>
              </a:ext>
            </a:extLst>
          </p:cNvPr>
          <p:cNvSpPr/>
          <p:nvPr/>
        </p:nvSpPr>
        <p:spPr>
          <a:xfrm>
            <a:off x="6575455" y="2531432"/>
            <a:ext cx="848678" cy="916013"/>
          </a:xfrm>
          <a:prstGeom prst="can">
            <a:avLst/>
          </a:prstGeom>
          <a:solidFill>
            <a:srgbClr val="FFFFFF"/>
          </a:solidFill>
          <a:ln w="25400" cap="flat" cmpd="sng" algn="ctr">
            <a:solidFill>
              <a:srgbClr val="1D516C">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6" name="Flowchart: Process 65">
            <a:extLst>
              <a:ext uri="{FF2B5EF4-FFF2-40B4-BE49-F238E27FC236}">
                <a16:creationId xmlns:a16="http://schemas.microsoft.com/office/drawing/2014/main" id="{94BE93D8-504B-477C-83D1-9F94FCB7EE0E}"/>
              </a:ext>
            </a:extLst>
          </p:cNvPr>
          <p:cNvSpPr/>
          <p:nvPr/>
        </p:nvSpPr>
        <p:spPr>
          <a:xfrm>
            <a:off x="6693085" y="2916551"/>
            <a:ext cx="201734" cy="145773"/>
          </a:xfrm>
          <a:prstGeom prst="flowChartProcess">
            <a:avLst/>
          </a:prstGeom>
          <a:solidFill>
            <a:srgbClr val="FFFF00"/>
          </a:solidFill>
          <a:ln w="25400" cap="flat" cmpd="sng" algn="ctr">
            <a:solidFill>
              <a:srgbClr val="1D516C"/>
            </a:solid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675" b="1" i="0" u="none" strike="noStrike" kern="0" cap="none" spc="0" normalizeH="0" baseline="0" noProof="0" dirty="0">
                <a:ln>
                  <a:noFill/>
                </a:ln>
                <a:solidFill>
                  <a:srgbClr val="474746"/>
                </a:solidFill>
                <a:effectLst/>
                <a:uLnTx/>
                <a:uFillTx/>
                <a:latin typeface="Arial"/>
                <a:ea typeface="+mn-ea"/>
                <a:cs typeface="+mn-cs"/>
              </a:rPr>
              <a:t>t1</a:t>
            </a:r>
          </a:p>
        </p:txBody>
      </p:sp>
      <p:sp>
        <p:nvSpPr>
          <p:cNvPr id="67" name="Flowchart: Process 66">
            <a:extLst>
              <a:ext uri="{FF2B5EF4-FFF2-40B4-BE49-F238E27FC236}">
                <a16:creationId xmlns:a16="http://schemas.microsoft.com/office/drawing/2014/main" id="{AB178010-B33F-4D39-967B-A8EEF61AAEE8}"/>
              </a:ext>
            </a:extLst>
          </p:cNvPr>
          <p:cNvSpPr/>
          <p:nvPr/>
        </p:nvSpPr>
        <p:spPr>
          <a:xfrm>
            <a:off x="7052329" y="3022873"/>
            <a:ext cx="201734" cy="135123"/>
          </a:xfrm>
          <a:prstGeom prst="flowChartProcess">
            <a:avLst/>
          </a:prstGeom>
          <a:solidFill>
            <a:srgbClr val="FFFFFF"/>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8" name="Flowchart: Process 67">
            <a:extLst>
              <a:ext uri="{FF2B5EF4-FFF2-40B4-BE49-F238E27FC236}">
                <a16:creationId xmlns:a16="http://schemas.microsoft.com/office/drawing/2014/main" id="{7FA4E7D3-F0B1-4D3B-863C-C5030B5CEAB0}"/>
              </a:ext>
            </a:extLst>
          </p:cNvPr>
          <p:cNvSpPr/>
          <p:nvPr/>
        </p:nvSpPr>
        <p:spPr>
          <a:xfrm>
            <a:off x="6693085" y="3157996"/>
            <a:ext cx="201734" cy="145773"/>
          </a:xfrm>
          <a:prstGeom prst="flowChartProcess">
            <a:avLst/>
          </a:prstGeom>
          <a:solidFill>
            <a:srgbClr val="FFFF00"/>
          </a:solidFill>
          <a:ln w="25400" cap="flat" cmpd="sng" algn="ctr">
            <a:solidFill>
              <a:srgbClr val="1D516C"/>
            </a:solid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675" b="1" i="0" u="none" strike="noStrike" kern="0" cap="none" spc="0" normalizeH="0" baseline="0" noProof="0" dirty="0">
                <a:ln>
                  <a:noFill/>
                </a:ln>
                <a:solidFill>
                  <a:srgbClr val="474746"/>
                </a:solidFill>
                <a:effectLst/>
                <a:uLnTx/>
                <a:uFillTx/>
                <a:latin typeface="Arial"/>
                <a:ea typeface="+mn-ea"/>
                <a:cs typeface="+mn-cs"/>
              </a:rPr>
              <a:t>t2</a:t>
            </a:r>
          </a:p>
        </p:txBody>
      </p:sp>
      <p:cxnSp>
        <p:nvCxnSpPr>
          <p:cNvPr id="69" name="Straight Arrow Connector 68">
            <a:extLst>
              <a:ext uri="{FF2B5EF4-FFF2-40B4-BE49-F238E27FC236}">
                <a16:creationId xmlns:a16="http://schemas.microsoft.com/office/drawing/2014/main" id="{51A3F795-7EA0-4827-B2A0-794437B3DF5B}"/>
              </a:ext>
            </a:extLst>
          </p:cNvPr>
          <p:cNvCxnSpPr>
            <a:endCxn id="68" idx="1"/>
          </p:cNvCxnSpPr>
          <p:nvPr/>
        </p:nvCxnSpPr>
        <p:spPr>
          <a:xfrm>
            <a:off x="6172200" y="3143251"/>
            <a:ext cx="520884" cy="876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0" name="Straight Arrow Connector 69">
            <a:extLst>
              <a:ext uri="{FF2B5EF4-FFF2-40B4-BE49-F238E27FC236}">
                <a16:creationId xmlns:a16="http://schemas.microsoft.com/office/drawing/2014/main" id="{1A262815-B3C5-402F-8C63-AD5D7828EA3C}"/>
              </a:ext>
            </a:extLst>
          </p:cNvPr>
          <p:cNvCxnSpPr>
            <a:endCxn id="66" idx="1"/>
          </p:cNvCxnSpPr>
          <p:nvPr/>
        </p:nvCxnSpPr>
        <p:spPr>
          <a:xfrm flipV="1">
            <a:off x="6172200" y="2989438"/>
            <a:ext cx="520884" cy="15381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1" name="Straight Arrow Connector 70">
            <a:extLst>
              <a:ext uri="{FF2B5EF4-FFF2-40B4-BE49-F238E27FC236}">
                <a16:creationId xmlns:a16="http://schemas.microsoft.com/office/drawing/2014/main" id="{D849BFE4-EDA3-47A2-9765-D35C68AF500D}"/>
              </a:ext>
            </a:extLst>
          </p:cNvPr>
          <p:cNvCxnSpPr>
            <a:stCxn id="60" idx="3"/>
            <a:endCxn id="51" idx="1"/>
          </p:cNvCxnSpPr>
          <p:nvPr/>
        </p:nvCxnSpPr>
        <p:spPr>
          <a:xfrm flipV="1">
            <a:off x="2436965" y="3143251"/>
            <a:ext cx="1837843" cy="1474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2" name="Straight Connector 71">
            <a:extLst>
              <a:ext uri="{FF2B5EF4-FFF2-40B4-BE49-F238E27FC236}">
                <a16:creationId xmlns:a16="http://schemas.microsoft.com/office/drawing/2014/main" id="{9B6A97FE-1B75-46AD-8B52-0DE325B0BFFD}"/>
              </a:ext>
            </a:extLst>
          </p:cNvPr>
          <p:cNvCxnSpPr>
            <a:stCxn id="51" idx="3"/>
          </p:cNvCxnSpPr>
          <p:nvPr/>
        </p:nvCxnSpPr>
        <p:spPr>
          <a:xfrm>
            <a:off x="4617706" y="3143250"/>
            <a:ext cx="1554494" cy="0"/>
          </a:xfrm>
          <a:prstGeom prst="line">
            <a:avLst/>
          </a:prstGeom>
          <a:ln/>
        </p:spPr>
        <p:style>
          <a:lnRef idx="3">
            <a:schemeClr val="accent5"/>
          </a:lnRef>
          <a:fillRef idx="0">
            <a:schemeClr val="accent5"/>
          </a:fillRef>
          <a:effectRef idx="2">
            <a:schemeClr val="accent5"/>
          </a:effectRef>
          <a:fontRef idx="minor">
            <a:schemeClr val="tx1"/>
          </a:fontRef>
        </p:style>
      </p:cxnSp>
      <p:sp>
        <p:nvSpPr>
          <p:cNvPr id="73" name="Rectangle 72">
            <a:extLst>
              <a:ext uri="{FF2B5EF4-FFF2-40B4-BE49-F238E27FC236}">
                <a16:creationId xmlns:a16="http://schemas.microsoft.com/office/drawing/2014/main" id="{A9AF2BB6-E8D3-437A-90B4-9EAF0F6E1775}"/>
              </a:ext>
            </a:extLst>
          </p:cNvPr>
          <p:cNvSpPr/>
          <p:nvPr/>
        </p:nvSpPr>
        <p:spPr>
          <a:xfrm>
            <a:off x="5473379" y="1848175"/>
            <a:ext cx="971549" cy="954107"/>
          </a:xfrm>
          <a:prstGeom prst="rect">
            <a:avLst/>
          </a:prstGeom>
        </p:spPr>
        <p:txBody>
          <a:bodyPr wrap="square">
            <a:spAutoFit/>
          </a:bodyPr>
          <a:lstStyle/>
          <a:p>
            <a:pPr lvl="0" algn="ctr" defTabSz="685800"/>
            <a:r>
              <a:rPr lang="en-US" sz="1400" kern="0" dirty="0"/>
              <a:t>Apply Change after </a:t>
            </a:r>
            <a:r>
              <a:rPr kumimoji="0" lang="en-US" sz="1400" b="0" i="0" u="none" strike="noStrike" kern="0" cap="none" spc="0" normalizeH="0" baseline="0" noProof="0" dirty="0">
                <a:ln>
                  <a:noFill/>
                </a:ln>
                <a:effectLst/>
                <a:uLnTx/>
                <a:uFillTx/>
              </a:rPr>
              <a:t>bulk load</a:t>
            </a:r>
          </a:p>
        </p:txBody>
      </p:sp>
      <p:sp>
        <p:nvSpPr>
          <p:cNvPr id="74" name="Rectangle 73">
            <a:extLst>
              <a:ext uri="{FF2B5EF4-FFF2-40B4-BE49-F238E27FC236}">
                <a16:creationId xmlns:a16="http://schemas.microsoft.com/office/drawing/2014/main" id="{4EB89624-7857-49DA-850F-40C6051FF859}"/>
              </a:ext>
            </a:extLst>
          </p:cNvPr>
          <p:cNvSpPr/>
          <p:nvPr/>
        </p:nvSpPr>
        <p:spPr>
          <a:xfrm>
            <a:off x="578811" y="2365245"/>
            <a:ext cx="1221962" cy="307777"/>
          </a:xfrm>
          <a:prstGeom prst="rect">
            <a:avLst/>
          </a:prstGeom>
        </p:spPr>
        <p:txBody>
          <a:bodyPr wrap="square">
            <a:spAutoFit/>
          </a:bodyPr>
          <a:lstStyle/>
          <a:p>
            <a:pPr defTabSz="685800"/>
            <a:r>
              <a:rPr lang="en-US" sz="1400" dirty="0">
                <a:solidFill>
                  <a:srgbClr val="FFFFFF"/>
                </a:solidFill>
              </a:rPr>
              <a:t>Transactions</a:t>
            </a:r>
            <a:endParaRPr lang="en-US" sz="1050" dirty="0">
              <a:solidFill>
                <a:srgbClr val="FFFFFF"/>
              </a:solidFill>
            </a:endParaRPr>
          </a:p>
        </p:txBody>
      </p:sp>
    </p:spTree>
    <p:extLst>
      <p:ext uri="{BB962C8B-B14F-4D97-AF65-F5344CB8AC3E}">
        <p14:creationId xmlns:p14="http://schemas.microsoft.com/office/powerpoint/2010/main" val="2850994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dirty="0"/>
              <a:t>Keep your apps running during the migration</a:t>
            </a:r>
          </a:p>
        </p:txBody>
      </p:sp>
      <p:sp>
        <p:nvSpPr>
          <p:cNvPr id="4" name="TextBox 34">
            <a:extLst>
              <a:ext uri="{FF2B5EF4-FFF2-40B4-BE49-F238E27FC236}">
                <a16:creationId xmlns:a16="http://schemas.microsoft.com/office/drawing/2014/main" id="{B545EF36-D65C-4B57-94CD-4B6F00D311DE}"/>
              </a:ext>
            </a:extLst>
          </p:cNvPr>
          <p:cNvSpPr txBox="1">
            <a:spLocks noChangeArrowheads="1"/>
          </p:cNvSpPr>
          <p:nvPr/>
        </p:nvSpPr>
        <p:spPr bwMode="auto">
          <a:xfrm>
            <a:off x="1117738" y="711282"/>
            <a:ext cx="1195035" cy="523218"/>
          </a:xfrm>
          <a:prstGeom prst="rect">
            <a:avLst/>
          </a:prstGeom>
          <a:noFill/>
          <a:ln w="9525">
            <a:noFill/>
            <a:miter lim="800000"/>
            <a:headEnd/>
            <a:tailEnd/>
          </a:ln>
        </p:spPr>
        <p:txBody>
          <a:bodyPr wrap="square" lIns="121917" tIns="60959" rIns="121917" bIns="60959">
            <a:spAutoFit/>
          </a:bodyPr>
          <a:lstStyle/>
          <a:p>
            <a:r>
              <a:rPr lang="en-US" sz="1300" b="1" dirty="0">
                <a:solidFill>
                  <a:schemeClr val="bg1"/>
                </a:solidFill>
                <a:latin typeface="Amazon Ember Regular"/>
                <a:ea typeface="Verdana" pitchFamily="34" charset="0"/>
                <a:cs typeface="Arial"/>
              </a:rPr>
              <a:t>Customer</a:t>
            </a:r>
          </a:p>
          <a:p>
            <a:r>
              <a:rPr lang="en-US" sz="1300" b="1" dirty="0">
                <a:solidFill>
                  <a:schemeClr val="bg1"/>
                </a:solidFill>
                <a:latin typeface="Amazon Ember Regular"/>
                <a:ea typeface="Verdana" pitchFamily="34" charset="0"/>
                <a:cs typeface="Arial"/>
              </a:rPr>
              <a:t>premises</a:t>
            </a:r>
          </a:p>
        </p:txBody>
      </p:sp>
      <p:sp>
        <p:nvSpPr>
          <p:cNvPr id="5" name="Can 18">
            <a:extLst>
              <a:ext uri="{FF2B5EF4-FFF2-40B4-BE49-F238E27FC236}">
                <a16:creationId xmlns:a16="http://schemas.microsoft.com/office/drawing/2014/main" id="{C2052B56-A576-4D9B-9C87-6A87523D06D8}"/>
              </a:ext>
            </a:extLst>
          </p:cNvPr>
          <p:cNvSpPr/>
          <p:nvPr/>
        </p:nvSpPr>
        <p:spPr>
          <a:xfrm>
            <a:off x="1593503" y="1397745"/>
            <a:ext cx="719271" cy="956629"/>
          </a:xfrm>
          <a:prstGeom prst="can">
            <a:avLst/>
          </a:prstGeom>
        </p:spPr>
        <p:style>
          <a:lnRef idx="1">
            <a:schemeClr val="accent1"/>
          </a:lnRef>
          <a:fillRef idx="3">
            <a:schemeClr val="accent1"/>
          </a:fillRef>
          <a:effectRef idx="2">
            <a:schemeClr val="accent1"/>
          </a:effectRef>
          <a:fontRef idx="minor">
            <a:schemeClr val="lt1"/>
          </a:fontRef>
        </p:style>
        <p:txBody>
          <a:bodyPr lIns="121917" tIns="60959" rIns="121917" bIns="60959" rtlCol="0" anchor="ctr"/>
          <a:lstStyle/>
          <a:p>
            <a:pPr algn="ctr"/>
            <a:endParaRPr lang="en-US" dirty="0"/>
          </a:p>
        </p:txBody>
      </p:sp>
      <p:grpSp>
        <p:nvGrpSpPr>
          <p:cNvPr id="6" name="Group 5">
            <a:extLst>
              <a:ext uri="{FF2B5EF4-FFF2-40B4-BE49-F238E27FC236}">
                <a16:creationId xmlns:a16="http://schemas.microsoft.com/office/drawing/2014/main" id="{E27332F7-1CD4-4669-B4DD-E62F6BB9BA65}"/>
              </a:ext>
            </a:extLst>
          </p:cNvPr>
          <p:cNvGrpSpPr/>
          <p:nvPr/>
        </p:nvGrpSpPr>
        <p:grpSpPr>
          <a:xfrm>
            <a:off x="3357288" y="3176037"/>
            <a:ext cx="1394924" cy="919182"/>
            <a:chOff x="6553695" y="1633152"/>
            <a:chExt cx="1820647" cy="1078983"/>
          </a:xfrm>
        </p:grpSpPr>
        <p:grpSp>
          <p:nvGrpSpPr>
            <p:cNvPr id="7" name="Group 6">
              <a:extLst>
                <a:ext uri="{FF2B5EF4-FFF2-40B4-BE49-F238E27FC236}">
                  <a16:creationId xmlns:a16="http://schemas.microsoft.com/office/drawing/2014/main" id="{7F138BBA-0C36-43BF-ACCD-714A6D4ECC2A}"/>
                </a:ext>
              </a:extLst>
            </p:cNvPr>
            <p:cNvGrpSpPr/>
            <p:nvPr/>
          </p:nvGrpSpPr>
          <p:grpSpPr>
            <a:xfrm>
              <a:off x="6556563" y="1640894"/>
              <a:ext cx="828674" cy="723900"/>
              <a:chOff x="2965450" y="6800850"/>
              <a:chExt cx="828675" cy="723900"/>
            </a:xfrm>
          </p:grpSpPr>
          <p:sp>
            <p:nvSpPr>
              <p:cNvPr id="17" name="Oval 99">
                <a:extLst>
                  <a:ext uri="{FF2B5EF4-FFF2-40B4-BE49-F238E27FC236}">
                    <a16:creationId xmlns:a16="http://schemas.microsoft.com/office/drawing/2014/main" id="{1F8F104D-0690-41D9-BE33-17F977642DD9}"/>
                  </a:ext>
                </a:extLst>
              </p:cNvPr>
              <p:cNvSpPr>
                <a:spLocks noChangeArrowheads="1"/>
              </p:cNvSpPr>
              <p:nvPr/>
            </p:nvSpPr>
            <p:spPr bwMode="auto">
              <a:xfrm>
                <a:off x="3479800"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8" name="Freeform 100">
                <a:extLst>
                  <a:ext uri="{FF2B5EF4-FFF2-40B4-BE49-F238E27FC236}">
                    <a16:creationId xmlns:a16="http://schemas.microsoft.com/office/drawing/2014/main" id="{780154FC-2A16-4A45-A27A-65AA33917B39}"/>
                  </a:ext>
                </a:extLst>
              </p:cNvPr>
              <p:cNvSpPr>
                <a:spLocks/>
              </p:cNvSpPr>
              <p:nvPr/>
            </p:nvSpPr>
            <p:spPr bwMode="auto">
              <a:xfrm>
                <a:off x="3394075" y="7086600"/>
                <a:ext cx="400050" cy="276225"/>
              </a:xfrm>
              <a:custGeom>
                <a:avLst/>
                <a:gdLst/>
                <a:ahLst/>
                <a:cxnLst>
                  <a:cxn ang="0">
                    <a:pos x="29" y="0"/>
                  </a:cxn>
                  <a:cxn ang="0">
                    <a:pos x="14" y="0"/>
                  </a:cxn>
                  <a:cxn ang="0">
                    <a:pos x="13" y="0"/>
                  </a:cxn>
                  <a:cxn ang="0">
                    <a:pos x="0" y="14"/>
                  </a:cxn>
                  <a:cxn ang="0">
                    <a:pos x="0" y="15"/>
                  </a:cxn>
                  <a:cxn ang="0">
                    <a:pos x="6" y="15"/>
                  </a:cxn>
                  <a:cxn ang="0">
                    <a:pos x="22" y="29"/>
                  </a:cxn>
                  <a:cxn ang="0">
                    <a:pos x="33" y="29"/>
                  </a:cxn>
                  <a:cxn ang="0">
                    <a:pos x="33" y="18"/>
                  </a:cxn>
                  <a:cxn ang="0">
                    <a:pos x="35" y="18"/>
                  </a:cxn>
                  <a:cxn ang="0">
                    <a:pos x="35" y="29"/>
                  </a:cxn>
                  <a:cxn ang="0">
                    <a:pos x="42" y="29"/>
                  </a:cxn>
                  <a:cxn ang="0">
                    <a:pos x="42" y="13"/>
                  </a:cxn>
                  <a:cxn ang="0">
                    <a:pos x="29" y="0"/>
                  </a:cxn>
                </a:cxnLst>
                <a:rect l="0" t="0" r="r" b="b"/>
                <a:pathLst>
                  <a:path w="42" h="29">
                    <a:moveTo>
                      <a:pt x="29" y="0"/>
                    </a:moveTo>
                    <a:cubicBezTo>
                      <a:pt x="14" y="0"/>
                      <a:pt x="14" y="0"/>
                      <a:pt x="14" y="0"/>
                    </a:cubicBezTo>
                    <a:cubicBezTo>
                      <a:pt x="13" y="0"/>
                      <a:pt x="13" y="0"/>
                      <a:pt x="13" y="0"/>
                    </a:cubicBezTo>
                    <a:cubicBezTo>
                      <a:pt x="12" y="7"/>
                      <a:pt x="7" y="13"/>
                      <a:pt x="0" y="14"/>
                    </a:cubicBezTo>
                    <a:cubicBezTo>
                      <a:pt x="0" y="15"/>
                      <a:pt x="0" y="15"/>
                      <a:pt x="0" y="15"/>
                    </a:cubicBezTo>
                    <a:cubicBezTo>
                      <a:pt x="6" y="15"/>
                      <a:pt x="6" y="15"/>
                      <a:pt x="6" y="15"/>
                    </a:cubicBezTo>
                    <a:cubicBezTo>
                      <a:pt x="15" y="15"/>
                      <a:pt x="22" y="21"/>
                      <a:pt x="22" y="29"/>
                    </a:cubicBezTo>
                    <a:cubicBezTo>
                      <a:pt x="33" y="29"/>
                      <a:pt x="33" y="29"/>
                      <a:pt x="33" y="29"/>
                    </a:cubicBezTo>
                    <a:cubicBezTo>
                      <a:pt x="33" y="18"/>
                      <a:pt x="33" y="18"/>
                      <a:pt x="33" y="18"/>
                    </a:cubicBezTo>
                    <a:cubicBezTo>
                      <a:pt x="35" y="18"/>
                      <a:pt x="35" y="18"/>
                      <a:pt x="35" y="18"/>
                    </a:cubicBezTo>
                    <a:cubicBezTo>
                      <a:pt x="35" y="29"/>
                      <a:pt x="35" y="29"/>
                      <a:pt x="35" y="29"/>
                    </a:cubicBezTo>
                    <a:cubicBezTo>
                      <a:pt x="42" y="29"/>
                      <a:pt x="42" y="29"/>
                      <a:pt x="42" y="29"/>
                    </a:cubicBezTo>
                    <a:cubicBezTo>
                      <a:pt x="42" y="13"/>
                      <a:pt x="42" y="13"/>
                      <a:pt x="42" y="13"/>
                    </a:cubicBezTo>
                    <a:cubicBezTo>
                      <a:pt x="42"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9" name="Oval 101">
                <a:extLst>
                  <a:ext uri="{FF2B5EF4-FFF2-40B4-BE49-F238E27FC236}">
                    <a16:creationId xmlns:a16="http://schemas.microsoft.com/office/drawing/2014/main" id="{9EADA15C-269F-49C6-AD99-F2725F97AFE5}"/>
                  </a:ext>
                </a:extLst>
              </p:cNvPr>
              <p:cNvSpPr>
                <a:spLocks noChangeArrowheads="1"/>
              </p:cNvSpPr>
              <p:nvPr/>
            </p:nvSpPr>
            <p:spPr bwMode="auto">
              <a:xfrm>
                <a:off x="3051175"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0" name="Freeform 102">
                <a:extLst>
                  <a:ext uri="{FF2B5EF4-FFF2-40B4-BE49-F238E27FC236}">
                    <a16:creationId xmlns:a16="http://schemas.microsoft.com/office/drawing/2014/main" id="{ADACC835-3122-4516-979E-CBC66585B171}"/>
                  </a:ext>
                </a:extLst>
              </p:cNvPr>
              <p:cNvSpPr>
                <a:spLocks/>
              </p:cNvSpPr>
              <p:nvPr/>
            </p:nvSpPr>
            <p:spPr bwMode="auto">
              <a:xfrm>
                <a:off x="2965450" y="7086600"/>
                <a:ext cx="400050" cy="276225"/>
              </a:xfrm>
              <a:custGeom>
                <a:avLst/>
                <a:gdLst/>
                <a:ahLst/>
                <a:cxnLst>
                  <a:cxn ang="0">
                    <a:pos x="20" y="29"/>
                  </a:cxn>
                  <a:cxn ang="0">
                    <a:pos x="36" y="15"/>
                  </a:cxn>
                  <a:cxn ang="0">
                    <a:pos x="42" y="15"/>
                  </a:cxn>
                  <a:cxn ang="0">
                    <a:pos x="42" y="14"/>
                  </a:cxn>
                  <a:cxn ang="0">
                    <a:pos x="29" y="0"/>
                  </a:cxn>
                  <a:cxn ang="0">
                    <a:pos x="29" y="0"/>
                  </a:cxn>
                  <a:cxn ang="0">
                    <a:pos x="14" y="0"/>
                  </a:cxn>
                  <a:cxn ang="0">
                    <a:pos x="0" y="13"/>
                  </a:cxn>
                  <a:cxn ang="0">
                    <a:pos x="0" y="29"/>
                  </a:cxn>
                  <a:cxn ang="0">
                    <a:pos x="7" y="29"/>
                  </a:cxn>
                  <a:cxn ang="0">
                    <a:pos x="7" y="18"/>
                  </a:cxn>
                  <a:cxn ang="0">
                    <a:pos x="9" y="18"/>
                  </a:cxn>
                  <a:cxn ang="0">
                    <a:pos x="9" y="29"/>
                  </a:cxn>
                  <a:cxn ang="0">
                    <a:pos x="20" y="29"/>
                  </a:cxn>
                </a:cxnLst>
                <a:rect l="0" t="0" r="r" b="b"/>
                <a:pathLst>
                  <a:path w="42" h="29">
                    <a:moveTo>
                      <a:pt x="20" y="29"/>
                    </a:moveTo>
                    <a:cubicBezTo>
                      <a:pt x="21" y="21"/>
                      <a:pt x="27" y="15"/>
                      <a:pt x="36" y="15"/>
                    </a:cubicBezTo>
                    <a:cubicBezTo>
                      <a:pt x="42" y="15"/>
                      <a:pt x="42" y="15"/>
                      <a:pt x="42" y="15"/>
                    </a:cubicBezTo>
                    <a:cubicBezTo>
                      <a:pt x="42" y="14"/>
                      <a:pt x="42" y="14"/>
                      <a:pt x="42" y="14"/>
                    </a:cubicBezTo>
                    <a:cubicBezTo>
                      <a:pt x="35" y="13"/>
                      <a:pt x="30" y="7"/>
                      <a:pt x="29" y="0"/>
                    </a:cubicBezTo>
                    <a:cubicBezTo>
                      <a:pt x="29" y="0"/>
                      <a:pt x="29" y="0"/>
                      <a:pt x="29" y="0"/>
                    </a:cubicBezTo>
                    <a:cubicBezTo>
                      <a:pt x="14" y="0"/>
                      <a:pt x="14" y="0"/>
                      <a:pt x="14" y="0"/>
                    </a:cubicBezTo>
                    <a:cubicBezTo>
                      <a:pt x="6" y="0"/>
                      <a:pt x="0" y="5"/>
                      <a:pt x="0" y="13"/>
                    </a:cubicBezTo>
                    <a:cubicBezTo>
                      <a:pt x="0" y="29"/>
                      <a:pt x="0" y="29"/>
                      <a:pt x="0" y="29"/>
                    </a:cubicBezTo>
                    <a:cubicBezTo>
                      <a:pt x="7" y="29"/>
                      <a:pt x="7" y="29"/>
                      <a:pt x="7" y="29"/>
                    </a:cubicBezTo>
                    <a:cubicBezTo>
                      <a:pt x="7" y="18"/>
                      <a:pt x="7" y="18"/>
                      <a:pt x="7" y="18"/>
                    </a:cubicBezTo>
                    <a:cubicBezTo>
                      <a:pt x="9" y="18"/>
                      <a:pt x="9" y="18"/>
                      <a:pt x="9" y="18"/>
                    </a:cubicBezTo>
                    <a:cubicBezTo>
                      <a:pt x="9" y="29"/>
                      <a:pt x="9" y="29"/>
                      <a:pt x="9" y="29"/>
                    </a:cubicBezTo>
                    <a:lnTo>
                      <a:pt x="20" y="29"/>
                    </a:ln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1" name="Oval 103">
                <a:extLst>
                  <a:ext uri="{FF2B5EF4-FFF2-40B4-BE49-F238E27FC236}">
                    <a16:creationId xmlns:a16="http://schemas.microsoft.com/office/drawing/2014/main" id="{616E7063-A9FF-4A15-9D89-1467558391AB}"/>
                  </a:ext>
                </a:extLst>
              </p:cNvPr>
              <p:cNvSpPr>
                <a:spLocks noChangeArrowheads="1"/>
              </p:cNvSpPr>
              <p:nvPr/>
            </p:nvSpPr>
            <p:spPr bwMode="auto">
              <a:xfrm>
                <a:off x="3270250" y="6962775"/>
                <a:ext cx="219075"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2" name="Freeform 104">
                <a:extLst>
                  <a:ext uri="{FF2B5EF4-FFF2-40B4-BE49-F238E27FC236}">
                    <a16:creationId xmlns:a16="http://schemas.microsoft.com/office/drawing/2014/main" id="{7A3B5C8C-3DC7-405F-B629-06C397EC3602}"/>
                  </a:ext>
                </a:extLst>
              </p:cNvPr>
              <p:cNvSpPr>
                <a:spLocks/>
              </p:cNvSpPr>
              <p:nvPr/>
            </p:nvSpPr>
            <p:spPr bwMode="auto">
              <a:xfrm>
                <a:off x="3175000" y="7258050"/>
                <a:ext cx="409575" cy="266700"/>
              </a:xfrm>
              <a:custGeom>
                <a:avLst/>
                <a:gdLst/>
                <a:ahLst/>
                <a:cxnLst>
                  <a:cxn ang="0">
                    <a:pos x="29" y="0"/>
                  </a:cxn>
                  <a:cxn ang="0">
                    <a:pos x="14" y="0"/>
                  </a:cxn>
                  <a:cxn ang="0">
                    <a:pos x="0" y="12"/>
                  </a:cxn>
                  <a:cxn ang="0">
                    <a:pos x="0" y="28"/>
                  </a:cxn>
                  <a:cxn ang="0">
                    <a:pos x="8" y="28"/>
                  </a:cxn>
                  <a:cxn ang="0">
                    <a:pos x="8" y="17"/>
                  </a:cxn>
                  <a:cxn ang="0">
                    <a:pos x="10" y="17"/>
                  </a:cxn>
                  <a:cxn ang="0">
                    <a:pos x="10" y="28"/>
                  </a:cxn>
                  <a:cxn ang="0">
                    <a:pos x="34" y="28"/>
                  </a:cxn>
                  <a:cxn ang="0">
                    <a:pos x="34" y="17"/>
                  </a:cxn>
                  <a:cxn ang="0">
                    <a:pos x="36" y="17"/>
                  </a:cxn>
                  <a:cxn ang="0">
                    <a:pos x="36" y="28"/>
                  </a:cxn>
                  <a:cxn ang="0">
                    <a:pos x="43" y="28"/>
                  </a:cxn>
                  <a:cxn ang="0">
                    <a:pos x="43" y="12"/>
                  </a:cxn>
                  <a:cxn ang="0">
                    <a:pos x="29" y="0"/>
                  </a:cxn>
                </a:cxnLst>
                <a:rect l="0" t="0" r="r" b="b"/>
                <a:pathLst>
                  <a:path w="43" h="28">
                    <a:moveTo>
                      <a:pt x="29" y="0"/>
                    </a:moveTo>
                    <a:cubicBezTo>
                      <a:pt x="14" y="0"/>
                      <a:pt x="14" y="0"/>
                      <a:pt x="14" y="0"/>
                    </a:cubicBezTo>
                    <a:cubicBezTo>
                      <a:pt x="6" y="0"/>
                      <a:pt x="0" y="5"/>
                      <a:pt x="0" y="12"/>
                    </a:cubicBezTo>
                    <a:cubicBezTo>
                      <a:pt x="0" y="28"/>
                      <a:pt x="0" y="28"/>
                      <a:pt x="0" y="28"/>
                    </a:cubicBezTo>
                    <a:cubicBezTo>
                      <a:pt x="8" y="28"/>
                      <a:pt x="8" y="28"/>
                      <a:pt x="8" y="28"/>
                    </a:cubicBezTo>
                    <a:cubicBezTo>
                      <a:pt x="8" y="17"/>
                      <a:pt x="8" y="17"/>
                      <a:pt x="8" y="17"/>
                    </a:cubicBezTo>
                    <a:cubicBezTo>
                      <a:pt x="10" y="17"/>
                      <a:pt x="10" y="17"/>
                      <a:pt x="10" y="17"/>
                    </a:cubicBezTo>
                    <a:cubicBezTo>
                      <a:pt x="10" y="28"/>
                      <a:pt x="10" y="28"/>
                      <a:pt x="10" y="28"/>
                    </a:cubicBezTo>
                    <a:cubicBezTo>
                      <a:pt x="34" y="28"/>
                      <a:pt x="34" y="28"/>
                      <a:pt x="34" y="28"/>
                    </a:cubicBezTo>
                    <a:cubicBezTo>
                      <a:pt x="34" y="17"/>
                      <a:pt x="34" y="17"/>
                      <a:pt x="34" y="17"/>
                    </a:cubicBezTo>
                    <a:cubicBezTo>
                      <a:pt x="36" y="17"/>
                      <a:pt x="36" y="17"/>
                      <a:pt x="36" y="17"/>
                    </a:cubicBezTo>
                    <a:cubicBezTo>
                      <a:pt x="36" y="28"/>
                      <a:pt x="36" y="28"/>
                      <a:pt x="36" y="28"/>
                    </a:cubicBezTo>
                    <a:cubicBezTo>
                      <a:pt x="43" y="28"/>
                      <a:pt x="43" y="28"/>
                      <a:pt x="43" y="28"/>
                    </a:cubicBezTo>
                    <a:cubicBezTo>
                      <a:pt x="43" y="12"/>
                      <a:pt x="43" y="12"/>
                      <a:pt x="43" y="12"/>
                    </a:cubicBezTo>
                    <a:cubicBezTo>
                      <a:pt x="43"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grpSp>
        <p:grpSp>
          <p:nvGrpSpPr>
            <p:cNvPr id="8" name="Group 7">
              <a:extLst>
                <a:ext uri="{FF2B5EF4-FFF2-40B4-BE49-F238E27FC236}">
                  <a16:creationId xmlns:a16="http://schemas.microsoft.com/office/drawing/2014/main" id="{D274FD36-4790-481B-A3B8-4282F5A39C55}"/>
                </a:ext>
              </a:extLst>
            </p:cNvPr>
            <p:cNvGrpSpPr/>
            <p:nvPr/>
          </p:nvGrpSpPr>
          <p:grpSpPr>
            <a:xfrm>
              <a:off x="6553695" y="1633152"/>
              <a:ext cx="1820647" cy="1078983"/>
              <a:chOff x="1030501" y="4061208"/>
              <a:chExt cx="1820647" cy="1078983"/>
            </a:xfrm>
          </p:grpSpPr>
          <p:sp>
            <p:nvSpPr>
              <p:cNvPr id="9" name="TextBox 5">
                <a:extLst>
                  <a:ext uri="{FF2B5EF4-FFF2-40B4-BE49-F238E27FC236}">
                    <a16:creationId xmlns:a16="http://schemas.microsoft.com/office/drawing/2014/main" id="{8891296F-CE35-44F4-8A0C-EE441C458156}"/>
                  </a:ext>
                </a:extLst>
              </p:cNvPr>
              <p:cNvSpPr txBox="1">
                <a:spLocks noChangeArrowheads="1"/>
              </p:cNvSpPr>
              <p:nvPr/>
            </p:nvSpPr>
            <p:spPr bwMode="auto">
              <a:xfrm>
                <a:off x="1030501" y="4870420"/>
                <a:ext cx="1820647" cy="269771"/>
              </a:xfrm>
              <a:prstGeom prst="rect">
                <a:avLst/>
              </a:prstGeom>
              <a:noFill/>
              <a:ln w="9525">
                <a:noFill/>
                <a:miter lim="800000"/>
                <a:headEnd/>
                <a:tailEnd/>
              </a:ln>
            </p:spPr>
            <p:txBody>
              <a:bodyPr wrap="square">
                <a:spAutoFit/>
              </a:bodyPr>
              <a:lstStyle/>
              <a:p>
                <a:pPr algn="ctr"/>
                <a:r>
                  <a:rPr lang="en-US" sz="1300" b="1" dirty="0">
                    <a:solidFill>
                      <a:schemeClr val="bg1"/>
                    </a:solidFill>
                    <a:latin typeface="Arial"/>
                    <a:ea typeface="Verdana" pitchFamily="34" charset="0"/>
                    <a:cs typeface="Arial"/>
                  </a:rPr>
                  <a:t>Application users</a:t>
                </a:r>
              </a:p>
            </p:txBody>
          </p:sp>
          <p:grpSp>
            <p:nvGrpSpPr>
              <p:cNvPr id="10" name="Group 9">
                <a:extLst>
                  <a:ext uri="{FF2B5EF4-FFF2-40B4-BE49-F238E27FC236}">
                    <a16:creationId xmlns:a16="http://schemas.microsoft.com/office/drawing/2014/main" id="{3A897152-2AB8-4F8D-A4FA-8E449F09906A}"/>
                  </a:ext>
                </a:extLst>
              </p:cNvPr>
              <p:cNvGrpSpPr/>
              <p:nvPr/>
            </p:nvGrpSpPr>
            <p:grpSpPr>
              <a:xfrm>
                <a:off x="1972778" y="4061208"/>
                <a:ext cx="828675" cy="723900"/>
                <a:chOff x="2965450" y="6800850"/>
                <a:chExt cx="828675" cy="723900"/>
              </a:xfrm>
            </p:grpSpPr>
            <p:sp>
              <p:nvSpPr>
                <p:cNvPr id="11" name="Oval 99">
                  <a:extLst>
                    <a:ext uri="{FF2B5EF4-FFF2-40B4-BE49-F238E27FC236}">
                      <a16:creationId xmlns:a16="http://schemas.microsoft.com/office/drawing/2014/main" id="{4D920043-E876-47BC-8628-451AB71E0A64}"/>
                    </a:ext>
                  </a:extLst>
                </p:cNvPr>
                <p:cNvSpPr>
                  <a:spLocks noChangeArrowheads="1"/>
                </p:cNvSpPr>
                <p:nvPr/>
              </p:nvSpPr>
              <p:spPr bwMode="auto">
                <a:xfrm>
                  <a:off x="3479800"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2" name="Freeform 100">
                  <a:extLst>
                    <a:ext uri="{FF2B5EF4-FFF2-40B4-BE49-F238E27FC236}">
                      <a16:creationId xmlns:a16="http://schemas.microsoft.com/office/drawing/2014/main" id="{148CC3C9-0B9A-4050-8316-8D7FA4F2501C}"/>
                    </a:ext>
                  </a:extLst>
                </p:cNvPr>
                <p:cNvSpPr>
                  <a:spLocks/>
                </p:cNvSpPr>
                <p:nvPr/>
              </p:nvSpPr>
              <p:spPr bwMode="auto">
                <a:xfrm>
                  <a:off x="3394075" y="7086600"/>
                  <a:ext cx="400050" cy="276225"/>
                </a:xfrm>
                <a:custGeom>
                  <a:avLst/>
                  <a:gdLst/>
                  <a:ahLst/>
                  <a:cxnLst>
                    <a:cxn ang="0">
                      <a:pos x="29" y="0"/>
                    </a:cxn>
                    <a:cxn ang="0">
                      <a:pos x="14" y="0"/>
                    </a:cxn>
                    <a:cxn ang="0">
                      <a:pos x="13" y="0"/>
                    </a:cxn>
                    <a:cxn ang="0">
                      <a:pos x="0" y="14"/>
                    </a:cxn>
                    <a:cxn ang="0">
                      <a:pos x="0" y="15"/>
                    </a:cxn>
                    <a:cxn ang="0">
                      <a:pos x="6" y="15"/>
                    </a:cxn>
                    <a:cxn ang="0">
                      <a:pos x="22" y="29"/>
                    </a:cxn>
                    <a:cxn ang="0">
                      <a:pos x="33" y="29"/>
                    </a:cxn>
                    <a:cxn ang="0">
                      <a:pos x="33" y="18"/>
                    </a:cxn>
                    <a:cxn ang="0">
                      <a:pos x="35" y="18"/>
                    </a:cxn>
                    <a:cxn ang="0">
                      <a:pos x="35" y="29"/>
                    </a:cxn>
                    <a:cxn ang="0">
                      <a:pos x="42" y="29"/>
                    </a:cxn>
                    <a:cxn ang="0">
                      <a:pos x="42" y="13"/>
                    </a:cxn>
                    <a:cxn ang="0">
                      <a:pos x="29" y="0"/>
                    </a:cxn>
                  </a:cxnLst>
                  <a:rect l="0" t="0" r="r" b="b"/>
                  <a:pathLst>
                    <a:path w="42" h="29">
                      <a:moveTo>
                        <a:pt x="29" y="0"/>
                      </a:moveTo>
                      <a:cubicBezTo>
                        <a:pt x="14" y="0"/>
                        <a:pt x="14" y="0"/>
                        <a:pt x="14" y="0"/>
                      </a:cubicBezTo>
                      <a:cubicBezTo>
                        <a:pt x="13" y="0"/>
                        <a:pt x="13" y="0"/>
                        <a:pt x="13" y="0"/>
                      </a:cubicBezTo>
                      <a:cubicBezTo>
                        <a:pt x="12" y="7"/>
                        <a:pt x="7" y="13"/>
                        <a:pt x="0" y="14"/>
                      </a:cubicBezTo>
                      <a:cubicBezTo>
                        <a:pt x="0" y="15"/>
                        <a:pt x="0" y="15"/>
                        <a:pt x="0" y="15"/>
                      </a:cubicBezTo>
                      <a:cubicBezTo>
                        <a:pt x="6" y="15"/>
                        <a:pt x="6" y="15"/>
                        <a:pt x="6" y="15"/>
                      </a:cubicBezTo>
                      <a:cubicBezTo>
                        <a:pt x="15" y="15"/>
                        <a:pt x="22" y="21"/>
                        <a:pt x="22" y="29"/>
                      </a:cubicBezTo>
                      <a:cubicBezTo>
                        <a:pt x="33" y="29"/>
                        <a:pt x="33" y="29"/>
                        <a:pt x="33" y="29"/>
                      </a:cubicBezTo>
                      <a:cubicBezTo>
                        <a:pt x="33" y="18"/>
                        <a:pt x="33" y="18"/>
                        <a:pt x="33" y="18"/>
                      </a:cubicBezTo>
                      <a:cubicBezTo>
                        <a:pt x="35" y="18"/>
                        <a:pt x="35" y="18"/>
                        <a:pt x="35" y="18"/>
                      </a:cubicBezTo>
                      <a:cubicBezTo>
                        <a:pt x="35" y="29"/>
                        <a:pt x="35" y="29"/>
                        <a:pt x="35" y="29"/>
                      </a:cubicBezTo>
                      <a:cubicBezTo>
                        <a:pt x="42" y="29"/>
                        <a:pt x="42" y="29"/>
                        <a:pt x="42" y="29"/>
                      </a:cubicBezTo>
                      <a:cubicBezTo>
                        <a:pt x="42" y="13"/>
                        <a:pt x="42" y="13"/>
                        <a:pt x="42" y="13"/>
                      </a:cubicBezTo>
                      <a:cubicBezTo>
                        <a:pt x="42"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3" name="Oval 101">
                  <a:extLst>
                    <a:ext uri="{FF2B5EF4-FFF2-40B4-BE49-F238E27FC236}">
                      <a16:creationId xmlns:a16="http://schemas.microsoft.com/office/drawing/2014/main" id="{6A26ED8F-F96F-4B21-969D-1D288DFED719}"/>
                    </a:ext>
                  </a:extLst>
                </p:cNvPr>
                <p:cNvSpPr>
                  <a:spLocks noChangeArrowheads="1"/>
                </p:cNvSpPr>
                <p:nvPr/>
              </p:nvSpPr>
              <p:spPr bwMode="auto">
                <a:xfrm>
                  <a:off x="3051175"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4" name="Freeform 102">
                  <a:extLst>
                    <a:ext uri="{FF2B5EF4-FFF2-40B4-BE49-F238E27FC236}">
                      <a16:creationId xmlns:a16="http://schemas.microsoft.com/office/drawing/2014/main" id="{68ED387E-E788-4C4F-B95F-8D80EC164602}"/>
                    </a:ext>
                  </a:extLst>
                </p:cNvPr>
                <p:cNvSpPr>
                  <a:spLocks/>
                </p:cNvSpPr>
                <p:nvPr/>
              </p:nvSpPr>
              <p:spPr bwMode="auto">
                <a:xfrm>
                  <a:off x="2965450" y="7086600"/>
                  <a:ext cx="400050" cy="276225"/>
                </a:xfrm>
                <a:custGeom>
                  <a:avLst/>
                  <a:gdLst/>
                  <a:ahLst/>
                  <a:cxnLst>
                    <a:cxn ang="0">
                      <a:pos x="20" y="29"/>
                    </a:cxn>
                    <a:cxn ang="0">
                      <a:pos x="36" y="15"/>
                    </a:cxn>
                    <a:cxn ang="0">
                      <a:pos x="42" y="15"/>
                    </a:cxn>
                    <a:cxn ang="0">
                      <a:pos x="42" y="14"/>
                    </a:cxn>
                    <a:cxn ang="0">
                      <a:pos x="29" y="0"/>
                    </a:cxn>
                    <a:cxn ang="0">
                      <a:pos x="29" y="0"/>
                    </a:cxn>
                    <a:cxn ang="0">
                      <a:pos x="14" y="0"/>
                    </a:cxn>
                    <a:cxn ang="0">
                      <a:pos x="0" y="13"/>
                    </a:cxn>
                    <a:cxn ang="0">
                      <a:pos x="0" y="29"/>
                    </a:cxn>
                    <a:cxn ang="0">
                      <a:pos x="7" y="29"/>
                    </a:cxn>
                    <a:cxn ang="0">
                      <a:pos x="7" y="18"/>
                    </a:cxn>
                    <a:cxn ang="0">
                      <a:pos x="9" y="18"/>
                    </a:cxn>
                    <a:cxn ang="0">
                      <a:pos x="9" y="29"/>
                    </a:cxn>
                    <a:cxn ang="0">
                      <a:pos x="20" y="29"/>
                    </a:cxn>
                  </a:cxnLst>
                  <a:rect l="0" t="0" r="r" b="b"/>
                  <a:pathLst>
                    <a:path w="42" h="29">
                      <a:moveTo>
                        <a:pt x="20" y="29"/>
                      </a:moveTo>
                      <a:cubicBezTo>
                        <a:pt x="21" y="21"/>
                        <a:pt x="27" y="15"/>
                        <a:pt x="36" y="15"/>
                      </a:cubicBezTo>
                      <a:cubicBezTo>
                        <a:pt x="42" y="15"/>
                        <a:pt x="42" y="15"/>
                        <a:pt x="42" y="15"/>
                      </a:cubicBezTo>
                      <a:cubicBezTo>
                        <a:pt x="42" y="14"/>
                        <a:pt x="42" y="14"/>
                        <a:pt x="42" y="14"/>
                      </a:cubicBezTo>
                      <a:cubicBezTo>
                        <a:pt x="35" y="13"/>
                        <a:pt x="30" y="7"/>
                        <a:pt x="29" y="0"/>
                      </a:cubicBezTo>
                      <a:cubicBezTo>
                        <a:pt x="29" y="0"/>
                        <a:pt x="29" y="0"/>
                        <a:pt x="29" y="0"/>
                      </a:cubicBezTo>
                      <a:cubicBezTo>
                        <a:pt x="14" y="0"/>
                        <a:pt x="14" y="0"/>
                        <a:pt x="14" y="0"/>
                      </a:cubicBezTo>
                      <a:cubicBezTo>
                        <a:pt x="6" y="0"/>
                        <a:pt x="0" y="5"/>
                        <a:pt x="0" y="13"/>
                      </a:cubicBezTo>
                      <a:cubicBezTo>
                        <a:pt x="0" y="29"/>
                        <a:pt x="0" y="29"/>
                        <a:pt x="0" y="29"/>
                      </a:cubicBezTo>
                      <a:cubicBezTo>
                        <a:pt x="7" y="29"/>
                        <a:pt x="7" y="29"/>
                        <a:pt x="7" y="29"/>
                      </a:cubicBezTo>
                      <a:cubicBezTo>
                        <a:pt x="7" y="18"/>
                        <a:pt x="7" y="18"/>
                        <a:pt x="7" y="18"/>
                      </a:cubicBezTo>
                      <a:cubicBezTo>
                        <a:pt x="9" y="18"/>
                        <a:pt x="9" y="18"/>
                        <a:pt x="9" y="18"/>
                      </a:cubicBezTo>
                      <a:cubicBezTo>
                        <a:pt x="9" y="29"/>
                        <a:pt x="9" y="29"/>
                        <a:pt x="9" y="29"/>
                      </a:cubicBezTo>
                      <a:lnTo>
                        <a:pt x="20" y="29"/>
                      </a:ln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5" name="Oval 103">
                  <a:extLst>
                    <a:ext uri="{FF2B5EF4-FFF2-40B4-BE49-F238E27FC236}">
                      <a16:creationId xmlns:a16="http://schemas.microsoft.com/office/drawing/2014/main" id="{B4CD761E-17E1-47C4-87EA-A7882C65F324}"/>
                    </a:ext>
                  </a:extLst>
                </p:cNvPr>
                <p:cNvSpPr>
                  <a:spLocks noChangeArrowheads="1"/>
                </p:cNvSpPr>
                <p:nvPr/>
              </p:nvSpPr>
              <p:spPr bwMode="auto">
                <a:xfrm>
                  <a:off x="3270250" y="6962775"/>
                  <a:ext cx="219075"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6" name="Freeform 104">
                  <a:extLst>
                    <a:ext uri="{FF2B5EF4-FFF2-40B4-BE49-F238E27FC236}">
                      <a16:creationId xmlns:a16="http://schemas.microsoft.com/office/drawing/2014/main" id="{DB340600-2440-4549-B6AF-91FA88F1B77A}"/>
                    </a:ext>
                  </a:extLst>
                </p:cNvPr>
                <p:cNvSpPr>
                  <a:spLocks/>
                </p:cNvSpPr>
                <p:nvPr/>
              </p:nvSpPr>
              <p:spPr bwMode="auto">
                <a:xfrm>
                  <a:off x="3175000" y="7258050"/>
                  <a:ext cx="409575" cy="266700"/>
                </a:xfrm>
                <a:custGeom>
                  <a:avLst/>
                  <a:gdLst/>
                  <a:ahLst/>
                  <a:cxnLst>
                    <a:cxn ang="0">
                      <a:pos x="29" y="0"/>
                    </a:cxn>
                    <a:cxn ang="0">
                      <a:pos x="14" y="0"/>
                    </a:cxn>
                    <a:cxn ang="0">
                      <a:pos x="0" y="12"/>
                    </a:cxn>
                    <a:cxn ang="0">
                      <a:pos x="0" y="28"/>
                    </a:cxn>
                    <a:cxn ang="0">
                      <a:pos x="8" y="28"/>
                    </a:cxn>
                    <a:cxn ang="0">
                      <a:pos x="8" y="17"/>
                    </a:cxn>
                    <a:cxn ang="0">
                      <a:pos x="10" y="17"/>
                    </a:cxn>
                    <a:cxn ang="0">
                      <a:pos x="10" y="28"/>
                    </a:cxn>
                    <a:cxn ang="0">
                      <a:pos x="34" y="28"/>
                    </a:cxn>
                    <a:cxn ang="0">
                      <a:pos x="34" y="17"/>
                    </a:cxn>
                    <a:cxn ang="0">
                      <a:pos x="36" y="17"/>
                    </a:cxn>
                    <a:cxn ang="0">
                      <a:pos x="36" y="28"/>
                    </a:cxn>
                    <a:cxn ang="0">
                      <a:pos x="43" y="28"/>
                    </a:cxn>
                    <a:cxn ang="0">
                      <a:pos x="43" y="12"/>
                    </a:cxn>
                    <a:cxn ang="0">
                      <a:pos x="29" y="0"/>
                    </a:cxn>
                  </a:cxnLst>
                  <a:rect l="0" t="0" r="r" b="b"/>
                  <a:pathLst>
                    <a:path w="43" h="28">
                      <a:moveTo>
                        <a:pt x="29" y="0"/>
                      </a:moveTo>
                      <a:cubicBezTo>
                        <a:pt x="14" y="0"/>
                        <a:pt x="14" y="0"/>
                        <a:pt x="14" y="0"/>
                      </a:cubicBezTo>
                      <a:cubicBezTo>
                        <a:pt x="6" y="0"/>
                        <a:pt x="0" y="5"/>
                        <a:pt x="0" y="12"/>
                      </a:cubicBezTo>
                      <a:cubicBezTo>
                        <a:pt x="0" y="28"/>
                        <a:pt x="0" y="28"/>
                        <a:pt x="0" y="28"/>
                      </a:cubicBezTo>
                      <a:cubicBezTo>
                        <a:pt x="8" y="28"/>
                        <a:pt x="8" y="28"/>
                        <a:pt x="8" y="28"/>
                      </a:cubicBezTo>
                      <a:cubicBezTo>
                        <a:pt x="8" y="17"/>
                        <a:pt x="8" y="17"/>
                        <a:pt x="8" y="17"/>
                      </a:cubicBezTo>
                      <a:cubicBezTo>
                        <a:pt x="10" y="17"/>
                        <a:pt x="10" y="17"/>
                        <a:pt x="10" y="17"/>
                      </a:cubicBezTo>
                      <a:cubicBezTo>
                        <a:pt x="10" y="28"/>
                        <a:pt x="10" y="28"/>
                        <a:pt x="10" y="28"/>
                      </a:cubicBezTo>
                      <a:cubicBezTo>
                        <a:pt x="34" y="28"/>
                        <a:pt x="34" y="28"/>
                        <a:pt x="34" y="28"/>
                      </a:cubicBezTo>
                      <a:cubicBezTo>
                        <a:pt x="34" y="17"/>
                        <a:pt x="34" y="17"/>
                        <a:pt x="34" y="17"/>
                      </a:cubicBezTo>
                      <a:cubicBezTo>
                        <a:pt x="36" y="17"/>
                        <a:pt x="36" y="17"/>
                        <a:pt x="36" y="17"/>
                      </a:cubicBezTo>
                      <a:cubicBezTo>
                        <a:pt x="36" y="28"/>
                        <a:pt x="36" y="28"/>
                        <a:pt x="36" y="28"/>
                      </a:cubicBezTo>
                      <a:cubicBezTo>
                        <a:pt x="43" y="28"/>
                        <a:pt x="43" y="28"/>
                        <a:pt x="43" y="28"/>
                      </a:cubicBezTo>
                      <a:cubicBezTo>
                        <a:pt x="43" y="12"/>
                        <a:pt x="43" y="12"/>
                        <a:pt x="43" y="12"/>
                      </a:cubicBezTo>
                      <a:cubicBezTo>
                        <a:pt x="43"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grpSp>
        </p:grpSp>
      </p:grpSp>
      <p:sp>
        <p:nvSpPr>
          <p:cNvPr id="23" name="TextBox 34">
            <a:extLst>
              <a:ext uri="{FF2B5EF4-FFF2-40B4-BE49-F238E27FC236}">
                <a16:creationId xmlns:a16="http://schemas.microsoft.com/office/drawing/2014/main" id="{795A7B60-86CF-4429-8A0A-C17B4F56C26E}"/>
              </a:ext>
            </a:extLst>
          </p:cNvPr>
          <p:cNvSpPr txBox="1">
            <a:spLocks noChangeArrowheads="1"/>
          </p:cNvSpPr>
          <p:nvPr/>
        </p:nvSpPr>
        <p:spPr bwMode="auto">
          <a:xfrm>
            <a:off x="4927395" y="684521"/>
            <a:ext cx="652147" cy="323163"/>
          </a:xfrm>
          <a:prstGeom prst="rect">
            <a:avLst/>
          </a:prstGeom>
          <a:noFill/>
          <a:ln w="9525">
            <a:noFill/>
            <a:miter lim="800000"/>
            <a:headEnd/>
            <a:tailEnd/>
          </a:ln>
        </p:spPr>
        <p:txBody>
          <a:bodyPr wrap="square" lIns="121917" tIns="60959" rIns="121917" bIns="60959">
            <a:spAutoFit/>
          </a:bodyPr>
          <a:lstStyle/>
          <a:p>
            <a:pPr algn="r"/>
            <a:r>
              <a:rPr lang="en-US" sz="1300" b="1" dirty="0">
                <a:solidFill>
                  <a:schemeClr val="bg1"/>
                </a:solidFill>
                <a:latin typeface="Amazon Ember Regular"/>
                <a:ea typeface="Verdana" pitchFamily="34" charset="0"/>
                <a:cs typeface="Arial"/>
              </a:rPr>
              <a:t>AWS</a:t>
            </a:r>
          </a:p>
        </p:txBody>
      </p:sp>
      <p:grpSp>
        <p:nvGrpSpPr>
          <p:cNvPr id="56" name="Group 55">
            <a:extLst>
              <a:ext uri="{FF2B5EF4-FFF2-40B4-BE49-F238E27FC236}">
                <a16:creationId xmlns:a16="http://schemas.microsoft.com/office/drawing/2014/main" id="{F82647CC-A530-481E-80E8-10F3E57B8515}"/>
              </a:ext>
            </a:extLst>
          </p:cNvPr>
          <p:cNvGrpSpPr/>
          <p:nvPr/>
        </p:nvGrpSpPr>
        <p:grpSpPr>
          <a:xfrm>
            <a:off x="5106315" y="1128004"/>
            <a:ext cx="1295876" cy="1568120"/>
            <a:chOff x="5106315" y="1436145"/>
            <a:chExt cx="1295876" cy="1568120"/>
          </a:xfrm>
        </p:grpSpPr>
        <p:pic>
          <p:nvPicPr>
            <p:cNvPr id="55" name="Picture 2" descr="https://design.amazon.com/mockups/com/aws/management_console/datamigration/sirocco/latest/img/sirocco.png">
              <a:extLst>
                <a:ext uri="{FF2B5EF4-FFF2-40B4-BE49-F238E27FC236}">
                  <a16:creationId xmlns:a16="http://schemas.microsoft.com/office/drawing/2014/main" id="{935A8E6D-CF03-45FF-B40A-7C4B265CCFC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106315" y="1436145"/>
              <a:ext cx="1295876" cy="15681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1B066428-8E92-4367-ABB1-D87CA603F1C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87605" y="1687113"/>
              <a:ext cx="1170141" cy="1170141"/>
            </a:xfrm>
            <a:prstGeom prst="rect">
              <a:avLst/>
            </a:prstGeom>
          </p:spPr>
        </p:pic>
      </p:grpSp>
      <p:grpSp>
        <p:nvGrpSpPr>
          <p:cNvPr id="54" name="Group 53">
            <a:extLst>
              <a:ext uri="{FF2B5EF4-FFF2-40B4-BE49-F238E27FC236}">
                <a16:creationId xmlns:a16="http://schemas.microsoft.com/office/drawing/2014/main" id="{2A301CAB-23A5-4A12-8F69-6339B4AA3AB1}"/>
              </a:ext>
            </a:extLst>
          </p:cNvPr>
          <p:cNvGrpSpPr/>
          <p:nvPr/>
        </p:nvGrpSpPr>
        <p:grpSpPr>
          <a:xfrm>
            <a:off x="6862755" y="1370975"/>
            <a:ext cx="723419" cy="964009"/>
            <a:chOff x="6244685" y="1831522"/>
            <a:chExt cx="723419" cy="964009"/>
          </a:xfrm>
        </p:grpSpPr>
        <p:sp>
          <p:nvSpPr>
            <p:cNvPr id="31" name="Can 79">
              <a:extLst>
                <a:ext uri="{FF2B5EF4-FFF2-40B4-BE49-F238E27FC236}">
                  <a16:creationId xmlns:a16="http://schemas.microsoft.com/office/drawing/2014/main" id="{80A5132E-3283-4564-A30D-3F891A2540A3}"/>
                </a:ext>
              </a:extLst>
            </p:cNvPr>
            <p:cNvSpPr/>
            <p:nvPr/>
          </p:nvSpPr>
          <p:spPr>
            <a:xfrm>
              <a:off x="6248833" y="1831522"/>
              <a:ext cx="719271" cy="956629"/>
            </a:xfrm>
            <a:prstGeom prst="can">
              <a:avLst/>
            </a:prstGeom>
          </p:spPr>
          <p:style>
            <a:lnRef idx="1">
              <a:schemeClr val="accent1"/>
            </a:lnRef>
            <a:fillRef idx="3">
              <a:schemeClr val="accent1"/>
            </a:fillRef>
            <a:effectRef idx="2">
              <a:schemeClr val="accent1"/>
            </a:effectRef>
            <a:fontRef idx="minor">
              <a:schemeClr val="lt1"/>
            </a:fontRef>
          </p:style>
          <p:txBody>
            <a:bodyPr lIns="121917" tIns="60959" rIns="121917" bIns="60959" rtlCol="0" anchor="ctr"/>
            <a:lstStyle/>
            <a:p>
              <a:pPr algn="ctr"/>
              <a:endParaRPr lang="en-US" dirty="0"/>
            </a:p>
          </p:txBody>
        </p:sp>
        <p:sp>
          <p:nvSpPr>
            <p:cNvPr id="33" name="Can 80">
              <a:extLst>
                <a:ext uri="{FF2B5EF4-FFF2-40B4-BE49-F238E27FC236}">
                  <a16:creationId xmlns:a16="http://schemas.microsoft.com/office/drawing/2014/main" id="{1BF15358-F68F-4288-A755-E937A2DF7E9F}"/>
                </a:ext>
              </a:extLst>
            </p:cNvPr>
            <p:cNvSpPr/>
            <p:nvPr/>
          </p:nvSpPr>
          <p:spPr>
            <a:xfrm>
              <a:off x="6244685" y="1838902"/>
              <a:ext cx="719271" cy="956629"/>
            </a:xfrm>
            <a:prstGeom prst="can">
              <a:avLst/>
            </a:prstGeom>
            <a:noFill/>
          </p:spPr>
          <p:style>
            <a:lnRef idx="1">
              <a:schemeClr val="accent1"/>
            </a:lnRef>
            <a:fillRef idx="3">
              <a:schemeClr val="accent1"/>
            </a:fillRef>
            <a:effectRef idx="2">
              <a:schemeClr val="accent1"/>
            </a:effectRef>
            <a:fontRef idx="minor">
              <a:schemeClr val="lt1"/>
            </a:fontRef>
          </p:style>
          <p:txBody>
            <a:bodyPr lIns="121917" tIns="60959" rIns="121917" bIns="60959" rtlCol="0" anchor="ctr"/>
            <a:lstStyle/>
            <a:p>
              <a:pPr algn="ctr"/>
              <a:endParaRPr lang="en-US" dirty="0"/>
            </a:p>
          </p:txBody>
        </p:sp>
      </p:grpSp>
      <p:cxnSp>
        <p:nvCxnSpPr>
          <p:cNvPr id="35" name="Straight Arrow Connector 34">
            <a:extLst>
              <a:ext uri="{FF2B5EF4-FFF2-40B4-BE49-F238E27FC236}">
                <a16:creationId xmlns:a16="http://schemas.microsoft.com/office/drawing/2014/main" id="{A21C0462-2664-4C70-90B3-868B2D480222}"/>
              </a:ext>
            </a:extLst>
          </p:cNvPr>
          <p:cNvCxnSpPr>
            <a:cxnSpLocks/>
          </p:cNvCxnSpPr>
          <p:nvPr/>
        </p:nvCxnSpPr>
        <p:spPr>
          <a:xfrm>
            <a:off x="6098525" y="1903865"/>
            <a:ext cx="727838" cy="0"/>
          </a:xfrm>
          <a:prstGeom prst="straightConnector1">
            <a:avLst/>
          </a:prstGeom>
          <a:ln w="76200">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C61452EE-8541-4B24-BFCA-139687600139}"/>
              </a:ext>
            </a:extLst>
          </p:cNvPr>
          <p:cNvGrpSpPr/>
          <p:nvPr/>
        </p:nvGrpSpPr>
        <p:grpSpPr>
          <a:xfrm>
            <a:off x="1073893" y="985336"/>
            <a:ext cx="1874776" cy="1845429"/>
            <a:chOff x="6743700" y="760413"/>
            <a:chExt cx="1752600" cy="1733550"/>
          </a:xfrm>
          <a:noFill/>
        </p:grpSpPr>
        <p:grpSp>
          <p:nvGrpSpPr>
            <p:cNvPr id="39" name="Group 21">
              <a:extLst>
                <a:ext uri="{FF2B5EF4-FFF2-40B4-BE49-F238E27FC236}">
                  <a16:creationId xmlns:a16="http://schemas.microsoft.com/office/drawing/2014/main" id="{8259B1A6-5A04-4440-AA4A-8F2DA0F32F42}"/>
                </a:ext>
              </a:extLst>
            </p:cNvPr>
            <p:cNvGrpSpPr>
              <a:grpSpLocks/>
            </p:cNvGrpSpPr>
            <p:nvPr/>
          </p:nvGrpSpPr>
          <p:grpSpPr bwMode="auto">
            <a:xfrm>
              <a:off x="6743700" y="760413"/>
              <a:ext cx="1752600" cy="1733550"/>
              <a:chOff x="545458" y="4783771"/>
              <a:chExt cx="2293787" cy="1733798"/>
            </a:xfrm>
            <a:grpFill/>
          </p:grpSpPr>
          <p:sp>
            <p:nvSpPr>
              <p:cNvPr id="41" name="Rounded Rectangle 14">
                <a:extLst>
                  <a:ext uri="{FF2B5EF4-FFF2-40B4-BE49-F238E27FC236}">
                    <a16:creationId xmlns:a16="http://schemas.microsoft.com/office/drawing/2014/main" id="{D30A9368-D894-43CF-8143-04574D5940BB}"/>
                  </a:ext>
                </a:extLst>
              </p:cNvPr>
              <p:cNvSpPr/>
              <p:nvPr/>
            </p:nvSpPr>
            <p:spPr>
              <a:xfrm>
                <a:off x="545458" y="4783771"/>
                <a:ext cx="2293787" cy="1733798"/>
              </a:xfrm>
              <a:prstGeom prst="roundRect">
                <a:avLst>
                  <a:gd name="adj" fmla="val 9818"/>
                </a:avLst>
              </a:prstGeom>
              <a:grp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sp>
            <p:nvSpPr>
              <p:cNvPr id="42" name="Rounded Rectangle 15">
                <a:extLst>
                  <a:ext uri="{FF2B5EF4-FFF2-40B4-BE49-F238E27FC236}">
                    <a16:creationId xmlns:a16="http://schemas.microsoft.com/office/drawing/2014/main" id="{81ECF410-2CE8-4677-A987-FCCD58C6AE00}"/>
                  </a:ext>
                </a:extLst>
              </p:cNvPr>
              <p:cNvSpPr/>
              <p:nvPr/>
            </p:nvSpPr>
            <p:spPr>
              <a:xfrm>
                <a:off x="545458" y="4783771"/>
                <a:ext cx="2293787" cy="1733798"/>
              </a:xfrm>
              <a:prstGeom prst="roundRect">
                <a:avLst>
                  <a:gd name="adj" fmla="val 9818"/>
                </a:avLst>
              </a:prstGeom>
              <a:grpFill/>
              <a:ln w="19050">
                <a:solidFill>
                  <a:schemeClr val="accent6">
                    <a:lumMod val="60000"/>
                    <a:lumOff val="40000"/>
                  </a:schemeClr>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grpSp>
        <p:sp>
          <p:nvSpPr>
            <p:cNvPr id="40" name="TextBox 34">
              <a:extLst>
                <a:ext uri="{FF2B5EF4-FFF2-40B4-BE49-F238E27FC236}">
                  <a16:creationId xmlns:a16="http://schemas.microsoft.com/office/drawing/2014/main" id="{C47B9C82-5CDD-4D0C-A259-2A29D42ED359}"/>
                </a:ext>
              </a:extLst>
            </p:cNvPr>
            <p:cNvSpPr txBox="1">
              <a:spLocks noChangeArrowheads="1"/>
            </p:cNvSpPr>
            <p:nvPr/>
          </p:nvSpPr>
          <p:spPr bwMode="auto">
            <a:xfrm>
              <a:off x="6842125" y="1814156"/>
              <a:ext cx="1555750" cy="243193"/>
            </a:xfrm>
            <a:prstGeom prst="rect">
              <a:avLst/>
            </a:prstGeom>
            <a:grpFill/>
            <a:ln w="9525">
              <a:noFill/>
              <a:miter lim="800000"/>
              <a:headEnd/>
              <a:tailEnd/>
            </a:ln>
          </p:spPr>
          <p:txBody>
            <a:bodyPr>
              <a:spAutoFit/>
            </a:bodyPr>
            <a:lstStyle/>
            <a:p>
              <a:pPr algn="ctr"/>
              <a:endParaRPr lang="en-US" sz="1200" b="1" dirty="0">
                <a:solidFill>
                  <a:srgbClr val="6F2927"/>
                </a:solidFill>
                <a:latin typeface="Arial"/>
                <a:ea typeface="Verdana" pitchFamily="34" charset="0"/>
                <a:cs typeface="Arial"/>
              </a:endParaRPr>
            </a:p>
          </p:txBody>
        </p:sp>
      </p:grpSp>
      <p:sp>
        <p:nvSpPr>
          <p:cNvPr id="46" name="Rounded Rectangle 45">
            <a:extLst>
              <a:ext uri="{FF2B5EF4-FFF2-40B4-BE49-F238E27FC236}">
                <a16:creationId xmlns:a16="http://schemas.microsoft.com/office/drawing/2014/main" id="{E9F49B4D-4F08-4BF6-9EC0-58BA47AD431E}"/>
              </a:ext>
            </a:extLst>
          </p:cNvPr>
          <p:cNvSpPr/>
          <p:nvPr/>
        </p:nvSpPr>
        <p:spPr bwMode="auto">
          <a:xfrm>
            <a:off x="4955302" y="956096"/>
            <a:ext cx="3114805" cy="1974525"/>
          </a:xfrm>
          <a:prstGeom prst="roundRect">
            <a:avLst>
              <a:gd name="adj" fmla="val 9818"/>
            </a:avLst>
          </a:prstGeom>
          <a:noFill/>
          <a:ln w="19050">
            <a:solidFill>
              <a:schemeClr val="accent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sp>
        <p:nvSpPr>
          <p:cNvPr id="47" name="Rounded Rectangle 46">
            <a:extLst>
              <a:ext uri="{FF2B5EF4-FFF2-40B4-BE49-F238E27FC236}">
                <a16:creationId xmlns:a16="http://schemas.microsoft.com/office/drawing/2014/main" id="{0EE36028-AE98-409F-8948-2A2122D9F383}"/>
              </a:ext>
            </a:extLst>
          </p:cNvPr>
          <p:cNvSpPr/>
          <p:nvPr/>
        </p:nvSpPr>
        <p:spPr bwMode="auto">
          <a:xfrm>
            <a:off x="4955302" y="956096"/>
            <a:ext cx="3114805" cy="1974525"/>
          </a:xfrm>
          <a:prstGeom prst="roundRect">
            <a:avLst>
              <a:gd name="adj" fmla="val 9818"/>
            </a:avLst>
          </a:prstGeom>
          <a:noFill/>
          <a:ln w="19050">
            <a:solidFill>
              <a:schemeClr val="accent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sp>
        <p:nvSpPr>
          <p:cNvPr id="48" name="TextBox 47">
            <a:extLst>
              <a:ext uri="{FF2B5EF4-FFF2-40B4-BE49-F238E27FC236}">
                <a16:creationId xmlns:a16="http://schemas.microsoft.com/office/drawing/2014/main" id="{0A97A0C9-8E47-4357-98D8-92A3A3864548}"/>
              </a:ext>
            </a:extLst>
          </p:cNvPr>
          <p:cNvSpPr txBox="1"/>
          <p:nvPr/>
        </p:nvSpPr>
        <p:spPr>
          <a:xfrm>
            <a:off x="2945087" y="1624486"/>
            <a:ext cx="1982308" cy="553996"/>
          </a:xfrm>
          <a:prstGeom prst="rect">
            <a:avLst/>
          </a:prstGeom>
          <a:solidFill>
            <a:schemeClr val="accent2">
              <a:lumMod val="60000"/>
              <a:lumOff val="40000"/>
            </a:schemeClr>
          </a:solidFill>
        </p:spPr>
        <p:txBody>
          <a:bodyPr wrap="square" lIns="121917" tIns="60959" rIns="121917" bIns="60959" rtlCol="0">
            <a:spAutoFit/>
          </a:bodyPr>
          <a:lstStyle/>
          <a:p>
            <a:pPr algn="ctr"/>
            <a:r>
              <a:rPr lang="en-US" sz="1400" b="1" dirty="0"/>
              <a:t>VPN, </a:t>
            </a:r>
          </a:p>
          <a:p>
            <a:pPr algn="ctr"/>
            <a:r>
              <a:rPr lang="en-US" sz="1400" b="1" dirty="0"/>
              <a:t>Direct Connect</a:t>
            </a:r>
          </a:p>
        </p:txBody>
      </p:sp>
      <p:sp>
        <p:nvSpPr>
          <p:cNvPr id="49" name="Content Placeholder 2">
            <a:extLst>
              <a:ext uri="{FF2B5EF4-FFF2-40B4-BE49-F238E27FC236}">
                <a16:creationId xmlns:a16="http://schemas.microsoft.com/office/drawing/2014/main" id="{51C87B94-6D89-4303-A7A0-98870C8F39A7}"/>
              </a:ext>
            </a:extLst>
          </p:cNvPr>
          <p:cNvSpPr txBox="1">
            <a:spLocks/>
          </p:cNvSpPr>
          <p:nvPr/>
        </p:nvSpPr>
        <p:spPr>
          <a:xfrm>
            <a:off x="252223" y="3104819"/>
            <a:ext cx="2998496" cy="1303789"/>
          </a:xfrm>
          <a:prstGeom prst="rect">
            <a:avLst/>
          </a:prstGeom>
        </p:spPr>
        <p:txBody>
          <a:bodyPr>
            <a:normAutofit fontScale="92500" lnSpcReduction="20000"/>
          </a:bodyPr>
          <a:lst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Courier New" panose="02070309020205020404" pitchFamily="49" charset="0"/>
              <a:buChar char="o"/>
            </a:pPr>
            <a:r>
              <a:rPr lang="en-US" sz="1600" dirty="0"/>
              <a:t>Start DMS replication instance</a:t>
            </a:r>
          </a:p>
          <a:p>
            <a:pPr marL="285750" indent="-285750">
              <a:buFont typeface="Courier New" panose="02070309020205020404" pitchFamily="49" charset="0"/>
              <a:buChar char="o"/>
            </a:pPr>
            <a:r>
              <a:rPr lang="en-US" sz="1600" dirty="0"/>
              <a:t>Connect to source and target databases</a:t>
            </a:r>
          </a:p>
          <a:p>
            <a:pPr marL="285750" indent="-285750">
              <a:buFont typeface="Courier New" panose="02070309020205020404" pitchFamily="49" charset="0"/>
              <a:buChar char="o"/>
            </a:pPr>
            <a:r>
              <a:rPr lang="en-US" sz="1600" dirty="0"/>
              <a:t>Select tables, schemas, or databases</a:t>
            </a:r>
          </a:p>
          <a:p>
            <a:endParaRPr lang="en-US" dirty="0"/>
          </a:p>
        </p:txBody>
      </p:sp>
      <p:sp>
        <p:nvSpPr>
          <p:cNvPr id="50" name="Content Placeholder 2">
            <a:extLst>
              <a:ext uri="{FF2B5EF4-FFF2-40B4-BE49-F238E27FC236}">
                <a16:creationId xmlns:a16="http://schemas.microsoft.com/office/drawing/2014/main" id="{E76D002F-80E9-4F13-AFED-67F3EBE69B35}"/>
              </a:ext>
            </a:extLst>
          </p:cNvPr>
          <p:cNvSpPr txBox="1">
            <a:spLocks/>
          </p:cNvSpPr>
          <p:nvPr/>
        </p:nvSpPr>
        <p:spPr>
          <a:xfrm>
            <a:off x="5151302" y="3132929"/>
            <a:ext cx="3541488" cy="1153879"/>
          </a:xfrm>
          <a:prstGeom prst="rect">
            <a:avLst/>
          </a:prstGeom>
        </p:spPr>
        <p:txBody>
          <a:bodyPr vert="horz" lIns="121917" tIns="60959" rIns="121917" bIns="60959" rtlCol="0">
            <a:noAutofit/>
          </a:bodyPr>
          <a:lstStyle>
            <a:lvl1pPr marL="342900" indent="-342900" algn="l" defTabSz="457200" rtl="0" eaLnBrk="1" latinLnBrk="0" hangingPunct="1">
              <a:spcBef>
                <a:spcPct val="20000"/>
              </a:spcBef>
              <a:buFont typeface="Arial"/>
              <a:buChar char="•"/>
              <a:defRPr sz="2800" b="0" i="0" kern="1200">
                <a:solidFill>
                  <a:srgbClr val="595A5D"/>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595A5D"/>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595A5D"/>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2460" indent="-262460" defTabSz="1219170">
              <a:lnSpc>
                <a:spcPct val="90000"/>
              </a:lnSpc>
              <a:buClr>
                <a:srgbClr val="F59300"/>
              </a:buClr>
              <a:buSzPct val="80000"/>
              <a:buFont typeface="Wingdings 2" pitchFamily="18" charset="2"/>
              <a:buChar char="®"/>
            </a:pPr>
            <a:r>
              <a:rPr lang="en-US" sz="1600" dirty="0">
                <a:solidFill>
                  <a:schemeClr val="bg1"/>
                </a:solidFill>
                <a:latin typeface="Arial" pitchFamily="34" charset="0"/>
                <a:cs typeface="Arial" pitchFamily="34" charset="0"/>
              </a:rPr>
              <a:t>Let AWS DMS create tables, load data, and keep them in sync</a:t>
            </a:r>
          </a:p>
        </p:txBody>
      </p:sp>
      <p:sp>
        <p:nvSpPr>
          <p:cNvPr id="51" name="TextBox 34">
            <a:extLst>
              <a:ext uri="{FF2B5EF4-FFF2-40B4-BE49-F238E27FC236}">
                <a16:creationId xmlns:a16="http://schemas.microsoft.com/office/drawing/2014/main" id="{641F638C-4274-4AE7-BFF9-76153EA39D8E}"/>
              </a:ext>
            </a:extLst>
          </p:cNvPr>
          <p:cNvSpPr txBox="1">
            <a:spLocks noChangeArrowheads="1"/>
          </p:cNvSpPr>
          <p:nvPr/>
        </p:nvSpPr>
        <p:spPr bwMode="auto">
          <a:xfrm>
            <a:off x="5158165" y="1109497"/>
            <a:ext cx="1206375" cy="723273"/>
          </a:xfrm>
          <a:prstGeom prst="rect">
            <a:avLst/>
          </a:prstGeom>
          <a:noFill/>
          <a:ln w="9525">
            <a:noFill/>
            <a:miter lim="800000"/>
            <a:headEnd/>
            <a:tailEnd/>
          </a:ln>
        </p:spPr>
        <p:txBody>
          <a:bodyPr wrap="square" lIns="121917" tIns="60959" rIns="121917" bIns="60959">
            <a:spAutoFit/>
          </a:bodyPr>
          <a:lstStyle/>
          <a:p>
            <a:pPr algn="ctr"/>
            <a:r>
              <a:rPr lang="en-US" sz="1300" b="1" dirty="0">
                <a:solidFill>
                  <a:schemeClr val="bg1"/>
                </a:solidFill>
                <a:latin typeface="Amazon Ember Regular"/>
                <a:ea typeface="Verdana" pitchFamily="34" charset="0"/>
                <a:cs typeface="Arial"/>
              </a:rPr>
              <a:t>DMS</a:t>
            </a:r>
          </a:p>
          <a:p>
            <a:pPr algn="ctr"/>
            <a:r>
              <a:rPr lang="en-US" sz="1300" b="1" dirty="0">
                <a:solidFill>
                  <a:schemeClr val="bg1"/>
                </a:solidFill>
                <a:latin typeface="Amazon Ember Regular"/>
                <a:ea typeface="Verdana" pitchFamily="34" charset="0"/>
                <a:cs typeface="Arial"/>
              </a:rPr>
              <a:t>Replication</a:t>
            </a:r>
          </a:p>
          <a:p>
            <a:pPr algn="ctr"/>
            <a:r>
              <a:rPr lang="en-US" sz="1300" b="1" dirty="0">
                <a:solidFill>
                  <a:schemeClr val="bg1"/>
                </a:solidFill>
                <a:latin typeface="Amazon Ember Regular"/>
                <a:ea typeface="Verdana" pitchFamily="34" charset="0"/>
                <a:cs typeface="Arial"/>
              </a:rPr>
              <a:t>Instance</a:t>
            </a:r>
          </a:p>
        </p:txBody>
      </p:sp>
      <p:cxnSp>
        <p:nvCxnSpPr>
          <p:cNvPr id="36" name="Straight Arrow Connector 35">
            <a:extLst>
              <a:ext uri="{FF2B5EF4-FFF2-40B4-BE49-F238E27FC236}">
                <a16:creationId xmlns:a16="http://schemas.microsoft.com/office/drawing/2014/main" id="{9AF18197-8D96-458B-8F42-34A28E7A78C3}"/>
              </a:ext>
            </a:extLst>
          </p:cNvPr>
          <p:cNvCxnSpPr>
            <a:cxnSpLocks/>
          </p:cNvCxnSpPr>
          <p:nvPr/>
        </p:nvCxnSpPr>
        <p:spPr>
          <a:xfrm flipV="1">
            <a:off x="2312773" y="1903865"/>
            <a:ext cx="3108960" cy="1"/>
          </a:xfrm>
          <a:prstGeom prst="straightConnector1">
            <a:avLst/>
          </a:prstGeom>
          <a:ln w="76200">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A97E905F-2FD9-4483-84A6-4E4CFE7A0BBA}"/>
              </a:ext>
            </a:extLst>
          </p:cNvPr>
          <p:cNvCxnSpPr>
            <a:cxnSpLocks/>
          </p:cNvCxnSpPr>
          <p:nvPr/>
        </p:nvCxnSpPr>
        <p:spPr>
          <a:xfrm rot="10800000">
            <a:off x="2407025" y="2292329"/>
            <a:ext cx="1612638" cy="859117"/>
          </a:xfrm>
          <a:prstGeom prst="bentConnector3">
            <a:avLst>
              <a:gd name="adj1" fmla="val 148"/>
            </a:avLst>
          </a:prstGeom>
          <a:ln w="76200">
            <a:tailEnd type="triangle"/>
          </a:ln>
        </p:spPr>
        <p:style>
          <a:lnRef idx="2">
            <a:schemeClr val="accent1"/>
          </a:lnRef>
          <a:fillRef idx="0">
            <a:schemeClr val="accent1"/>
          </a:fillRef>
          <a:effectRef idx="1">
            <a:schemeClr val="accent1"/>
          </a:effectRef>
          <a:fontRef idx="minor">
            <a:schemeClr val="tx1"/>
          </a:fontRef>
        </p:style>
      </p:cxnSp>
      <p:grpSp>
        <p:nvGrpSpPr>
          <p:cNvPr id="60" name="Group 59">
            <a:extLst>
              <a:ext uri="{FF2B5EF4-FFF2-40B4-BE49-F238E27FC236}">
                <a16:creationId xmlns:a16="http://schemas.microsoft.com/office/drawing/2014/main" id="{0891EFAC-47A1-4C77-8C6C-1BA3C06FFD04}"/>
              </a:ext>
            </a:extLst>
          </p:cNvPr>
          <p:cNvGrpSpPr/>
          <p:nvPr/>
        </p:nvGrpSpPr>
        <p:grpSpPr>
          <a:xfrm>
            <a:off x="6951808" y="1690858"/>
            <a:ext cx="431657" cy="524764"/>
            <a:chOff x="6951808" y="1690858"/>
            <a:chExt cx="431657" cy="524764"/>
          </a:xfrm>
        </p:grpSpPr>
        <p:sp>
          <p:nvSpPr>
            <p:cNvPr id="57" name="Rectangle 56">
              <a:extLst>
                <a:ext uri="{FF2B5EF4-FFF2-40B4-BE49-F238E27FC236}">
                  <a16:creationId xmlns:a16="http://schemas.microsoft.com/office/drawing/2014/main" id="{9B069E21-8939-44F3-80D6-F4B10DB34421}"/>
                </a:ext>
              </a:extLst>
            </p:cNvPr>
            <p:cNvSpPr/>
            <p:nvPr/>
          </p:nvSpPr>
          <p:spPr>
            <a:xfrm>
              <a:off x="6951808" y="1690858"/>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B176CAAF-2008-4446-AE67-284454F94078}"/>
                </a:ext>
              </a:extLst>
            </p:cNvPr>
            <p:cNvSpPr/>
            <p:nvPr/>
          </p:nvSpPr>
          <p:spPr>
            <a:xfrm>
              <a:off x="7222390" y="1760337"/>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1FC57B55-7394-4EA1-851E-CED6132BF1CB}"/>
                </a:ext>
              </a:extLst>
            </p:cNvPr>
            <p:cNvSpPr/>
            <p:nvPr/>
          </p:nvSpPr>
          <p:spPr>
            <a:xfrm>
              <a:off x="7075073" y="2022959"/>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6875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0"/>
                                  </p:stCondLst>
                                  <p:childTnLst>
                                    <p:set>
                                      <p:cBhvr>
                                        <p:cTn id="12" dur="1" fill="hold">
                                          <p:stCondLst>
                                            <p:cond delay="0"/>
                                          </p:stCondLst>
                                        </p:cTn>
                                        <p:tgtEl>
                                          <p:spTgt spid="49">
                                            <p:txEl>
                                              <p:pRg st="0" end="0"/>
                                            </p:txEl>
                                          </p:spTgt>
                                        </p:tgtEl>
                                        <p:attrNameLst>
                                          <p:attrName>style.visibility</p:attrName>
                                        </p:attrNameLst>
                                      </p:cBhvr>
                                      <p:to>
                                        <p:strVal val="visible"/>
                                      </p:to>
                                    </p:set>
                                    <p:animEffect transition="in" filter="fade">
                                      <p:cBhvr>
                                        <p:cTn id="13" dur="500"/>
                                        <p:tgtEl>
                                          <p:spTgt spid="4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49">
                                            <p:txEl>
                                              <p:pRg st="1" end="1"/>
                                            </p:txEl>
                                          </p:spTgt>
                                        </p:tgtEl>
                                        <p:attrNameLst>
                                          <p:attrName>style.visibility</p:attrName>
                                        </p:attrNameLst>
                                      </p:cBhvr>
                                      <p:to>
                                        <p:strVal val="visible"/>
                                      </p:to>
                                    </p:set>
                                    <p:animEffect transition="in" filter="fade">
                                      <p:cBhvr>
                                        <p:cTn id="24" dur="500"/>
                                        <p:tgtEl>
                                          <p:spTgt spid="4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9">
                                            <p:txEl>
                                              <p:pRg st="2" end="2"/>
                                            </p:txEl>
                                          </p:spTgt>
                                        </p:tgtEl>
                                        <p:attrNameLst>
                                          <p:attrName>style.visibility</p:attrName>
                                        </p:attrNameLst>
                                      </p:cBhvr>
                                      <p:to>
                                        <p:strVal val="visible"/>
                                      </p:to>
                                    </p:set>
                                    <p:animEffect transition="in" filter="fade">
                                      <p:cBhvr>
                                        <p:cTn id="29" dur="500"/>
                                        <p:tgtEl>
                                          <p:spTgt spid="49">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0">
                                            <p:txEl>
                                              <p:pRg st="0" end="0"/>
                                            </p:txEl>
                                          </p:spTgt>
                                        </p:tgtEl>
                                        <p:attrNameLst>
                                          <p:attrName>style.visibility</p:attrName>
                                        </p:attrNameLst>
                                      </p:cBhvr>
                                      <p:to>
                                        <p:strVal val="visible"/>
                                      </p:to>
                                    </p:set>
                                    <p:animEffect transition="in" filter="fade">
                                      <p:cBhvr>
                                        <p:cTn id="32" dur="500"/>
                                        <p:tgtEl>
                                          <p:spTgt spid="50">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dirty="0"/>
              <a:t>Keep your apps running during the migration</a:t>
            </a:r>
          </a:p>
        </p:txBody>
      </p:sp>
      <p:grpSp>
        <p:nvGrpSpPr>
          <p:cNvPr id="6" name="Group 5">
            <a:extLst>
              <a:ext uri="{FF2B5EF4-FFF2-40B4-BE49-F238E27FC236}">
                <a16:creationId xmlns:a16="http://schemas.microsoft.com/office/drawing/2014/main" id="{E27332F7-1CD4-4669-B4DD-E62F6BB9BA65}"/>
              </a:ext>
            </a:extLst>
          </p:cNvPr>
          <p:cNvGrpSpPr/>
          <p:nvPr/>
        </p:nvGrpSpPr>
        <p:grpSpPr>
          <a:xfrm>
            <a:off x="3357288" y="3176037"/>
            <a:ext cx="1394924" cy="919182"/>
            <a:chOff x="6553695" y="1633152"/>
            <a:chExt cx="1820647" cy="1078983"/>
          </a:xfrm>
        </p:grpSpPr>
        <p:grpSp>
          <p:nvGrpSpPr>
            <p:cNvPr id="7" name="Group 6">
              <a:extLst>
                <a:ext uri="{FF2B5EF4-FFF2-40B4-BE49-F238E27FC236}">
                  <a16:creationId xmlns:a16="http://schemas.microsoft.com/office/drawing/2014/main" id="{7F138BBA-0C36-43BF-ACCD-714A6D4ECC2A}"/>
                </a:ext>
              </a:extLst>
            </p:cNvPr>
            <p:cNvGrpSpPr/>
            <p:nvPr/>
          </p:nvGrpSpPr>
          <p:grpSpPr>
            <a:xfrm>
              <a:off x="6556563" y="1640894"/>
              <a:ext cx="828674" cy="723900"/>
              <a:chOff x="2965450" y="6800850"/>
              <a:chExt cx="828675" cy="723900"/>
            </a:xfrm>
          </p:grpSpPr>
          <p:sp>
            <p:nvSpPr>
              <p:cNvPr id="17" name="Oval 99">
                <a:extLst>
                  <a:ext uri="{FF2B5EF4-FFF2-40B4-BE49-F238E27FC236}">
                    <a16:creationId xmlns:a16="http://schemas.microsoft.com/office/drawing/2014/main" id="{1F8F104D-0690-41D9-BE33-17F977642DD9}"/>
                  </a:ext>
                </a:extLst>
              </p:cNvPr>
              <p:cNvSpPr>
                <a:spLocks noChangeArrowheads="1"/>
              </p:cNvSpPr>
              <p:nvPr/>
            </p:nvSpPr>
            <p:spPr bwMode="auto">
              <a:xfrm>
                <a:off x="3479800"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8" name="Freeform 100">
                <a:extLst>
                  <a:ext uri="{FF2B5EF4-FFF2-40B4-BE49-F238E27FC236}">
                    <a16:creationId xmlns:a16="http://schemas.microsoft.com/office/drawing/2014/main" id="{780154FC-2A16-4A45-A27A-65AA33917B39}"/>
                  </a:ext>
                </a:extLst>
              </p:cNvPr>
              <p:cNvSpPr>
                <a:spLocks/>
              </p:cNvSpPr>
              <p:nvPr/>
            </p:nvSpPr>
            <p:spPr bwMode="auto">
              <a:xfrm>
                <a:off x="3394075" y="7086600"/>
                <a:ext cx="400050" cy="276225"/>
              </a:xfrm>
              <a:custGeom>
                <a:avLst/>
                <a:gdLst/>
                <a:ahLst/>
                <a:cxnLst>
                  <a:cxn ang="0">
                    <a:pos x="29" y="0"/>
                  </a:cxn>
                  <a:cxn ang="0">
                    <a:pos x="14" y="0"/>
                  </a:cxn>
                  <a:cxn ang="0">
                    <a:pos x="13" y="0"/>
                  </a:cxn>
                  <a:cxn ang="0">
                    <a:pos x="0" y="14"/>
                  </a:cxn>
                  <a:cxn ang="0">
                    <a:pos x="0" y="15"/>
                  </a:cxn>
                  <a:cxn ang="0">
                    <a:pos x="6" y="15"/>
                  </a:cxn>
                  <a:cxn ang="0">
                    <a:pos x="22" y="29"/>
                  </a:cxn>
                  <a:cxn ang="0">
                    <a:pos x="33" y="29"/>
                  </a:cxn>
                  <a:cxn ang="0">
                    <a:pos x="33" y="18"/>
                  </a:cxn>
                  <a:cxn ang="0">
                    <a:pos x="35" y="18"/>
                  </a:cxn>
                  <a:cxn ang="0">
                    <a:pos x="35" y="29"/>
                  </a:cxn>
                  <a:cxn ang="0">
                    <a:pos x="42" y="29"/>
                  </a:cxn>
                  <a:cxn ang="0">
                    <a:pos x="42" y="13"/>
                  </a:cxn>
                  <a:cxn ang="0">
                    <a:pos x="29" y="0"/>
                  </a:cxn>
                </a:cxnLst>
                <a:rect l="0" t="0" r="r" b="b"/>
                <a:pathLst>
                  <a:path w="42" h="29">
                    <a:moveTo>
                      <a:pt x="29" y="0"/>
                    </a:moveTo>
                    <a:cubicBezTo>
                      <a:pt x="14" y="0"/>
                      <a:pt x="14" y="0"/>
                      <a:pt x="14" y="0"/>
                    </a:cubicBezTo>
                    <a:cubicBezTo>
                      <a:pt x="13" y="0"/>
                      <a:pt x="13" y="0"/>
                      <a:pt x="13" y="0"/>
                    </a:cubicBezTo>
                    <a:cubicBezTo>
                      <a:pt x="12" y="7"/>
                      <a:pt x="7" y="13"/>
                      <a:pt x="0" y="14"/>
                    </a:cubicBezTo>
                    <a:cubicBezTo>
                      <a:pt x="0" y="15"/>
                      <a:pt x="0" y="15"/>
                      <a:pt x="0" y="15"/>
                    </a:cubicBezTo>
                    <a:cubicBezTo>
                      <a:pt x="6" y="15"/>
                      <a:pt x="6" y="15"/>
                      <a:pt x="6" y="15"/>
                    </a:cubicBezTo>
                    <a:cubicBezTo>
                      <a:pt x="15" y="15"/>
                      <a:pt x="22" y="21"/>
                      <a:pt x="22" y="29"/>
                    </a:cubicBezTo>
                    <a:cubicBezTo>
                      <a:pt x="33" y="29"/>
                      <a:pt x="33" y="29"/>
                      <a:pt x="33" y="29"/>
                    </a:cubicBezTo>
                    <a:cubicBezTo>
                      <a:pt x="33" y="18"/>
                      <a:pt x="33" y="18"/>
                      <a:pt x="33" y="18"/>
                    </a:cubicBezTo>
                    <a:cubicBezTo>
                      <a:pt x="35" y="18"/>
                      <a:pt x="35" y="18"/>
                      <a:pt x="35" y="18"/>
                    </a:cubicBezTo>
                    <a:cubicBezTo>
                      <a:pt x="35" y="29"/>
                      <a:pt x="35" y="29"/>
                      <a:pt x="35" y="29"/>
                    </a:cubicBezTo>
                    <a:cubicBezTo>
                      <a:pt x="42" y="29"/>
                      <a:pt x="42" y="29"/>
                      <a:pt x="42" y="29"/>
                    </a:cubicBezTo>
                    <a:cubicBezTo>
                      <a:pt x="42" y="13"/>
                      <a:pt x="42" y="13"/>
                      <a:pt x="42" y="13"/>
                    </a:cubicBezTo>
                    <a:cubicBezTo>
                      <a:pt x="42"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9" name="Oval 101">
                <a:extLst>
                  <a:ext uri="{FF2B5EF4-FFF2-40B4-BE49-F238E27FC236}">
                    <a16:creationId xmlns:a16="http://schemas.microsoft.com/office/drawing/2014/main" id="{9EADA15C-269F-49C6-AD99-F2725F97AFE5}"/>
                  </a:ext>
                </a:extLst>
              </p:cNvPr>
              <p:cNvSpPr>
                <a:spLocks noChangeArrowheads="1"/>
              </p:cNvSpPr>
              <p:nvPr/>
            </p:nvSpPr>
            <p:spPr bwMode="auto">
              <a:xfrm>
                <a:off x="3051175"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0" name="Freeform 102">
                <a:extLst>
                  <a:ext uri="{FF2B5EF4-FFF2-40B4-BE49-F238E27FC236}">
                    <a16:creationId xmlns:a16="http://schemas.microsoft.com/office/drawing/2014/main" id="{ADACC835-3122-4516-979E-CBC66585B171}"/>
                  </a:ext>
                </a:extLst>
              </p:cNvPr>
              <p:cNvSpPr>
                <a:spLocks/>
              </p:cNvSpPr>
              <p:nvPr/>
            </p:nvSpPr>
            <p:spPr bwMode="auto">
              <a:xfrm>
                <a:off x="2965450" y="7086600"/>
                <a:ext cx="400050" cy="276225"/>
              </a:xfrm>
              <a:custGeom>
                <a:avLst/>
                <a:gdLst/>
                <a:ahLst/>
                <a:cxnLst>
                  <a:cxn ang="0">
                    <a:pos x="20" y="29"/>
                  </a:cxn>
                  <a:cxn ang="0">
                    <a:pos x="36" y="15"/>
                  </a:cxn>
                  <a:cxn ang="0">
                    <a:pos x="42" y="15"/>
                  </a:cxn>
                  <a:cxn ang="0">
                    <a:pos x="42" y="14"/>
                  </a:cxn>
                  <a:cxn ang="0">
                    <a:pos x="29" y="0"/>
                  </a:cxn>
                  <a:cxn ang="0">
                    <a:pos x="29" y="0"/>
                  </a:cxn>
                  <a:cxn ang="0">
                    <a:pos x="14" y="0"/>
                  </a:cxn>
                  <a:cxn ang="0">
                    <a:pos x="0" y="13"/>
                  </a:cxn>
                  <a:cxn ang="0">
                    <a:pos x="0" y="29"/>
                  </a:cxn>
                  <a:cxn ang="0">
                    <a:pos x="7" y="29"/>
                  </a:cxn>
                  <a:cxn ang="0">
                    <a:pos x="7" y="18"/>
                  </a:cxn>
                  <a:cxn ang="0">
                    <a:pos x="9" y="18"/>
                  </a:cxn>
                  <a:cxn ang="0">
                    <a:pos x="9" y="29"/>
                  </a:cxn>
                  <a:cxn ang="0">
                    <a:pos x="20" y="29"/>
                  </a:cxn>
                </a:cxnLst>
                <a:rect l="0" t="0" r="r" b="b"/>
                <a:pathLst>
                  <a:path w="42" h="29">
                    <a:moveTo>
                      <a:pt x="20" y="29"/>
                    </a:moveTo>
                    <a:cubicBezTo>
                      <a:pt x="21" y="21"/>
                      <a:pt x="27" y="15"/>
                      <a:pt x="36" y="15"/>
                    </a:cubicBezTo>
                    <a:cubicBezTo>
                      <a:pt x="42" y="15"/>
                      <a:pt x="42" y="15"/>
                      <a:pt x="42" y="15"/>
                    </a:cubicBezTo>
                    <a:cubicBezTo>
                      <a:pt x="42" y="14"/>
                      <a:pt x="42" y="14"/>
                      <a:pt x="42" y="14"/>
                    </a:cubicBezTo>
                    <a:cubicBezTo>
                      <a:pt x="35" y="13"/>
                      <a:pt x="30" y="7"/>
                      <a:pt x="29" y="0"/>
                    </a:cubicBezTo>
                    <a:cubicBezTo>
                      <a:pt x="29" y="0"/>
                      <a:pt x="29" y="0"/>
                      <a:pt x="29" y="0"/>
                    </a:cubicBezTo>
                    <a:cubicBezTo>
                      <a:pt x="14" y="0"/>
                      <a:pt x="14" y="0"/>
                      <a:pt x="14" y="0"/>
                    </a:cubicBezTo>
                    <a:cubicBezTo>
                      <a:pt x="6" y="0"/>
                      <a:pt x="0" y="5"/>
                      <a:pt x="0" y="13"/>
                    </a:cubicBezTo>
                    <a:cubicBezTo>
                      <a:pt x="0" y="29"/>
                      <a:pt x="0" y="29"/>
                      <a:pt x="0" y="29"/>
                    </a:cubicBezTo>
                    <a:cubicBezTo>
                      <a:pt x="7" y="29"/>
                      <a:pt x="7" y="29"/>
                      <a:pt x="7" y="29"/>
                    </a:cubicBezTo>
                    <a:cubicBezTo>
                      <a:pt x="7" y="18"/>
                      <a:pt x="7" y="18"/>
                      <a:pt x="7" y="18"/>
                    </a:cubicBezTo>
                    <a:cubicBezTo>
                      <a:pt x="9" y="18"/>
                      <a:pt x="9" y="18"/>
                      <a:pt x="9" y="18"/>
                    </a:cubicBezTo>
                    <a:cubicBezTo>
                      <a:pt x="9" y="29"/>
                      <a:pt x="9" y="29"/>
                      <a:pt x="9" y="29"/>
                    </a:cubicBezTo>
                    <a:lnTo>
                      <a:pt x="20" y="29"/>
                    </a:ln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1" name="Oval 103">
                <a:extLst>
                  <a:ext uri="{FF2B5EF4-FFF2-40B4-BE49-F238E27FC236}">
                    <a16:creationId xmlns:a16="http://schemas.microsoft.com/office/drawing/2014/main" id="{616E7063-A9FF-4A15-9D89-1467558391AB}"/>
                  </a:ext>
                </a:extLst>
              </p:cNvPr>
              <p:cNvSpPr>
                <a:spLocks noChangeArrowheads="1"/>
              </p:cNvSpPr>
              <p:nvPr/>
            </p:nvSpPr>
            <p:spPr bwMode="auto">
              <a:xfrm>
                <a:off x="3270250" y="6962775"/>
                <a:ext cx="219075"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22" name="Freeform 104">
                <a:extLst>
                  <a:ext uri="{FF2B5EF4-FFF2-40B4-BE49-F238E27FC236}">
                    <a16:creationId xmlns:a16="http://schemas.microsoft.com/office/drawing/2014/main" id="{7A3B5C8C-3DC7-405F-B629-06C397EC3602}"/>
                  </a:ext>
                </a:extLst>
              </p:cNvPr>
              <p:cNvSpPr>
                <a:spLocks/>
              </p:cNvSpPr>
              <p:nvPr/>
            </p:nvSpPr>
            <p:spPr bwMode="auto">
              <a:xfrm>
                <a:off x="3175000" y="7258050"/>
                <a:ext cx="409575" cy="266700"/>
              </a:xfrm>
              <a:custGeom>
                <a:avLst/>
                <a:gdLst/>
                <a:ahLst/>
                <a:cxnLst>
                  <a:cxn ang="0">
                    <a:pos x="29" y="0"/>
                  </a:cxn>
                  <a:cxn ang="0">
                    <a:pos x="14" y="0"/>
                  </a:cxn>
                  <a:cxn ang="0">
                    <a:pos x="0" y="12"/>
                  </a:cxn>
                  <a:cxn ang="0">
                    <a:pos x="0" y="28"/>
                  </a:cxn>
                  <a:cxn ang="0">
                    <a:pos x="8" y="28"/>
                  </a:cxn>
                  <a:cxn ang="0">
                    <a:pos x="8" y="17"/>
                  </a:cxn>
                  <a:cxn ang="0">
                    <a:pos x="10" y="17"/>
                  </a:cxn>
                  <a:cxn ang="0">
                    <a:pos x="10" y="28"/>
                  </a:cxn>
                  <a:cxn ang="0">
                    <a:pos x="34" y="28"/>
                  </a:cxn>
                  <a:cxn ang="0">
                    <a:pos x="34" y="17"/>
                  </a:cxn>
                  <a:cxn ang="0">
                    <a:pos x="36" y="17"/>
                  </a:cxn>
                  <a:cxn ang="0">
                    <a:pos x="36" y="28"/>
                  </a:cxn>
                  <a:cxn ang="0">
                    <a:pos x="43" y="28"/>
                  </a:cxn>
                  <a:cxn ang="0">
                    <a:pos x="43" y="12"/>
                  </a:cxn>
                  <a:cxn ang="0">
                    <a:pos x="29" y="0"/>
                  </a:cxn>
                </a:cxnLst>
                <a:rect l="0" t="0" r="r" b="b"/>
                <a:pathLst>
                  <a:path w="43" h="28">
                    <a:moveTo>
                      <a:pt x="29" y="0"/>
                    </a:moveTo>
                    <a:cubicBezTo>
                      <a:pt x="14" y="0"/>
                      <a:pt x="14" y="0"/>
                      <a:pt x="14" y="0"/>
                    </a:cubicBezTo>
                    <a:cubicBezTo>
                      <a:pt x="6" y="0"/>
                      <a:pt x="0" y="5"/>
                      <a:pt x="0" y="12"/>
                    </a:cubicBezTo>
                    <a:cubicBezTo>
                      <a:pt x="0" y="28"/>
                      <a:pt x="0" y="28"/>
                      <a:pt x="0" y="28"/>
                    </a:cubicBezTo>
                    <a:cubicBezTo>
                      <a:pt x="8" y="28"/>
                      <a:pt x="8" y="28"/>
                      <a:pt x="8" y="28"/>
                    </a:cubicBezTo>
                    <a:cubicBezTo>
                      <a:pt x="8" y="17"/>
                      <a:pt x="8" y="17"/>
                      <a:pt x="8" y="17"/>
                    </a:cubicBezTo>
                    <a:cubicBezTo>
                      <a:pt x="10" y="17"/>
                      <a:pt x="10" y="17"/>
                      <a:pt x="10" y="17"/>
                    </a:cubicBezTo>
                    <a:cubicBezTo>
                      <a:pt x="10" y="28"/>
                      <a:pt x="10" y="28"/>
                      <a:pt x="10" y="28"/>
                    </a:cubicBezTo>
                    <a:cubicBezTo>
                      <a:pt x="34" y="28"/>
                      <a:pt x="34" y="28"/>
                      <a:pt x="34" y="28"/>
                    </a:cubicBezTo>
                    <a:cubicBezTo>
                      <a:pt x="34" y="17"/>
                      <a:pt x="34" y="17"/>
                      <a:pt x="34" y="17"/>
                    </a:cubicBezTo>
                    <a:cubicBezTo>
                      <a:pt x="36" y="17"/>
                      <a:pt x="36" y="17"/>
                      <a:pt x="36" y="17"/>
                    </a:cubicBezTo>
                    <a:cubicBezTo>
                      <a:pt x="36" y="28"/>
                      <a:pt x="36" y="28"/>
                      <a:pt x="36" y="28"/>
                    </a:cubicBezTo>
                    <a:cubicBezTo>
                      <a:pt x="43" y="28"/>
                      <a:pt x="43" y="28"/>
                      <a:pt x="43" y="28"/>
                    </a:cubicBezTo>
                    <a:cubicBezTo>
                      <a:pt x="43" y="12"/>
                      <a:pt x="43" y="12"/>
                      <a:pt x="43" y="12"/>
                    </a:cubicBezTo>
                    <a:cubicBezTo>
                      <a:pt x="43"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grpSp>
        <p:grpSp>
          <p:nvGrpSpPr>
            <p:cNvPr id="8" name="Group 7">
              <a:extLst>
                <a:ext uri="{FF2B5EF4-FFF2-40B4-BE49-F238E27FC236}">
                  <a16:creationId xmlns:a16="http://schemas.microsoft.com/office/drawing/2014/main" id="{D274FD36-4790-481B-A3B8-4282F5A39C55}"/>
                </a:ext>
              </a:extLst>
            </p:cNvPr>
            <p:cNvGrpSpPr/>
            <p:nvPr/>
          </p:nvGrpSpPr>
          <p:grpSpPr>
            <a:xfrm>
              <a:off x="6553695" y="1633152"/>
              <a:ext cx="1820647" cy="1078983"/>
              <a:chOff x="1030501" y="4061208"/>
              <a:chExt cx="1820647" cy="1078983"/>
            </a:xfrm>
          </p:grpSpPr>
          <p:sp>
            <p:nvSpPr>
              <p:cNvPr id="9" name="TextBox 5">
                <a:extLst>
                  <a:ext uri="{FF2B5EF4-FFF2-40B4-BE49-F238E27FC236}">
                    <a16:creationId xmlns:a16="http://schemas.microsoft.com/office/drawing/2014/main" id="{8891296F-CE35-44F4-8A0C-EE441C458156}"/>
                  </a:ext>
                </a:extLst>
              </p:cNvPr>
              <p:cNvSpPr txBox="1">
                <a:spLocks noChangeArrowheads="1"/>
              </p:cNvSpPr>
              <p:nvPr/>
            </p:nvSpPr>
            <p:spPr bwMode="auto">
              <a:xfrm>
                <a:off x="1030501" y="4870420"/>
                <a:ext cx="1820647" cy="269771"/>
              </a:xfrm>
              <a:prstGeom prst="rect">
                <a:avLst/>
              </a:prstGeom>
              <a:noFill/>
              <a:ln w="9525">
                <a:noFill/>
                <a:miter lim="800000"/>
                <a:headEnd/>
                <a:tailEnd/>
              </a:ln>
            </p:spPr>
            <p:txBody>
              <a:bodyPr wrap="square">
                <a:spAutoFit/>
              </a:bodyPr>
              <a:lstStyle/>
              <a:p>
                <a:pPr algn="ctr"/>
                <a:r>
                  <a:rPr lang="en-US" sz="1300" b="1" dirty="0">
                    <a:solidFill>
                      <a:schemeClr val="bg1"/>
                    </a:solidFill>
                    <a:latin typeface="Arial"/>
                    <a:ea typeface="Verdana" pitchFamily="34" charset="0"/>
                    <a:cs typeface="Arial"/>
                  </a:rPr>
                  <a:t>Application users</a:t>
                </a:r>
              </a:p>
            </p:txBody>
          </p:sp>
          <p:grpSp>
            <p:nvGrpSpPr>
              <p:cNvPr id="10" name="Group 9">
                <a:extLst>
                  <a:ext uri="{FF2B5EF4-FFF2-40B4-BE49-F238E27FC236}">
                    <a16:creationId xmlns:a16="http://schemas.microsoft.com/office/drawing/2014/main" id="{3A897152-2AB8-4F8D-A4FA-8E449F09906A}"/>
                  </a:ext>
                </a:extLst>
              </p:cNvPr>
              <p:cNvGrpSpPr/>
              <p:nvPr/>
            </p:nvGrpSpPr>
            <p:grpSpPr>
              <a:xfrm>
                <a:off x="1972778" y="4061208"/>
                <a:ext cx="828675" cy="723900"/>
                <a:chOff x="2965450" y="6800850"/>
                <a:chExt cx="828675" cy="723900"/>
              </a:xfrm>
            </p:grpSpPr>
            <p:sp>
              <p:nvSpPr>
                <p:cNvPr id="11" name="Oval 99">
                  <a:extLst>
                    <a:ext uri="{FF2B5EF4-FFF2-40B4-BE49-F238E27FC236}">
                      <a16:creationId xmlns:a16="http://schemas.microsoft.com/office/drawing/2014/main" id="{4D920043-E876-47BC-8628-451AB71E0A64}"/>
                    </a:ext>
                  </a:extLst>
                </p:cNvPr>
                <p:cNvSpPr>
                  <a:spLocks noChangeArrowheads="1"/>
                </p:cNvSpPr>
                <p:nvPr/>
              </p:nvSpPr>
              <p:spPr bwMode="auto">
                <a:xfrm>
                  <a:off x="3479800"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2" name="Freeform 100">
                  <a:extLst>
                    <a:ext uri="{FF2B5EF4-FFF2-40B4-BE49-F238E27FC236}">
                      <a16:creationId xmlns:a16="http://schemas.microsoft.com/office/drawing/2014/main" id="{148CC3C9-0B9A-4050-8316-8D7FA4F2501C}"/>
                    </a:ext>
                  </a:extLst>
                </p:cNvPr>
                <p:cNvSpPr>
                  <a:spLocks/>
                </p:cNvSpPr>
                <p:nvPr/>
              </p:nvSpPr>
              <p:spPr bwMode="auto">
                <a:xfrm>
                  <a:off x="3394075" y="7086600"/>
                  <a:ext cx="400050" cy="276225"/>
                </a:xfrm>
                <a:custGeom>
                  <a:avLst/>
                  <a:gdLst/>
                  <a:ahLst/>
                  <a:cxnLst>
                    <a:cxn ang="0">
                      <a:pos x="29" y="0"/>
                    </a:cxn>
                    <a:cxn ang="0">
                      <a:pos x="14" y="0"/>
                    </a:cxn>
                    <a:cxn ang="0">
                      <a:pos x="13" y="0"/>
                    </a:cxn>
                    <a:cxn ang="0">
                      <a:pos x="0" y="14"/>
                    </a:cxn>
                    <a:cxn ang="0">
                      <a:pos x="0" y="15"/>
                    </a:cxn>
                    <a:cxn ang="0">
                      <a:pos x="6" y="15"/>
                    </a:cxn>
                    <a:cxn ang="0">
                      <a:pos x="22" y="29"/>
                    </a:cxn>
                    <a:cxn ang="0">
                      <a:pos x="33" y="29"/>
                    </a:cxn>
                    <a:cxn ang="0">
                      <a:pos x="33" y="18"/>
                    </a:cxn>
                    <a:cxn ang="0">
                      <a:pos x="35" y="18"/>
                    </a:cxn>
                    <a:cxn ang="0">
                      <a:pos x="35" y="29"/>
                    </a:cxn>
                    <a:cxn ang="0">
                      <a:pos x="42" y="29"/>
                    </a:cxn>
                    <a:cxn ang="0">
                      <a:pos x="42" y="13"/>
                    </a:cxn>
                    <a:cxn ang="0">
                      <a:pos x="29" y="0"/>
                    </a:cxn>
                  </a:cxnLst>
                  <a:rect l="0" t="0" r="r" b="b"/>
                  <a:pathLst>
                    <a:path w="42" h="29">
                      <a:moveTo>
                        <a:pt x="29" y="0"/>
                      </a:moveTo>
                      <a:cubicBezTo>
                        <a:pt x="14" y="0"/>
                        <a:pt x="14" y="0"/>
                        <a:pt x="14" y="0"/>
                      </a:cubicBezTo>
                      <a:cubicBezTo>
                        <a:pt x="13" y="0"/>
                        <a:pt x="13" y="0"/>
                        <a:pt x="13" y="0"/>
                      </a:cubicBezTo>
                      <a:cubicBezTo>
                        <a:pt x="12" y="7"/>
                        <a:pt x="7" y="13"/>
                        <a:pt x="0" y="14"/>
                      </a:cubicBezTo>
                      <a:cubicBezTo>
                        <a:pt x="0" y="15"/>
                        <a:pt x="0" y="15"/>
                        <a:pt x="0" y="15"/>
                      </a:cubicBezTo>
                      <a:cubicBezTo>
                        <a:pt x="6" y="15"/>
                        <a:pt x="6" y="15"/>
                        <a:pt x="6" y="15"/>
                      </a:cubicBezTo>
                      <a:cubicBezTo>
                        <a:pt x="15" y="15"/>
                        <a:pt x="22" y="21"/>
                        <a:pt x="22" y="29"/>
                      </a:cubicBezTo>
                      <a:cubicBezTo>
                        <a:pt x="33" y="29"/>
                        <a:pt x="33" y="29"/>
                        <a:pt x="33" y="29"/>
                      </a:cubicBezTo>
                      <a:cubicBezTo>
                        <a:pt x="33" y="18"/>
                        <a:pt x="33" y="18"/>
                        <a:pt x="33" y="18"/>
                      </a:cubicBezTo>
                      <a:cubicBezTo>
                        <a:pt x="35" y="18"/>
                        <a:pt x="35" y="18"/>
                        <a:pt x="35" y="18"/>
                      </a:cubicBezTo>
                      <a:cubicBezTo>
                        <a:pt x="35" y="29"/>
                        <a:pt x="35" y="29"/>
                        <a:pt x="35" y="29"/>
                      </a:cubicBezTo>
                      <a:cubicBezTo>
                        <a:pt x="42" y="29"/>
                        <a:pt x="42" y="29"/>
                        <a:pt x="42" y="29"/>
                      </a:cubicBezTo>
                      <a:cubicBezTo>
                        <a:pt x="42" y="13"/>
                        <a:pt x="42" y="13"/>
                        <a:pt x="42" y="13"/>
                      </a:cubicBezTo>
                      <a:cubicBezTo>
                        <a:pt x="42"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3" name="Oval 101">
                  <a:extLst>
                    <a:ext uri="{FF2B5EF4-FFF2-40B4-BE49-F238E27FC236}">
                      <a16:creationId xmlns:a16="http://schemas.microsoft.com/office/drawing/2014/main" id="{6A26ED8F-F96F-4B21-969D-1D288DFED719}"/>
                    </a:ext>
                  </a:extLst>
                </p:cNvPr>
                <p:cNvSpPr>
                  <a:spLocks noChangeArrowheads="1"/>
                </p:cNvSpPr>
                <p:nvPr/>
              </p:nvSpPr>
              <p:spPr bwMode="auto">
                <a:xfrm>
                  <a:off x="3051175" y="6800850"/>
                  <a:ext cx="228600"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4" name="Freeform 102">
                  <a:extLst>
                    <a:ext uri="{FF2B5EF4-FFF2-40B4-BE49-F238E27FC236}">
                      <a16:creationId xmlns:a16="http://schemas.microsoft.com/office/drawing/2014/main" id="{68ED387E-E788-4C4F-B95F-8D80EC164602}"/>
                    </a:ext>
                  </a:extLst>
                </p:cNvPr>
                <p:cNvSpPr>
                  <a:spLocks/>
                </p:cNvSpPr>
                <p:nvPr/>
              </p:nvSpPr>
              <p:spPr bwMode="auto">
                <a:xfrm>
                  <a:off x="2965450" y="7086600"/>
                  <a:ext cx="400050" cy="276225"/>
                </a:xfrm>
                <a:custGeom>
                  <a:avLst/>
                  <a:gdLst/>
                  <a:ahLst/>
                  <a:cxnLst>
                    <a:cxn ang="0">
                      <a:pos x="20" y="29"/>
                    </a:cxn>
                    <a:cxn ang="0">
                      <a:pos x="36" y="15"/>
                    </a:cxn>
                    <a:cxn ang="0">
                      <a:pos x="42" y="15"/>
                    </a:cxn>
                    <a:cxn ang="0">
                      <a:pos x="42" y="14"/>
                    </a:cxn>
                    <a:cxn ang="0">
                      <a:pos x="29" y="0"/>
                    </a:cxn>
                    <a:cxn ang="0">
                      <a:pos x="29" y="0"/>
                    </a:cxn>
                    <a:cxn ang="0">
                      <a:pos x="14" y="0"/>
                    </a:cxn>
                    <a:cxn ang="0">
                      <a:pos x="0" y="13"/>
                    </a:cxn>
                    <a:cxn ang="0">
                      <a:pos x="0" y="29"/>
                    </a:cxn>
                    <a:cxn ang="0">
                      <a:pos x="7" y="29"/>
                    </a:cxn>
                    <a:cxn ang="0">
                      <a:pos x="7" y="18"/>
                    </a:cxn>
                    <a:cxn ang="0">
                      <a:pos x="9" y="18"/>
                    </a:cxn>
                    <a:cxn ang="0">
                      <a:pos x="9" y="29"/>
                    </a:cxn>
                    <a:cxn ang="0">
                      <a:pos x="20" y="29"/>
                    </a:cxn>
                  </a:cxnLst>
                  <a:rect l="0" t="0" r="r" b="b"/>
                  <a:pathLst>
                    <a:path w="42" h="29">
                      <a:moveTo>
                        <a:pt x="20" y="29"/>
                      </a:moveTo>
                      <a:cubicBezTo>
                        <a:pt x="21" y="21"/>
                        <a:pt x="27" y="15"/>
                        <a:pt x="36" y="15"/>
                      </a:cubicBezTo>
                      <a:cubicBezTo>
                        <a:pt x="42" y="15"/>
                        <a:pt x="42" y="15"/>
                        <a:pt x="42" y="15"/>
                      </a:cubicBezTo>
                      <a:cubicBezTo>
                        <a:pt x="42" y="14"/>
                        <a:pt x="42" y="14"/>
                        <a:pt x="42" y="14"/>
                      </a:cubicBezTo>
                      <a:cubicBezTo>
                        <a:pt x="35" y="13"/>
                        <a:pt x="30" y="7"/>
                        <a:pt x="29" y="0"/>
                      </a:cubicBezTo>
                      <a:cubicBezTo>
                        <a:pt x="29" y="0"/>
                        <a:pt x="29" y="0"/>
                        <a:pt x="29" y="0"/>
                      </a:cubicBezTo>
                      <a:cubicBezTo>
                        <a:pt x="14" y="0"/>
                        <a:pt x="14" y="0"/>
                        <a:pt x="14" y="0"/>
                      </a:cubicBezTo>
                      <a:cubicBezTo>
                        <a:pt x="6" y="0"/>
                        <a:pt x="0" y="5"/>
                        <a:pt x="0" y="13"/>
                      </a:cubicBezTo>
                      <a:cubicBezTo>
                        <a:pt x="0" y="29"/>
                        <a:pt x="0" y="29"/>
                        <a:pt x="0" y="29"/>
                      </a:cubicBezTo>
                      <a:cubicBezTo>
                        <a:pt x="7" y="29"/>
                        <a:pt x="7" y="29"/>
                        <a:pt x="7" y="29"/>
                      </a:cubicBezTo>
                      <a:cubicBezTo>
                        <a:pt x="7" y="18"/>
                        <a:pt x="7" y="18"/>
                        <a:pt x="7" y="18"/>
                      </a:cubicBezTo>
                      <a:cubicBezTo>
                        <a:pt x="9" y="18"/>
                        <a:pt x="9" y="18"/>
                        <a:pt x="9" y="18"/>
                      </a:cubicBezTo>
                      <a:cubicBezTo>
                        <a:pt x="9" y="29"/>
                        <a:pt x="9" y="29"/>
                        <a:pt x="9" y="29"/>
                      </a:cubicBezTo>
                      <a:lnTo>
                        <a:pt x="20" y="29"/>
                      </a:ln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5" name="Oval 103">
                  <a:extLst>
                    <a:ext uri="{FF2B5EF4-FFF2-40B4-BE49-F238E27FC236}">
                      <a16:creationId xmlns:a16="http://schemas.microsoft.com/office/drawing/2014/main" id="{B4CD761E-17E1-47C4-87EA-A7882C65F324}"/>
                    </a:ext>
                  </a:extLst>
                </p:cNvPr>
                <p:cNvSpPr>
                  <a:spLocks noChangeArrowheads="1"/>
                </p:cNvSpPr>
                <p:nvPr/>
              </p:nvSpPr>
              <p:spPr bwMode="auto">
                <a:xfrm>
                  <a:off x="3270250" y="6962775"/>
                  <a:ext cx="219075" cy="228600"/>
                </a:xfrm>
                <a:prstGeom prst="ellipse">
                  <a:avLst/>
                </a:pr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sp>
              <p:nvSpPr>
                <p:cNvPr id="16" name="Freeform 104">
                  <a:extLst>
                    <a:ext uri="{FF2B5EF4-FFF2-40B4-BE49-F238E27FC236}">
                      <a16:creationId xmlns:a16="http://schemas.microsoft.com/office/drawing/2014/main" id="{DB340600-2440-4549-B6AF-91FA88F1B77A}"/>
                    </a:ext>
                  </a:extLst>
                </p:cNvPr>
                <p:cNvSpPr>
                  <a:spLocks/>
                </p:cNvSpPr>
                <p:nvPr/>
              </p:nvSpPr>
              <p:spPr bwMode="auto">
                <a:xfrm>
                  <a:off x="3175000" y="7258050"/>
                  <a:ext cx="409575" cy="266700"/>
                </a:xfrm>
                <a:custGeom>
                  <a:avLst/>
                  <a:gdLst/>
                  <a:ahLst/>
                  <a:cxnLst>
                    <a:cxn ang="0">
                      <a:pos x="29" y="0"/>
                    </a:cxn>
                    <a:cxn ang="0">
                      <a:pos x="14" y="0"/>
                    </a:cxn>
                    <a:cxn ang="0">
                      <a:pos x="0" y="12"/>
                    </a:cxn>
                    <a:cxn ang="0">
                      <a:pos x="0" y="28"/>
                    </a:cxn>
                    <a:cxn ang="0">
                      <a:pos x="8" y="28"/>
                    </a:cxn>
                    <a:cxn ang="0">
                      <a:pos x="8" y="17"/>
                    </a:cxn>
                    <a:cxn ang="0">
                      <a:pos x="10" y="17"/>
                    </a:cxn>
                    <a:cxn ang="0">
                      <a:pos x="10" y="28"/>
                    </a:cxn>
                    <a:cxn ang="0">
                      <a:pos x="34" y="28"/>
                    </a:cxn>
                    <a:cxn ang="0">
                      <a:pos x="34" y="17"/>
                    </a:cxn>
                    <a:cxn ang="0">
                      <a:pos x="36" y="17"/>
                    </a:cxn>
                    <a:cxn ang="0">
                      <a:pos x="36" y="28"/>
                    </a:cxn>
                    <a:cxn ang="0">
                      <a:pos x="43" y="28"/>
                    </a:cxn>
                    <a:cxn ang="0">
                      <a:pos x="43" y="12"/>
                    </a:cxn>
                    <a:cxn ang="0">
                      <a:pos x="29" y="0"/>
                    </a:cxn>
                  </a:cxnLst>
                  <a:rect l="0" t="0" r="r" b="b"/>
                  <a:pathLst>
                    <a:path w="43" h="28">
                      <a:moveTo>
                        <a:pt x="29" y="0"/>
                      </a:moveTo>
                      <a:cubicBezTo>
                        <a:pt x="14" y="0"/>
                        <a:pt x="14" y="0"/>
                        <a:pt x="14" y="0"/>
                      </a:cubicBezTo>
                      <a:cubicBezTo>
                        <a:pt x="6" y="0"/>
                        <a:pt x="0" y="5"/>
                        <a:pt x="0" y="12"/>
                      </a:cubicBezTo>
                      <a:cubicBezTo>
                        <a:pt x="0" y="28"/>
                        <a:pt x="0" y="28"/>
                        <a:pt x="0" y="28"/>
                      </a:cubicBezTo>
                      <a:cubicBezTo>
                        <a:pt x="8" y="28"/>
                        <a:pt x="8" y="28"/>
                        <a:pt x="8" y="28"/>
                      </a:cubicBezTo>
                      <a:cubicBezTo>
                        <a:pt x="8" y="17"/>
                        <a:pt x="8" y="17"/>
                        <a:pt x="8" y="17"/>
                      </a:cubicBezTo>
                      <a:cubicBezTo>
                        <a:pt x="10" y="17"/>
                        <a:pt x="10" y="17"/>
                        <a:pt x="10" y="17"/>
                      </a:cubicBezTo>
                      <a:cubicBezTo>
                        <a:pt x="10" y="28"/>
                        <a:pt x="10" y="28"/>
                        <a:pt x="10" y="28"/>
                      </a:cubicBezTo>
                      <a:cubicBezTo>
                        <a:pt x="34" y="28"/>
                        <a:pt x="34" y="28"/>
                        <a:pt x="34" y="28"/>
                      </a:cubicBezTo>
                      <a:cubicBezTo>
                        <a:pt x="34" y="17"/>
                        <a:pt x="34" y="17"/>
                        <a:pt x="34" y="17"/>
                      </a:cubicBezTo>
                      <a:cubicBezTo>
                        <a:pt x="36" y="17"/>
                        <a:pt x="36" y="17"/>
                        <a:pt x="36" y="17"/>
                      </a:cubicBezTo>
                      <a:cubicBezTo>
                        <a:pt x="36" y="28"/>
                        <a:pt x="36" y="28"/>
                        <a:pt x="36" y="28"/>
                      </a:cubicBezTo>
                      <a:cubicBezTo>
                        <a:pt x="43" y="28"/>
                        <a:pt x="43" y="28"/>
                        <a:pt x="43" y="28"/>
                      </a:cubicBezTo>
                      <a:cubicBezTo>
                        <a:pt x="43" y="12"/>
                        <a:pt x="43" y="12"/>
                        <a:pt x="43" y="12"/>
                      </a:cubicBezTo>
                      <a:cubicBezTo>
                        <a:pt x="43" y="5"/>
                        <a:pt x="37" y="0"/>
                        <a:pt x="29" y="0"/>
                      </a:cubicBezTo>
                      <a:close/>
                    </a:path>
                  </a:pathLst>
                </a:custGeom>
                <a:solidFill>
                  <a:srgbClr val="C5C7C9"/>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a:cs typeface="Arial"/>
                  </a:endParaRPr>
                </a:p>
              </p:txBody>
            </p:sp>
          </p:grpSp>
        </p:grpSp>
      </p:grpSp>
      <p:sp>
        <p:nvSpPr>
          <p:cNvPr id="23" name="TextBox 34">
            <a:extLst>
              <a:ext uri="{FF2B5EF4-FFF2-40B4-BE49-F238E27FC236}">
                <a16:creationId xmlns:a16="http://schemas.microsoft.com/office/drawing/2014/main" id="{795A7B60-86CF-4429-8A0A-C17B4F56C26E}"/>
              </a:ext>
            </a:extLst>
          </p:cNvPr>
          <p:cNvSpPr txBox="1">
            <a:spLocks noChangeArrowheads="1"/>
          </p:cNvSpPr>
          <p:nvPr/>
        </p:nvSpPr>
        <p:spPr bwMode="auto">
          <a:xfrm>
            <a:off x="4927395" y="684521"/>
            <a:ext cx="652147" cy="323163"/>
          </a:xfrm>
          <a:prstGeom prst="rect">
            <a:avLst/>
          </a:prstGeom>
          <a:noFill/>
          <a:ln w="9525">
            <a:noFill/>
            <a:miter lim="800000"/>
            <a:headEnd/>
            <a:tailEnd/>
          </a:ln>
        </p:spPr>
        <p:txBody>
          <a:bodyPr wrap="square" lIns="121917" tIns="60959" rIns="121917" bIns="60959">
            <a:spAutoFit/>
          </a:bodyPr>
          <a:lstStyle/>
          <a:p>
            <a:pPr algn="r"/>
            <a:r>
              <a:rPr lang="en-US" sz="1300" b="1" dirty="0">
                <a:solidFill>
                  <a:schemeClr val="bg1"/>
                </a:solidFill>
                <a:latin typeface="Amazon Ember Regular"/>
                <a:ea typeface="Verdana" pitchFamily="34" charset="0"/>
                <a:cs typeface="Arial"/>
              </a:rPr>
              <a:t>AWS</a:t>
            </a:r>
          </a:p>
        </p:txBody>
      </p:sp>
      <p:grpSp>
        <p:nvGrpSpPr>
          <p:cNvPr id="54" name="Group 53">
            <a:extLst>
              <a:ext uri="{FF2B5EF4-FFF2-40B4-BE49-F238E27FC236}">
                <a16:creationId xmlns:a16="http://schemas.microsoft.com/office/drawing/2014/main" id="{2A301CAB-23A5-4A12-8F69-6339B4AA3AB1}"/>
              </a:ext>
            </a:extLst>
          </p:cNvPr>
          <p:cNvGrpSpPr/>
          <p:nvPr/>
        </p:nvGrpSpPr>
        <p:grpSpPr>
          <a:xfrm>
            <a:off x="6862755" y="1370975"/>
            <a:ext cx="723419" cy="964009"/>
            <a:chOff x="6244685" y="1831522"/>
            <a:chExt cx="723419" cy="964009"/>
          </a:xfrm>
        </p:grpSpPr>
        <p:sp>
          <p:nvSpPr>
            <p:cNvPr id="31" name="Can 79">
              <a:extLst>
                <a:ext uri="{FF2B5EF4-FFF2-40B4-BE49-F238E27FC236}">
                  <a16:creationId xmlns:a16="http://schemas.microsoft.com/office/drawing/2014/main" id="{80A5132E-3283-4564-A30D-3F891A2540A3}"/>
                </a:ext>
              </a:extLst>
            </p:cNvPr>
            <p:cNvSpPr/>
            <p:nvPr/>
          </p:nvSpPr>
          <p:spPr>
            <a:xfrm>
              <a:off x="6248833" y="1831522"/>
              <a:ext cx="719271" cy="956629"/>
            </a:xfrm>
            <a:prstGeom prst="can">
              <a:avLst/>
            </a:prstGeom>
          </p:spPr>
          <p:style>
            <a:lnRef idx="1">
              <a:schemeClr val="accent1"/>
            </a:lnRef>
            <a:fillRef idx="3">
              <a:schemeClr val="accent1"/>
            </a:fillRef>
            <a:effectRef idx="2">
              <a:schemeClr val="accent1"/>
            </a:effectRef>
            <a:fontRef idx="minor">
              <a:schemeClr val="lt1"/>
            </a:fontRef>
          </p:style>
          <p:txBody>
            <a:bodyPr lIns="121917" tIns="60959" rIns="121917" bIns="60959" rtlCol="0" anchor="ctr"/>
            <a:lstStyle/>
            <a:p>
              <a:pPr algn="ctr"/>
              <a:endParaRPr lang="en-US" dirty="0"/>
            </a:p>
          </p:txBody>
        </p:sp>
        <p:sp>
          <p:nvSpPr>
            <p:cNvPr id="33" name="Can 80">
              <a:extLst>
                <a:ext uri="{FF2B5EF4-FFF2-40B4-BE49-F238E27FC236}">
                  <a16:creationId xmlns:a16="http://schemas.microsoft.com/office/drawing/2014/main" id="{1BF15358-F68F-4288-A755-E937A2DF7E9F}"/>
                </a:ext>
              </a:extLst>
            </p:cNvPr>
            <p:cNvSpPr/>
            <p:nvPr/>
          </p:nvSpPr>
          <p:spPr>
            <a:xfrm>
              <a:off x="6244685" y="1838902"/>
              <a:ext cx="719271" cy="956629"/>
            </a:xfrm>
            <a:prstGeom prst="can">
              <a:avLst/>
            </a:prstGeom>
            <a:noFill/>
          </p:spPr>
          <p:style>
            <a:lnRef idx="1">
              <a:schemeClr val="accent1"/>
            </a:lnRef>
            <a:fillRef idx="3">
              <a:schemeClr val="accent1"/>
            </a:fillRef>
            <a:effectRef idx="2">
              <a:schemeClr val="accent1"/>
            </a:effectRef>
            <a:fontRef idx="minor">
              <a:schemeClr val="lt1"/>
            </a:fontRef>
          </p:style>
          <p:txBody>
            <a:bodyPr lIns="121917" tIns="60959" rIns="121917" bIns="60959" rtlCol="0" anchor="ctr"/>
            <a:lstStyle/>
            <a:p>
              <a:pPr algn="ctr"/>
              <a:endParaRPr lang="en-US" dirty="0"/>
            </a:p>
          </p:txBody>
        </p:sp>
      </p:grpSp>
      <p:sp>
        <p:nvSpPr>
          <p:cNvPr id="46" name="Rounded Rectangle 45">
            <a:extLst>
              <a:ext uri="{FF2B5EF4-FFF2-40B4-BE49-F238E27FC236}">
                <a16:creationId xmlns:a16="http://schemas.microsoft.com/office/drawing/2014/main" id="{E9F49B4D-4F08-4BF6-9EC0-58BA47AD431E}"/>
              </a:ext>
            </a:extLst>
          </p:cNvPr>
          <p:cNvSpPr/>
          <p:nvPr/>
        </p:nvSpPr>
        <p:spPr bwMode="auto">
          <a:xfrm>
            <a:off x="4955302" y="956096"/>
            <a:ext cx="3114805" cy="1974525"/>
          </a:xfrm>
          <a:prstGeom prst="roundRect">
            <a:avLst>
              <a:gd name="adj" fmla="val 9818"/>
            </a:avLst>
          </a:prstGeom>
          <a:noFill/>
          <a:ln w="19050">
            <a:solidFill>
              <a:schemeClr val="accent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sp>
        <p:nvSpPr>
          <p:cNvPr id="47" name="Rounded Rectangle 46">
            <a:extLst>
              <a:ext uri="{FF2B5EF4-FFF2-40B4-BE49-F238E27FC236}">
                <a16:creationId xmlns:a16="http://schemas.microsoft.com/office/drawing/2014/main" id="{0EE36028-AE98-409F-8948-2A2122D9F383}"/>
              </a:ext>
            </a:extLst>
          </p:cNvPr>
          <p:cNvSpPr/>
          <p:nvPr/>
        </p:nvSpPr>
        <p:spPr bwMode="auto">
          <a:xfrm>
            <a:off x="4955302" y="956096"/>
            <a:ext cx="3114805" cy="1974525"/>
          </a:xfrm>
          <a:prstGeom prst="roundRect">
            <a:avLst>
              <a:gd name="adj" fmla="val 9818"/>
            </a:avLst>
          </a:prstGeom>
          <a:noFill/>
          <a:ln w="19050">
            <a:solidFill>
              <a:schemeClr val="accent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Arial"/>
              <a:cs typeface="Arial"/>
            </a:endParaRPr>
          </a:p>
        </p:txBody>
      </p:sp>
      <p:sp>
        <p:nvSpPr>
          <p:cNvPr id="49" name="Content Placeholder 2">
            <a:extLst>
              <a:ext uri="{FF2B5EF4-FFF2-40B4-BE49-F238E27FC236}">
                <a16:creationId xmlns:a16="http://schemas.microsoft.com/office/drawing/2014/main" id="{51C87B94-6D89-4303-A7A0-98870C8F39A7}"/>
              </a:ext>
            </a:extLst>
          </p:cNvPr>
          <p:cNvSpPr txBox="1">
            <a:spLocks/>
          </p:cNvSpPr>
          <p:nvPr/>
        </p:nvSpPr>
        <p:spPr>
          <a:xfrm>
            <a:off x="252223" y="3104819"/>
            <a:ext cx="2998496" cy="1303789"/>
          </a:xfrm>
          <a:prstGeom prst="rect">
            <a:avLst/>
          </a:prstGeom>
        </p:spPr>
        <p:txBody>
          <a:bodyPr>
            <a:normAutofit fontScale="92500" lnSpcReduction="20000"/>
          </a:bodyPr>
          <a:lst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Courier New" panose="02070309020205020404" pitchFamily="49" charset="0"/>
              <a:buChar char="o"/>
            </a:pPr>
            <a:r>
              <a:rPr lang="en-US" sz="1600" dirty="0"/>
              <a:t>Start DMS replication instance</a:t>
            </a:r>
          </a:p>
          <a:p>
            <a:pPr marL="285750" indent="-285750">
              <a:buFont typeface="Courier New" panose="02070309020205020404" pitchFamily="49" charset="0"/>
              <a:buChar char="o"/>
            </a:pPr>
            <a:r>
              <a:rPr lang="en-US" sz="1600" dirty="0"/>
              <a:t>Connect to source and target databases</a:t>
            </a:r>
          </a:p>
          <a:p>
            <a:pPr marL="285750" indent="-285750">
              <a:buFont typeface="Courier New" panose="02070309020205020404" pitchFamily="49" charset="0"/>
              <a:buChar char="o"/>
            </a:pPr>
            <a:r>
              <a:rPr lang="en-US" sz="1600" dirty="0"/>
              <a:t>Select tables, schemas, or databases</a:t>
            </a:r>
          </a:p>
          <a:p>
            <a:endParaRPr lang="en-US" dirty="0"/>
          </a:p>
        </p:txBody>
      </p:sp>
      <p:sp>
        <p:nvSpPr>
          <p:cNvPr id="50" name="Content Placeholder 2">
            <a:extLst>
              <a:ext uri="{FF2B5EF4-FFF2-40B4-BE49-F238E27FC236}">
                <a16:creationId xmlns:a16="http://schemas.microsoft.com/office/drawing/2014/main" id="{E76D002F-80E9-4F13-AFED-67F3EBE69B35}"/>
              </a:ext>
            </a:extLst>
          </p:cNvPr>
          <p:cNvSpPr txBox="1">
            <a:spLocks/>
          </p:cNvSpPr>
          <p:nvPr/>
        </p:nvSpPr>
        <p:spPr>
          <a:xfrm>
            <a:off x="5136262" y="3132929"/>
            <a:ext cx="3556528" cy="1531125"/>
          </a:xfrm>
          <a:prstGeom prst="rect">
            <a:avLst/>
          </a:prstGeom>
        </p:spPr>
        <p:txBody>
          <a:bodyPr vert="horz" lIns="121917" tIns="60959" rIns="121917" bIns="60959" rtlCol="0">
            <a:noAutofit/>
          </a:bodyPr>
          <a:lstStyle>
            <a:lvl1pPr marL="342900" indent="-342900" algn="l" defTabSz="457200" rtl="0" eaLnBrk="1" latinLnBrk="0" hangingPunct="1">
              <a:spcBef>
                <a:spcPct val="20000"/>
              </a:spcBef>
              <a:buFont typeface="Arial"/>
              <a:buChar char="•"/>
              <a:defRPr sz="2800" b="0" i="0" kern="1200">
                <a:solidFill>
                  <a:srgbClr val="595A5D"/>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595A5D"/>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595A5D"/>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62460" indent="-262460" defTabSz="1219170">
              <a:lnSpc>
                <a:spcPct val="90000"/>
              </a:lnSpc>
              <a:buClr>
                <a:srgbClr val="F59300"/>
              </a:buClr>
              <a:buSzPct val="80000"/>
              <a:buFont typeface="Wingdings 2" pitchFamily="18" charset="2"/>
              <a:buChar char="®"/>
            </a:pPr>
            <a:r>
              <a:rPr lang="en-US" sz="1600" dirty="0">
                <a:solidFill>
                  <a:schemeClr val="bg1"/>
                </a:solidFill>
                <a:latin typeface="Arial" pitchFamily="34" charset="0"/>
                <a:cs typeface="Arial" pitchFamily="34" charset="0"/>
              </a:rPr>
              <a:t>Let AWS DMS create tables, load data, and keep them in sync</a:t>
            </a:r>
          </a:p>
          <a:p>
            <a:pPr marL="262460" indent="-262460" defTabSz="1219170">
              <a:lnSpc>
                <a:spcPct val="90000"/>
              </a:lnSpc>
              <a:buClr>
                <a:srgbClr val="F59300"/>
              </a:buClr>
              <a:buSzPct val="80000"/>
              <a:buFont typeface="Wingdings 2" pitchFamily="18" charset="2"/>
              <a:buChar char="®"/>
            </a:pPr>
            <a:r>
              <a:rPr lang="en-US" sz="1600" dirty="0">
                <a:solidFill>
                  <a:schemeClr val="bg1"/>
                </a:solidFill>
                <a:latin typeface="Arial" pitchFamily="34" charset="0"/>
                <a:cs typeface="Arial" pitchFamily="34" charset="0"/>
              </a:rPr>
              <a:t>Switch applications over to the target at your convenience</a:t>
            </a:r>
          </a:p>
          <a:p>
            <a:pPr marL="262460" indent="-262460" defTabSz="1219170">
              <a:lnSpc>
                <a:spcPct val="90000"/>
              </a:lnSpc>
              <a:buClr>
                <a:srgbClr val="F59300"/>
              </a:buClr>
              <a:buSzPct val="80000"/>
              <a:buFont typeface="Wingdings 2" pitchFamily="18" charset="2"/>
              <a:buChar char="®"/>
            </a:pPr>
            <a:r>
              <a:rPr lang="en-US" sz="1600" dirty="0">
                <a:solidFill>
                  <a:schemeClr val="bg1"/>
                </a:solidFill>
                <a:latin typeface="Arial" pitchFamily="34" charset="0"/>
                <a:cs typeface="Arial" pitchFamily="34" charset="0"/>
              </a:rPr>
              <a:t>Dismantle migration infrastructure</a:t>
            </a:r>
          </a:p>
        </p:txBody>
      </p:sp>
      <p:cxnSp>
        <p:nvCxnSpPr>
          <p:cNvPr id="34" name="Connector: Elbow 33">
            <a:extLst>
              <a:ext uri="{FF2B5EF4-FFF2-40B4-BE49-F238E27FC236}">
                <a16:creationId xmlns:a16="http://schemas.microsoft.com/office/drawing/2014/main" id="{208ABF40-0A3B-4C4B-B284-4EEBFBC8B9EE}"/>
              </a:ext>
            </a:extLst>
          </p:cNvPr>
          <p:cNvCxnSpPr>
            <a:cxnSpLocks/>
          </p:cNvCxnSpPr>
          <p:nvPr/>
        </p:nvCxnSpPr>
        <p:spPr>
          <a:xfrm flipV="1">
            <a:off x="4054750" y="1856668"/>
            <a:ext cx="2827159" cy="1284574"/>
          </a:xfrm>
          <a:prstGeom prst="bentConnector3">
            <a:avLst>
              <a:gd name="adj1" fmla="val -143"/>
            </a:avLst>
          </a:prstGeom>
          <a:ln w="76200">
            <a:tailEnd type="triangle"/>
          </a:ln>
        </p:spPr>
        <p:style>
          <a:lnRef idx="2">
            <a:schemeClr val="accent1"/>
          </a:lnRef>
          <a:fillRef idx="0">
            <a:schemeClr val="accent1"/>
          </a:fillRef>
          <a:effectRef idx="1">
            <a:schemeClr val="accent1"/>
          </a:effectRef>
          <a:fontRef idx="minor">
            <a:schemeClr val="tx1"/>
          </a:fontRef>
        </p:style>
      </p:cxnSp>
      <p:grpSp>
        <p:nvGrpSpPr>
          <p:cNvPr id="60" name="Group 59">
            <a:extLst>
              <a:ext uri="{FF2B5EF4-FFF2-40B4-BE49-F238E27FC236}">
                <a16:creationId xmlns:a16="http://schemas.microsoft.com/office/drawing/2014/main" id="{0891EFAC-47A1-4C77-8C6C-1BA3C06FFD04}"/>
              </a:ext>
            </a:extLst>
          </p:cNvPr>
          <p:cNvGrpSpPr/>
          <p:nvPr/>
        </p:nvGrpSpPr>
        <p:grpSpPr>
          <a:xfrm>
            <a:off x="6951808" y="1690858"/>
            <a:ext cx="431657" cy="524764"/>
            <a:chOff x="6951808" y="1690858"/>
            <a:chExt cx="431657" cy="524764"/>
          </a:xfrm>
        </p:grpSpPr>
        <p:sp>
          <p:nvSpPr>
            <p:cNvPr id="57" name="Rectangle 56">
              <a:extLst>
                <a:ext uri="{FF2B5EF4-FFF2-40B4-BE49-F238E27FC236}">
                  <a16:creationId xmlns:a16="http://schemas.microsoft.com/office/drawing/2014/main" id="{9B069E21-8939-44F3-80D6-F4B10DB34421}"/>
                </a:ext>
              </a:extLst>
            </p:cNvPr>
            <p:cNvSpPr/>
            <p:nvPr/>
          </p:nvSpPr>
          <p:spPr>
            <a:xfrm>
              <a:off x="6951808" y="1690858"/>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B176CAAF-2008-4446-AE67-284454F94078}"/>
                </a:ext>
              </a:extLst>
            </p:cNvPr>
            <p:cNvSpPr/>
            <p:nvPr/>
          </p:nvSpPr>
          <p:spPr>
            <a:xfrm>
              <a:off x="7222390" y="1760337"/>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1FC57B55-7394-4EA1-851E-CED6132BF1CB}"/>
                </a:ext>
              </a:extLst>
            </p:cNvPr>
            <p:cNvSpPr/>
            <p:nvPr/>
          </p:nvSpPr>
          <p:spPr>
            <a:xfrm>
              <a:off x="7075073" y="2022959"/>
              <a:ext cx="161075" cy="192663"/>
            </a:xfrm>
            <a:prstGeom prst="rect">
              <a:avLst/>
            </a:prstGeom>
            <a:gradFill flip="none" rotWithShape="1">
              <a:gsLst>
                <a:gs pos="0">
                  <a:schemeClr val="tx2"/>
                </a:gs>
                <a:gs pos="100000">
                  <a:schemeClr val="bg1"/>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583470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What else can DMS do? – Take it all, or Not</a:t>
            </a:r>
            <a:endParaRPr lang="en-US" b="1" dirty="0"/>
          </a:p>
        </p:txBody>
      </p:sp>
      <p:grpSp>
        <p:nvGrpSpPr>
          <p:cNvPr id="26" name="Group 25">
            <a:extLst>
              <a:ext uri="{FF2B5EF4-FFF2-40B4-BE49-F238E27FC236}">
                <a16:creationId xmlns:a16="http://schemas.microsoft.com/office/drawing/2014/main" id="{5FA25092-E657-4800-9483-23CACC6B25B8}"/>
              </a:ext>
            </a:extLst>
          </p:cNvPr>
          <p:cNvGrpSpPr/>
          <p:nvPr/>
        </p:nvGrpSpPr>
        <p:grpSpPr>
          <a:xfrm>
            <a:off x="1791173" y="1378336"/>
            <a:ext cx="1181551" cy="2629330"/>
            <a:chOff x="2388231" y="1837781"/>
            <a:chExt cx="1575402" cy="3505773"/>
          </a:xfrm>
        </p:grpSpPr>
        <p:sp>
          <p:nvSpPr>
            <p:cNvPr id="27" name="TextBox 26">
              <a:extLst>
                <a:ext uri="{FF2B5EF4-FFF2-40B4-BE49-F238E27FC236}">
                  <a16:creationId xmlns:a16="http://schemas.microsoft.com/office/drawing/2014/main" id="{4B967127-1887-4447-8EC1-6E2F185FD0FE}"/>
                </a:ext>
              </a:extLst>
            </p:cNvPr>
            <p:cNvSpPr txBox="1"/>
            <p:nvPr/>
          </p:nvSpPr>
          <p:spPr>
            <a:xfrm>
              <a:off x="2388231" y="1837781"/>
              <a:ext cx="1181100"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Source</a:t>
              </a:r>
            </a:p>
          </p:txBody>
        </p:sp>
        <p:grpSp>
          <p:nvGrpSpPr>
            <p:cNvPr id="28" name="Group 27">
              <a:extLst>
                <a:ext uri="{FF2B5EF4-FFF2-40B4-BE49-F238E27FC236}">
                  <a16:creationId xmlns:a16="http://schemas.microsoft.com/office/drawing/2014/main" id="{EA0319C2-0809-4BFD-B5B3-ED4F69B4C896}"/>
                </a:ext>
              </a:extLst>
            </p:cNvPr>
            <p:cNvGrpSpPr/>
            <p:nvPr/>
          </p:nvGrpSpPr>
          <p:grpSpPr>
            <a:xfrm>
              <a:off x="2527262" y="2211629"/>
              <a:ext cx="1436371" cy="3131925"/>
              <a:chOff x="2527262" y="2211629"/>
              <a:chExt cx="1436371" cy="3131925"/>
            </a:xfrm>
          </p:grpSpPr>
          <p:sp>
            <p:nvSpPr>
              <p:cNvPr id="29" name="Rectangle 28">
                <a:extLst>
                  <a:ext uri="{FF2B5EF4-FFF2-40B4-BE49-F238E27FC236}">
                    <a16:creationId xmlns:a16="http://schemas.microsoft.com/office/drawing/2014/main" id="{C8E95763-64AD-49E0-A475-BC0692E32D38}"/>
                  </a:ext>
                </a:extLst>
              </p:cNvPr>
              <p:cNvSpPr/>
              <p:nvPr/>
            </p:nvSpPr>
            <p:spPr>
              <a:xfrm>
                <a:off x="2527262" y="2211629"/>
                <a:ext cx="1436371" cy="3131925"/>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0" name="Can 2">
                <a:extLst>
                  <a:ext uri="{FF2B5EF4-FFF2-40B4-BE49-F238E27FC236}">
                    <a16:creationId xmlns:a16="http://schemas.microsoft.com/office/drawing/2014/main" id="{0FF4CF0A-3B5A-42B4-8DB5-2BA6924FFFB3}"/>
                  </a:ext>
                </a:extLst>
              </p:cNvPr>
              <p:cNvSpPr/>
              <p:nvPr/>
            </p:nvSpPr>
            <p:spPr>
              <a:xfrm>
                <a:off x="2679662" y="2337999"/>
                <a:ext cx="1131571" cy="2808795"/>
              </a:xfrm>
              <a:prstGeom prst="can">
                <a:avLst/>
              </a:prstGeom>
              <a:solidFill>
                <a:srgbClr val="FFFFFF"/>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1" name="Flowchart: Process 30">
                <a:extLst>
                  <a:ext uri="{FF2B5EF4-FFF2-40B4-BE49-F238E27FC236}">
                    <a16:creationId xmlns:a16="http://schemas.microsoft.com/office/drawing/2014/main" id="{3838D0C3-B103-4230-801F-26048AF2A7E7}"/>
                  </a:ext>
                </a:extLst>
              </p:cNvPr>
              <p:cNvSpPr/>
              <p:nvPr/>
            </p:nvSpPr>
            <p:spPr>
              <a:xfrm>
                <a:off x="3110958" y="2756633"/>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2" name="Flowchart: Process 31">
                <a:extLst>
                  <a:ext uri="{FF2B5EF4-FFF2-40B4-BE49-F238E27FC236}">
                    <a16:creationId xmlns:a16="http://schemas.microsoft.com/office/drawing/2014/main" id="{85CC760C-8763-4747-808E-6F355B210597}"/>
                  </a:ext>
                </a:extLst>
              </p:cNvPr>
              <p:cNvSpPr/>
              <p:nvPr/>
            </p:nvSpPr>
            <p:spPr>
              <a:xfrm>
                <a:off x="3110958" y="3157991"/>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3" name="Flowchart: Process 32">
                <a:extLst>
                  <a:ext uri="{FF2B5EF4-FFF2-40B4-BE49-F238E27FC236}">
                    <a16:creationId xmlns:a16="http://schemas.microsoft.com/office/drawing/2014/main" id="{09D12FEC-66EE-4FDB-AFEA-B1FDBD857BAC}"/>
                  </a:ext>
                </a:extLst>
              </p:cNvPr>
              <p:cNvSpPr/>
              <p:nvPr/>
            </p:nvSpPr>
            <p:spPr>
              <a:xfrm>
                <a:off x="3110958" y="3559349"/>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grpSp>
      <p:grpSp>
        <p:nvGrpSpPr>
          <p:cNvPr id="34" name="Group 33">
            <a:extLst>
              <a:ext uri="{FF2B5EF4-FFF2-40B4-BE49-F238E27FC236}">
                <a16:creationId xmlns:a16="http://schemas.microsoft.com/office/drawing/2014/main" id="{130DD82C-3F60-49B2-AF9B-C906711AC5FE}"/>
              </a:ext>
            </a:extLst>
          </p:cNvPr>
          <p:cNvGrpSpPr/>
          <p:nvPr/>
        </p:nvGrpSpPr>
        <p:grpSpPr>
          <a:xfrm>
            <a:off x="2333219" y="2972505"/>
            <a:ext cx="201735" cy="294655"/>
            <a:chOff x="3110957" y="3960707"/>
            <a:chExt cx="268980" cy="392873"/>
          </a:xfrm>
        </p:grpSpPr>
        <p:sp>
          <p:nvSpPr>
            <p:cNvPr id="35" name="Flowchart: Process 34">
              <a:extLst>
                <a:ext uri="{FF2B5EF4-FFF2-40B4-BE49-F238E27FC236}">
                  <a16:creationId xmlns:a16="http://schemas.microsoft.com/office/drawing/2014/main" id="{57F59D66-5057-4958-9716-78B67CCCB733}"/>
                </a:ext>
              </a:extLst>
            </p:cNvPr>
            <p:cNvSpPr/>
            <p:nvPr/>
          </p:nvSpPr>
          <p:spPr>
            <a:xfrm>
              <a:off x="3110958" y="3960707"/>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6" name="Flowchart: Process 35">
              <a:extLst>
                <a:ext uri="{FF2B5EF4-FFF2-40B4-BE49-F238E27FC236}">
                  <a16:creationId xmlns:a16="http://schemas.microsoft.com/office/drawing/2014/main" id="{43533AEA-857A-4658-9EB4-880C43D4D4B6}"/>
                </a:ext>
              </a:extLst>
            </p:cNvPr>
            <p:cNvSpPr/>
            <p:nvPr/>
          </p:nvSpPr>
          <p:spPr>
            <a:xfrm>
              <a:off x="3110957" y="4159216"/>
              <a:ext cx="268979" cy="194364"/>
            </a:xfrm>
            <a:prstGeom prst="flowChartProcess">
              <a:avLst/>
            </a:prstGeom>
            <a:solidFill>
              <a:srgbClr val="FFFFFF"/>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sp>
        <p:nvSpPr>
          <p:cNvPr id="37" name="Flowchart: Process 36">
            <a:extLst>
              <a:ext uri="{FF2B5EF4-FFF2-40B4-BE49-F238E27FC236}">
                <a16:creationId xmlns:a16="http://schemas.microsoft.com/office/drawing/2014/main" id="{B8BC5911-1102-4BCB-8534-AF6590994AFD}"/>
              </a:ext>
            </a:extLst>
          </p:cNvPr>
          <p:cNvSpPr/>
          <p:nvPr/>
        </p:nvSpPr>
        <p:spPr>
          <a:xfrm>
            <a:off x="2333218" y="3485420"/>
            <a:ext cx="201734" cy="145773"/>
          </a:xfrm>
          <a:prstGeom prst="flowChartProcess">
            <a:avLst/>
          </a:prstGeom>
          <a:solidFill>
            <a:srgbClr val="FFFFFF"/>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825" b="0" i="0" u="none" strike="noStrike" kern="0" cap="none" spc="0" normalizeH="0" baseline="0" noProof="0" dirty="0">
              <a:ln>
                <a:noFill/>
              </a:ln>
              <a:solidFill>
                <a:srgbClr val="FFFFFF"/>
              </a:solidFill>
              <a:effectLst/>
              <a:uLnTx/>
              <a:uFillTx/>
              <a:latin typeface="Arial"/>
              <a:ea typeface="+mn-ea"/>
              <a:cs typeface="+mn-cs"/>
            </a:endParaRPr>
          </a:p>
        </p:txBody>
      </p:sp>
      <p:grpSp>
        <p:nvGrpSpPr>
          <p:cNvPr id="38" name="Group 37">
            <a:extLst>
              <a:ext uri="{FF2B5EF4-FFF2-40B4-BE49-F238E27FC236}">
                <a16:creationId xmlns:a16="http://schemas.microsoft.com/office/drawing/2014/main" id="{AEFF87C9-50FC-47C2-9A9C-565B898F0CB5}"/>
              </a:ext>
            </a:extLst>
          </p:cNvPr>
          <p:cNvGrpSpPr/>
          <p:nvPr/>
        </p:nvGrpSpPr>
        <p:grpSpPr>
          <a:xfrm>
            <a:off x="6010700" y="1370315"/>
            <a:ext cx="1159413" cy="2637351"/>
            <a:chOff x="8014266" y="1827086"/>
            <a:chExt cx="1545884" cy="3516468"/>
          </a:xfrm>
        </p:grpSpPr>
        <p:sp>
          <p:nvSpPr>
            <p:cNvPr id="39" name="TextBox 38">
              <a:extLst>
                <a:ext uri="{FF2B5EF4-FFF2-40B4-BE49-F238E27FC236}">
                  <a16:creationId xmlns:a16="http://schemas.microsoft.com/office/drawing/2014/main" id="{723E44D8-63C2-44A5-9339-5BC61D4AFFF1}"/>
                </a:ext>
              </a:extLst>
            </p:cNvPr>
            <p:cNvSpPr txBox="1"/>
            <p:nvPr/>
          </p:nvSpPr>
          <p:spPr>
            <a:xfrm>
              <a:off x="8014266" y="1827086"/>
              <a:ext cx="1181100"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Target</a:t>
              </a:r>
            </a:p>
          </p:txBody>
        </p:sp>
        <p:sp>
          <p:nvSpPr>
            <p:cNvPr id="40" name="Rectangle 39">
              <a:extLst>
                <a:ext uri="{FF2B5EF4-FFF2-40B4-BE49-F238E27FC236}">
                  <a16:creationId xmlns:a16="http://schemas.microsoft.com/office/drawing/2014/main" id="{4777EBF8-D669-4039-84B4-7724F1F899AF}"/>
                </a:ext>
              </a:extLst>
            </p:cNvPr>
            <p:cNvSpPr/>
            <p:nvPr/>
          </p:nvSpPr>
          <p:spPr>
            <a:xfrm>
              <a:off x="8123780" y="2211629"/>
              <a:ext cx="1436370" cy="3131925"/>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1" name="Can 31">
              <a:extLst>
                <a:ext uri="{FF2B5EF4-FFF2-40B4-BE49-F238E27FC236}">
                  <a16:creationId xmlns:a16="http://schemas.microsoft.com/office/drawing/2014/main" id="{BD30E75B-70D8-4D1D-A72F-1FD5CBAF0984}"/>
                </a:ext>
              </a:extLst>
            </p:cNvPr>
            <p:cNvSpPr/>
            <p:nvPr/>
          </p:nvSpPr>
          <p:spPr>
            <a:xfrm>
              <a:off x="8276180" y="2337999"/>
              <a:ext cx="1131570" cy="2808795"/>
            </a:xfrm>
            <a:prstGeom prst="can">
              <a:avLst/>
            </a:prstGeom>
            <a:solidFill>
              <a:srgbClr val="FFFFFF"/>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2" name="Flowchart: Process 41">
              <a:extLst>
                <a:ext uri="{FF2B5EF4-FFF2-40B4-BE49-F238E27FC236}">
                  <a16:creationId xmlns:a16="http://schemas.microsoft.com/office/drawing/2014/main" id="{1780D06F-6094-48C2-83FA-1B4A383905A6}"/>
                </a:ext>
              </a:extLst>
            </p:cNvPr>
            <p:cNvSpPr/>
            <p:nvPr/>
          </p:nvSpPr>
          <p:spPr>
            <a:xfrm>
              <a:off x="8707476" y="2756633"/>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3" name="Flowchart: Process 42">
              <a:extLst>
                <a:ext uri="{FF2B5EF4-FFF2-40B4-BE49-F238E27FC236}">
                  <a16:creationId xmlns:a16="http://schemas.microsoft.com/office/drawing/2014/main" id="{B5BA59F4-8E73-493D-AC5D-600ADDDE3FD5}"/>
                </a:ext>
              </a:extLst>
            </p:cNvPr>
            <p:cNvSpPr/>
            <p:nvPr/>
          </p:nvSpPr>
          <p:spPr>
            <a:xfrm>
              <a:off x="8707476" y="3157991"/>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4" name="Flowchart: Process 43">
              <a:extLst>
                <a:ext uri="{FF2B5EF4-FFF2-40B4-BE49-F238E27FC236}">
                  <a16:creationId xmlns:a16="http://schemas.microsoft.com/office/drawing/2014/main" id="{170BE5ED-83F3-4D32-ADC9-9758A6E629CD}"/>
                </a:ext>
              </a:extLst>
            </p:cNvPr>
            <p:cNvSpPr/>
            <p:nvPr/>
          </p:nvSpPr>
          <p:spPr>
            <a:xfrm>
              <a:off x="8707476" y="3559349"/>
              <a:ext cx="268979" cy="194364"/>
            </a:xfrm>
            <a:prstGeom prst="flowChartProcess">
              <a:avLst/>
            </a:prstGeom>
            <a:solidFill>
              <a:srgbClr val="1D516C"/>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sp>
        <p:nvSpPr>
          <p:cNvPr id="69" name="TextBox 68">
            <a:extLst>
              <a:ext uri="{FF2B5EF4-FFF2-40B4-BE49-F238E27FC236}">
                <a16:creationId xmlns:a16="http://schemas.microsoft.com/office/drawing/2014/main" id="{EE45E207-136A-4821-B5F9-F6AF81F149C4}"/>
              </a:ext>
            </a:extLst>
          </p:cNvPr>
          <p:cNvSpPr txBox="1"/>
          <p:nvPr/>
        </p:nvSpPr>
        <p:spPr>
          <a:xfrm>
            <a:off x="3836837" y="1793238"/>
            <a:ext cx="1540326" cy="276999"/>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Replication instance</a:t>
            </a:r>
          </a:p>
        </p:txBody>
      </p:sp>
      <p:grpSp>
        <p:nvGrpSpPr>
          <p:cNvPr id="70" name="Group 69">
            <a:extLst>
              <a:ext uri="{FF2B5EF4-FFF2-40B4-BE49-F238E27FC236}">
                <a16:creationId xmlns:a16="http://schemas.microsoft.com/office/drawing/2014/main" id="{DA2B2590-8CBB-4C62-8E4B-7D1DCDECCACB}"/>
              </a:ext>
            </a:extLst>
          </p:cNvPr>
          <p:cNvGrpSpPr/>
          <p:nvPr/>
        </p:nvGrpSpPr>
        <p:grpSpPr>
          <a:xfrm>
            <a:off x="4096002" y="2213355"/>
            <a:ext cx="1096328" cy="685800"/>
            <a:chOff x="3798570" y="2730127"/>
            <a:chExt cx="1371600" cy="914400"/>
          </a:xfrm>
        </p:grpSpPr>
        <p:sp>
          <p:nvSpPr>
            <p:cNvPr id="71" name="Rectangle 70">
              <a:extLst>
                <a:ext uri="{FF2B5EF4-FFF2-40B4-BE49-F238E27FC236}">
                  <a16:creationId xmlns:a16="http://schemas.microsoft.com/office/drawing/2014/main" id="{A451DDFB-9721-45D3-9AC4-4B7F9EDB38E1}"/>
                </a:ext>
              </a:extLst>
            </p:cNvPr>
            <p:cNvSpPr/>
            <p:nvPr/>
          </p:nvSpPr>
          <p:spPr>
            <a:xfrm>
              <a:off x="3798570" y="2730127"/>
              <a:ext cx="1371600" cy="914400"/>
            </a:xfrm>
            <a:prstGeom prst="rect">
              <a:avLst/>
            </a:prstGeom>
            <a:solidFill>
              <a:srgbClr val="00A1C9"/>
            </a:solidFill>
            <a:ln w="25400" cap="flat" cmpd="sng" algn="ctr">
              <a:solidFill>
                <a:srgbClr val="00A1C9">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72" name="Flowchart: Multidocument 71">
              <a:extLst>
                <a:ext uri="{FF2B5EF4-FFF2-40B4-BE49-F238E27FC236}">
                  <a16:creationId xmlns:a16="http://schemas.microsoft.com/office/drawing/2014/main" id="{DBC44456-892A-4F04-B53D-9A014200D1FD}"/>
                </a:ext>
              </a:extLst>
            </p:cNvPr>
            <p:cNvSpPr/>
            <p:nvPr/>
          </p:nvSpPr>
          <p:spPr>
            <a:xfrm>
              <a:off x="4199488" y="2967739"/>
              <a:ext cx="533400" cy="506841"/>
            </a:xfrm>
            <a:prstGeom prst="flowChartMultidocument">
              <a:avLst/>
            </a:prstGeom>
            <a:solidFill>
              <a:srgbClr val="FFFFFF"/>
            </a:solidFill>
            <a:ln w="25400" cap="flat" cmpd="sng" algn="ctr">
              <a:solidFill>
                <a:srgbClr val="1D516C"/>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grpSp>
        <p:nvGrpSpPr>
          <p:cNvPr id="73" name="Group 72">
            <a:extLst>
              <a:ext uri="{FF2B5EF4-FFF2-40B4-BE49-F238E27FC236}">
                <a16:creationId xmlns:a16="http://schemas.microsoft.com/office/drawing/2014/main" id="{A43B2CE6-9FC7-4608-BC3A-E51CB4032160}"/>
              </a:ext>
            </a:extLst>
          </p:cNvPr>
          <p:cNvGrpSpPr/>
          <p:nvPr/>
        </p:nvGrpSpPr>
        <p:grpSpPr>
          <a:xfrm>
            <a:off x="2628901" y="2067474"/>
            <a:ext cx="3901707" cy="1048829"/>
            <a:chOff x="3505201" y="2756631"/>
            <a:chExt cx="5202276" cy="1398439"/>
          </a:xfrm>
        </p:grpSpPr>
        <p:cxnSp>
          <p:nvCxnSpPr>
            <p:cNvPr id="74" name="Straight Arrow Connector 73">
              <a:extLst>
                <a:ext uri="{FF2B5EF4-FFF2-40B4-BE49-F238E27FC236}">
                  <a16:creationId xmlns:a16="http://schemas.microsoft.com/office/drawing/2014/main" id="{003EE358-EB8D-46FB-A5CA-D1A66C15BD46}"/>
                </a:ext>
              </a:extLst>
            </p:cNvPr>
            <p:cNvCxnSpPr>
              <a:stCxn id="78" idx="1"/>
              <a:endCxn id="72" idx="1"/>
            </p:cNvCxnSpPr>
            <p:nvPr/>
          </p:nvCxnSpPr>
          <p:spPr>
            <a:xfrm flipV="1">
              <a:off x="3708364" y="3442172"/>
              <a:ext cx="2180247" cy="1367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75" name="Straight Arrow Connector 74">
              <a:extLst>
                <a:ext uri="{FF2B5EF4-FFF2-40B4-BE49-F238E27FC236}">
                  <a16:creationId xmlns:a16="http://schemas.microsoft.com/office/drawing/2014/main" id="{68E84EFC-EB93-4574-9112-11B1546191BC}"/>
                </a:ext>
              </a:extLst>
            </p:cNvPr>
            <p:cNvCxnSpPr>
              <a:stCxn id="72" idx="3"/>
              <a:endCxn id="42" idx="1"/>
            </p:cNvCxnSpPr>
            <p:nvPr/>
          </p:nvCxnSpPr>
          <p:spPr>
            <a:xfrm flipV="1">
              <a:off x="6457077" y="2853815"/>
              <a:ext cx="2250400" cy="588357"/>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76" name="Straight Arrow Connector 75">
              <a:extLst>
                <a:ext uri="{FF2B5EF4-FFF2-40B4-BE49-F238E27FC236}">
                  <a16:creationId xmlns:a16="http://schemas.microsoft.com/office/drawing/2014/main" id="{398AD55E-8382-43CE-8FF0-02377D4BAD0B}"/>
                </a:ext>
              </a:extLst>
            </p:cNvPr>
            <p:cNvCxnSpPr>
              <a:stCxn id="72" idx="3"/>
              <a:endCxn id="43" idx="1"/>
            </p:cNvCxnSpPr>
            <p:nvPr/>
          </p:nvCxnSpPr>
          <p:spPr>
            <a:xfrm flipV="1">
              <a:off x="6457077" y="3255174"/>
              <a:ext cx="2250400" cy="18699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77" name="Straight Arrow Connector 76">
              <a:extLst>
                <a:ext uri="{FF2B5EF4-FFF2-40B4-BE49-F238E27FC236}">
                  <a16:creationId xmlns:a16="http://schemas.microsoft.com/office/drawing/2014/main" id="{D2548087-3050-4A66-9FE3-E7E078EEE2DF}"/>
                </a:ext>
              </a:extLst>
            </p:cNvPr>
            <p:cNvCxnSpPr>
              <a:stCxn id="72" idx="3"/>
              <a:endCxn id="44" idx="1"/>
            </p:cNvCxnSpPr>
            <p:nvPr/>
          </p:nvCxnSpPr>
          <p:spPr>
            <a:xfrm>
              <a:off x="6457077" y="3442172"/>
              <a:ext cx="2250400" cy="21435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78" name="Right Brace 77">
              <a:extLst>
                <a:ext uri="{FF2B5EF4-FFF2-40B4-BE49-F238E27FC236}">
                  <a16:creationId xmlns:a16="http://schemas.microsoft.com/office/drawing/2014/main" id="{F4AD2220-85D1-4FE0-97E7-DCC0B46EF3E2}"/>
                </a:ext>
              </a:extLst>
            </p:cNvPr>
            <p:cNvSpPr/>
            <p:nvPr/>
          </p:nvSpPr>
          <p:spPr>
            <a:xfrm>
              <a:off x="3505201" y="2756631"/>
              <a:ext cx="203163" cy="1398439"/>
            </a:xfrm>
            <a:prstGeom prst="rightBrace">
              <a:avLst/>
            </a:prstGeom>
            <a:ln/>
          </p:spPr>
          <p:style>
            <a:lnRef idx="3">
              <a:schemeClr val="accent4"/>
            </a:lnRef>
            <a:fillRef idx="0">
              <a:schemeClr val="accent4"/>
            </a:fillRef>
            <a:effectRef idx="2">
              <a:schemeClr val="accent4"/>
            </a:effectRef>
            <a:fontRef idx="minor">
              <a:schemeClr val="tx1"/>
            </a:fontRef>
          </p:style>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cxnSp>
        <p:nvCxnSpPr>
          <p:cNvPr id="79" name="Straight Arrow Connector 78">
            <a:extLst>
              <a:ext uri="{FF2B5EF4-FFF2-40B4-BE49-F238E27FC236}">
                <a16:creationId xmlns:a16="http://schemas.microsoft.com/office/drawing/2014/main" id="{489F8572-43CE-48D0-93D3-F1CEA792493A}"/>
              </a:ext>
            </a:extLst>
          </p:cNvPr>
          <p:cNvCxnSpPr>
            <a:stCxn id="72" idx="3"/>
          </p:cNvCxnSpPr>
          <p:nvPr/>
        </p:nvCxnSpPr>
        <p:spPr>
          <a:xfrm>
            <a:off x="4842808" y="2581630"/>
            <a:ext cx="1687799" cy="45851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80" name="Flowchart: Process 79">
            <a:extLst>
              <a:ext uri="{FF2B5EF4-FFF2-40B4-BE49-F238E27FC236}">
                <a16:creationId xmlns:a16="http://schemas.microsoft.com/office/drawing/2014/main" id="{FAF069FD-8991-41EB-B1D4-0E484A52C490}"/>
              </a:ext>
            </a:extLst>
          </p:cNvPr>
          <p:cNvSpPr/>
          <p:nvPr/>
        </p:nvSpPr>
        <p:spPr>
          <a:xfrm>
            <a:off x="2353322" y="2988968"/>
            <a:ext cx="47511" cy="145773"/>
          </a:xfrm>
          <a:prstGeom prst="flowChartProcess">
            <a:avLst/>
          </a:prstGeom>
          <a:solidFill>
            <a:srgbClr val="FFFFFF"/>
          </a:solidFill>
          <a:ln w="25400" cap="flat" cmpd="sng" algn="ctr">
            <a:solidFill>
              <a:srgbClr val="FFFFFF"/>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81" name="Flowchart: Process 80">
            <a:extLst>
              <a:ext uri="{FF2B5EF4-FFF2-40B4-BE49-F238E27FC236}">
                <a16:creationId xmlns:a16="http://schemas.microsoft.com/office/drawing/2014/main" id="{A887588A-BD1A-4BE4-8C91-455BE219941C}"/>
              </a:ext>
            </a:extLst>
          </p:cNvPr>
          <p:cNvSpPr/>
          <p:nvPr/>
        </p:nvSpPr>
        <p:spPr>
          <a:xfrm>
            <a:off x="6530607" y="2988968"/>
            <a:ext cx="114301" cy="145773"/>
          </a:xfrm>
          <a:prstGeom prst="flowChartProcess">
            <a:avLst/>
          </a:prstGeom>
          <a:solidFill>
            <a:srgbClr val="1D516C"/>
          </a:solidFill>
          <a:ln w="25400" cap="flat" cmpd="sng" algn="ctr">
            <a:solidFill>
              <a:srgbClr val="1D516C"/>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50899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What else can DMS do? – Consolidate DBs</a:t>
            </a:r>
            <a:endParaRPr lang="en-US" b="1" dirty="0"/>
          </a:p>
        </p:txBody>
      </p:sp>
      <p:sp>
        <p:nvSpPr>
          <p:cNvPr id="46" name="Rectangle 45">
            <a:extLst>
              <a:ext uri="{FF2B5EF4-FFF2-40B4-BE49-F238E27FC236}">
                <a16:creationId xmlns:a16="http://schemas.microsoft.com/office/drawing/2014/main" id="{A2CB3265-1D81-4E34-91C0-278814C1D99C}"/>
              </a:ext>
            </a:extLst>
          </p:cNvPr>
          <p:cNvSpPr/>
          <p:nvPr/>
        </p:nvSpPr>
        <p:spPr>
          <a:xfrm>
            <a:off x="6115050" y="2466041"/>
            <a:ext cx="1028700" cy="685800"/>
          </a:xfrm>
          <a:prstGeom prst="rect">
            <a:avLst/>
          </a:prstGeom>
          <a:solidFill>
            <a:srgbClr val="FF9900"/>
          </a:solidFill>
          <a:ln w="25400" cap="flat" cmpd="sng" algn="ctr">
            <a:solidFill>
              <a:srgbClr val="FF9900">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47" name="Rectangle 46">
            <a:extLst>
              <a:ext uri="{FF2B5EF4-FFF2-40B4-BE49-F238E27FC236}">
                <a16:creationId xmlns:a16="http://schemas.microsoft.com/office/drawing/2014/main" id="{6A5267E6-AF90-4917-A702-75692BD1CF7B}"/>
              </a:ext>
            </a:extLst>
          </p:cNvPr>
          <p:cNvSpPr/>
          <p:nvPr/>
        </p:nvSpPr>
        <p:spPr>
          <a:xfrm>
            <a:off x="4000500" y="2467447"/>
            <a:ext cx="1104900" cy="685800"/>
          </a:xfrm>
          <a:prstGeom prst="rect">
            <a:avLst/>
          </a:prstGeom>
          <a:solidFill>
            <a:srgbClr val="00A1C9"/>
          </a:solidFill>
          <a:ln w="25400" cap="flat" cmpd="sng" algn="ctr">
            <a:solidFill>
              <a:srgbClr val="00A1C9">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013" b="0" i="0" u="none" strike="noStrike" kern="0" cap="none" spc="0" normalizeH="0" baseline="0" noProof="0" dirty="0">
                <a:ln>
                  <a:noFill/>
                </a:ln>
                <a:solidFill>
                  <a:prstClr val="white"/>
                </a:solidFill>
                <a:effectLst/>
                <a:uLnTx/>
                <a:uFillTx/>
                <a:latin typeface="Arial"/>
                <a:ea typeface="+mn-ea"/>
                <a:cs typeface="+mn-cs"/>
              </a:rPr>
              <a:t>Replication instance</a:t>
            </a:r>
          </a:p>
        </p:txBody>
      </p:sp>
      <p:grpSp>
        <p:nvGrpSpPr>
          <p:cNvPr id="48" name="Group 47">
            <a:extLst>
              <a:ext uri="{FF2B5EF4-FFF2-40B4-BE49-F238E27FC236}">
                <a16:creationId xmlns:a16="http://schemas.microsoft.com/office/drawing/2014/main" id="{826C59AA-19A3-44A9-A627-84D95EF8D638}"/>
              </a:ext>
            </a:extLst>
          </p:cNvPr>
          <p:cNvGrpSpPr/>
          <p:nvPr/>
        </p:nvGrpSpPr>
        <p:grpSpPr>
          <a:xfrm>
            <a:off x="1906666" y="2229328"/>
            <a:ext cx="1077278" cy="937302"/>
            <a:chOff x="1013460" y="2120908"/>
            <a:chExt cx="1436370" cy="1249736"/>
          </a:xfrm>
        </p:grpSpPr>
        <p:sp>
          <p:nvSpPr>
            <p:cNvPr id="49" name="Rectangle 48">
              <a:extLst>
                <a:ext uri="{FF2B5EF4-FFF2-40B4-BE49-F238E27FC236}">
                  <a16:creationId xmlns:a16="http://schemas.microsoft.com/office/drawing/2014/main" id="{6B88D29B-10FE-4EC5-99A4-A9E848142898}"/>
                </a:ext>
              </a:extLst>
            </p:cNvPr>
            <p:cNvSpPr/>
            <p:nvPr/>
          </p:nvSpPr>
          <p:spPr>
            <a:xfrm>
              <a:off x="1078230" y="2456244"/>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0" name="Can 2">
              <a:extLst>
                <a:ext uri="{FF2B5EF4-FFF2-40B4-BE49-F238E27FC236}">
                  <a16:creationId xmlns:a16="http://schemas.microsoft.com/office/drawing/2014/main" id="{DEADBC72-A9D3-4263-9F1B-9658E157EAE2}"/>
                </a:ext>
              </a:extLst>
            </p:cNvPr>
            <p:cNvSpPr/>
            <p:nvPr/>
          </p:nvSpPr>
          <p:spPr>
            <a:xfrm>
              <a:off x="1604010" y="2667000"/>
              <a:ext cx="320040" cy="457200"/>
            </a:xfrm>
            <a:prstGeom prst="can">
              <a:avLst/>
            </a:prstGeom>
            <a:solidFill>
              <a:srgbClr val="FFFF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1" name="TextBox 50">
              <a:extLst>
                <a:ext uri="{FF2B5EF4-FFF2-40B4-BE49-F238E27FC236}">
                  <a16:creationId xmlns:a16="http://schemas.microsoft.com/office/drawing/2014/main" id="{1068E188-454D-4680-AF9C-A7F3B7226219}"/>
                </a:ext>
              </a:extLst>
            </p:cNvPr>
            <p:cNvSpPr txBox="1"/>
            <p:nvPr/>
          </p:nvSpPr>
          <p:spPr>
            <a:xfrm>
              <a:off x="1013460" y="2120908"/>
              <a:ext cx="1181099"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Source</a:t>
              </a:r>
            </a:p>
          </p:txBody>
        </p:sp>
      </p:grpSp>
      <p:grpSp>
        <p:nvGrpSpPr>
          <p:cNvPr id="52" name="Group 51">
            <a:extLst>
              <a:ext uri="{FF2B5EF4-FFF2-40B4-BE49-F238E27FC236}">
                <a16:creationId xmlns:a16="http://schemas.microsoft.com/office/drawing/2014/main" id="{AC3B10DE-6107-4727-BACC-60998CD0BB83}"/>
              </a:ext>
            </a:extLst>
          </p:cNvPr>
          <p:cNvGrpSpPr/>
          <p:nvPr/>
        </p:nvGrpSpPr>
        <p:grpSpPr>
          <a:xfrm>
            <a:off x="6509385" y="2637492"/>
            <a:ext cx="240030" cy="341495"/>
            <a:chOff x="7155180" y="3516655"/>
            <a:chExt cx="320040" cy="455326"/>
          </a:xfrm>
        </p:grpSpPr>
        <p:sp>
          <p:nvSpPr>
            <p:cNvPr id="53" name="Can 32">
              <a:extLst>
                <a:ext uri="{FF2B5EF4-FFF2-40B4-BE49-F238E27FC236}">
                  <a16:creationId xmlns:a16="http://schemas.microsoft.com/office/drawing/2014/main" id="{8F2CEF09-6995-4703-A779-CFD498E1C1A7}"/>
                </a:ext>
              </a:extLst>
            </p:cNvPr>
            <p:cNvSpPr/>
            <p:nvPr/>
          </p:nvSpPr>
          <p:spPr>
            <a:xfrm>
              <a:off x="7155180" y="3789101"/>
              <a:ext cx="320040" cy="182880"/>
            </a:xfrm>
            <a:prstGeom prst="can">
              <a:avLst/>
            </a:prstGeom>
            <a:solidFill>
              <a:srgbClr val="92D05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4" name="Can 31">
              <a:extLst>
                <a:ext uri="{FF2B5EF4-FFF2-40B4-BE49-F238E27FC236}">
                  <a16:creationId xmlns:a16="http://schemas.microsoft.com/office/drawing/2014/main" id="{BB5FAF2E-A590-4010-B7E5-80AFAEC16990}"/>
                </a:ext>
              </a:extLst>
            </p:cNvPr>
            <p:cNvSpPr/>
            <p:nvPr/>
          </p:nvSpPr>
          <p:spPr>
            <a:xfrm>
              <a:off x="7155180" y="3652878"/>
              <a:ext cx="320040" cy="182880"/>
            </a:xfrm>
            <a:prstGeom prst="can">
              <a:avLst/>
            </a:prstGeom>
            <a:solidFill>
              <a:srgbClr val="FFFF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5" name="Can 6">
              <a:extLst>
                <a:ext uri="{FF2B5EF4-FFF2-40B4-BE49-F238E27FC236}">
                  <a16:creationId xmlns:a16="http://schemas.microsoft.com/office/drawing/2014/main" id="{7596D78A-7848-4B67-8A35-604F900EDBD9}"/>
                </a:ext>
              </a:extLst>
            </p:cNvPr>
            <p:cNvSpPr/>
            <p:nvPr/>
          </p:nvSpPr>
          <p:spPr>
            <a:xfrm>
              <a:off x="7155180" y="3516655"/>
              <a:ext cx="320040" cy="182880"/>
            </a:xfrm>
            <a:prstGeom prst="can">
              <a:avLst/>
            </a:prstGeom>
            <a:solidFill>
              <a:srgbClr val="FFC0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grpSp>
      <p:sp>
        <p:nvSpPr>
          <p:cNvPr id="56" name="TextBox 55">
            <a:extLst>
              <a:ext uri="{FF2B5EF4-FFF2-40B4-BE49-F238E27FC236}">
                <a16:creationId xmlns:a16="http://schemas.microsoft.com/office/drawing/2014/main" id="{A327F7F5-FA65-4FB0-953B-18091B217A58}"/>
              </a:ext>
            </a:extLst>
          </p:cNvPr>
          <p:cNvSpPr txBox="1"/>
          <p:nvPr/>
        </p:nvSpPr>
        <p:spPr>
          <a:xfrm>
            <a:off x="6035366" y="2202370"/>
            <a:ext cx="885825" cy="276997"/>
          </a:xfrm>
          <a:prstGeom prst="rect">
            <a:avLst/>
          </a:prstGeom>
          <a:noFill/>
        </p:spPr>
        <p:txBody>
          <a:bodyPr wrap="square" lIns="91438" tIns="45719" rIns="91438" bIns="45719"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Target</a:t>
            </a:r>
          </a:p>
        </p:txBody>
      </p:sp>
      <p:grpSp>
        <p:nvGrpSpPr>
          <p:cNvPr id="57" name="Group 56">
            <a:extLst>
              <a:ext uri="{FF2B5EF4-FFF2-40B4-BE49-F238E27FC236}">
                <a16:creationId xmlns:a16="http://schemas.microsoft.com/office/drawing/2014/main" id="{59B4E789-F8C0-49DF-9B98-258639F8599A}"/>
              </a:ext>
            </a:extLst>
          </p:cNvPr>
          <p:cNvGrpSpPr/>
          <p:nvPr/>
        </p:nvGrpSpPr>
        <p:grpSpPr>
          <a:xfrm>
            <a:off x="1906666" y="1219808"/>
            <a:ext cx="1077278" cy="953344"/>
            <a:chOff x="1013460" y="2099519"/>
            <a:chExt cx="1436370" cy="1271125"/>
          </a:xfrm>
        </p:grpSpPr>
        <p:sp>
          <p:nvSpPr>
            <p:cNvPr id="58" name="Rectangle 57">
              <a:extLst>
                <a:ext uri="{FF2B5EF4-FFF2-40B4-BE49-F238E27FC236}">
                  <a16:creationId xmlns:a16="http://schemas.microsoft.com/office/drawing/2014/main" id="{35403AD1-2AA5-4CF7-AF0F-7BBFC832D970}"/>
                </a:ext>
              </a:extLst>
            </p:cNvPr>
            <p:cNvSpPr/>
            <p:nvPr/>
          </p:nvSpPr>
          <p:spPr>
            <a:xfrm>
              <a:off x="1078230" y="2456244"/>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59" name="Can 16">
              <a:extLst>
                <a:ext uri="{FF2B5EF4-FFF2-40B4-BE49-F238E27FC236}">
                  <a16:creationId xmlns:a16="http://schemas.microsoft.com/office/drawing/2014/main" id="{B4ABD578-0B41-4948-B4D2-CE18A8769A11}"/>
                </a:ext>
              </a:extLst>
            </p:cNvPr>
            <p:cNvSpPr/>
            <p:nvPr/>
          </p:nvSpPr>
          <p:spPr>
            <a:xfrm>
              <a:off x="1604010" y="2667000"/>
              <a:ext cx="320040" cy="457200"/>
            </a:xfrm>
            <a:prstGeom prst="can">
              <a:avLst/>
            </a:prstGeom>
            <a:solidFill>
              <a:srgbClr val="FFC0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0" name="TextBox 59">
              <a:extLst>
                <a:ext uri="{FF2B5EF4-FFF2-40B4-BE49-F238E27FC236}">
                  <a16:creationId xmlns:a16="http://schemas.microsoft.com/office/drawing/2014/main" id="{5F9E293B-F84C-4DC4-83E3-5E74E6878A29}"/>
                </a:ext>
              </a:extLst>
            </p:cNvPr>
            <p:cNvSpPr txBox="1"/>
            <p:nvPr/>
          </p:nvSpPr>
          <p:spPr>
            <a:xfrm>
              <a:off x="1013460" y="2099519"/>
              <a:ext cx="1181099"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Source</a:t>
              </a:r>
            </a:p>
          </p:txBody>
        </p:sp>
      </p:grpSp>
      <p:grpSp>
        <p:nvGrpSpPr>
          <p:cNvPr id="61" name="Group 60">
            <a:extLst>
              <a:ext uri="{FF2B5EF4-FFF2-40B4-BE49-F238E27FC236}">
                <a16:creationId xmlns:a16="http://schemas.microsoft.com/office/drawing/2014/main" id="{7CBF7315-BDAF-4A58-A8F6-03E157A6A164}"/>
              </a:ext>
            </a:extLst>
          </p:cNvPr>
          <p:cNvGrpSpPr/>
          <p:nvPr/>
        </p:nvGrpSpPr>
        <p:grpSpPr>
          <a:xfrm>
            <a:off x="1906666" y="3222807"/>
            <a:ext cx="1077278" cy="937302"/>
            <a:chOff x="1013460" y="2120908"/>
            <a:chExt cx="1436370" cy="1249736"/>
          </a:xfrm>
        </p:grpSpPr>
        <p:sp>
          <p:nvSpPr>
            <p:cNvPr id="62" name="Rectangle 61">
              <a:extLst>
                <a:ext uri="{FF2B5EF4-FFF2-40B4-BE49-F238E27FC236}">
                  <a16:creationId xmlns:a16="http://schemas.microsoft.com/office/drawing/2014/main" id="{7BA7CD23-5549-46E6-ABBD-13D14210CA4A}"/>
                </a:ext>
              </a:extLst>
            </p:cNvPr>
            <p:cNvSpPr/>
            <p:nvPr/>
          </p:nvSpPr>
          <p:spPr>
            <a:xfrm>
              <a:off x="1078230" y="2456244"/>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3" name="Can 20">
              <a:extLst>
                <a:ext uri="{FF2B5EF4-FFF2-40B4-BE49-F238E27FC236}">
                  <a16:creationId xmlns:a16="http://schemas.microsoft.com/office/drawing/2014/main" id="{7B56DB57-AB3F-4A6A-8FE3-8F0699958D4B}"/>
                </a:ext>
              </a:extLst>
            </p:cNvPr>
            <p:cNvSpPr/>
            <p:nvPr/>
          </p:nvSpPr>
          <p:spPr>
            <a:xfrm>
              <a:off x="1604010" y="2667000"/>
              <a:ext cx="320040" cy="457200"/>
            </a:xfrm>
            <a:prstGeom prst="can">
              <a:avLst/>
            </a:prstGeom>
            <a:solidFill>
              <a:srgbClr val="92D05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Arial"/>
                <a:ea typeface="+mn-ea"/>
                <a:cs typeface="+mn-cs"/>
              </a:endParaRPr>
            </a:p>
          </p:txBody>
        </p:sp>
        <p:sp>
          <p:nvSpPr>
            <p:cNvPr id="64" name="TextBox 63">
              <a:extLst>
                <a:ext uri="{FF2B5EF4-FFF2-40B4-BE49-F238E27FC236}">
                  <a16:creationId xmlns:a16="http://schemas.microsoft.com/office/drawing/2014/main" id="{34539191-B9DF-4EBF-A091-253A19E1A098}"/>
                </a:ext>
              </a:extLst>
            </p:cNvPr>
            <p:cNvSpPr txBox="1"/>
            <p:nvPr/>
          </p:nvSpPr>
          <p:spPr>
            <a:xfrm>
              <a:off x="1013460" y="2120908"/>
              <a:ext cx="1181099"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Source</a:t>
              </a:r>
            </a:p>
          </p:txBody>
        </p:sp>
      </p:grpSp>
      <p:cxnSp>
        <p:nvCxnSpPr>
          <p:cNvPr id="65" name="Straight Arrow Connector 64">
            <a:extLst>
              <a:ext uri="{FF2B5EF4-FFF2-40B4-BE49-F238E27FC236}">
                <a16:creationId xmlns:a16="http://schemas.microsoft.com/office/drawing/2014/main" id="{3FD4CF9E-BF8F-49C0-B9E5-465EEDF2E06B}"/>
              </a:ext>
            </a:extLst>
          </p:cNvPr>
          <p:cNvCxnSpPr>
            <a:stCxn id="50" idx="4"/>
            <a:endCxn id="47" idx="1"/>
          </p:cNvCxnSpPr>
          <p:nvPr/>
        </p:nvCxnSpPr>
        <p:spPr>
          <a:xfrm>
            <a:off x="2589609" y="2810347"/>
            <a:ext cx="141089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6" name="Straight Arrow Connector 65">
            <a:extLst>
              <a:ext uri="{FF2B5EF4-FFF2-40B4-BE49-F238E27FC236}">
                <a16:creationId xmlns:a16="http://schemas.microsoft.com/office/drawing/2014/main" id="{5544BA76-74A7-48F7-8D72-20117756A0FE}"/>
              </a:ext>
            </a:extLst>
          </p:cNvPr>
          <p:cNvCxnSpPr>
            <a:endCxn id="47" idx="1"/>
          </p:cNvCxnSpPr>
          <p:nvPr/>
        </p:nvCxnSpPr>
        <p:spPr>
          <a:xfrm>
            <a:off x="2589610" y="1816868"/>
            <a:ext cx="1410890" cy="99347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7" name="Straight Arrow Connector 66">
            <a:extLst>
              <a:ext uri="{FF2B5EF4-FFF2-40B4-BE49-F238E27FC236}">
                <a16:creationId xmlns:a16="http://schemas.microsoft.com/office/drawing/2014/main" id="{4F78BBD1-6150-499D-A28E-FC2070EFC3C6}"/>
              </a:ext>
            </a:extLst>
          </p:cNvPr>
          <p:cNvCxnSpPr>
            <a:stCxn id="63" idx="4"/>
            <a:endCxn id="47" idx="1"/>
          </p:cNvCxnSpPr>
          <p:nvPr/>
        </p:nvCxnSpPr>
        <p:spPr>
          <a:xfrm flipV="1">
            <a:off x="2589609" y="2810347"/>
            <a:ext cx="1410892" cy="99347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8" name="Straight Arrow Connector 67">
            <a:extLst>
              <a:ext uri="{FF2B5EF4-FFF2-40B4-BE49-F238E27FC236}">
                <a16:creationId xmlns:a16="http://schemas.microsoft.com/office/drawing/2014/main" id="{36707671-326B-4D67-99B5-6200953554EB}"/>
              </a:ext>
            </a:extLst>
          </p:cNvPr>
          <p:cNvCxnSpPr>
            <a:stCxn id="47" idx="3"/>
            <a:endCxn id="54" idx="2"/>
          </p:cNvCxnSpPr>
          <p:nvPr/>
        </p:nvCxnSpPr>
        <p:spPr>
          <a:xfrm flipV="1">
            <a:off x="5105400" y="2808239"/>
            <a:ext cx="1403985" cy="2108"/>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7387626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What else can DMS do? – Split DB</a:t>
            </a:r>
            <a:endParaRPr lang="en-US" b="1" dirty="0"/>
          </a:p>
        </p:txBody>
      </p:sp>
      <p:sp>
        <p:nvSpPr>
          <p:cNvPr id="26" name="Rectangle 25">
            <a:extLst>
              <a:ext uri="{FF2B5EF4-FFF2-40B4-BE49-F238E27FC236}">
                <a16:creationId xmlns:a16="http://schemas.microsoft.com/office/drawing/2014/main" id="{7B880381-231B-4C50-913E-6219CB838F05}"/>
              </a:ext>
            </a:extLst>
          </p:cNvPr>
          <p:cNvSpPr/>
          <p:nvPr/>
        </p:nvSpPr>
        <p:spPr>
          <a:xfrm>
            <a:off x="4029075" y="2531369"/>
            <a:ext cx="1028700" cy="685800"/>
          </a:xfrm>
          <a:prstGeom prst="rect">
            <a:avLst/>
          </a:prstGeom>
          <a:solidFill>
            <a:srgbClr val="00A1C9"/>
          </a:solidFill>
          <a:ln w="25400" cap="flat" cmpd="sng" algn="ctr">
            <a:solidFill>
              <a:srgbClr val="00A1C9">
                <a:shade val="50000"/>
              </a:srgbClr>
            </a:solidFill>
            <a:prstDash val="solid"/>
          </a:ln>
          <a:effectLst/>
        </p:spPr>
        <p:txBody>
          <a:bodyPr lIns="91438" tIns="45719" rIns="91438" bIns="45719"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Arial"/>
                <a:ea typeface="+mn-ea"/>
                <a:cs typeface="+mn-cs"/>
              </a:rPr>
              <a:t>Replication instance</a:t>
            </a:r>
          </a:p>
        </p:txBody>
      </p:sp>
      <p:grpSp>
        <p:nvGrpSpPr>
          <p:cNvPr id="27" name="Group 26">
            <a:extLst>
              <a:ext uri="{FF2B5EF4-FFF2-40B4-BE49-F238E27FC236}">
                <a16:creationId xmlns:a16="http://schemas.microsoft.com/office/drawing/2014/main" id="{A2A492BB-6213-419C-B293-2E006603BC2D}"/>
              </a:ext>
            </a:extLst>
          </p:cNvPr>
          <p:cNvGrpSpPr/>
          <p:nvPr/>
        </p:nvGrpSpPr>
        <p:grpSpPr>
          <a:xfrm>
            <a:off x="1882992" y="2274575"/>
            <a:ext cx="1117383" cy="945323"/>
            <a:chOff x="959987" y="2110213"/>
            <a:chExt cx="1489843" cy="1260431"/>
          </a:xfrm>
        </p:grpSpPr>
        <p:sp>
          <p:nvSpPr>
            <p:cNvPr id="28" name="Rectangle 27">
              <a:extLst>
                <a:ext uri="{FF2B5EF4-FFF2-40B4-BE49-F238E27FC236}">
                  <a16:creationId xmlns:a16="http://schemas.microsoft.com/office/drawing/2014/main" id="{97B894AF-C9F9-4A97-B255-33BE043B178C}"/>
                </a:ext>
              </a:extLst>
            </p:cNvPr>
            <p:cNvSpPr/>
            <p:nvPr/>
          </p:nvSpPr>
          <p:spPr>
            <a:xfrm>
              <a:off x="1078230" y="2456244"/>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904A205C-3403-4ED5-867C-ABDECE415F58}"/>
                </a:ext>
              </a:extLst>
            </p:cNvPr>
            <p:cNvSpPr txBox="1"/>
            <p:nvPr/>
          </p:nvSpPr>
          <p:spPr>
            <a:xfrm>
              <a:off x="959987" y="2110213"/>
              <a:ext cx="1181099"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Source</a:t>
              </a:r>
            </a:p>
          </p:txBody>
        </p:sp>
      </p:grpSp>
      <p:grpSp>
        <p:nvGrpSpPr>
          <p:cNvPr id="30" name="Group 29">
            <a:extLst>
              <a:ext uri="{FF2B5EF4-FFF2-40B4-BE49-F238E27FC236}">
                <a16:creationId xmlns:a16="http://schemas.microsoft.com/office/drawing/2014/main" id="{C49C50D5-66C0-4AD3-9D3C-E06E8A1E6C01}"/>
              </a:ext>
            </a:extLst>
          </p:cNvPr>
          <p:cNvGrpSpPr/>
          <p:nvPr/>
        </p:nvGrpSpPr>
        <p:grpSpPr>
          <a:xfrm>
            <a:off x="6024062" y="2282597"/>
            <a:ext cx="1133977" cy="937302"/>
            <a:chOff x="6489031" y="2836853"/>
            <a:chExt cx="1511969" cy="1249736"/>
          </a:xfrm>
        </p:grpSpPr>
        <p:sp>
          <p:nvSpPr>
            <p:cNvPr id="31" name="Rectangle 30">
              <a:extLst>
                <a:ext uri="{FF2B5EF4-FFF2-40B4-BE49-F238E27FC236}">
                  <a16:creationId xmlns:a16="http://schemas.microsoft.com/office/drawing/2014/main" id="{0FDE9A02-17EF-4922-8972-94DC2054CCCA}"/>
                </a:ext>
              </a:extLst>
            </p:cNvPr>
            <p:cNvSpPr/>
            <p:nvPr/>
          </p:nvSpPr>
          <p:spPr>
            <a:xfrm>
              <a:off x="6629400" y="3172189"/>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2" name="Can 6">
              <a:extLst>
                <a:ext uri="{FF2B5EF4-FFF2-40B4-BE49-F238E27FC236}">
                  <a16:creationId xmlns:a16="http://schemas.microsoft.com/office/drawing/2014/main" id="{C2631E0B-A98B-41D4-83A3-68FD4D5939D2}"/>
                </a:ext>
              </a:extLst>
            </p:cNvPr>
            <p:cNvSpPr/>
            <p:nvPr/>
          </p:nvSpPr>
          <p:spPr>
            <a:xfrm>
              <a:off x="7155180" y="3400789"/>
              <a:ext cx="320040" cy="457200"/>
            </a:xfrm>
            <a:prstGeom prst="can">
              <a:avLst/>
            </a:prstGeom>
            <a:solidFill>
              <a:srgbClr val="FFFF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1B0119FD-4228-4EE5-AE76-A06F3BFA72CB}"/>
                </a:ext>
              </a:extLst>
            </p:cNvPr>
            <p:cNvSpPr txBox="1"/>
            <p:nvPr/>
          </p:nvSpPr>
          <p:spPr>
            <a:xfrm>
              <a:off x="6489031" y="2836853"/>
              <a:ext cx="1181100"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Target</a:t>
              </a:r>
            </a:p>
          </p:txBody>
        </p:sp>
      </p:grpSp>
      <p:cxnSp>
        <p:nvCxnSpPr>
          <p:cNvPr id="34" name="Straight Arrow Connector 33">
            <a:extLst>
              <a:ext uri="{FF2B5EF4-FFF2-40B4-BE49-F238E27FC236}">
                <a16:creationId xmlns:a16="http://schemas.microsoft.com/office/drawing/2014/main" id="{50C6F65D-1140-459B-A1D6-B8A2AAA6843B}"/>
              </a:ext>
            </a:extLst>
          </p:cNvPr>
          <p:cNvCxnSpPr>
            <a:stCxn id="71" idx="4"/>
            <a:endCxn id="26" idx="1"/>
          </p:cNvCxnSpPr>
          <p:nvPr/>
        </p:nvCxnSpPr>
        <p:spPr>
          <a:xfrm flipV="1">
            <a:off x="2606041" y="2874269"/>
            <a:ext cx="1423035" cy="34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5" name="Straight Arrow Connector 34">
            <a:extLst>
              <a:ext uri="{FF2B5EF4-FFF2-40B4-BE49-F238E27FC236}">
                <a16:creationId xmlns:a16="http://schemas.microsoft.com/office/drawing/2014/main" id="{235AC051-685A-46A7-AF34-AB9B21916C36}"/>
              </a:ext>
            </a:extLst>
          </p:cNvPr>
          <p:cNvCxnSpPr>
            <a:stCxn id="26" idx="3"/>
            <a:endCxn id="32" idx="2"/>
          </p:cNvCxnSpPr>
          <p:nvPr/>
        </p:nvCxnSpPr>
        <p:spPr>
          <a:xfrm>
            <a:off x="5057776" y="2874271"/>
            <a:ext cx="1465898" cy="272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grpSp>
        <p:nvGrpSpPr>
          <p:cNvPr id="36" name="Group 35">
            <a:extLst>
              <a:ext uri="{FF2B5EF4-FFF2-40B4-BE49-F238E27FC236}">
                <a16:creationId xmlns:a16="http://schemas.microsoft.com/office/drawing/2014/main" id="{2179B4B4-12BE-4FF0-BC4F-E5E14406C1F6}"/>
              </a:ext>
            </a:extLst>
          </p:cNvPr>
          <p:cNvGrpSpPr/>
          <p:nvPr/>
        </p:nvGrpSpPr>
        <p:grpSpPr>
          <a:xfrm>
            <a:off x="6024062" y="1248736"/>
            <a:ext cx="1133976" cy="955880"/>
            <a:chOff x="6489032" y="2812082"/>
            <a:chExt cx="1511968" cy="1274507"/>
          </a:xfrm>
        </p:grpSpPr>
        <p:sp>
          <p:nvSpPr>
            <p:cNvPr id="37" name="Rectangle 36">
              <a:extLst>
                <a:ext uri="{FF2B5EF4-FFF2-40B4-BE49-F238E27FC236}">
                  <a16:creationId xmlns:a16="http://schemas.microsoft.com/office/drawing/2014/main" id="{1573C73D-B34C-40D8-949C-E4218D7FCFFF}"/>
                </a:ext>
              </a:extLst>
            </p:cNvPr>
            <p:cNvSpPr/>
            <p:nvPr/>
          </p:nvSpPr>
          <p:spPr>
            <a:xfrm>
              <a:off x="6629400" y="3172189"/>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8" name="Can 27">
              <a:extLst>
                <a:ext uri="{FF2B5EF4-FFF2-40B4-BE49-F238E27FC236}">
                  <a16:creationId xmlns:a16="http://schemas.microsoft.com/office/drawing/2014/main" id="{74AE7526-4401-4603-BB86-F009DDB6C8B8}"/>
                </a:ext>
              </a:extLst>
            </p:cNvPr>
            <p:cNvSpPr/>
            <p:nvPr/>
          </p:nvSpPr>
          <p:spPr>
            <a:xfrm>
              <a:off x="7155180" y="3400789"/>
              <a:ext cx="320040" cy="457200"/>
            </a:xfrm>
            <a:prstGeom prst="can">
              <a:avLst/>
            </a:prstGeom>
            <a:solidFill>
              <a:srgbClr val="FFC0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39" name="TextBox 38">
              <a:extLst>
                <a:ext uri="{FF2B5EF4-FFF2-40B4-BE49-F238E27FC236}">
                  <a16:creationId xmlns:a16="http://schemas.microsoft.com/office/drawing/2014/main" id="{D08D493F-142B-40B2-AC4F-8EA476A881BD}"/>
                </a:ext>
              </a:extLst>
            </p:cNvPr>
            <p:cNvSpPr txBox="1"/>
            <p:nvPr/>
          </p:nvSpPr>
          <p:spPr>
            <a:xfrm>
              <a:off x="6489032" y="2812082"/>
              <a:ext cx="1181100"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Target</a:t>
              </a:r>
            </a:p>
          </p:txBody>
        </p:sp>
      </p:grpSp>
      <p:grpSp>
        <p:nvGrpSpPr>
          <p:cNvPr id="40" name="Group 39">
            <a:extLst>
              <a:ext uri="{FF2B5EF4-FFF2-40B4-BE49-F238E27FC236}">
                <a16:creationId xmlns:a16="http://schemas.microsoft.com/office/drawing/2014/main" id="{105ADE99-F327-4D0F-A4CA-18808066303D}"/>
              </a:ext>
            </a:extLst>
          </p:cNvPr>
          <p:cNvGrpSpPr/>
          <p:nvPr/>
        </p:nvGrpSpPr>
        <p:grpSpPr>
          <a:xfrm>
            <a:off x="6016040" y="3281835"/>
            <a:ext cx="1141997" cy="944926"/>
            <a:chOff x="6478337" y="2826688"/>
            <a:chExt cx="1522663" cy="1259901"/>
          </a:xfrm>
        </p:grpSpPr>
        <p:sp>
          <p:nvSpPr>
            <p:cNvPr id="41" name="Rectangle 40">
              <a:extLst>
                <a:ext uri="{FF2B5EF4-FFF2-40B4-BE49-F238E27FC236}">
                  <a16:creationId xmlns:a16="http://schemas.microsoft.com/office/drawing/2014/main" id="{EE4F5731-2665-486D-957C-C04CC9CCAE47}"/>
                </a:ext>
              </a:extLst>
            </p:cNvPr>
            <p:cNvSpPr/>
            <p:nvPr/>
          </p:nvSpPr>
          <p:spPr>
            <a:xfrm>
              <a:off x="6629400" y="3172189"/>
              <a:ext cx="1371600" cy="914400"/>
            </a:xfrm>
            <a:prstGeom prst="rect">
              <a:avLst/>
            </a:prstGeom>
            <a:solidFill>
              <a:srgbClr val="FF9900"/>
            </a:solidFill>
            <a:ln w="25400" cap="flat" cmpd="sng" algn="ctr">
              <a:solidFill>
                <a:srgbClr val="FF9900">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2" name="Can 31">
              <a:extLst>
                <a:ext uri="{FF2B5EF4-FFF2-40B4-BE49-F238E27FC236}">
                  <a16:creationId xmlns:a16="http://schemas.microsoft.com/office/drawing/2014/main" id="{07E2E85A-E285-4F47-AC39-9AC7CB30296B}"/>
                </a:ext>
              </a:extLst>
            </p:cNvPr>
            <p:cNvSpPr/>
            <p:nvPr/>
          </p:nvSpPr>
          <p:spPr>
            <a:xfrm>
              <a:off x="7155180" y="3400789"/>
              <a:ext cx="320040" cy="457200"/>
            </a:xfrm>
            <a:prstGeom prst="can">
              <a:avLst/>
            </a:prstGeom>
            <a:solidFill>
              <a:srgbClr val="92D05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43" name="TextBox 42">
              <a:extLst>
                <a:ext uri="{FF2B5EF4-FFF2-40B4-BE49-F238E27FC236}">
                  <a16:creationId xmlns:a16="http://schemas.microsoft.com/office/drawing/2014/main" id="{53C54808-DAE8-48AD-B60B-F1652FB239BF}"/>
                </a:ext>
              </a:extLst>
            </p:cNvPr>
            <p:cNvSpPr txBox="1"/>
            <p:nvPr/>
          </p:nvSpPr>
          <p:spPr>
            <a:xfrm>
              <a:off x="6478337" y="2826688"/>
              <a:ext cx="1181100" cy="3693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rPr>
                <a:t>Target</a:t>
              </a:r>
            </a:p>
          </p:txBody>
        </p:sp>
      </p:grpSp>
      <p:cxnSp>
        <p:nvCxnSpPr>
          <p:cNvPr id="44" name="Straight Arrow Connector 43">
            <a:extLst>
              <a:ext uri="{FF2B5EF4-FFF2-40B4-BE49-F238E27FC236}">
                <a16:creationId xmlns:a16="http://schemas.microsoft.com/office/drawing/2014/main" id="{4481B3E3-B723-4BB4-80EB-F7A5A1DB543E}"/>
              </a:ext>
            </a:extLst>
          </p:cNvPr>
          <p:cNvCxnSpPr>
            <a:stCxn id="26" idx="3"/>
            <a:endCxn id="38" idx="2"/>
          </p:cNvCxnSpPr>
          <p:nvPr/>
        </p:nvCxnSpPr>
        <p:spPr>
          <a:xfrm flipV="1">
            <a:off x="5057776" y="1861718"/>
            <a:ext cx="1465898" cy="101255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45" name="Straight Arrow Connector 44">
            <a:extLst>
              <a:ext uri="{FF2B5EF4-FFF2-40B4-BE49-F238E27FC236}">
                <a16:creationId xmlns:a16="http://schemas.microsoft.com/office/drawing/2014/main" id="{FE0E683A-3F55-448D-9777-3CA5A322475C}"/>
              </a:ext>
            </a:extLst>
          </p:cNvPr>
          <p:cNvCxnSpPr>
            <a:stCxn id="26" idx="3"/>
            <a:endCxn id="42" idx="2"/>
          </p:cNvCxnSpPr>
          <p:nvPr/>
        </p:nvCxnSpPr>
        <p:spPr>
          <a:xfrm>
            <a:off x="5057776" y="2874270"/>
            <a:ext cx="1465898" cy="100959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grpSp>
        <p:nvGrpSpPr>
          <p:cNvPr id="69" name="Group 68">
            <a:extLst>
              <a:ext uri="{FF2B5EF4-FFF2-40B4-BE49-F238E27FC236}">
                <a16:creationId xmlns:a16="http://schemas.microsoft.com/office/drawing/2014/main" id="{850FFF60-F378-402D-989F-D064FD8CCF11}"/>
              </a:ext>
            </a:extLst>
          </p:cNvPr>
          <p:cNvGrpSpPr/>
          <p:nvPr/>
        </p:nvGrpSpPr>
        <p:grpSpPr>
          <a:xfrm>
            <a:off x="2366010" y="2706955"/>
            <a:ext cx="240030" cy="341495"/>
            <a:chOff x="7155180" y="3516655"/>
            <a:chExt cx="320040" cy="455326"/>
          </a:xfrm>
        </p:grpSpPr>
        <p:sp>
          <p:nvSpPr>
            <p:cNvPr id="70" name="Can 47">
              <a:extLst>
                <a:ext uri="{FF2B5EF4-FFF2-40B4-BE49-F238E27FC236}">
                  <a16:creationId xmlns:a16="http://schemas.microsoft.com/office/drawing/2014/main" id="{99B403A9-D167-40C3-A93B-010D73A8EB70}"/>
                </a:ext>
              </a:extLst>
            </p:cNvPr>
            <p:cNvSpPr/>
            <p:nvPr/>
          </p:nvSpPr>
          <p:spPr>
            <a:xfrm>
              <a:off x="7155180" y="3789101"/>
              <a:ext cx="320040" cy="182880"/>
            </a:xfrm>
            <a:prstGeom prst="can">
              <a:avLst/>
            </a:prstGeom>
            <a:solidFill>
              <a:srgbClr val="92D05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71" name="Can 48">
              <a:extLst>
                <a:ext uri="{FF2B5EF4-FFF2-40B4-BE49-F238E27FC236}">
                  <a16:creationId xmlns:a16="http://schemas.microsoft.com/office/drawing/2014/main" id="{47BE626A-F25E-4116-8633-FC5D6A2B67D4}"/>
                </a:ext>
              </a:extLst>
            </p:cNvPr>
            <p:cNvSpPr/>
            <p:nvPr/>
          </p:nvSpPr>
          <p:spPr>
            <a:xfrm>
              <a:off x="7155180" y="3652878"/>
              <a:ext cx="320040" cy="182880"/>
            </a:xfrm>
            <a:prstGeom prst="can">
              <a:avLst/>
            </a:prstGeom>
            <a:solidFill>
              <a:srgbClr val="FFFF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sp>
          <p:nvSpPr>
            <p:cNvPr id="72" name="Can 49">
              <a:extLst>
                <a:ext uri="{FF2B5EF4-FFF2-40B4-BE49-F238E27FC236}">
                  <a16:creationId xmlns:a16="http://schemas.microsoft.com/office/drawing/2014/main" id="{2726E45F-62E7-476D-BFBE-BFA6CAE498D6}"/>
                </a:ext>
              </a:extLst>
            </p:cNvPr>
            <p:cNvSpPr/>
            <p:nvPr/>
          </p:nvSpPr>
          <p:spPr>
            <a:xfrm>
              <a:off x="7155180" y="3516655"/>
              <a:ext cx="320040" cy="182880"/>
            </a:xfrm>
            <a:prstGeom prst="can">
              <a:avLst/>
            </a:prstGeom>
            <a:solidFill>
              <a:srgbClr val="FFC000"/>
            </a:solidFill>
            <a:ln w="25400" cap="flat" cmpd="sng" algn="ctr">
              <a:solidFill>
                <a:srgbClr val="1D516C">
                  <a:shade val="50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Arial"/>
                <a:ea typeface="+mn-ea"/>
                <a:cs typeface="+mn-cs"/>
              </a:endParaRPr>
            </a:p>
          </p:txBody>
        </p:sp>
      </p:grpSp>
    </p:spTree>
    <p:extLst>
      <p:ext uri="{BB962C8B-B14F-4D97-AF65-F5344CB8AC3E}">
        <p14:creationId xmlns:p14="http://schemas.microsoft.com/office/powerpoint/2010/main" val="3881056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F7F2EF-D8FC-9045-B912-3273D7B8BD84}"/>
              </a:ext>
            </a:extLst>
          </p:cNvPr>
          <p:cNvSpPr>
            <a:spLocks noGrp="1"/>
          </p:cNvSpPr>
          <p:nvPr>
            <p:ph type="title"/>
          </p:nvPr>
        </p:nvSpPr>
        <p:spPr/>
        <p:txBody>
          <a:bodyPr/>
          <a:lstStyle/>
          <a:p>
            <a:r>
              <a:rPr lang="en-US" dirty="0"/>
              <a:t>Summary of Migration Considerations</a:t>
            </a:r>
          </a:p>
        </p:txBody>
      </p:sp>
      <p:sp>
        <p:nvSpPr>
          <p:cNvPr id="4" name="Content Placeholder 3">
            <a:extLst>
              <a:ext uri="{FF2B5EF4-FFF2-40B4-BE49-F238E27FC236}">
                <a16:creationId xmlns:a16="http://schemas.microsoft.com/office/drawing/2014/main" id="{3A5D3545-A26D-2C4A-9848-CC0CA937963D}"/>
              </a:ext>
            </a:extLst>
          </p:cNvPr>
          <p:cNvSpPr>
            <a:spLocks noGrp="1"/>
          </p:cNvSpPr>
          <p:nvPr>
            <p:ph idx="1"/>
          </p:nvPr>
        </p:nvSpPr>
        <p:spPr>
          <a:xfrm>
            <a:off x="516194" y="891884"/>
            <a:ext cx="6592530" cy="3188565"/>
          </a:xfrm>
        </p:spPr>
        <p:txBody>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SQL Server version and edition features</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Authentication requirements</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Amount of data being migrated</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Connectivity to AWS</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Migration method</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Professional Services or Partner help</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Well Architected Framework</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Optimize after migration</a:t>
            </a:r>
          </a:p>
        </p:txBody>
      </p:sp>
    </p:spTree>
    <p:extLst>
      <p:ext uri="{BB962C8B-B14F-4D97-AF65-F5344CB8AC3E}">
        <p14:creationId xmlns:p14="http://schemas.microsoft.com/office/powerpoint/2010/main" val="1556827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pt-BR" dirty="0">
                <a:solidFill>
                  <a:schemeClr val="bg1"/>
                </a:solidFill>
              </a:rPr>
              <a:t>Refactoring to AWS Cloud</a:t>
            </a:r>
          </a:p>
        </p:txBody>
      </p:sp>
    </p:spTree>
    <p:extLst>
      <p:ext uri="{BB962C8B-B14F-4D97-AF65-F5344CB8AC3E}">
        <p14:creationId xmlns:p14="http://schemas.microsoft.com/office/powerpoint/2010/main" val="38084985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Graphic 26">
            <a:extLst>
              <a:ext uri="{FF2B5EF4-FFF2-40B4-BE49-F238E27FC236}">
                <a16:creationId xmlns:a16="http://schemas.microsoft.com/office/drawing/2014/main" id="{130421A2-1101-A842-80E8-E3FD784949B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748982" y="964028"/>
            <a:ext cx="3694470" cy="3490571"/>
          </a:xfrm>
          <a:prstGeom prst="rect">
            <a:avLst/>
          </a:prstGeom>
        </p:spPr>
      </p:pic>
      <p:sp>
        <p:nvSpPr>
          <p:cNvPr id="2" name="Title 1"/>
          <p:cNvSpPr>
            <a:spLocks noGrp="1"/>
          </p:cNvSpPr>
          <p:nvPr>
            <p:ph type="title"/>
          </p:nvPr>
        </p:nvSpPr>
        <p:spPr>
          <a:xfrm>
            <a:off x="336789" y="114936"/>
            <a:ext cx="8205304" cy="636541"/>
          </a:xfrm>
        </p:spPr>
        <p:txBody>
          <a:bodyPr/>
          <a:lstStyle/>
          <a:p>
            <a:r>
              <a:rPr lang="en-US" dirty="0"/>
              <a:t>Modernize  with Amazon Aurora RDS</a:t>
            </a:r>
          </a:p>
        </p:txBody>
      </p:sp>
      <p:pic>
        <p:nvPicPr>
          <p:cNvPr id="7" name="Picture 6">
            <a:extLst>
              <a:ext uri="{FF2B5EF4-FFF2-40B4-BE49-F238E27FC236}">
                <a16:creationId xmlns:a16="http://schemas.microsoft.com/office/drawing/2014/main" id="{00231BCD-71B3-AE49-9898-B23401B9B8F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642" y="2296252"/>
            <a:ext cx="1005840" cy="502920"/>
          </a:xfrm>
          <a:prstGeom prst="rect">
            <a:avLst/>
          </a:prstGeom>
        </p:spPr>
      </p:pic>
      <p:cxnSp>
        <p:nvCxnSpPr>
          <p:cNvPr id="25" name="Straight Arrow Connector 24">
            <a:extLst>
              <a:ext uri="{FF2B5EF4-FFF2-40B4-BE49-F238E27FC236}">
                <a16:creationId xmlns:a16="http://schemas.microsoft.com/office/drawing/2014/main" id="{C11BC449-3F3D-C446-8AB9-1A7673AF0B15}"/>
              </a:ext>
            </a:extLst>
          </p:cNvPr>
          <p:cNvCxnSpPr>
            <a:cxnSpLocks/>
          </p:cNvCxnSpPr>
          <p:nvPr/>
        </p:nvCxnSpPr>
        <p:spPr>
          <a:xfrm flipV="1">
            <a:off x="2089482" y="2547712"/>
            <a:ext cx="2669457" cy="7379"/>
          </a:xfrm>
          <a:prstGeom prst="straightConnector1">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60B61077-89BB-4B13-BE0A-92700AAFF726}"/>
              </a:ext>
            </a:extLst>
          </p:cNvPr>
          <p:cNvGrpSpPr/>
          <p:nvPr/>
        </p:nvGrpSpPr>
        <p:grpSpPr>
          <a:xfrm>
            <a:off x="5036380" y="1262345"/>
            <a:ext cx="3407074" cy="2718798"/>
            <a:chOff x="5157095" y="941754"/>
            <a:chExt cx="3407074" cy="2718798"/>
          </a:xfrm>
        </p:grpSpPr>
        <p:grpSp>
          <p:nvGrpSpPr>
            <p:cNvPr id="10" name="Group 9">
              <a:extLst>
                <a:ext uri="{FF2B5EF4-FFF2-40B4-BE49-F238E27FC236}">
                  <a16:creationId xmlns:a16="http://schemas.microsoft.com/office/drawing/2014/main" id="{77F3BBFD-16EC-49B2-9074-99882F3DD1FF}"/>
                </a:ext>
              </a:extLst>
            </p:cNvPr>
            <p:cNvGrpSpPr/>
            <p:nvPr/>
          </p:nvGrpSpPr>
          <p:grpSpPr>
            <a:xfrm>
              <a:off x="5422220" y="2209589"/>
              <a:ext cx="3141949" cy="1450963"/>
              <a:chOff x="5500086" y="2209589"/>
              <a:chExt cx="3141949" cy="1450963"/>
            </a:xfrm>
          </p:grpSpPr>
          <p:grpSp>
            <p:nvGrpSpPr>
              <p:cNvPr id="5" name="Group 4">
                <a:extLst>
                  <a:ext uri="{FF2B5EF4-FFF2-40B4-BE49-F238E27FC236}">
                    <a16:creationId xmlns:a16="http://schemas.microsoft.com/office/drawing/2014/main" id="{5AADF398-CE01-2D40-BF24-89A1FEA29D4A}"/>
                  </a:ext>
                </a:extLst>
              </p:cNvPr>
              <p:cNvGrpSpPr/>
              <p:nvPr/>
            </p:nvGrpSpPr>
            <p:grpSpPr>
              <a:xfrm>
                <a:off x="5500086" y="2534564"/>
                <a:ext cx="1277256" cy="1117331"/>
                <a:chOff x="3021319" y="2047234"/>
                <a:chExt cx="1731050" cy="1388513"/>
              </a:xfrm>
            </p:grpSpPr>
            <p:pic>
              <p:nvPicPr>
                <p:cNvPr id="34" name="Picture 2" descr="igh Availability and Durability">
                  <a:extLst>
                    <a:ext uri="{FF2B5EF4-FFF2-40B4-BE49-F238E27FC236}">
                      <a16:creationId xmlns:a16="http://schemas.microsoft.com/office/drawing/2014/main" id="{AB778A77-5A4B-C445-9780-1C042E2DB18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201547" y="2521347"/>
                  <a:ext cx="1277257" cy="914400"/>
                </a:xfrm>
                <a:prstGeom prst="rect">
                  <a:avLst/>
                </a:prstGeom>
                <a:noFill/>
                <a:extLst>
                  <a:ext uri="{909E8E84-426E-40DD-AFC4-6F175D3DCCD1}">
                    <a14:hiddenFill xmlns:a14="http://schemas.microsoft.com/office/drawing/2010/main">
                      <a:solidFill>
                        <a:srgbClr val="FFFFFF"/>
                      </a:solidFill>
                    </a14:hiddenFill>
                  </a:ext>
                </a:extLst>
              </p:spPr>
            </p:pic>
            <p:sp>
              <p:nvSpPr>
                <p:cNvPr id="38" name="Content Placeholder 2">
                  <a:extLst>
                    <a:ext uri="{FF2B5EF4-FFF2-40B4-BE49-F238E27FC236}">
                      <a16:creationId xmlns:a16="http://schemas.microsoft.com/office/drawing/2014/main" id="{4E381A52-484A-4948-A764-935CB777F475}"/>
                    </a:ext>
                  </a:extLst>
                </p:cNvPr>
                <p:cNvSpPr txBox="1">
                  <a:spLocks/>
                </p:cNvSpPr>
                <p:nvPr/>
              </p:nvSpPr>
              <p:spPr>
                <a:xfrm>
                  <a:off x="3021319" y="2047234"/>
                  <a:ext cx="1731050" cy="438469"/>
                </a:xfrm>
                <a:prstGeom prst="rect">
                  <a:avLst/>
                </a:prstGeom>
              </p:spPr>
              <p:txBody>
                <a:bodyPr vert="horz" lIns="91440" tIns="45720" rIns="91440" bIns="45720" rtlCol="0" anchor="ctr">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400" b="1" dirty="0">
                      <a:solidFill>
                        <a:srgbClr val="FFFF00"/>
                      </a:solidFill>
                      <a:latin typeface="Amazon Ember Light" panose="020B0403020204020204" pitchFamily="34" charset="0"/>
                      <a:ea typeface="Amazon Ember Light" panose="020B0403020204020204" pitchFamily="34" charset="0"/>
                      <a:cs typeface="Amazon Ember Light" panose="020B0403020204020204" pitchFamily="34" charset="0"/>
                    </a:rPr>
                    <a:t>Availability &amp; durability</a:t>
                  </a:r>
                </a:p>
              </p:txBody>
            </p:sp>
          </p:grpSp>
          <p:grpSp>
            <p:nvGrpSpPr>
              <p:cNvPr id="8" name="Group 7">
                <a:extLst>
                  <a:ext uri="{FF2B5EF4-FFF2-40B4-BE49-F238E27FC236}">
                    <a16:creationId xmlns:a16="http://schemas.microsoft.com/office/drawing/2014/main" id="{D3361B49-0E57-6141-A796-66BA9B50070B}"/>
                  </a:ext>
                </a:extLst>
              </p:cNvPr>
              <p:cNvGrpSpPr/>
              <p:nvPr/>
            </p:nvGrpSpPr>
            <p:grpSpPr>
              <a:xfrm>
                <a:off x="7088152" y="2209589"/>
                <a:ext cx="1553883" cy="1450963"/>
                <a:chOff x="9144805" y="1577232"/>
                <a:chExt cx="2032207" cy="1775783"/>
              </a:xfrm>
            </p:grpSpPr>
            <p:pic>
              <p:nvPicPr>
                <p:cNvPr id="36" name="Picture 6" descr="ighly Secure">
                  <a:extLst>
                    <a:ext uri="{FF2B5EF4-FFF2-40B4-BE49-F238E27FC236}">
                      <a16:creationId xmlns:a16="http://schemas.microsoft.com/office/drawing/2014/main" id="{F9D574EF-C235-7B4A-BB9E-99164301D0F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144805" y="2438615"/>
                  <a:ext cx="1277257" cy="914400"/>
                </a:xfrm>
                <a:prstGeom prst="rect">
                  <a:avLst/>
                </a:prstGeom>
                <a:noFill/>
                <a:extLst>
                  <a:ext uri="{909E8E84-426E-40DD-AFC4-6F175D3DCCD1}">
                    <a14:hiddenFill xmlns:a14="http://schemas.microsoft.com/office/drawing/2010/main">
                      <a:solidFill>
                        <a:srgbClr val="FFFFFF"/>
                      </a:solidFill>
                    </a14:hiddenFill>
                  </a:ext>
                </a:extLst>
              </p:spPr>
            </p:pic>
            <p:sp>
              <p:nvSpPr>
                <p:cNvPr id="39" name="Content Placeholder 2">
                  <a:extLst>
                    <a:ext uri="{FF2B5EF4-FFF2-40B4-BE49-F238E27FC236}">
                      <a16:creationId xmlns:a16="http://schemas.microsoft.com/office/drawing/2014/main" id="{DDBFC91C-D563-B647-8227-B089685CC744}"/>
                    </a:ext>
                  </a:extLst>
                </p:cNvPr>
                <p:cNvSpPr txBox="1">
                  <a:spLocks/>
                </p:cNvSpPr>
                <p:nvPr/>
              </p:nvSpPr>
              <p:spPr>
                <a:xfrm>
                  <a:off x="9985618" y="1577232"/>
                  <a:ext cx="1191394" cy="438468"/>
                </a:xfrm>
                <a:prstGeom prst="rect">
                  <a:avLst/>
                </a:prstGeom>
              </p:spPr>
              <p:txBody>
                <a:bodyPr vert="horz" lIns="91440" tIns="45720" rIns="91440" bIns="45720" rtlCol="0" anchor="ctr">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400" b="1" dirty="0">
                      <a:solidFill>
                        <a:srgbClr val="FFFF00"/>
                      </a:solidFill>
                      <a:latin typeface="Amazon Ember Light" panose="020B0403020204020204" pitchFamily="34" charset="0"/>
                      <a:ea typeface="Amazon Ember Light" panose="020B0403020204020204" pitchFamily="34" charset="0"/>
                      <a:cs typeface="Amazon Ember Light" panose="020B0403020204020204" pitchFamily="34" charset="0"/>
                    </a:rPr>
                    <a:t>Highly secure</a:t>
                  </a:r>
                </a:p>
              </p:txBody>
            </p:sp>
          </p:grpSp>
        </p:grpSp>
        <p:grpSp>
          <p:nvGrpSpPr>
            <p:cNvPr id="11" name="Group 10">
              <a:extLst>
                <a:ext uri="{FF2B5EF4-FFF2-40B4-BE49-F238E27FC236}">
                  <a16:creationId xmlns:a16="http://schemas.microsoft.com/office/drawing/2014/main" id="{4EB74A7E-1987-42DE-ACCA-EAD81D1E1693}"/>
                </a:ext>
              </a:extLst>
            </p:cNvPr>
            <p:cNvGrpSpPr/>
            <p:nvPr/>
          </p:nvGrpSpPr>
          <p:grpSpPr>
            <a:xfrm>
              <a:off x="5157095" y="941754"/>
              <a:ext cx="3233672" cy="1300116"/>
              <a:chOff x="5130855" y="941754"/>
              <a:chExt cx="3233672" cy="1300116"/>
            </a:xfrm>
          </p:grpSpPr>
          <p:grpSp>
            <p:nvGrpSpPr>
              <p:cNvPr id="6" name="Group 5">
                <a:extLst>
                  <a:ext uri="{FF2B5EF4-FFF2-40B4-BE49-F238E27FC236}">
                    <a16:creationId xmlns:a16="http://schemas.microsoft.com/office/drawing/2014/main" id="{047284B5-79D3-7E43-BB25-4F2C46B87222}"/>
                  </a:ext>
                </a:extLst>
              </p:cNvPr>
              <p:cNvGrpSpPr/>
              <p:nvPr/>
            </p:nvGrpSpPr>
            <p:grpSpPr>
              <a:xfrm>
                <a:off x="7174637" y="973034"/>
                <a:ext cx="1189890" cy="1261466"/>
                <a:chOff x="987971" y="1842984"/>
                <a:chExt cx="1731051" cy="1627012"/>
              </a:xfrm>
            </p:grpSpPr>
            <p:pic>
              <p:nvPicPr>
                <p:cNvPr id="33" name="Picture 32">
                  <a:extLst>
                    <a:ext uri="{FF2B5EF4-FFF2-40B4-BE49-F238E27FC236}">
                      <a16:creationId xmlns:a16="http://schemas.microsoft.com/office/drawing/2014/main" id="{3962FDE4-388C-5A49-8A1C-82F88EEB2EE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87971" y="2555596"/>
                  <a:ext cx="914400" cy="914400"/>
                </a:xfrm>
                <a:prstGeom prst="rect">
                  <a:avLst/>
                </a:prstGeom>
              </p:spPr>
            </p:pic>
            <p:sp>
              <p:nvSpPr>
                <p:cNvPr id="37" name="Content Placeholder 2">
                  <a:extLst>
                    <a:ext uri="{FF2B5EF4-FFF2-40B4-BE49-F238E27FC236}">
                      <a16:creationId xmlns:a16="http://schemas.microsoft.com/office/drawing/2014/main" id="{0AB22C73-19B7-5242-AB67-AC34AFE54483}"/>
                    </a:ext>
                  </a:extLst>
                </p:cNvPr>
                <p:cNvSpPr txBox="1">
                  <a:spLocks/>
                </p:cNvSpPr>
                <p:nvPr/>
              </p:nvSpPr>
              <p:spPr>
                <a:xfrm>
                  <a:off x="987972" y="1842984"/>
                  <a:ext cx="1731050" cy="438468"/>
                </a:xfrm>
                <a:prstGeom prst="rect">
                  <a:avLst/>
                </a:prstGeom>
              </p:spPr>
              <p:txBody>
                <a:bodyPr vert="horz" lIns="91440" tIns="45720" rIns="91440" bIns="45720" rtlCol="0" anchor="ctr">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400" b="1" dirty="0">
                      <a:solidFill>
                        <a:srgbClr val="FFFF00"/>
                      </a:solidFill>
                      <a:latin typeface="Amazon Ember Light" panose="020B0403020204020204" pitchFamily="34" charset="0"/>
                      <a:ea typeface="Amazon Ember Light" panose="020B0403020204020204" pitchFamily="34" charset="0"/>
                      <a:cs typeface="Amazon Ember Light" panose="020B0403020204020204" pitchFamily="34" charset="0"/>
                    </a:rPr>
                    <a:t>Performance &amp; scalability</a:t>
                  </a:r>
                </a:p>
              </p:txBody>
            </p:sp>
          </p:grpSp>
          <p:grpSp>
            <p:nvGrpSpPr>
              <p:cNvPr id="3" name="Group 2">
                <a:extLst>
                  <a:ext uri="{FF2B5EF4-FFF2-40B4-BE49-F238E27FC236}">
                    <a16:creationId xmlns:a16="http://schemas.microsoft.com/office/drawing/2014/main" id="{2CE04B81-F8A8-E144-A917-8AE5745D5BC9}"/>
                  </a:ext>
                </a:extLst>
              </p:cNvPr>
              <p:cNvGrpSpPr/>
              <p:nvPr/>
            </p:nvGrpSpPr>
            <p:grpSpPr>
              <a:xfrm>
                <a:off x="5130855" y="941754"/>
                <a:ext cx="1362714" cy="1300116"/>
                <a:chOff x="6795984" y="1820433"/>
                <a:chExt cx="1731050" cy="1615314"/>
              </a:xfrm>
            </p:grpSpPr>
            <p:pic>
              <p:nvPicPr>
                <p:cNvPr id="35" name="Picture 4" descr="ully Managed">
                  <a:extLst>
                    <a:ext uri="{FF2B5EF4-FFF2-40B4-BE49-F238E27FC236}">
                      <a16:creationId xmlns:a16="http://schemas.microsoft.com/office/drawing/2014/main" id="{9992E05A-001F-4E42-8F0E-B7F2C9656093}"/>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249776" y="2521347"/>
                  <a:ext cx="1277257" cy="914400"/>
                </a:xfrm>
                <a:prstGeom prst="rect">
                  <a:avLst/>
                </a:prstGeom>
                <a:noFill/>
                <a:extLst>
                  <a:ext uri="{909E8E84-426E-40DD-AFC4-6F175D3DCCD1}">
                    <a14:hiddenFill xmlns:a14="http://schemas.microsoft.com/office/drawing/2010/main">
                      <a:solidFill>
                        <a:srgbClr val="FFFFFF"/>
                      </a:solidFill>
                    </a14:hiddenFill>
                  </a:ext>
                </a:extLst>
              </p:spPr>
            </p:pic>
            <p:sp>
              <p:nvSpPr>
                <p:cNvPr id="40" name="Content Placeholder 2">
                  <a:extLst>
                    <a:ext uri="{FF2B5EF4-FFF2-40B4-BE49-F238E27FC236}">
                      <a16:creationId xmlns:a16="http://schemas.microsoft.com/office/drawing/2014/main" id="{9C627D83-4570-0647-956B-6C94350F3226}"/>
                    </a:ext>
                  </a:extLst>
                </p:cNvPr>
                <p:cNvSpPr txBox="1">
                  <a:spLocks/>
                </p:cNvSpPr>
                <p:nvPr/>
              </p:nvSpPr>
              <p:spPr>
                <a:xfrm>
                  <a:off x="6795984" y="1820433"/>
                  <a:ext cx="1731050" cy="438468"/>
                </a:xfrm>
                <a:prstGeom prst="rect">
                  <a:avLst/>
                </a:prstGeom>
              </p:spPr>
              <p:txBody>
                <a:bodyPr vert="horz" lIns="91440" tIns="45720" rIns="91440" bIns="45720" rtlCol="0" anchor="ctr">
                  <a:noAutofit/>
                </a:bodyPr>
                <a:lstStyle>
                  <a:lvl1pPr marL="0" indent="0" algn="l" defTabSz="457200" rtl="0" eaLnBrk="1" latinLnBrk="0" hangingPunct="1">
                    <a:spcBef>
                      <a:spcPct val="20000"/>
                    </a:spcBef>
                    <a:buFontTx/>
                    <a:buNone/>
                    <a:defRPr sz="2400" b="0" i="0" kern="1200">
                      <a:solidFill>
                        <a:srgbClr val="414042"/>
                      </a:solidFill>
                      <a:latin typeface="Amazon Ember Regular" charset="0"/>
                      <a:ea typeface="+mn-ea"/>
                      <a:cs typeface="Amazon Ember Regular" charset="0"/>
                    </a:defRPr>
                  </a:lvl1pPr>
                  <a:lvl2pPr marL="742950" indent="-285750" algn="l" defTabSz="457200" rtl="0" eaLnBrk="1" latinLnBrk="0" hangingPunct="1">
                    <a:spcBef>
                      <a:spcPct val="20000"/>
                    </a:spcBef>
                    <a:buFont typeface="Arial"/>
                    <a:buChar char="•"/>
                    <a:defRPr sz="2000" b="0" i="0" kern="1200">
                      <a:solidFill>
                        <a:srgbClr val="414042"/>
                      </a:solidFill>
                      <a:latin typeface="Amazon Ember Regular" charset="0"/>
                      <a:ea typeface="+mn-ea"/>
                      <a:cs typeface="Amazon Ember Regular" charset="0"/>
                    </a:defRPr>
                  </a:lvl2pPr>
                  <a:lvl3pPr marL="1143000" indent="-228600" algn="l" defTabSz="457200" rtl="0" eaLnBrk="1" latinLnBrk="0" hangingPunct="1">
                    <a:spcBef>
                      <a:spcPct val="20000"/>
                    </a:spcBef>
                    <a:buFont typeface="Arial"/>
                    <a:buChar char="•"/>
                    <a:defRPr sz="1800" b="0" i="0" kern="1200">
                      <a:solidFill>
                        <a:srgbClr val="414042"/>
                      </a:solidFill>
                      <a:latin typeface="Amazon Ember Regular" charset="0"/>
                      <a:ea typeface="+mn-ea"/>
                      <a:cs typeface="Amazon Ember Regular" charset="0"/>
                    </a:defRPr>
                  </a:lvl3pPr>
                  <a:lvl4pPr marL="16002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4pPr>
                  <a:lvl5pPr marL="2057400" indent="-228600" algn="l" defTabSz="457200" rtl="0" eaLnBrk="1" latinLnBrk="0" hangingPunct="1">
                    <a:spcBef>
                      <a:spcPct val="20000"/>
                    </a:spcBef>
                    <a:buFont typeface="Arial"/>
                    <a:buChar char="»"/>
                    <a:defRPr sz="1600" b="0" i="0" kern="1200">
                      <a:solidFill>
                        <a:srgbClr val="414042"/>
                      </a:solidFill>
                      <a:latin typeface="Amazon Ember Regular" charset="0"/>
                      <a:ea typeface="+mn-ea"/>
                      <a:cs typeface="Amazon Ember Regular"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400" b="1" dirty="0">
                      <a:solidFill>
                        <a:srgbClr val="FFFF00"/>
                      </a:solidFill>
                      <a:latin typeface="Amazon Ember Light" panose="020B0403020204020204" pitchFamily="34" charset="0"/>
                      <a:ea typeface="Amazon Ember Light" panose="020B0403020204020204" pitchFamily="34" charset="0"/>
                      <a:cs typeface="Amazon Ember Light" panose="020B0403020204020204" pitchFamily="34" charset="0"/>
                    </a:rPr>
                    <a:t>Fully managed</a:t>
                  </a:r>
                </a:p>
              </p:txBody>
            </p:sp>
          </p:grpSp>
        </p:grpSp>
      </p:grpSp>
      <p:sp>
        <p:nvSpPr>
          <p:cNvPr id="26" name="TextBox 25">
            <a:extLst>
              <a:ext uri="{FF2B5EF4-FFF2-40B4-BE49-F238E27FC236}">
                <a16:creationId xmlns:a16="http://schemas.microsoft.com/office/drawing/2014/main" id="{E8035E84-1215-F34E-84B6-A0A5E670CB77}"/>
              </a:ext>
            </a:extLst>
          </p:cNvPr>
          <p:cNvSpPr txBox="1"/>
          <p:nvPr/>
        </p:nvSpPr>
        <p:spPr>
          <a:xfrm>
            <a:off x="5757174" y="4134935"/>
            <a:ext cx="1678085" cy="307777"/>
          </a:xfrm>
          <a:prstGeom prst="rect">
            <a:avLst/>
          </a:prstGeom>
          <a:noFill/>
        </p:spPr>
        <p:txBody>
          <a:bodyPr wrap="square" rtlCol="0">
            <a:spAutoFit/>
          </a:bodyPr>
          <a:lstStyle/>
          <a:p>
            <a:pPr algn="ctr"/>
            <a:r>
              <a:rPr lang="en-US" sz="1400" dirty="0">
                <a:solidFill>
                  <a:srgbClr val="FFFFFF"/>
                </a:solidFill>
              </a:rPr>
              <a:t>Amazon Aurora</a:t>
            </a:r>
          </a:p>
        </p:txBody>
      </p:sp>
      <p:grpSp>
        <p:nvGrpSpPr>
          <p:cNvPr id="28" name="Group 27">
            <a:extLst>
              <a:ext uri="{FF2B5EF4-FFF2-40B4-BE49-F238E27FC236}">
                <a16:creationId xmlns:a16="http://schemas.microsoft.com/office/drawing/2014/main" id="{E1763D12-21B4-44CA-94FB-CD43331D30B4}"/>
              </a:ext>
            </a:extLst>
          </p:cNvPr>
          <p:cNvGrpSpPr/>
          <p:nvPr/>
        </p:nvGrpSpPr>
        <p:grpSpPr>
          <a:xfrm>
            <a:off x="3805084" y="688901"/>
            <a:ext cx="4737009" cy="3919969"/>
            <a:chOff x="7004050" y="3975541"/>
            <a:chExt cx="1765300" cy="1768034"/>
          </a:xfrm>
        </p:grpSpPr>
        <p:pic>
          <p:nvPicPr>
            <p:cNvPr id="29" name="Graphic 28">
              <a:extLst>
                <a:ext uri="{FF2B5EF4-FFF2-40B4-BE49-F238E27FC236}">
                  <a16:creationId xmlns:a16="http://schemas.microsoft.com/office/drawing/2014/main" id="{DCD95DA5-2E52-44D9-B890-8923EFDF456A}"/>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 xmlns:asvg="http://schemas.microsoft.com/office/drawing/2016/SVG/main" r:embed="rId11"/>
                </a:ext>
              </a:extLst>
            </a:blip>
            <a:stretch>
              <a:fillRect/>
            </a:stretch>
          </p:blipFill>
          <p:spPr>
            <a:xfrm>
              <a:off x="7005158" y="3975541"/>
              <a:ext cx="243471" cy="287102"/>
            </a:xfrm>
            <a:prstGeom prst="rect">
              <a:avLst/>
            </a:prstGeom>
          </p:spPr>
        </p:pic>
        <p:sp>
          <p:nvSpPr>
            <p:cNvPr id="30" name="Rectangle 29">
              <a:extLst>
                <a:ext uri="{FF2B5EF4-FFF2-40B4-BE49-F238E27FC236}">
                  <a16:creationId xmlns:a16="http://schemas.microsoft.com/office/drawing/2014/main" id="{E1F4DA0A-6C6A-46E9-BC20-E07DC9ED85BD}"/>
                </a:ext>
              </a:extLst>
            </p:cNvPr>
            <p:cNvSpPr/>
            <p:nvPr/>
          </p:nvSpPr>
          <p:spPr>
            <a:xfrm>
              <a:off x="7004050" y="3978275"/>
              <a:ext cx="1765300" cy="1765300"/>
            </a:xfrm>
            <a:prstGeom prst="rect">
              <a:avLst/>
            </a:prstGeom>
            <a:noFill/>
            <a:ln w="12700">
              <a:solidFill>
                <a:srgbClr val="AAB7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750" tIns="57150" rIns="57150" bIns="28575" numCol="1" spcCol="0" rtlCol="0" fromWordArt="0" anchor="t" anchorCtr="0" forceAA="0" compatLnSpc="1">
              <a:prstTxWarp prst="textNoShape">
                <a:avLst/>
              </a:prstTxWarp>
              <a:noAutofit/>
            </a:bodyPr>
            <a:lstStyle/>
            <a:p>
              <a:pPr algn="l"/>
              <a:r>
                <a:rPr lang="en-US" sz="750" dirty="0">
                  <a:solidFill>
                    <a:srgbClr val="AAB7B8"/>
                  </a:solidFill>
                </a:rPr>
                <a:t>         </a:t>
              </a:r>
              <a:r>
                <a:rPr lang="en-US" sz="1000" dirty="0">
                  <a:solidFill>
                    <a:schemeClr val="bg1">
                      <a:lumMod val="75000"/>
                    </a:schemeClr>
                  </a:solidFill>
                </a:rPr>
                <a:t>       </a:t>
              </a:r>
              <a:r>
                <a:rPr lang="en-US" sz="1100" dirty="0">
                  <a:solidFill>
                    <a:schemeClr val="bg1">
                      <a:lumMod val="75000"/>
                    </a:schemeClr>
                  </a:solidFill>
                </a:rPr>
                <a:t>AWS Cloud</a:t>
              </a:r>
              <a:endParaRPr lang="en-US" sz="1000" dirty="0">
                <a:solidFill>
                  <a:schemeClr val="bg1">
                    <a:lumMod val="75000"/>
                  </a:schemeClr>
                </a:solidFill>
              </a:endParaRPr>
            </a:p>
          </p:txBody>
        </p:sp>
      </p:grpSp>
      <p:grpSp>
        <p:nvGrpSpPr>
          <p:cNvPr id="31" name="Group 30">
            <a:extLst>
              <a:ext uri="{FF2B5EF4-FFF2-40B4-BE49-F238E27FC236}">
                <a16:creationId xmlns:a16="http://schemas.microsoft.com/office/drawing/2014/main" id="{939E652C-6855-408D-9BD1-B4532EEC238A}"/>
              </a:ext>
            </a:extLst>
          </p:cNvPr>
          <p:cNvGrpSpPr/>
          <p:nvPr/>
        </p:nvGrpSpPr>
        <p:grpSpPr>
          <a:xfrm>
            <a:off x="459592" y="1438799"/>
            <a:ext cx="2003389" cy="2364262"/>
            <a:chOff x="528320" y="3668045"/>
            <a:chExt cx="1765300" cy="1765301"/>
          </a:xfrm>
        </p:grpSpPr>
        <p:sp>
          <p:nvSpPr>
            <p:cNvPr id="41" name="Rectangle 40">
              <a:extLst>
                <a:ext uri="{FF2B5EF4-FFF2-40B4-BE49-F238E27FC236}">
                  <a16:creationId xmlns:a16="http://schemas.microsoft.com/office/drawing/2014/main" id="{34E64E2B-210A-4523-8BC4-27B2B4D91D00}"/>
                </a:ext>
              </a:extLst>
            </p:cNvPr>
            <p:cNvSpPr/>
            <p:nvPr/>
          </p:nvSpPr>
          <p:spPr>
            <a:xfrm>
              <a:off x="528320" y="3668046"/>
              <a:ext cx="1765300" cy="1765300"/>
            </a:xfrm>
            <a:prstGeom prst="rect">
              <a:avLst/>
            </a:prstGeom>
            <a:noFill/>
            <a:ln w="12700">
              <a:solidFill>
                <a:srgbClr val="AAB7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5750" tIns="57150" rIns="57150" bIns="28575" numCol="1" spcCol="0" rtlCol="0" fromWordArt="0" anchor="t" anchorCtr="0" forceAA="0" compatLnSpc="1">
              <a:prstTxWarp prst="textNoShape">
                <a:avLst/>
              </a:prstTxWarp>
              <a:noAutofit/>
            </a:bodyPr>
            <a:lstStyle/>
            <a:p>
              <a:pPr algn="l"/>
              <a:r>
                <a:rPr lang="en-US" sz="750" dirty="0">
                  <a:solidFill>
                    <a:srgbClr val="AAB7B8"/>
                  </a:solidFill>
                </a:rPr>
                <a:t>         </a:t>
              </a:r>
              <a:r>
                <a:rPr lang="en-US" sz="1000" dirty="0">
                  <a:solidFill>
                    <a:srgbClr val="AAB7B8"/>
                  </a:solidFill>
                </a:rPr>
                <a:t>On-Premises</a:t>
              </a:r>
              <a:endParaRPr lang="en-US" sz="750" dirty="0">
                <a:solidFill>
                  <a:srgbClr val="AAB7B8"/>
                </a:solidFill>
              </a:endParaRPr>
            </a:p>
          </p:txBody>
        </p:sp>
        <p:pic>
          <p:nvPicPr>
            <p:cNvPr id="42" name="Graphic 41">
              <a:extLst>
                <a:ext uri="{FF2B5EF4-FFF2-40B4-BE49-F238E27FC236}">
                  <a16:creationId xmlns:a16="http://schemas.microsoft.com/office/drawing/2014/main" id="{1B0C0146-A011-4E1C-AB1A-8787E50BF39D}"/>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 xmlns:asvg="http://schemas.microsoft.com/office/drawing/2016/SVG/main" r:embed="rId13"/>
                </a:ext>
              </a:extLst>
            </a:blip>
            <a:stretch>
              <a:fillRect/>
            </a:stretch>
          </p:blipFill>
          <p:spPr>
            <a:xfrm>
              <a:off x="528320" y="3668045"/>
              <a:ext cx="342277" cy="342276"/>
            </a:xfrm>
            <a:prstGeom prst="rect">
              <a:avLst/>
            </a:prstGeom>
          </p:spPr>
        </p:pic>
      </p:grpSp>
    </p:spTree>
    <p:extLst>
      <p:ext uri="{BB962C8B-B14F-4D97-AF65-F5344CB8AC3E}">
        <p14:creationId xmlns:p14="http://schemas.microsoft.com/office/powerpoint/2010/main" val="326216553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F7F2EF-D8FC-9045-B912-3273D7B8BD84}"/>
              </a:ext>
            </a:extLst>
          </p:cNvPr>
          <p:cNvSpPr>
            <a:spLocks noGrp="1"/>
          </p:cNvSpPr>
          <p:nvPr>
            <p:ph type="title"/>
          </p:nvPr>
        </p:nvSpPr>
        <p:spPr>
          <a:xfrm>
            <a:off x="336789" y="114936"/>
            <a:ext cx="8205304" cy="578783"/>
          </a:xfrm>
        </p:spPr>
        <p:txBody>
          <a:bodyPr/>
          <a:lstStyle/>
          <a:p>
            <a:r>
              <a:rPr lang="en-US" dirty="0"/>
              <a:t>Amazon Aurora RDS Features</a:t>
            </a:r>
          </a:p>
        </p:txBody>
      </p:sp>
      <p:sp>
        <p:nvSpPr>
          <p:cNvPr id="4" name="Content Placeholder 3">
            <a:extLst>
              <a:ext uri="{FF2B5EF4-FFF2-40B4-BE49-F238E27FC236}">
                <a16:creationId xmlns:a16="http://schemas.microsoft.com/office/drawing/2014/main" id="{3A5D3545-A26D-2C4A-9848-CC0CA937963D}"/>
              </a:ext>
            </a:extLst>
          </p:cNvPr>
          <p:cNvSpPr>
            <a:spLocks noGrp="1"/>
          </p:cNvSpPr>
          <p:nvPr>
            <p:ph idx="1"/>
          </p:nvPr>
        </p:nvSpPr>
        <p:spPr>
          <a:xfrm>
            <a:off x="390832" y="623919"/>
            <a:ext cx="8362335" cy="3927229"/>
          </a:xfrm>
        </p:spPr>
        <p:txBody>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Aurora is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open source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and flexible; Aurora licensing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fees are way cheaper</a:t>
            </a:r>
            <a:r>
              <a:rPr lang="en-US" sz="2000" b="1"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Aurora has been proven to cost about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70% less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than on-prem SQL server deployments</a:t>
            </a:r>
            <a:endPar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Aurora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backups</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happen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continuously</a:t>
            </a:r>
            <a:r>
              <a:rPr lang="en-US" sz="2000" b="1"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Less than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an hour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to restore from backup</a:t>
            </a:r>
          </a:p>
          <a:p>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Fault-tolerant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with self-healing storage -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6 copies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of your database across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 AZs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provided automatically</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Aurora is optimized for multiple, concurrent read requests to the database –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5x</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throughput of standard MySQL and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3x</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of standard PostgreSQL</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Low-latency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Multi-AZ</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Aurora read-replicas (</a:t>
            </a:r>
            <a:r>
              <a:rPr lang="en-US" sz="2000" b="1" dirty="0">
                <a:solidFill>
                  <a:schemeClr val="accent1">
                    <a:lumMod val="60000"/>
                    <a:lumOff val="4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up to 15</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with shared underlying storage eliminates replication delay.</a:t>
            </a:r>
          </a:p>
        </p:txBody>
      </p:sp>
    </p:spTree>
    <p:extLst>
      <p:ext uri="{BB962C8B-B14F-4D97-AF65-F5344CB8AC3E}">
        <p14:creationId xmlns:p14="http://schemas.microsoft.com/office/powerpoint/2010/main" val="992653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F7F2EF-D8FC-9045-B912-3273D7B8BD84}"/>
              </a:ext>
            </a:extLst>
          </p:cNvPr>
          <p:cNvSpPr>
            <a:spLocks noGrp="1"/>
          </p:cNvSpPr>
          <p:nvPr>
            <p:ph type="title"/>
          </p:nvPr>
        </p:nvSpPr>
        <p:spPr>
          <a:xfrm>
            <a:off x="336789" y="114936"/>
            <a:ext cx="8205304" cy="578783"/>
          </a:xfrm>
        </p:spPr>
        <p:txBody>
          <a:bodyPr/>
          <a:lstStyle/>
          <a:p>
            <a:r>
              <a:rPr lang="en-US" dirty="0"/>
              <a:t>Amazon Aurora RDS Features (cont’d)</a:t>
            </a:r>
          </a:p>
        </p:txBody>
      </p:sp>
      <p:sp>
        <p:nvSpPr>
          <p:cNvPr id="4" name="Content Placeholder 3">
            <a:extLst>
              <a:ext uri="{FF2B5EF4-FFF2-40B4-BE49-F238E27FC236}">
                <a16:creationId xmlns:a16="http://schemas.microsoft.com/office/drawing/2014/main" id="{3A5D3545-A26D-2C4A-9848-CC0CA937963D}"/>
              </a:ext>
            </a:extLst>
          </p:cNvPr>
          <p:cNvSpPr>
            <a:spLocks noGrp="1"/>
          </p:cNvSpPr>
          <p:nvPr>
            <p:ph idx="1"/>
          </p:nvPr>
        </p:nvSpPr>
        <p:spPr>
          <a:xfrm>
            <a:off x="390832" y="693719"/>
            <a:ext cx="8362335" cy="2757678"/>
          </a:xfrm>
        </p:spPr>
        <p:txBody>
          <a:bodyPr/>
          <a:lstStyle/>
          <a:p>
            <a:r>
              <a:rPr lang="en-US" sz="2000" dirty="0"/>
              <a:t>Storage </a:t>
            </a:r>
            <a:r>
              <a:rPr lang="en-US" sz="2000" b="1" dirty="0">
                <a:solidFill>
                  <a:schemeClr val="accent1">
                    <a:lumMod val="60000"/>
                    <a:lumOff val="40000"/>
                  </a:schemeClr>
                </a:solidFill>
              </a:rPr>
              <a:t>Auto-Scaling</a:t>
            </a:r>
            <a:r>
              <a:rPr lang="en-US" sz="2000" dirty="0"/>
              <a:t> in 10 GB increments up to </a:t>
            </a:r>
            <a:r>
              <a:rPr lang="en-US" sz="2000" b="1" dirty="0">
                <a:solidFill>
                  <a:schemeClr val="accent1">
                    <a:lumMod val="60000"/>
                    <a:lumOff val="40000"/>
                  </a:schemeClr>
                </a:solidFill>
              </a:rPr>
              <a:t>64 TB</a:t>
            </a:r>
          </a:p>
          <a:p>
            <a:r>
              <a:rPr lang="en-US" sz="2000" dirty="0"/>
              <a:t>Push-button </a:t>
            </a:r>
            <a:r>
              <a:rPr lang="en-US" sz="2000" b="1" dirty="0">
                <a:solidFill>
                  <a:schemeClr val="accent1">
                    <a:lumMod val="60000"/>
                    <a:lumOff val="40000"/>
                  </a:schemeClr>
                </a:solidFill>
              </a:rPr>
              <a:t>compute scaling </a:t>
            </a:r>
            <a:r>
              <a:rPr lang="en-US" sz="2000" dirty="0"/>
              <a:t>scales CPU and Memory</a:t>
            </a:r>
          </a:p>
          <a:p>
            <a:r>
              <a:rPr lang="en-US" sz="2000" b="1" dirty="0">
                <a:solidFill>
                  <a:schemeClr val="accent1">
                    <a:lumMod val="60000"/>
                    <a:lumOff val="40000"/>
                  </a:schemeClr>
                </a:solidFill>
              </a:rPr>
              <a:t>Cross-region</a:t>
            </a:r>
            <a:r>
              <a:rPr lang="en-US" sz="2000" dirty="0"/>
              <a:t> replication (</a:t>
            </a:r>
            <a:r>
              <a:rPr lang="en-US" sz="2000" b="1" i="1" dirty="0">
                <a:solidFill>
                  <a:schemeClr val="accent1">
                    <a:lumMod val="60000"/>
                    <a:lumOff val="40000"/>
                  </a:schemeClr>
                </a:solidFill>
              </a:rPr>
              <a:t>Global DB </a:t>
            </a:r>
            <a:r>
              <a:rPr lang="en-US" sz="2000" dirty="0"/>
              <a:t>feature) with latencies below </a:t>
            </a:r>
            <a:r>
              <a:rPr lang="en-US" sz="2000" b="1" dirty="0">
                <a:solidFill>
                  <a:schemeClr val="accent1">
                    <a:lumMod val="60000"/>
                    <a:lumOff val="40000"/>
                  </a:schemeClr>
                </a:solidFill>
              </a:rPr>
              <a:t>1 sec</a:t>
            </a:r>
          </a:p>
          <a:p>
            <a:r>
              <a:rPr lang="en-US" sz="2000" dirty="0"/>
              <a:t>Up to </a:t>
            </a:r>
            <a:r>
              <a:rPr lang="en-US" sz="2000" b="1" dirty="0">
                <a:solidFill>
                  <a:schemeClr val="accent1">
                    <a:lumMod val="60000"/>
                    <a:lumOff val="40000"/>
                  </a:schemeClr>
                </a:solidFill>
              </a:rPr>
              <a:t>16</a:t>
            </a:r>
            <a:r>
              <a:rPr lang="en-US" sz="2000" dirty="0"/>
              <a:t> database </a:t>
            </a:r>
            <a:r>
              <a:rPr lang="en-US" sz="2000" b="1" dirty="0">
                <a:solidFill>
                  <a:schemeClr val="accent1">
                    <a:lumMod val="60000"/>
                    <a:lumOff val="40000"/>
                  </a:schemeClr>
                </a:solidFill>
              </a:rPr>
              <a:t>replicas</a:t>
            </a:r>
            <a:r>
              <a:rPr lang="en-US" sz="2000" dirty="0"/>
              <a:t> per region</a:t>
            </a:r>
          </a:p>
          <a:p>
            <a:r>
              <a:rPr lang="en-US" sz="2000" dirty="0"/>
              <a:t>Cross-region </a:t>
            </a:r>
            <a:r>
              <a:rPr lang="en-US" sz="2000" b="1" dirty="0">
                <a:solidFill>
                  <a:schemeClr val="accent1">
                    <a:lumMod val="60000"/>
                    <a:lumOff val="40000"/>
                  </a:schemeClr>
                </a:solidFill>
              </a:rPr>
              <a:t>Disaster Recovery </a:t>
            </a:r>
            <a:r>
              <a:rPr lang="en-US" sz="2000" dirty="0"/>
              <a:t>promotes one of the secondary regions to take read/write responsibilities in less than </a:t>
            </a:r>
            <a:r>
              <a:rPr lang="en-US" sz="2000" b="1" dirty="0">
                <a:solidFill>
                  <a:schemeClr val="accent1">
                    <a:lumMod val="60000"/>
                    <a:lumOff val="40000"/>
                  </a:schemeClr>
                </a:solidFill>
              </a:rPr>
              <a:t>1 min</a:t>
            </a:r>
            <a:r>
              <a:rPr lang="en-US" sz="2000" dirty="0"/>
              <a:t>.</a:t>
            </a:r>
          </a:p>
          <a:p>
            <a:r>
              <a:rPr lang="en-US" sz="2000" dirty="0"/>
              <a:t>Network isolation, </a:t>
            </a:r>
            <a:r>
              <a:rPr lang="en-US" sz="2000" b="1" dirty="0">
                <a:solidFill>
                  <a:schemeClr val="accent1">
                    <a:lumMod val="60000"/>
                    <a:lumOff val="40000"/>
                  </a:schemeClr>
                </a:solidFill>
              </a:rPr>
              <a:t>encryption</a:t>
            </a:r>
            <a:r>
              <a:rPr lang="en-US" sz="2000" dirty="0"/>
              <a:t> at rest/transit</a:t>
            </a:r>
          </a:p>
        </p:txBody>
      </p:sp>
    </p:spTree>
    <p:extLst>
      <p:ext uri="{BB962C8B-B14F-4D97-AF65-F5344CB8AC3E}">
        <p14:creationId xmlns:p14="http://schemas.microsoft.com/office/powerpoint/2010/main" val="211314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AWS Schema Conversion Tool (SCT)</a:t>
            </a:r>
            <a:endParaRPr lang="en-US" b="1" dirty="0"/>
          </a:p>
        </p:txBody>
      </p:sp>
      <p:sp>
        <p:nvSpPr>
          <p:cNvPr id="46" name="Rectangle 45">
            <a:extLst>
              <a:ext uri="{FF2B5EF4-FFF2-40B4-BE49-F238E27FC236}">
                <a16:creationId xmlns:a16="http://schemas.microsoft.com/office/drawing/2014/main" id="{C76508DA-47C4-47A1-AF28-6958539AB761}"/>
              </a:ext>
            </a:extLst>
          </p:cNvPr>
          <p:cNvSpPr/>
          <p:nvPr/>
        </p:nvSpPr>
        <p:spPr>
          <a:xfrm>
            <a:off x="237160" y="720268"/>
            <a:ext cx="6557340" cy="2246767"/>
          </a:xfrm>
          <a:prstGeom prst="rect">
            <a:avLst/>
          </a:prstGeom>
        </p:spPr>
        <p:txBody>
          <a:bodyPr wrap="square" lIns="91438" tIns="45719" rIns="91438" bIns="45719">
            <a:spAutoFit/>
          </a:bodyPr>
          <a:lstStyle/>
          <a:p>
            <a:pPr defTabSz="914400"/>
            <a:r>
              <a:rPr lang="en-US" sz="2000" dirty="0">
                <a:solidFill>
                  <a:srgbClr val="FFFFFF"/>
                </a:solidFill>
              </a:rPr>
              <a:t>The AWS Schema Conversion Tool helps </a:t>
            </a:r>
            <a:r>
              <a:rPr lang="en-US" sz="2000" b="1" dirty="0">
                <a:solidFill>
                  <a:schemeClr val="accent1">
                    <a:lumMod val="60000"/>
                    <a:lumOff val="40000"/>
                  </a:schemeClr>
                </a:solidFill>
              </a:rPr>
              <a:t>automate</a:t>
            </a:r>
            <a:r>
              <a:rPr lang="en-US" sz="2000" dirty="0">
                <a:solidFill>
                  <a:srgbClr val="FFFFFF"/>
                </a:solidFill>
              </a:rPr>
              <a:t> many database </a:t>
            </a:r>
            <a:r>
              <a:rPr lang="en-US" sz="2000" b="1" dirty="0">
                <a:solidFill>
                  <a:schemeClr val="accent1">
                    <a:lumMod val="60000"/>
                    <a:lumOff val="40000"/>
                  </a:schemeClr>
                </a:solidFill>
              </a:rPr>
              <a:t>schema and code conversion </a:t>
            </a:r>
            <a:r>
              <a:rPr lang="en-US" sz="2000" dirty="0">
                <a:solidFill>
                  <a:srgbClr val="FFFFFF"/>
                </a:solidFill>
              </a:rPr>
              <a:t>tasks when migrating between database engines or data warehouse engines</a:t>
            </a:r>
          </a:p>
          <a:p>
            <a:pPr defTabSz="914400"/>
            <a:endParaRPr lang="en-US" sz="2000" i="1" dirty="0">
              <a:solidFill>
                <a:srgbClr val="FFFFFF"/>
              </a:solidFill>
            </a:endParaRPr>
          </a:p>
          <a:p>
            <a:pPr defTabSz="914400"/>
            <a:r>
              <a:rPr lang="en-US" sz="2000" dirty="0">
                <a:solidFill>
                  <a:srgbClr val="FFFFFF"/>
                </a:solidFill>
              </a:rPr>
              <a:t>Integrates with AWS DMS to implement schema conversion during migration</a:t>
            </a:r>
          </a:p>
        </p:txBody>
      </p:sp>
      <p:pic>
        <p:nvPicPr>
          <p:cNvPr id="47" name="Picture 4" descr="688_2up_SchemaConversion">
            <a:extLst>
              <a:ext uri="{FF2B5EF4-FFF2-40B4-BE49-F238E27FC236}">
                <a16:creationId xmlns:a16="http://schemas.microsoft.com/office/drawing/2014/main" id="{8BCDFE5A-F1C9-403F-91EB-B2F0EA3837D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34138" y="1117408"/>
            <a:ext cx="2581275" cy="2051434"/>
          </a:xfrm>
          <a:prstGeom prst="rect">
            <a:avLst/>
          </a:prstGeom>
          <a:noFill/>
          <a:extLst>
            <a:ext uri="{909E8E84-426E-40DD-AFC4-6F175D3DCCD1}">
              <a14:hiddenFill xmlns:a14="http://schemas.microsoft.com/office/drawing/2010/main">
                <a:solidFill>
                  <a:srgbClr val="FFFFFF"/>
                </a:solidFill>
              </a14:hiddenFill>
            </a:ext>
          </a:extLst>
        </p:spPr>
      </p:pic>
      <p:sp>
        <p:nvSpPr>
          <p:cNvPr id="48" name="Content Placeholder 2">
            <a:extLst>
              <a:ext uri="{FF2B5EF4-FFF2-40B4-BE49-F238E27FC236}">
                <a16:creationId xmlns:a16="http://schemas.microsoft.com/office/drawing/2014/main" id="{A2565BD7-46B3-46D7-918B-49878AB8FC22}"/>
              </a:ext>
            </a:extLst>
          </p:cNvPr>
          <p:cNvSpPr txBox="1">
            <a:spLocks/>
          </p:cNvSpPr>
          <p:nvPr/>
        </p:nvSpPr>
        <p:spPr>
          <a:xfrm>
            <a:off x="237160" y="3026319"/>
            <a:ext cx="7530801" cy="1382377"/>
          </a:xfrm>
          <a:prstGeom prst="rect">
            <a:avLst/>
          </a:prstGeom>
        </p:spPr>
        <p:txBody>
          <a:bodyPr>
            <a:noAutofit/>
          </a:bodyPr>
          <a:lstStyle>
            <a:lvl1pPr marL="0" indent="0" algn="l" defTabSz="457189" rtl="0" eaLnBrk="1" latinLnBrk="0" hangingPunct="1">
              <a:spcBef>
                <a:spcPct val="20000"/>
              </a:spcBef>
              <a:buFontTx/>
              <a:buNone/>
              <a:defRPr sz="1800" b="0" i="0" kern="1200">
                <a:solidFill>
                  <a:schemeClr val="bg1"/>
                </a:solidFill>
                <a:latin typeface="Amazon Ember Regular" charset="0"/>
                <a:ea typeface="+mn-ea"/>
                <a:cs typeface="Amazon Ember Regular" charset="0"/>
              </a:defRPr>
            </a:lvl1pPr>
            <a:lvl2pPr marL="742931" indent="-285743" algn="l" defTabSz="457189" rtl="0" eaLnBrk="1" latinLnBrk="0" hangingPunct="1">
              <a:spcBef>
                <a:spcPct val="20000"/>
              </a:spcBef>
              <a:buFont typeface="Arial"/>
              <a:buChar char="•"/>
              <a:defRPr sz="1800" b="0" i="0" kern="1200">
                <a:solidFill>
                  <a:schemeClr val="bg1"/>
                </a:solidFill>
                <a:latin typeface="Amazon Ember Regular" charset="0"/>
                <a:ea typeface="+mn-ea"/>
                <a:cs typeface="Amazon Ember Regular" charset="0"/>
              </a:defRPr>
            </a:lvl2pPr>
            <a:lvl3pPr marL="1142972" indent="-228594" algn="l" defTabSz="457189" rtl="0" eaLnBrk="1" latinLnBrk="0" hangingPunct="1">
              <a:spcBef>
                <a:spcPct val="20000"/>
              </a:spcBef>
              <a:buFont typeface="Arial"/>
              <a:buChar char="•"/>
              <a:defRPr sz="1600" b="0" i="0" kern="1200">
                <a:solidFill>
                  <a:schemeClr val="bg1"/>
                </a:solidFill>
                <a:latin typeface="Amazon Ember Regular" charset="0"/>
                <a:ea typeface="+mn-ea"/>
                <a:cs typeface="Amazon Ember Regular" charset="0"/>
              </a:defRPr>
            </a:lvl3pPr>
            <a:lvl4pPr marL="1600160" indent="-228594" algn="l" defTabSz="457189" rtl="0" eaLnBrk="1" latinLnBrk="0" hangingPunct="1">
              <a:spcBef>
                <a:spcPct val="20000"/>
              </a:spcBef>
              <a:buFont typeface="Arial"/>
              <a:buChar char="–"/>
              <a:defRPr sz="1400" b="0" i="0" kern="1200">
                <a:solidFill>
                  <a:schemeClr val="bg1"/>
                </a:solidFill>
                <a:latin typeface="Amazon Ember Regular" charset="0"/>
                <a:ea typeface="+mn-ea"/>
                <a:cs typeface="Amazon Ember Regular" charset="0"/>
              </a:defRPr>
            </a:lvl4pPr>
            <a:lvl5pPr marL="2057348" indent="-228594" algn="l" defTabSz="457189" rtl="0" eaLnBrk="1" latinLnBrk="0" hangingPunct="1">
              <a:spcBef>
                <a:spcPct val="20000"/>
              </a:spcBef>
              <a:buFont typeface="Arial"/>
              <a:buChar char="»"/>
              <a:defRPr sz="1200" b="0" i="0" kern="1200">
                <a:solidFill>
                  <a:schemeClr val="bg1"/>
                </a:solidFill>
                <a:latin typeface="Amazon Ember Regular" charset="0"/>
                <a:ea typeface="+mn-ea"/>
                <a:cs typeface="Amazon Ember Regular"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b="1" u="sng" dirty="0"/>
              <a:t>Features</a:t>
            </a:r>
          </a:p>
          <a:p>
            <a:pPr marL="285750" indent="-285750">
              <a:buFont typeface="Arial" panose="020B0604020202020204" pitchFamily="34" charset="0"/>
              <a:buChar char="•"/>
            </a:pPr>
            <a:r>
              <a:rPr lang="en-US" sz="1425" dirty="0"/>
              <a:t>Microsoft SQL Server schema conversion to </a:t>
            </a:r>
            <a:r>
              <a:rPr lang="en-US" sz="1425" b="1" dirty="0">
                <a:solidFill>
                  <a:schemeClr val="accent1">
                    <a:lumMod val="60000"/>
                    <a:lumOff val="40000"/>
                  </a:schemeClr>
                </a:solidFill>
              </a:rPr>
              <a:t>Amazon Aurora</a:t>
            </a:r>
            <a:r>
              <a:rPr lang="en-US" sz="1425" dirty="0"/>
              <a:t>, MySQL, MariaDB, and PostgreSQL</a:t>
            </a:r>
          </a:p>
          <a:p>
            <a:pPr marL="285750" indent="-285750">
              <a:buFont typeface="Arial" panose="020B0604020202020204" pitchFamily="34" charset="0"/>
              <a:buChar char="•"/>
            </a:pPr>
            <a:r>
              <a:rPr lang="en-US" sz="1425" dirty="0"/>
              <a:t>Database Migration </a:t>
            </a:r>
            <a:r>
              <a:rPr lang="en-US" sz="1425" b="1" dirty="0">
                <a:solidFill>
                  <a:schemeClr val="accent1">
                    <a:lumMod val="60000"/>
                    <a:lumOff val="40000"/>
                  </a:schemeClr>
                </a:solidFill>
              </a:rPr>
              <a:t>Assessment report </a:t>
            </a:r>
            <a:r>
              <a:rPr lang="en-US" sz="1425" dirty="0"/>
              <a:t>for choosing the best target engine</a:t>
            </a:r>
          </a:p>
          <a:p>
            <a:pPr marL="285750" indent="-285750">
              <a:buFont typeface="Arial" panose="020B0604020202020204" pitchFamily="34" charset="0"/>
              <a:buChar char="•"/>
            </a:pPr>
            <a:r>
              <a:rPr lang="en-US" sz="1425" dirty="0"/>
              <a:t>Code browser that </a:t>
            </a:r>
            <a:r>
              <a:rPr lang="en-US" sz="1425" b="1" dirty="0">
                <a:solidFill>
                  <a:schemeClr val="accent1">
                    <a:lumMod val="60000"/>
                    <a:lumOff val="40000"/>
                  </a:schemeClr>
                </a:solidFill>
              </a:rPr>
              <a:t>highlights places </a:t>
            </a:r>
            <a:r>
              <a:rPr lang="en-US" sz="1425" dirty="0"/>
              <a:t>where manual edits are required</a:t>
            </a:r>
          </a:p>
          <a:p>
            <a:pPr marL="285750" indent="-285750">
              <a:buFont typeface="Arial" panose="020B0604020202020204" pitchFamily="34" charset="0"/>
              <a:buChar char="•"/>
            </a:pPr>
            <a:r>
              <a:rPr lang="en-US" sz="1425" dirty="0"/>
              <a:t>Secure connections to your databases with </a:t>
            </a:r>
            <a:r>
              <a:rPr lang="en-US" sz="1425" b="1" dirty="0">
                <a:solidFill>
                  <a:schemeClr val="accent1">
                    <a:lumMod val="60000"/>
                    <a:lumOff val="40000"/>
                  </a:schemeClr>
                </a:solidFill>
              </a:rPr>
              <a:t>SSL</a:t>
            </a:r>
          </a:p>
        </p:txBody>
      </p:sp>
    </p:spTree>
    <p:extLst>
      <p:ext uri="{BB962C8B-B14F-4D97-AF65-F5344CB8AC3E}">
        <p14:creationId xmlns:p14="http://schemas.microsoft.com/office/powerpoint/2010/main" val="41411963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862" y="145630"/>
            <a:ext cx="8509183" cy="515354"/>
          </a:xfrm>
        </p:spPr>
        <p:txBody>
          <a:bodyPr/>
          <a:lstStyle/>
          <a:p>
            <a:r>
              <a:rPr lang="en-US" b="1" spc="100" dirty="0"/>
              <a:t>SCT helps with converting Tables, Views, and Code</a:t>
            </a:r>
            <a:endParaRPr lang="en-US" b="1" dirty="0"/>
          </a:p>
        </p:txBody>
      </p:sp>
      <p:pic>
        <p:nvPicPr>
          <p:cNvPr id="6" name="Content Placeholder 6">
            <a:extLst>
              <a:ext uri="{FF2B5EF4-FFF2-40B4-BE49-F238E27FC236}">
                <a16:creationId xmlns:a16="http://schemas.microsoft.com/office/drawing/2014/main" id="{1310B81C-605D-40C7-AAAD-B9F2F5F2B8C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4881" y="1098550"/>
            <a:ext cx="5934618" cy="3193002"/>
          </a:xfrm>
          <a:prstGeom prst="rect">
            <a:avLst/>
          </a:prstGeom>
        </p:spPr>
      </p:pic>
      <p:sp>
        <p:nvSpPr>
          <p:cNvPr id="7" name="Rectangle 6">
            <a:extLst>
              <a:ext uri="{FF2B5EF4-FFF2-40B4-BE49-F238E27FC236}">
                <a16:creationId xmlns:a16="http://schemas.microsoft.com/office/drawing/2014/main" id="{F2C467A9-0745-4C23-B3D1-325D52D52A65}"/>
              </a:ext>
            </a:extLst>
          </p:cNvPr>
          <p:cNvSpPr/>
          <p:nvPr/>
        </p:nvSpPr>
        <p:spPr>
          <a:xfrm>
            <a:off x="6629400" y="1098550"/>
            <a:ext cx="1946429" cy="2800765"/>
          </a:xfrm>
          <a:prstGeom prst="rect">
            <a:avLst/>
          </a:prstGeom>
        </p:spPr>
        <p:txBody>
          <a:bodyPr wrap="square" lIns="91438" tIns="45719" rIns="91438" bIns="45719">
            <a:spAutoFit/>
          </a:bodyPr>
          <a:lstStyle/>
          <a:p>
            <a:pPr defTabSz="914400"/>
            <a:r>
              <a:rPr lang="en-US" sz="1600" dirty="0">
                <a:solidFill>
                  <a:srgbClr val="FFFFFF"/>
                </a:solidFill>
              </a:rPr>
              <a:t>Sequences</a:t>
            </a:r>
          </a:p>
          <a:p>
            <a:pPr defTabSz="914400"/>
            <a:r>
              <a:rPr lang="en-US" sz="1600" dirty="0">
                <a:solidFill>
                  <a:srgbClr val="FFFFFF"/>
                </a:solidFill>
              </a:rPr>
              <a:t>User-defined types</a:t>
            </a:r>
          </a:p>
          <a:p>
            <a:pPr defTabSz="914400"/>
            <a:r>
              <a:rPr lang="en-US" sz="1600" dirty="0">
                <a:solidFill>
                  <a:srgbClr val="FFFFFF"/>
                </a:solidFill>
              </a:rPr>
              <a:t>Synonyms</a:t>
            </a:r>
          </a:p>
          <a:p>
            <a:pPr defTabSz="914400"/>
            <a:r>
              <a:rPr lang="en-US" sz="1600" dirty="0">
                <a:solidFill>
                  <a:srgbClr val="FFFFFF"/>
                </a:solidFill>
              </a:rPr>
              <a:t>Packages</a:t>
            </a:r>
          </a:p>
          <a:p>
            <a:pPr defTabSz="914400"/>
            <a:r>
              <a:rPr lang="en-US" sz="1600" dirty="0">
                <a:solidFill>
                  <a:srgbClr val="FFFFFF"/>
                </a:solidFill>
              </a:rPr>
              <a:t>Stored procedures</a:t>
            </a:r>
          </a:p>
          <a:p>
            <a:pPr defTabSz="914400"/>
            <a:r>
              <a:rPr lang="en-US" sz="1600" dirty="0">
                <a:solidFill>
                  <a:srgbClr val="FFFFFF"/>
                </a:solidFill>
              </a:rPr>
              <a:t>Functions</a:t>
            </a:r>
          </a:p>
          <a:p>
            <a:pPr defTabSz="914400"/>
            <a:r>
              <a:rPr lang="en-US" sz="1600" dirty="0">
                <a:solidFill>
                  <a:srgbClr val="FFFFFF"/>
                </a:solidFill>
              </a:rPr>
              <a:t>Triggers</a:t>
            </a:r>
          </a:p>
          <a:p>
            <a:pPr defTabSz="914400"/>
            <a:r>
              <a:rPr lang="en-US" sz="1600" dirty="0">
                <a:solidFill>
                  <a:srgbClr val="FFFFFF"/>
                </a:solidFill>
              </a:rPr>
              <a:t>Schemas</a:t>
            </a:r>
          </a:p>
          <a:p>
            <a:pPr defTabSz="914400"/>
            <a:r>
              <a:rPr lang="en-US" sz="1600" dirty="0">
                <a:solidFill>
                  <a:srgbClr val="FFFFFF"/>
                </a:solidFill>
              </a:rPr>
              <a:t>Tables</a:t>
            </a:r>
          </a:p>
          <a:p>
            <a:pPr defTabSz="914400"/>
            <a:r>
              <a:rPr lang="en-US" sz="1600" dirty="0">
                <a:solidFill>
                  <a:srgbClr val="FFFFFF"/>
                </a:solidFill>
              </a:rPr>
              <a:t>Indexes</a:t>
            </a:r>
          </a:p>
          <a:p>
            <a:pPr defTabSz="914400"/>
            <a:r>
              <a:rPr lang="en-US" sz="1600" dirty="0">
                <a:solidFill>
                  <a:srgbClr val="FFFFFF"/>
                </a:solidFill>
              </a:rPr>
              <a:t>Views</a:t>
            </a:r>
          </a:p>
        </p:txBody>
      </p:sp>
    </p:spTree>
    <p:extLst>
      <p:ext uri="{BB962C8B-B14F-4D97-AF65-F5344CB8AC3E}">
        <p14:creationId xmlns:p14="http://schemas.microsoft.com/office/powerpoint/2010/main" val="26791471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r>
              <a:rPr lang="en-US" dirty="0">
                <a:solidFill>
                  <a:schemeClr val="bg1"/>
                </a:solidFill>
              </a:rPr>
              <a:t>Reference Architecture</a:t>
            </a:r>
          </a:p>
        </p:txBody>
      </p:sp>
    </p:spTree>
    <p:extLst>
      <p:ext uri="{BB962C8B-B14F-4D97-AF65-F5344CB8AC3E}">
        <p14:creationId xmlns:p14="http://schemas.microsoft.com/office/powerpoint/2010/main" val="38856878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04" y="114936"/>
            <a:ext cx="8205304" cy="857250"/>
          </a:xfrm>
        </p:spPr>
        <p:txBody>
          <a:bodyPr/>
          <a:lstStyle/>
          <a:p>
            <a:r>
              <a:rPr lang="en-US" dirty="0"/>
              <a:t>Microsoft based AWS Quick Starts</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4065" y="864974"/>
            <a:ext cx="8148297" cy="3743847"/>
          </a:xfrm>
          <a:prstGeom prst="rect">
            <a:avLst/>
          </a:prstGeom>
        </p:spPr>
      </p:pic>
      <p:sp>
        <p:nvSpPr>
          <p:cNvPr id="3" name="Arrow: Down 2">
            <a:extLst>
              <a:ext uri="{FF2B5EF4-FFF2-40B4-BE49-F238E27FC236}">
                <a16:creationId xmlns:a16="http://schemas.microsoft.com/office/drawing/2014/main" id="{712E9F6E-C150-4CB9-9FF4-4550B70D6D8F}"/>
              </a:ext>
            </a:extLst>
          </p:cNvPr>
          <p:cNvSpPr/>
          <p:nvPr/>
        </p:nvSpPr>
        <p:spPr>
          <a:xfrm>
            <a:off x="2128511" y="2760613"/>
            <a:ext cx="365760" cy="405765"/>
          </a:xfrm>
          <a:prstGeom prst="downArrow">
            <a:avLst/>
          </a:prstGeom>
          <a:solidFill>
            <a:schemeClr val="accent6">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41561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592B00-EF0C-4A41-BC29-35E4BA70B8D0}"/>
              </a:ext>
            </a:extLst>
          </p:cNvPr>
          <p:cNvSpPr>
            <a:spLocks noGrp="1"/>
          </p:cNvSpPr>
          <p:nvPr>
            <p:ph type="title"/>
          </p:nvPr>
        </p:nvSpPr>
        <p:spPr/>
        <p:txBody>
          <a:bodyPr/>
          <a:lstStyle/>
          <a:p>
            <a:r>
              <a:rPr lang="en-US" dirty="0">
                <a:solidFill>
                  <a:schemeClr val="bg1"/>
                </a:solidFill>
              </a:rPr>
              <a:t>Always On Availability Group Quick Start</a:t>
            </a:r>
          </a:p>
        </p:txBody>
      </p:sp>
      <p:pic>
        <p:nvPicPr>
          <p:cNvPr id="6146" name="Picture 2" descr="https://d1.awsstatic.com/partner-network/QuickStart/datasheets/sql-server-on-aws-architecture.62f75c94ff54c833ed8b539c0856d257d72443b2.png">
            <a:extLst>
              <a:ext uri="{FF2B5EF4-FFF2-40B4-BE49-F238E27FC236}">
                <a16:creationId xmlns:a16="http://schemas.microsoft.com/office/drawing/2014/main" id="{D857DAE7-0418-DC43-B353-DC667E1A8375}"/>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rcRect/>
          <a:stretch>
            <a:fillRect/>
          </a:stretch>
        </p:blipFill>
        <p:spPr bwMode="auto">
          <a:xfrm>
            <a:off x="4321629" y="835305"/>
            <a:ext cx="4220464" cy="3776761"/>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9B4B0B7B-ECB6-0A41-86F3-78FB47535306}"/>
              </a:ext>
            </a:extLst>
          </p:cNvPr>
          <p:cNvSpPr txBox="1">
            <a:spLocks/>
          </p:cNvSpPr>
          <p:nvPr/>
        </p:nvSpPr>
        <p:spPr>
          <a:xfrm>
            <a:off x="251473" y="1026584"/>
            <a:ext cx="3438692" cy="3472073"/>
          </a:xfrm>
          <a:prstGeom prst="rect">
            <a:avLst/>
          </a:prstGeom>
        </p:spPr>
        <p:txBody>
          <a:bodyPr/>
          <a:lstStyle>
            <a:lvl1pPr marL="0" indent="0" algn="l" defTabSz="914400" rtl="0" eaLnBrk="1" latinLnBrk="0" hangingPunct="1">
              <a:spcBef>
                <a:spcPct val="20000"/>
              </a:spcBef>
              <a:buFont typeface="Arial"/>
              <a:buNone/>
              <a:defRPr sz="2400" kern="1200">
                <a:solidFill>
                  <a:srgbClr val="58585A"/>
                </a:solidFill>
                <a:latin typeface="+mn-lt"/>
                <a:ea typeface="+mn-ea"/>
                <a:cs typeface="Segoe UI"/>
              </a:defRPr>
            </a:lvl1pPr>
            <a:lvl2pPr marL="342900" indent="-342900" algn="l" defTabSz="914400" rtl="0" eaLnBrk="1" latinLnBrk="0" hangingPunct="1">
              <a:spcBef>
                <a:spcPct val="20000"/>
              </a:spcBef>
              <a:buClr>
                <a:schemeClr val="accent4"/>
              </a:buClr>
              <a:buFont typeface="Arial"/>
              <a:buChar char="•"/>
              <a:defRPr lang="en-US" sz="2000" kern="1200" dirty="0" smtClean="0">
                <a:solidFill>
                  <a:srgbClr val="58585A"/>
                </a:solidFill>
                <a:latin typeface="+mn-lt"/>
                <a:ea typeface="+mn-ea"/>
                <a:cs typeface="Segoe UI"/>
              </a:defRPr>
            </a:lvl2pPr>
            <a:lvl3pPr marL="638175" indent="-342900" algn="l" defTabSz="914400" rtl="0" eaLnBrk="1" latinLnBrk="0" hangingPunct="1">
              <a:spcBef>
                <a:spcPct val="20000"/>
              </a:spcBef>
              <a:buClr>
                <a:schemeClr val="accent4"/>
              </a:buClr>
              <a:buFont typeface="Arial"/>
              <a:buChar char="•"/>
              <a:defRPr lang="en-US" sz="1800" kern="1200" dirty="0" smtClean="0">
                <a:solidFill>
                  <a:srgbClr val="58585A"/>
                </a:solidFill>
                <a:latin typeface="+mn-lt"/>
                <a:ea typeface="+mn-ea"/>
                <a:cs typeface="Segoe UI"/>
              </a:defRPr>
            </a:lvl3pPr>
            <a:lvl4pPr marL="922338" indent="-342900" algn="l" defTabSz="914400" rtl="0" eaLnBrk="1" latinLnBrk="0" hangingPunct="1">
              <a:spcBef>
                <a:spcPct val="20000"/>
              </a:spcBef>
              <a:buClr>
                <a:schemeClr val="accent4"/>
              </a:buClr>
              <a:buFont typeface="Arial"/>
              <a:buChar char="•"/>
              <a:defRPr lang="en-US" sz="1800" kern="1200" dirty="0" smtClean="0">
                <a:solidFill>
                  <a:srgbClr val="58585A"/>
                </a:solidFill>
                <a:latin typeface="+mn-lt"/>
                <a:ea typeface="+mn-ea"/>
                <a:cs typeface="Segoe UI"/>
              </a:defRPr>
            </a:lvl4pPr>
            <a:lvl5pPr marL="1189038" indent="-342900" algn="l" defTabSz="914400" rtl="0" eaLnBrk="1" latinLnBrk="0" hangingPunct="1">
              <a:spcBef>
                <a:spcPct val="20000"/>
              </a:spcBef>
              <a:buClr>
                <a:schemeClr val="accent4"/>
              </a:buClr>
              <a:buFont typeface="Arial"/>
              <a:buChar char="•"/>
              <a:defRPr lang="en-US" sz="1800" kern="1200" dirty="0">
                <a:solidFill>
                  <a:srgbClr val="58585A"/>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1"/>
              </a:buClr>
              <a:buFont typeface="+mj-lt"/>
              <a:buAutoNum type="arabicPeriod"/>
            </a:pPr>
            <a:r>
              <a:rPr lang="en-US" sz="1600" dirty="0">
                <a:solidFill>
                  <a:schemeClr val="bg1"/>
                </a:solidFill>
              </a:rPr>
              <a:t>Sets up VPC with public and private subnets (2 AZs)</a:t>
            </a:r>
          </a:p>
          <a:p>
            <a:pPr marL="342900" indent="-342900">
              <a:buClr>
                <a:schemeClr val="accent1"/>
              </a:buClr>
              <a:buFont typeface="+mj-lt"/>
              <a:buAutoNum type="arabicPeriod"/>
            </a:pPr>
            <a:r>
              <a:rPr lang="en-US" sz="1600" dirty="0">
                <a:solidFill>
                  <a:schemeClr val="bg1"/>
                </a:solidFill>
              </a:rPr>
              <a:t>Sets up Internet Gateway</a:t>
            </a:r>
          </a:p>
          <a:p>
            <a:pPr marL="342900" indent="-342900">
              <a:buClr>
                <a:schemeClr val="accent1"/>
              </a:buClr>
              <a:buFont typeface="+mj-lt"/>
              <a:buAutoNum type="arabicPeriod"/>
            </a:pPr>
            <a:r>
              <a:rPr lang="en-US" sz="1600" dirty="0">
                <a:solidFill>
                  <a:schemeClr val="bg1"/>
                </a:solidFill>
              </a:rPr>
              <a:t>Sets up RDGW in public subnet for administration</a:t>
            </a:r>
          </a:p>
          <a:p>
            <a:pPr marL="342900" indent="-342900">
              <a:buClr>
                <a:schemeClr val="accent1"/>
              </a:buClr>
              <a:buFont typeface="+mj-lt"/>
              <a:buAutoNum type="arabicPeriod"/>
            </a:pPr>
            <a:r>
              <a:rPr lang="en-US" sz="1600" dirty="0">
                <a:solidFill>
                  <a:schemeClr val="bg1"/>
                </a:solidFill>
              </a:rPr>
              <a:t>Sets up NAT for internet access with Elastic IP</a:t>
            </a:r>
          </a:p>
          <a:p>
            <a:pPr marL="342900" indent="-342900">
              <a:buClr>
                <a:schemeClr val="accent1"/>
              </a:buClr>
              <a:buFont typeface="+mj-lt"/>
              <a:buAutoNum type="arabicPeriod"/>
            </a:pPr>
            <a:r>
              <a:rPr lang="en-US" sz="1600" dirty="0">
                <a:solidFill>
                  <a:schemeClr val="bg1"/>
                </a:solidFill>
              </a:rPr>
              <a:t>Sets up Domain Controllers *</a:t>
            </a:r>
          </a:p>
          <a:p>
            <a:pPr marL="342900" indent="-342900">
              <a:buClr>
                <a:schemeClr val="accent1"/>
              </a:buClr>
              <a:buFont typeface="+mj-lt"/>
              <a:buAutoNum type="arabicPeriod"/>
            </a:pPr>
            <a:r>
              <a:rPr lang="en-US" sz="1600" dirty="0">
                <a:solidFill>
                  <a:schemeClr val="bg1"/>
                </a:solidFill>
              </a:rPr>
              <a:t>Sets up WSFC nodes</a:t>
            </a:r>
          </a:p>
          <a:p>
            <a:pPr marL="342900" indent="-342900">
              <a:buClr>
                <a:schemeClr val="accent1"/>
              </a:buClr>
              <a:buFont typeface="+mj-lt"/>
              <a:buAutoNum type="arabicPeriod"/>
            </a:pPr>
            <a:r>
              <a:rPr lang="en-US" sz="1600" dirty="0">
                <a:solidFill>
                  <a:schemeClr val="bg1"/>
                </a:solidFill>
              </a:rPr>
              <a:t>Install and configure SQL Server Enterprise Edition with </a:t>
            </a:r>
            <a:r>
              <a:rPr lang="en-US" sz="1600" dirty="0" err="1">
                <a:solidFill>
                  <a:schemeClr val="bg1"/>
                </a:solidFill>
              </a:rPr>
              <a:t>AlwaysOn</a:t>
            </a:r>
            <a:r>
              <a:rPr lang="en-US" sz="1600" dirty="0">
                <a:solidFill>
                  <a:schemeClr val="bg1"/>
                </a:solidFill>
              </a:rPr>
              <a:t> Availability Group</a:t>
            </a:r>
          </a:p>
          <a:p>
            <a:pPr marL="342900" indent="-342900">
              <a:buClr>
                <a:schemeClr val="accent1"/>
              </a:buClr>
              <a:buFont typeface="+mj-lt"/>
              <a:buAutoNum type="arabicPeriod"/>
            </a:pPr>
            <a:r>
              <a:rPr lang="en-US" sz="1600" dirty="0">
                <a:solidFill>
                  <a:schemeClr val="bg1"/>
                </a:solidFill>
              </a:rPr>
              <a:t>Configures Security Groups</a:t>
            </a:r>
          </a:p>
          <a:p>
            <a:pPr marL="342900" indent="-342900">
              <a:buClr>
                <a:schemeClr val="accent1"/>
              </a:buClr>
              <a:buFont typeface="+mj-lt"/>
              <a:buAutoNum type="arabicPeriod"/>
            </a:pPr>
            <a:endParaRPr lang="en-US" sz="1600" dirty="0">
              <a:solidFill>
                <a:schemeClr val="bg1"/>
              </a:solidFill>
            </a:endParaRPr>
          </a:p>
        </p:txBody>
      </p:sp>
    </p:spTree>
    <p:extLst>
      <p:ext uri="{BB962C8B-B14F-4D97-AF65-F5344CB8AC3E}">
        <p14:creationId xmlns:p14="http://schemas.microsoft.com/office/powerpoint/2010/main" val="36575115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mazon Ember Regular" charset="0"/>
                <a:ea typeface="+mj-ea"/>
              </a:rPr>
              <a:t>Licensing</a:t>
            </a:r>
          </a:p>
        </p:txBody>
      </p:sp>
    </p:spTree>
    <p:extLst>
      <p:ext uri="{BB962C8B-B14F-4D97-AF65-F5344CB8AC3E}">
        <p14:creationId xmlns:p14="http://schemas.microsoft.com/office/powerpoint/2010/main" val="22569761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Flexible Licensing Options for SQL Server Deployment in the AWS Cloud</a:t>
            </a:r>
          </a:p>
        </p:txBody>
      </p:sp>
      <p:sp>
        <p:nvSpPr>
          <p:cNvPr id="3" name="TextBox 2"/>
          <p:cNvSpPr txBox="1"/>
          <p:nvPr/>
        </p:nvSpPr>
        <p:spPr>
          <a:xfrm>
            <a:off x="336789" y="1215332"/>
            <a:ext cx="1812051" cy="3262432"/>
          </a:xfrm>
          <a:prstGeom prst="rect">
            <a:avLst/>
          </a:prstGeom>
          <a:noFill/>
        </p:spPr>
        <p:txBody>
          <a:bodyPr wrap="square" rtlCol="0">
            <a:spAutoFit/>
          </a:bodyPr>
          <a:lstStyle/>
          <a:p>
            <a:pPr marL="342875" marR="0" lvl="0" indent="-342875" algn="l" defTabSz="666701" rtl="0" eaLnBrk="1" fontAlgn="auto" latinLnBrk="0" hangingPunct="1">
              <a:lnSpc>
                <a:spcPct val="100000"/>
              </a:lnSpc>
              <a:spcBef>
                <a:spcPct val="0"/>
              </a:spcBef>
              <a:spcAft>
                <a:spcPts val="600"/>
              </a:spcAft>
              <a:buClr>
                <a:srgbClr val="FF9900"/>
              </a:buClr>
              <a:buSzTx/>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mazon Ember Regular"/>
                <a:ea typeface="+mn-ea"/>
                <a:cs typeface="+mn-cs"/>
              </a:rPr>
              <a:t>Flexible pay-as-you-go licensing choices (RDS and AWS AMI)</a:t>
            </a:r>
            <a:br>
              <a:rPr kumimoji="0" lang="en-US" sz="1400" b="0" i="0" u="none" strike="noStrike" kern="1200" cap="none" spc="0" normalizeH="0" baseline="0" noProof="0" dirty="0">
                <a:ln>
                  <a:noFill/>
                </a:ln>
                <a:solidFill>
                  <a:srgbClr val="FFFFFF"/>
                </a:solidFill>
                <a:effectLst/>
                <a:uLnTx/>
                <a:uFillTx/>
                <a:latin typeface="Amazon Ember Regular"/>
                <a:ea typeface="+mn-ea"/>
                <a:cs typeface="+mn-cs"/>
              </a:rPr>
            </a:br>
            <a:endParaRPr kumimoji="0" lang="en-US" sz="1400" b="0" i="0" u="none" strike="noStrike" kern="1200" cap="none" spc="0" normalizeH="0" baseline="0" noProof="0" dirty="0">
              <a:ln>
                <a:noFill/>
              </a:ln>
              <a:solidFill>
                <a:srgbClr val="FFFFFF"/>
              </a:solidFill>
              <a:effectLst/>
              <a:uLnTx/>
              <a:uFillTx/>
              <a:latin typeface="Amazon Ember Regular"/>
              <a:ea typeface="+mn-ea"/>
              <a:cs typeface="+mn-cs"/>
            </a:endParaRPr>
          </a:p>
          <a:p>
            <a:pPr marL="342875" marR="0" lvl="0" indent="-342875" algn="l" defTabSz="666701" rtl="0" eaLnBrk="1" fontAlgn="auto" latinLnBrk="0" hangingPunct="1">
              <a:lnSpc>
                <a:spcPct val="100000"/>
              </a:lnSpc>
              <a:spcBef>
                <a:spcPct val="0"/>
              </a:spcBef>
              <a:spcAft>
                <a:spcPts val="600"/>
              </a:spcAft>
              <a:buClr>
                <a:srgbClr val="FF9900"/>
              </a:buClr>
              <a:buSzTx/>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mazon Ember Regular"/>
                <a:ea typeface="+mn-ea"/>
                <a:cs typeface="+mn-cs"/>
              </a:rPr>
              <a:t>Bring your license mobility benefits to AWS</a:t>
            </a:r>
            <a:br>
              <a:rPr kumimoji="0" lang="en-US" sz="1400" b="0" i="0" u="none" strike="noStrike" kern="1200" cap="none" spc="0" normalizeH="0" baseline="0" noProof="0" dirty="0">
                <a:ln>
                  <a:noFill/>
                </a:ln>
                <a:solidFill>
                  <a:srgbClr val="FFFFFF"/>
                </a:solidFill>
                <a:effectLst/>
                <a:uLnTx/>
                <a:uFillTx/>
                <a:latin typeface="Amazon Ember Regular"/>
                <a:ea typeface="+mn-ea"/>
                <a:cs typeface="+mn-cs"/>
              </a:rPr>
            </a:br>
            <a:endParaRPr kumimoji="0" lang="en-US" sz="1400" b="0" i="0" u="none" strike="noStrike" kern="1200" cap="none" spc="0" normalizeH="0" baseline="0" noProof="0" dirty="0">
              <a:ln>
                <a:noFill/>
              </a:ln>
              <a:solidFill>
                <a:srgbClr val="FFFFFF"/>
              </a:solidFill>
              <a:effectLst/>
              <a:uLnTx/>
              <a:uFillTx/>
              <a:latin typeface="Amazon Ember Regular"/>
              <a:ea typeface="+mn-ea"/>
              <a:cs typeface="+mn-cs"/>
            </a:endParaRPr>
          </a:p>
          <a:p>
            <a:pPr marL="342875" marR="0" lvl="0" indent="-342875" algn="l" defTabSz="666701" rtl="0" eaLnBrk="1" fontAlgn="auto" latinLnBrk="0" hangingPunct="1">
              <a:lnSpc>
                <a:spcPct val="100000"/>
              </a:lnSpc>
              <a:spcBef>
                <a:spcPct val="0"/>
              </a:spcBef>
              <a:spcAft>
                <a:spcPts val="600"/>
              </a:spcAft>
              <a:buClr>
                <a:srgbClr val="FF9900"/>
              </a:buClr>
              <a:buSzTx/>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mazon Ember Regular"/>
                <a:ea typeface="+mn-ea"/>
                <a:cs typeface="+mn-cs"/>
              </a:rPr>
              <a:t>Bring your legacy licenses to AWS without paying software assurance</a:t>
            </a:r>
          </a:p>
        </p:txBody>
      </p:sp>
      <p:grpSp>
        <p:nvGrpSpPr>
          <p:cNvPr id="39" name="Group 38">
            <a:extLst>
              <a:ext uri="{FF2B5EF4-FFF2-40B4-BE49-F238E27FC236}">
                <a16:creationId xmlns:a16="http://schemas.microsoft.com/office/drawing/2014/main" id="{22AB76C7-9E0B-5F4F-A07B-AD17D3F103AE}"/>
              </a:ext>
            </a:extLst>
          </p:cNvPr>
          <p:cNvGrpSpPr/>
          <p:nvPr/>
        </p:nvGrpSpPr>
        <p:grpSpPr>
          <a:xfrm>
            <a:off x="2349269" y="1251852"/>
            <a:ext cx="6383219" cy="2913211"/>
            <a:chOff x="-2646451" y="895012"/>
            <a:chExt cx="8115547" cy="2913211"/>
          </a:xfrm>
        </p:grpSpPr>
        <p:sp>
          <p:nvSpPr>
            <p:cNvPr id="6" name="Rectangle 5">
              <a:extLst>
                <a:ext uri="{FF2B5EF4-FFF2-40B4-BE49-F238E27FC236}">
                  <a16:creationId xmlns:a16="http://schemas.microsoft.com/office/drawing/2014/main" id="{06C3DB73-29B7-4B74-9B19-6C2EEAD03BF1}"/>
                </a:ext>
              </a:extLst>
            </p:cNvPr>
            <p:cNvSpPr/>
            <p:nvPr/>
          </p:nvSpPr>
          <p:spPr>
            <a:xfrm>
              <a:off x="1496279" y="2944736"/>
              <a:ext cx="1907401" cy="863487"/>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Default tenancy for </a:t>
              </a:r>
            </a:p>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License Mobility eligible products with </a:t>
              </a:r>
              <a:b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b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Software Assurance</a:t>
              </a:r>
            </a:p>
            <a:p>
              <a:pPr marL="0" marR="0" lvl="0" indent="0" algn="ctr" defTabSz="914241" rtl="0" eaLnBrk="1" fontAlgn="auto" latinLnBrk="0" hangingPunct="1">
                <a:lnSpc>
                  <a:spcPct val="100000"/>
                </a:lnSpc>
                <a:spcBef>
                  <a:spcPts val="0"/>
                </a:spcBef>
                <a:spcAft>
                  <a:spcPts val="0"/>
                </a:spcAft>
                <a:buClrTx/>
                <a:buSzTx/>
                <a:buFontTx/>
                <a:buNone/>
                <a:tabLst/>
                <a:defRPr/>
              </a:pPr>
              <a:endPar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Rectangle 6">
              <a:extLst>
                <a:ext uri="{FF2B5EF4-FFF2-40B4-BE49-F238E27FC236}">
                  <a16:creationId xmlns:a16="http://schemas.microsoft.com/office/drawing/2014/main" id="{E0462750-222C-46D8-97CB-33821CD07BE3}"/>
                </a:ext>
              </a:extLst>
            </p:cNvPr>
            <p:cNvSpPr/>
            <p:nvPr/>
          </p:nvSpPr>
          <p:spPr>
            <a:xfrm>
              <a:off x="3561694" y="2944736"/>
              <a:ext cx="1907402" cy="863487"/>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Dedicated options for </a:t>
              </a:r>
            </a:p>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licenses not eligible for </a:t>
              </a:r>
            </a:p>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License Mobility </a:t>
              </a:r>
              <a:endPar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cxnSp>
          <p:nvCxnSpPr>
            <p:cNvPr id="8" name="Connector: Elbow 23">
              <a:extLst>
                <a:ext uri="{FF2B5EF4-FFF2-40B4-BE49-F238E27FC236}">
                  <a16:creationId xmlns:a16="http://schemas.microsoft.com/office/drawing/2014/main" id="{C42513A0-1C45-400B-BCFC-7073FD623381}"/>
                </a:ext>
              </a:extLst>
            </p:cNvPr>
            <p:cNvCxnSpPr>
              <a:cxnSpLocks/>
              <a:stCxn id="12" idx="2"/>
              <a:endCxn id="15" idx="0"/>
            </p:cNvCxnSpPr>
            <p:nvPr/>
          </p:nvCxnSpPr>
          <p:spPr>
            <a:xfrm rot="16200000" flipH="1">
              <a:off x="2227157" y="502485"/>
              <a:ext cx="442144" cy="2073812"/>
            </a:xfrm>
            <a:prstGeom prst="bentConnector3">
              <a:avLst>
                <a:gd name="adj1" fmla="val 50000"/>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 name="Connector: Elbow 25">
              <a:extLst>
                <a:ext uri="{FF2B5EF4-FFF2-40B4-BE49-F238E27FC236}">
                  <a16:creationId xmlns:a16="http://schemas.microsoft.com/office/drawing/2014/main" id="{C18DA581-1A1F-49B7-8B09-0342C05DC876}"/>
                </a:ext>
              </a:extLst>
            </p:cNvPr>
            <p:cNvCxnSpPr>
              <a:cxnSpLocks/>
              <a:stCxn id="12" idx="2"/>
              <a:endCxn id="14" idx="0"/>
            </p:cNvCxnSpPr>
            <p:nvPr/>
          </p:nvCxnSpPr>
          <p:spPr>
            <a:xfrm rot="5400000">
              <a:off x="115066" y="464204"/>
              <a:ext cx="442143" cy="2150372"/>
            </a:xfrm>
            <a:prstGeom prst="bentConnector3">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0" name="Connector: Elbow 27">
              <a:extLst>
                <a:ext uri="{FF2B5EF4-FFF2-40B4-BE49-F238E27FC236}">
                  <a16:creationId xmlns:a16="http://schemas.microsoft.com/office/drawing/2014/main" id="{F8BEB4CE-3624-4A36-9B88-06DA5784A503}"/>
                </a:ext>
              </a:extLst>
            </p:cNvPr>
            <p:cNvCxnSpPr>
              <a:cxnSpLocks/>
              <a:stCxn id="15" idx="2"/>
              <a:endCxn id="7" idx="0"/>
            </p:cNvCxnSpPr>
            <p:nvPr/>
          </p:nvCxnSpPr>
          <p:spPr>
            <a:xfrm rot="16200000" flipH="1">
              <a:off x="3781212" y="2210551"/>
              <a:ext cx="438107" cy="1030262"/>
            </a:xfrm>
            <a:prstGeom prst="bentConnector3">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1" name="Connector: Elbow 29">
              <a:extLst>
                <a:ext uri="{FF2B5EF4-FFF2-40B4-BE49-F238E27FC236}">
                  <a16:creationId xmlns:a16="http://schemas.microsoft.com/office/drawing/2014/main" id="{C8B30E42-B7D9-44E2-86B9-8638C6408C63}"/>
                </a:ext>
              </a:extLst>
            </p:cNvPr>
            <p:cNvCxnSpPr>
              <a:cxnSpLocks/>
              <a:stCxn id="15" idx="2"/>
              <a:endCxn id="6" idx="0"/>
            </p:cNvCxnSpPr>
            <p:nvPr/>
          </p:nvCxnSpPr>
          <p:spPr>
            <a:xfrm rot="5400000">
              <a:off x="2748504" y="2208105"/>
              <a:ext cx="438107" cy="1035154"/>
            </a:xfrm>
            <a:prstGeom prst="bentConnector3">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12" name="Rectangle 11">
              <a:extLst>
                <a:ext uri="{FF2B5EF4-FFF2-40B4-BE49-F238E27FC236}">
                  <a16:creationId xmlns:a16="http://schemas.microsoft.com/office/drawing/2014/main" id="{00EBAF2F-B012-47F8-AA59-68A14B206A1E}"/>
                </a:ext>
              </a:extLst>
            </p:cNvPr>
            <p:cNvSpPr/>
            <p:nvPr/>
          </p:nvSpPr>
          <p:spPr>
            <a:xfrm>
              <a:off x="-2646450" y="895012"/>
              <a:ext cx="8115546" cy="423307"/>
            </a:xfrm>
            <a:prstGeom prst="rect">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D43"/>
                  </a:solidFill>
                  <a:effectLst/>
                  <a:uLnTx/>
                  <a:uFillTx/>
                  <a:latin typeface="Amazon Ember" panose="020B0603020204020204" pitchFamily="34" charset="0"/>
                  <a:ea typeface="Amazon Ember" panose="020B0603020204020204" pitchFamily="34" charset="0"/>
                  <a:cs typeface="Amazon Ember" panose="020B0603020204020204" pitchFamily="34" charset="0"/>
                </a:rPr>
                <a:t>Licensing Option in AWS</a:t>
              </a:r>
              <a:endParaRPr kumimoji="0" lang="en-IN" sz="1400" b="0" i="0" u="none" strike="noStrike" kern="1200" cap="none" spc="0" normalizeH="0" baseline="0" noProof="0" dirty="0">
                <a:ln>
                  <a:noFill/>
                </a:ln>
                <a:solidFill>
                  <a:srgbClr val="002D43"/>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3" name="Group 12">
              <a:extLst>
                <a:ext uri="{FF2B5EF4-FFF2-40B4-BE49-F238E27FC236}">
                  <a16:creationId xmlns:a16="http://schemas.microsoft.com/office/drawing/2014/main" id="{3A36C51D-DE17-4EAE-B023-DE27FB78668A}"/>
                </a:ext>
              </a:extLst>
            </p:cNvPr>
            <p:cNvGrpSpPr/>
            <p:nvPr/>
          </p:nvGrpSpPr>
          <p:grpSpPr>
            <a:xfrm>
              <a:off x="-1692750" y="1760462"/>
              <a:ext cx="6131584" cy="746168"/>
              <a:chOff x="-2619448" y="2040011"/>
              <a:chExt cx="9822054" cy="759461"/>
            </a:xfrm>
          </p:grpSpPr>
          <p:sp>
            <p:nvSpPr>
              <p:cNvPr id="14" name="Rectangle 13">
                <a:extLst>
                  <a:ext uri="{FF2B5EF4-FFF2-40B4-BE49-F238E27FC236}">
                    <a16:creationId xmlns:a16="http://schemas.microsoft.com/office/drawing/2014/main" id="{DCA5F1FB-B985-429F-B8A4-3803E8159B03}"/>
                  </a:ext>
                </a:extLst>
              </p:cNvPr>
              <p:cNvSpPr/>
              <p:nvPr/>
            </p:nvSpPr>
            <p:spPr>
              <a:xfrm>
                <a:off x="-2619448" y="2040011"/>
                <a:ext cx="3055424" cy="759460"/>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Buy license-included options</a:t>
                </a:r>
                <a:endPar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15" name="Rectangle 14">
                <a:extLst>
                  <a:ext uri="{FF2B5EF4-FFF2-40B4-BE49-F238E27FC236}">
                    <a16:creationId xmlns:a16="http://schemas.microsoft.com/office/drawing/2014/main" id="{3660E53A-BD18-48CB-967F-A45B0288D2C9}"/>
                  </a:ext>
                </a:extLst>
              </p:cNvPr>
              <p:cNvSpPr/>
              <p:nvPr/>
            </p:nvSpPr>
            <p:spPr>
              <a:xfrm>
                <a:off x="4147183" y="2040012"/>
                <a:ext cx="3055423" cy="759460"/>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Bring licenses to AWS</a:t>
                </a:r>
                <a:endPar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grpSp>
        <p:sp>
          <p:nvSpPr>
            <p:cNvPr id="20" name="Rectangle 19">
              <a:extLst>
                <a:ext uri="{FF2B5EF4-FFF2-40B4-BE49-F238E27FC236}">
                  <a16:creationId xmlns:a16="http://schemas.microsoft.com/office/drawing/2014/main" id="{1D8B3A9D-304D-4181-B697-BE0DD516DC00}"/>
                </a:ext>
              </a:extLst>
            </p:cNvPr>
            <p:cNvSpPr/>
            <p:nvPr/>
          </p:nvSpPr>
          <p:spPr>
            <a:xfrm>
              <a:off x="-2646451" y="2944736"/>
              <a:ext cx="1907401" cy="863487"/>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Deploy RDS</a:t>
              </a:r>
            </a:p>
          </p:txBody>
        </p:sp>
        <p:sp>
          <p:nvSpPr>
            <p:cNvPr id="21" name="Rectangle 20">
              <a:extLst>
                <a:ext uri="{FF2B5EF4-FFF2-40B4-BE49-F238E27FC236}">
                  <a16:creationId xmlns:a16="http://schemas.microsoft.com/office/drawing/2014/main" id="{8B216855-CC78-485B-AA11-AC8C1B0BB076}"/>
                </a:ext>
              </a:extLst>
            </p:cNvPr>
            <p:cNvSpPr/>
            <p:nvPr/>
          </p:nvSpPr>
          <p:spPr>
            <a:xfrm>
              <a:off x="-581036" y="2944736"/>
              <a:ext cx="1907402" cy="863487"/>
            </a:xfrm>
            <a:prstGeom prst="rect">
              <a:avLst/>
            </a:prstGeom>
            <a:solidFill>
              <a:srgbClr val="0D273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241"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rPr>
                <a:t>Rent license-included instances from AWS (Windows Server, SQL Server)</a:t>
              </a:r>
              <a:endParaRPr kumimoji="0" lang="en-IN" sz="1051" b="0" i="0" u="none" strike="noStrike" kern="120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cxnSp>
          <p:nvCxnSpPr>
            <p:cNvPr id="22" name="Connector: Elbow 29">
              <a:extLst>
                <a:ext uri="{FF2B5EF4-FFF2-40B4-BE49-F238E27FC236}">
                  <a16:creationId xmlns:a16="http://schemas.microsoft.com/office/drawing/2014/main" id="{BFE65609-6D72-487E-AB8E-468D5F6D4366}"/>
                </a:ext>
              </a:extLst>
            </p:cNvPr>
            <p:cNvCxnSpPr>
              <a:cxnSpLocks/>
              <a:endCxn id="20" idx="0"/>
            </p:cNvCxnSpPr>
            <p:nvPr/>
          </p:nvCxnSpPr>
          <p:spPr>
            <a:xfrm rot="5400000">
              <a:off x="-1394226" y="2208105"/>
              <a:ext cx="438107" cy="1035154"/>
            </a:xfrm>
            <a:prstGeom prst="bentConnector3">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3" name="Connector: Elbow 27">
              <a:extLst>
                <a:ext uri="{FF2B5EF4-FFF2-40B4-BE49-F238E27FC236}">
                  <a16:creationId xmlns:a16="http://schemas.microsoft.com/office/drawing/2014/main" id="{B4C95018-9478-4FFD-9C5F-3D8F510F50EA}"/>
                </a:ext>
              </a:extLst>
            </p:cNvPr>
            <p:cNvCxnSpPr>
              <a:cxnSpLocks/>
            </p:cNvCxnSpPr>
            <p:nvPr/>
          </p:nvCxnSpPr>
          <p:spPr>
            <a:xfrm rot="16200000" flipH="1">
              <a:off x="-353125" y="2210552"/>
              <a:ext cx="438107" cy="1030262"/>
            </a:xfrm>
            <a:prstGeom prst="bentConnector3">
              <a:avLst/>
            </a:prstGeom>
            <a:solidFill>
              <a:schemeClr val="bg1">
                <a:lumMod val="50000"/>
              </a:schemeClr>
            </a:solid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2237107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License Optimization with Optimize CPUs</a:t>
            </a:r>
          </a:p>
        </p:txBody>
      </p:sp>
      <p:sp>
        <p:nvSpPr>
          <p:cNvPr id="27" name="Content Placeholder 4"/>
          <p:cNvSpPr txBox="1">
            <a:spLocks/>
          </p:cNvSpPr>
          <p:nvPr/>
        </p:nvSpPr>
        <p:spPr>
          <a:xfrm>
            <a:off x="3551069" y="706965"/>
            <a:ext cx="4777632" cy="2385509"/>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309026" marR="0" lvl="0" indent="-309026" algn="l" defTabSz="609585" rtl="0" eaLnBrk="1" fontAlgn="auto" latinLnBrk="0" hangingPunct="1">
              <a:lnSpc>
                <a:spcPct val="100000"/>
              </a:lnSpc>
              <a:spcBef>
                <a:spcPts val="1350"/>
              </a:spcBef>
              <a:spcAft>
                <a:spcPts val="0"/>
              </a:spcAft>
              <a:buClr>
                <a:srgbClr val="FF9900"/>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Amazon Ember Regular"/>
                <a:ea typeface="+mn-ea"/>
                <a:cs typeface="Arial"/>
              </a:rPr>
              <a:t>Control active vCPUs and Hyper-Threading status when launching new EC2 instances</a:t>
            </a:r>
          </a:p>
          <a:p>
            <a:pPr marL="309026" marR="0" lvl="0" indent="-309026" algn="l" defTabSz="609585" rtl="0" eaLnBrk="1" fontAlgn="auto" latinLnBrk="0" hangingPunct="1">
              <a:lnSpc>
                <a:spcPct val="100000"/>
              </a:lnSpc>
              <a:spcBef>
                <a:spcPts val="1350"/>
              </a:spcBef>
              <a:spcAft>
                <a:spcPts val="0"/>
              </a:spcAft>
              <a:buClr>
                <a:srgbClr val="FF9900"/>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Amazon Ember Regular"/>
                <a:ea typeface="+mn-ea"/>
                <a:cs typeface="Arial"/>
              </a:rPr>
              <a:t>Reduce the number of SQL Server licenses</a:t>
            </a:r>
          </a:p>
          <a:p>
            <a:pPr marL="309026" marR="0" lvl="0" indent="-309026" algn="l" defTabSz="609585" rtl="0" eaLnBrk="1" fontAlgn="auto" latinLnBrk="0" hangingPunct="1">
              <a:lnSpc>
                <a:spcPct val="100000"/>
              </a:lnSpc>
              <a:spcBef>
                <a:spcPts val="1350"/>
              </a:spcBef>
              <a:spcAft>
                <a:spcPts val="0"/>
              </a:spcAft>
              <a:buClr>
                <a:srgbClr val="545B64">
                  <a:lumMod val="60000"/>
                  <a:lumOff val="40000"/>
                </a:srgbClr>
              </a:buClr>
              <a:buSzTx/>
              <a:buFont typeface="Arial" panose="020B0604020202020204" pitchFamily="34" charset="0"/>
              <a:buChar char="•"/>
              <a:tabLst/>
              <a:defRPr/>
            </a:pPr>
            <a:endParaRPr kumimoji="0" lang="en-US" sz="1800" b="0" i="0" u="none" strike="noStrike" kern="1200" cap="none" spc="0" normalizeH="0" baseline="0" noProof="0" dirty="0">
              <a:ln>
                <a:noFill/>
              </a:ln>
              <a:solidFill>
                <a:srgbClr val="FFFFFF"/>
              </a:solidFill>
              <a:effectLst/>
              <a:uLnTx/>
              <a:uFillTx/>
              <a:latin typeface="Amazon Ember Regular"/>
              <a:ea typeface="+mn-ea"/>
              <a:cs typeface="Arial"/>
            </a:endParaRPr>
          </a:p>
        </p:txBody>
      </p:sp>
      <p:sp>
        <p:nvSpPr>
          <p:cNvPr id="3" name="TextBox 2"/>
          <p:cNvSpPr txBox="1"/>
          <p:nvPr/>
        </p:nvSpPr>
        <p:spPr>
          <a:xfrm>
            <a:off x="1391441" y="4085047"/>
            <a:ext cx="609600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mn-ea"/>
                <a:cs typeface="+mn-cs"/>
              </a:rPr>
              <a:t>*Sample licensing example only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mn-ea"/>
                <a:cs typeface="+mn-cs"/>
              </a:rPr>
              <a:t>Guide: https://docs.aws.amazon.com/AWSEC2/latest/UserGuide/instance-optimize-cpu.html</a:t>
            </a:r>
          </a:p>
        </p:txBody>
      </p:sp>
      <p:graphicFrame>
        <p:nvGraphicFramePr>
          <p:cNvPr id="14" name="Table 13"/>
          <p:cNvGraphicFramePr>
            <a:graphicFrameLocks noGrp="1"/>
          </p:cNvGraphicFramePr>
          <p:nvPr/>
        </p:nvGraphicFramePr>
        <p:xfrm>
          <a:off x="1391441" y="3092474"/>
          <a:ext cx="6096000" cy="959010"/>
        </p:xfrm>
        <a:graphic>
          <a:graphicData uri="http://schemas.openxmlformats.org/drawingml/2006/table">
            <a:tbl>
              <a:tblPr firstRow="1" bandRow="1">
                <a:tableStyleId>{69012ECD-51FC-41F1-AA8D-1B2483CD663E}</a:tableStyleId>
              </a:tblPr>
              <a:tblGrid>
                <a:gridCol w="1524000">
                  <a:extLst>
                    <a:ext uri="{9D8B030D-6E8A-4147-A177-3AD203B41FA5}">
                      <a16:colId xmlns:a16="http://schemas.microsoft.com/office/drawing/2014/main" val="2755809197"/>
                    </a:ext>
                  </a:extLst>
                </a:gridCol>
                <a:gridCol w="1524000">
                  <a:extLst>
                    <a:ext uri="{9D8B030D-6E8A-4147-A177-3AD203B41FA5}">
                      <a16:colId xmlns:a16="http://schemas.microsoft.com/office/drawing/2014/main" val="2360135561"/>
                    </a:ext>
                  </a:extLst>
                </a:gridCol>
                <a:gridCol w="1524000">
                  <a:extLst>
                    <a:ext uri="{9D8B030D-6E8A-4147-A177-3AD203B41FA5}">
                      <a16:colId xmlns:a16="http://schemas.microsoft.com/office/drawing/2014/main" val="3926508141"/>
                    </a:ext>
                  </a:extLst>
                </a:gridCol>
                <a:gridCol w="1524000">
                  <a:extLst>
                    <a:ext uri="{9D8B030D-6E8A-4147-A177-3AD203B41FA5}">
                      <a16:colId xmlns:a16="http://schemas.microsoft.com/office/drawing/2014/main" val="1031432937"/>
                    </a:ext>
                  </a:extLst>
                </a:gridCol>
              </a:tblGrid>
              <a:tr h="0">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t>Instance Type</a:t>
                      </a:r>
                      <a:endParaRPr lang="en-US" sz="1100" b="1" dirty="0">
                        <a:solidFill>
                          <a:srgbClr val="414042"/>
                        </a:solidFill>
                      </a:endParaRP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t>Total</a:t>
                      </a:r>
                      <a:r>
                        <a:rPr lang="en-US" sz="1100" baseline="0" dirty="0"/>
                        <a:t> vCPUs</a:t>
                      </a:r>
                      <a:endParaRPr lang="en-US" sz="1100" b="1" dirty="0">
                        <a:solidFill>
                          <a:srgbClr val="414042"/>
                        </a:solidFill>
                      </a:endParaRP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t>Active vCPUs</a:t>
                      </a:r>
                      <a:r>
                        <a:rPr lang="en-US" sz="1100" baseline="0" dirty="0"/>
                        <a:t> with Optimize CPUs</a:t>
                      </a:r>
                      <a:endParaRPr lang="en-US" sz="1100" b="1" dirty="0">
                        <a:solidFill>
                          <a:srgbClr val="414042"/>
                        </a:solidFill>
                      </a:endParaRP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t>SQL Server license savings</a:t>
                      </a:r>
                      <a:endParaRPr lang="en-US" sz="1100" b="1" dirty="0">
                        <a:solidFill>
                          <a:srgbClr val="414042"/>
                        </a:solidFill>
                      </a:endParaRPr>
                    </a:p>
                  </a:txBody>
                  <a:tcPr/>
                </a:tc>
                <a:extLst>
                  <a:ext uri="{0D108BD9-81ED-4DB2-BD59-A6C34878D82A}">
                    <a16:rowId xmlns:a16="http://schemas.microsoft.com/office/drawing/2014/main" val="2945357126"/>
                  </a:ext>
                </a:extLst>
              </a:tr>
              <a:tr h="273210">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r4.4xlarge</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16</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8</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50%*</a:t>
                      </a:r>
                    </a:p>
                  </a:txBody>
                  <a:tcPr/>
                </a:tc>
                <a:extLst>
                  <a:ext uri="{0D108BD9-81ED-4DB2-BD59-A6C34878D82A}">
                    <a16:rowId xmlns:a16="http://schemas.microsoft.com/office/drawing/2014/main" val="2848010614"/>
                  </a:ext>
                </a:extLst>
              </a:tr>
              <a:tr h="204187">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r4.8xlarge</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32</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8</a:t>
                      </a:r>
                    </a:p>
                  </a:txBody>
                  <a:tcPr/>
                </a:tc>
                <a:tc>
                  <a:txBody>
                    <a:bodyPr/>
                    <a:lstStyle>
                      <a:lvl1pPr marL="0" algn="l" defTabSz="457200" rtl="0" eaLnBrk="1" latinLnBrk="0" hangingPunct="1">
                        <a:defRPr sz="1800" kern="1200">
                          <a:solidFill>
                            <a:schemeClr val="dk1"/>
                          </a:solidFill>
                          <a:latin typeface="Arial"/>
                        </a:defRPr>
                      </a:lvl1pPr>
                      <a:lvl2pPr marL="457200" algn="l" defTabSz="457200" rtl="0" eaLnBrk="1" latinLnBrk="0" hangingPunct="1">
                        <a:defRPr sz="1800" kern="1200">
                          <a:solidFill>
                            <a:schemeClr val="dk1"/>
                          </a:solidFill>
                          <a:latin typeface="Arial"/>
                        </a:defRPr>
                      </a:lvl2pPr>
                      <a:lvl3pPr marL="914400" algn="l" defTabSz="457200" rtl="0" eaLnBrk="1" latinLnBrk="0" hangingPunct="1">
                        <a:defRPr sz="1800" kern="1200">
                          <a:solidFill>
                            <a:schemeClr val="dk1"/>
                          </a:solidFill>
                          <a:latin typeface="Arial"/>
                        </a:defRPr>
                      </a:lvl3pPr>
                      <a:lvl4pPr marL="1371600" algn="l" defTabSz="457200" rtl="0" eaLnBrk="1" latinLnBrk="0" hangingPunct="1">
                        <a:defRPr sz="1800" kern="1200">
                          <a:solidFill>
                            <a:schemeClr val="dk1"/>
                          </a:solidFill>
                          <a:latin typeface="Arial"/>
                        </a:defRPr>
                      </a:lvl4pPr>
                      <a:lvl5pPr marL="1828800" algn="l" defTabSz="457200" rtl="0" eaLnBrk="1" latinLnBrk="0" hangingPunct="1">
                        <a:defRPr sz="1800" kern="1200">
                          <a:solidFill>
                            <a:schemeClr val="dk1"/>
                          </a:solidFill>
                          <a:latin typeface="Arial"/>
                        </a:defRPr>
                      </a:lvl5pPr>
                      <a:lvl6pPr marL="2286000" algn="l" defTabSz="457200" rtl="0" eaLnBrk="1" latinLnBrk="0" hangingPunct="1">
                        <a:defRPr sz="1800" kern="1200">
                          <a:solidFill>
                            <a:schemeClr val="dk1"/>
                          </a:solidFill>
                          <a:latin typeface="Arial"/>
                        </a:defRPr>
                      </a:lvl6pPr>
                      <a:lvl7pPr marL="2743200" algn="l" defTabSz="457200" rtl="0" eaLnBrk="1" latinLnBrk="0" hangingPunct="1">
                        <a:defRPr sz="1800" kern="1200">
                          <a:solidFill>
                            <a:schemeClr val="dk1"/>
                          </a:solidFill>
                          <a:latin typeface="Arial"/>
                        </a:defRPr>
                      </a:lvl7pPr>
                      <a:lvl8pPr marL="3200400" algn="l" defTabSz="457200" rtl="0" eaLnBrk="1" latinLnBrk="0" hangingPunct="1">
                        <a:defRPr sz="1800" kern="1200">
                          <a:solidFill>
                            <a:schemeClr val="dk1"/>
                          </a:solidFill>
                          <a:latin typeface="Arial"/>
                        </a:defRPr>
                      </a:lvl8pPr>
                      <a:lvl9pPr marL="3657600" algn="l" defTabSz="457200" rtl="0" eaLnBrk="1" latinLnBrk="0" hangingPunct="1">
                        <a:defRPr sz="1800" kern="1200">
                          <a:solidFill>
                            <a:schemeClr val="dk1"/>
                          </a:solidFill>
                          <a:latin typeface="Arial"/>
                        </a:defRPr>
                      </a:lvl9pPr>
                    </a:lstStyle>
                    <a:p>
                      <a:pPr algn="ctr"/>
                      <a:r>
                        <a:rPr lang="en-US" sz="1100" dirty="0">
                          <a:solidFill>
                            <a:schemeClr val="bg1"/>
                          </a:solidFill>
                        </a:rPr>
                        <a:t>75%*</a:t>
                      </a:r>
                    </a:p>
                  </a:txBody>
                  <a:tcPr/>
                </a:tc>
                <a:extLst>
                  <a:ext uri="{0D108BD9-81ED-4DB2-BD59-A6C34878D82A}">
                    <a16:rowId xmlns:a16="http://schemas.microsoft.com/office/drawing/2014/main" val="3377264985"/>
                  </a:ext>
                </a:extLst>
              </a:tr>
            </a:tbl>
          </a:graphicData>
        </a:graphic>
      </p:graphicFrame>
      <p:pic>
        <p:nvPicPr>
          <p:cNvPr id="18" name="Picture 17">
            <a:extLst>
              <a:ext uri="{FF2B5EF4-FFF2-40B4-BE49-F238E27FC236}">
                <a16:creationId xmlns:a16="http://schemas.microsoft.com/office/drawing/2014/main" id="{86E3800B-616D-F64A-A91F-9FFFE0DC77A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8842" y="706965"/>
            <a:ext cx="2228835" cy="2228835"/>
          </a:xfrm>
          <a:prstGeom prst="rect">
            <a:avLst/>
          </a:prstGeom>
        </p:spPr>
      </p:pic>
    </p:spTree>
    <p:extLst>
      <p:ext uri="{BB962C8B-B14F-4D97-AF65-F5344CB8AC3E}">
        <p14:creationId xmlns:p14="http://schemas.microsoft.com/office/powerpoint/2010/main" val="41046493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96394" y="1969202"/>
            <a:ext cx="7772400" cy="930105"/>
          </a:xfrm>
          <a:prstGeom prst="rect">
            <a:avLst/>
          </a:prstGeom>
        </p:spPr>
        <p:txBody>
          <a:bodyPr/>
          <a:lstStyle>
            <a:lvl1pPr algn="l" defTabSz="457200" rtl="0" eaLnBrk="1" latinLnBrk="0" hangingPunct="1">
              <a:spcBef>
                <a:spcPct val="0"/>
              </a:spcBef>
              <a:buNone/>
              <a:defRPr sz="2800" b="0" i="0" kern="1200">
                <a:solidFill>
                  <a:schemeClr val="accent6">
                    <a:lumMod val="50000"/>
                  </a:schemeClr>
                </a:solidFill>
                <a:latin typeface="Amazon Ember Regular" charset="0"/>
                <a:ea typeface="+mj-ea"/>
                <a:cs typeface="Amazon Ember Regular"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mazon Ember Regular" charset="0"/>
                <a:ea typeface="+mj-ea"/>
              </a:rPr>
              <a:t>Summary</a:t>
            </a:r>
          </a:p>
        </p:txBody>
      </p:sp>
    </p:spTree>
    <p:extLst>
      <p:ext uri="{BB962C8B-B14F-4D97-AF65-F5344CB8AC3E}">
        <p14:creationId xmlns:p14="http://schemas.microsoft.com/office/powerpoint/2010/main" val="7320953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3">
            <a:extLst>
              <a:ext uri="{FF2B5EF4-FFF2-40B4-BE49-F238E27FC236}">
                <a16:creationId xmlns:a16="http://schemas.microsoft.com/office/drawing/2014/main" id="{7C8E86A9-E4DF-3A40-93DC-757FACF60CD7}"/>
              </a:ext>
            </a:extLst>
          </p:cNvPr>
          <p:cNvSpPr>
            <a:spLocks noGrp="1"/>
          </p:cNvSpPr>
          <p:nvPr>
            <p:ph type="title"/>
          </p:nvPr>
        </p:nvSpPr>
        <p:spPr>
          <a:xfrm>
            <a:off x="336789" y="114935"/>
            <a:ext cx="8205304" cy="537303"/>
          </a:xfrm>
        </p:spPr>
        <p:txBody>
          <a:bodyPr/>
          <a:lstStyle/>
          <a:p>
            <a:r>
              <a:rPr lang="en-US" dirty="0"/>
              <a:t>SQL Server on AWS performance versus Azure</a:t>
            </a:r>
          </a:p>
        </p:txBody>
      </p:sp>
      <p:sp>
        <p:nvSpPr>
          <p:cNvPr id="29" name="Content Placeholder 4">
            <a:extLst>
              <a:ext uri="{FF2B5EF4-FFF2-40B4-BE49-F238E27FC236}">
                <a16:creationId xmlns:a16="http://schemas.microsoft.com/office/drawing/2014/main" id="{6C852225-0818-DB41-95C9-10B1D034665F}"/>
              </a:ext>
            </a:extLst>
          </p:cNvPr>
          <p:cNvSpPr txBox="1">
            <a:spLocks/>
          </p:cNvSpPr>
          <p:nvPr/>
        </p:nvSpPr>
        <p:spPr>
          <a:xfrm>
            <a:off x="1485900" y="3760472"/>
            <a:ext cx="5951764" cy="523042"/>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defTabSz="285739">
              <a:spcBef>
                <a:spcPts val="844"/>
              </a:spcBef>
              <a:buClr>
                <a:srgbClr val="D232AA"/>
              </a:buClr>
              <a:buNone/>
            </a:pPr>
            <a:r>
              <a:rPr lang="en-US" sz="1800" b="1" dirty="0">
                <a:solidFill>
                  <a:srgbClr val="FFFFFF"/>
                </a:solidFill>
                <a:latin typeface="Amazon Ember"/>
              </a:rPr>
              <a:t>SQL Server on Amazon EC2 consistently outperforms Azure across a variety of machine types by a </a:t>
            </a:r>
            <a:r>
              <a:rPr lang="en-US" sz="1800" b="1" dirty="0">
                <a:solidFill>
                  <a:schemeClr val="accent1">
                    <a:lumMod val="60000"/>
                    <a:lumOff val="40000"/>
                  </a:schemeClr>
                </a:solidFill>
                <a:latin typeface="Amazon Ember"/>
              </a:rPr>
              <a:t>2x+</a:t>
            </a:r>
            <a:r>
              <a:rPr lang="en-US" sz="1800" b="1" dirty="0">
                <a:solidFill>
                  <a:srgbClr val="FFFFFF"/>
                </a:solidFill>
                <a:latin typeface="Amazon Ember"/>
              </a:rPr>
              <a:t> margin</a:t>
            </a:r>
            <a:endParaRPr lang="en-US" sz="1800" b="1" dirty="0">
              <a:solidFill>
                <a:srgbClr val="FFFFFF"/>
              </a:solidFill>
              <a:latin typeface="Amazon Ember" panose="02000000000000000000" pitchFamily="2" charset="0"/>
            </a:endParaRPr>
          </a:p>
        </p:txBody>
      </p:sp>
      <p:graphicFrame>
        <p:nvGraphicFramePr>
          <p:cNvPr id="13" name="Chart 12">
            <a:extLst>
              <a:ext uri="{FF2B5EF4-FFF2-40B4-BE49-F238E27FC236}">
                <a16:creationId xmlns:a16="http://schemas.microsoft.com/office/drawing/2014/main" id="{CBB31510-4C3F-2544-A6D4-041D38B13EA0}"/>
              </a:ext>
            </a:extLst>
          </p:cNvPr>
          <p:cNvGraphicFramePr/>
          <p:nvPr/>
        </p:nvGraphicFramePr>
        <p:xfrm>
          <a:off x="255149" y="695519"/>
          <a:ext cx="4071668" cy="30216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99F05F98-9EFF-E342-A61E-FA708D3E68B1}"/>
              </a:ext>
            </a:extLst>
          </p:cNvPr>
          <p:cNvGraphicFramePr>
            <a:graphicFrameLocks/>
          </p:cNvGraphicFramePr>
          <p:nvPr/>
        </p:nvGraphicFramePr>
        <p:xfrm>
          <a:off x="4922304" y="695519"/>
          <a:ext cx="3835984" cy="3021671"/>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6B9776E0-73BE-344C-B81D-DC875F553471}"/>
              </a:ext>
            </a:extLst>
          </p:cNvPr>
          <p:cNvSpPr txBox="1"/>
          <p:nvPr/>
        </p:nvSpPr>
        <p:spPr>
          <a:xfrm>
            <a:off x="255149" y="4266038"/>
            <a:ext cx="5945217" cy="498598"/>
          </a:xfrm>
          <a:prstGeom prst="rect">
            <a:avLst/>
          </a:prstGeom>
          <a:noFill/>
        </p:spPr>
        <p:txBody>
          <a:bodyPr wrap="none" lIns="137160" tIns="109728" rIns="137160" bIns="109728" rtlCol="0">
            <a:spAutoFit/>
          </a:bodyPr>
          <a:lstStyle/>
          <a:p>
            <a:pPr defTabSz="685758"/>
            <a:r>
              <a:rPr lang="en-US" sz="900" dirty="0">
                <a:solidFill>
                  <a:schemeClr val="accent3">
                    <a:lumMod val="60000"/>
                    <a:lumOff val="40000"/>
                  </a:schemeClr>
                </a:solidFill>
                <a:latin typeface="Amazon Ember"/>
                <a:hlinkClick r:id="rId5">
                  <a:extLst>
                    <a:ext uri="{A12FA001-AC4F-418D-AE19-62706E023703}">
                      <ahyp:hlinkClr xmlns="" xmlns:ahyp="http://schemas.microsoft.com/office/drawing/2018/hyperlinkcolor" val="tx"/>
                    </a:ext>
                  </a:extLst>
                </a:hlinkClick>
              </a:rPr>
              <a:t>https://zkresearch.com/blog/2018/11/comparing-sql-server-deployments-on-microsoft-azure-and-amazon-web-services</a:t>
            </a:r>
            <a:endParaRPr lang="en-US" sz="900" dirty="0">
              <a:solidFill>
                <a:schemeClr val="accent3">
                  <a:lumMod val="60000"/>
                  <a:lumOff val="40000"/>
                </a:schemeClr>
              </a:solidFill>
              <a:latin typeface="Amazon Ember"/>
            </a:endParaRPr>
          </a:p>
          <a:p>
            <a:pPr defTabSz="685758"/>
            <a:r>
              <a:rPr lang="en-US" sz="900" dirty="0">
                <a:gradFill>
                  <a:gsLst>
                    <a:gs pos="2917">
                      <a:srgbClr val="FFFFFF"/>
                    </a:gs>
                    <a:gs pos="30000">
                      <a:srgbClr val="FFFFFF"/>
                    </a:gs>
                  </a:gsLst>
                  <a:lin ang="5400000" scaled="0"/>
                </a:gradFill>
                <a:latin typeface="Amazon Ember"/>
              </a:rPr>
              <a:t>*Results for Small and Medium configuration available </a:t>
            </a:r>
            <a:r>
              <a:rPr lang="en-US" sz="900" dirty="0">
                <a:solidFill>
                  <a:srgbClr val="FFFFFF"/>
                </a:solidFill>
                <a:latin typeface="Amazon Ember"/>
              </a:rPr>
              <a:t>on </a:t>
            </a:r>
            <a:r>
              <a:rPr lang="en-US" sz="900" dirty="0">
                <a:solidFill>
                  <a:schemeClr val="accent3">
                    <a:lumMod val="60000"/>
                    <a:lumOff val="40000"/>
                  </a:schemeClr>
                </a:solidFill>
                <a:latin typeface="Amazon Ember"/>
                <a:hlinkClick r:id="rId6">
                  <a:extLst>
                    <a:ext uri="{A12FA001-AC4F-418D-AE19-62706E023703}">
                      <ahyp:hlinkClr xmlns="" xmlns:ahyp="http://schemas.microsoft.com/office/drawing/2018/hyperlinkcolor" val="tx"/>
                    </a:ext>
                  </a:extLst>
                </a:hlinkClick>
              </a:rPr>
              <a:t>https://zkresearch.com</a:t>
            </a:r>
            <a:r>
              <a:rPr lang="en-US" sz="900" dirty="0">
                <a:solidFill>
                  <a:srgbClr val="FFFFFF"/>
                </a:solidFill>
                <a:latin typeface="Amazon Ember"/>
              </a:rPr>
              <a:t>, </a:t>
            </a:r>
            <a:r>
              <a:rPr lang="en-US" sz="900" dirty="0">
                <a:gradFill>
                  <a:gsLst>
                    <a:gs pos="2917">
                      <a:srgbClr val="FFFFFF"/>
                    </a:gs>
                    <a:gs pos="30000">
                      <a:srgbClr val="FFFFFF"/>
                    </a:gs>
                  </a:gsLst>
                  <a:lin ang="5400000" scaled="0"/>
                </a:gradFill>
                <a:latin typeface="Amazon Ember"/>
              </a:rPr>
              <a:t>a </a:t>
            </a:r>
            <a:r>
              <a:rPr lang="en-US" sz="900" dirty="0">
                <a:gradFill flip="none" rotWithShape="1">
                  <a:gsLst>
                    <a:gs pos="2917">
                      <a:srgbClr val="FFFFFF"/>
                    </a:gs>
                    <a:gs pos="30000">
                      <a:srgbClr val="FFFFFF"/>
                    </a:gs>
                  </a:gsLst>
                  <a:lin ang="5400000" scaled="0"/>
                  <a:tileRect/>
                </a:gradFill>
                <a:latin typeface="Amazon Ember"/>
              </a:rPr>
              <a:t>third-party</a:t>
            </a:r>
            <a:r>
              <a:rPr lang="en-US" sz="900" dirty="0">
                <a:gradFill>
                  <a:gsLst>
                    <a:gs pos="2917">
                      <a:srgbClr val="FFFFFF"/>
                    </a:gs>
                    <a:gs pos="30000">
                      <a:srgbClr val="FFFFFF"/>
                    </a:gs>
                  </a:gsLst>
                  <a:lin ang="5400000" scaled="0"/>
                </a:gradFill>
                <a:latin typeface="Amazon Ember"/>
              </a:rPr>
              <a:t> research firm</a:t>
            </a:r>
          </a:p>
        </p:txBody>
      </p:sp>
    </p:spTree>
    <p:extLst>
      <p:ext uri="{BB962C8B-B14F-4D97-AF65-F5344CB8AC3E}">
        <p14:creationId xmlns:p14="http://schemas.microsoft.com/office/powerpoint/2010/main" val="66596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500" fill="hold"/>
                                        <p:tgtEl>
                                          <p:spTgt spid="17"/>
                                        </p:tgtEl>
                                        <p:attrNameLst>
                                          <p:attrName>ppt_w</p:attrName>
                                        </p:attrNameLst>
                                      </p:cBhvr>
                                      <p:tavLst>
                                        <p:tav tm="0">
                                          <p:val>
                                            <p:fltVal val="0"/>
                                          </p:val>
                                        </p:tav>
                                        <p:tav tm="100000">
                                          <p:val>
                                            <p:strVal val="#ppt_w"/>
                                          </p:val>
                                        </p:tav>
                                      </p:tavLst>
                                    </p:anim>
                                    <p:anim calcmode="lin" valueType="num">
                                      <p:cBhvr>
                                        <p:cTn id="16" dur="500" fill="hold"/>
                                        <p:tgtEl>
                                          <p:spTgt spid="17"/>
                                        </p:tgtEl>
                                        <p:attrNameLst>
                                          <p:attrName>ppt_h</p:attrName>
                                        </p:attrNameLst>
                                      </p:cBhvr>
                                      <p:tavLst>
                                        <p:tav tm="0">
                                          <p:val>
                                            <p:fltVal val="0"/>
                                          </p:val>
                                        </p:tav>
                                        <p:tav tm="100000">
                                          <p:val>
                                            <p:strVal val="#ppt_h"/>
                                          </p:val>
                                        </p:tav>
                                      </p:tavLst>
                                    </p:anim>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Graphic spid="13" grpId="0">
        <p:bldAsOne/>
      </p:bldGraphic>
      <p:bldGraphic spid="17" grpId="0">
        <p:bldAsOne/>
      </p:bldGraphic>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446" y="124990"/>
            <a:ext cx="8229600" cy="532285"/>
          </a:xfrm>
        </p:spPr>
        <p:txBody>
          <a:bodyPr/>
          <a:lstStyle/>
          <a:p>
            <a:r>
              <a:rPr lang="en-US" dirty="0">
                <a:solidFill>
                  <a:srgbClr val="FFFFFF"/>
                </a:solidFill>
              </a:rPr>
              <a:t>Why Microsoft SQL Server on AWS</a:t>
            </a:r>
            <a:endParaRPr lang="en-US" dirty="0"/>
          </a:p>
        </p:txBody>
      </p:sp>
      <p:sp>
        <p:nvSpPr>
          <p:cNvPr id="11" name="TextBox 10">
            <a:extLst>
              <a:ext uri="{FF2B5EF4-FFF2-40B4-BE49-F238E27FC236}">
                <a16:creationId xmlns:a16="http://schemas.microsoft.com/office/drawing/2014/main" id="{8FCD1B7A-1575-1241-AE50-0A7994A1C147}"/>
              </a:ext>
            </a:extLst>
          </p:cNvPr>
          <p:cNvSpPr txBox="1"/>
          <p:nvPr/>
        </p:nvSpPr>
        <p:spPr>
          <a:xfrm>
            <a:off x="16245377" y="13871788"/>
            <a:ext cx="11389824" cy="967701"/>
          </a:xfrm>
          <a:prstGeom prst="rect">
            <a:avLst/>
          </a:prstGeom>
          <a:noFill/>
        </p:spPr>
        <p:txBody>
          <a:bodyPr wrap="square" rtlCol="0">
            <a:spAutoFit/>
          </a:bodyPr>
          <a:lstStyle/>
          <a:p>
            <a:r>
              <a:rPr lang="en-US" sz="2844" i="1" dirty="0">
                <a:solidFill>
                  <a:srgbClr val="FF0000"/>
                </a:solidFill>
              </a:rPr>
              <a:t>Source: Gartner </a:t>
            </a:r>
            <a:r>
              <a:rPr lang="en-US" sz="2844" i="1" dirty="0" err="1">
                <a:solidFill>
                  <a:srgbClr val="FF0000"/>
                </a:solidFill>
              </a:rPr>
              <a:t>CloudHarmony</a:t>
            </a:r>
            <a:r>
              <a:rPr lang="en-US" sz="2844" i="1" dirty="0">
                <a:solidFill>
                  <a:srgbClr val="FF0000"/>
                </a:solidFill>
              </a:rPr>
              <a:t>. Use only in private settings w customers </a:t>
            </a:r>
          </a:p>
        </p:txBody>
      </p:sp>
      <p:pic>
        <p:nvPicPr>
          <p:cNvPr id="13" name="Picture 12">
            <a:extLst>
              <a:ext uri="{FF2B5EF4-FFF2-40B4-BE49-F238E27FC236}">
                <a16:creationId xmlns:a16="http://schemas.microsoft.com/office/drawing/2014/main" id="{D2E02CAE-510B-A847-9F5F-5B0A3FF302B5}"/>
              </a:ext>
            </a:extLst>
          </p:cNvPr>
          <p:cNvPicPr/>
          <p:nvPr/>
        </p:nvPicPr>
        <p:blipFill>
          <a:blip r:embed="rId3" cstate="email">
            <a:extLst>
              <a:ext uri="{28A0092B-C50C-407E-A947-70E740481C1C}">
                <a14:useLocalDpi xmlns:a14="http://schemas.microsoft.com/office/drawing/2010/main"/>
              </a:ext>
            </a:extLst>
          </a:blip>
          <a:stretch>
            <a:fillRect/>
          </a:stretch>
        </p:blipFill>
        <p:spPr>
          <a:xfrm>
            <a:off x="1943705" y="6498549"/>
            <a:ext cx="789803" cy="474962"/>
          </a:xfrm>
          <a:prstGeom prst="rect">
            <a:avLst/>
          </a:prstGeom>
          <a:solidFill>
            <a:schemeClr val="tx1"/>
          </a:solidFill>
        </p:spPr>
      </p:pic>
      <p:pic>
        <p:nvPicPr>
          <p:cNvPr id="3" name="Picture 2">
            <a:extLst>
              <a:ext uri="{FF2B5EF4-FFF2-40B4-BE49-F238E27FC236}">
                <a16:creationId xmlns:a16="http://schemas.microsoft.com/office/drawing/2014/main" id="{CDADF653-B8C5-4916-B4B8-3AF0777EABF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44868" y="808566"/>
            <a:ext cx="5124599" cy="3568701"/>
          </a:xfrm>
          <a:prstGeom prst="rect">
            <a:avLst/>
          </a:prstGeom>
        </p:spPr>
      </p:pic>
      <p:sp>
        <p:nvSpPr>
          <p:cNvPr id="4" name="TextBox 3">
            <a:extLst>
              <a:ext uri="{FF2B5EF4-FFF2-40B4-BE49-F238E27FC236}">
                <a16:creationId xmlns:a16="http://schemas.microsoft.com/office/drawing/2014/main" id="{579266E5-96A7-425E-8E83-532A1AFDA576}"/>
              </a:ext>
            </a:extLst>
          </p:cNvPr>
          <p:cNvSpPr txBox="1"/>
          <p:nvPr/>
        </p:nvSpPr>
        <p:spPr>
          <a:xfrm>
            <a:off x="5469467" y="872067"/>
            <a:ext cx="3329665" cy="2492990"/>
          </a:xfrm>
          <a:prstGeom prst="rect">
            <a:avLst/>
          </a:prstGeom>
          <a:noFill/>
        </p:spPr>
        <p:txBody>
          <a:bodyPr wrap="square" rtlCol="0">
            <a:spAutoFit/>
          </a:bodyPr>
          <a:lstStyle/>
          <a:p>
            <a:r>
              <a:rPr lang="en-US" b="1" dirty="0">
                <a:solidFill>
                  <a:schemeClr val="accent1">
                    <a:lumMod val="60000"/>
                    <a:lumOff val="40000"/>
                  </a:schemeClr>
                </a:solidFill>
              </a:rPr>
              <a:t>Nitro System</a:t>
            </a:r>
            <a:r>
              <a:rPr lang="en-US" dirty="0">
                <a:solidFill>
                  <a:schemeClr val="bg1"/>
                </a:solidFill>
              </a:rPr>
              <a:t>: </a:t>
            </a:r>
            <a:r>
              <a:rPr lang="en-US" sz="1600" dirty="0">
                <a:solidFill>
                  <a:schemeClr val="bg1"/>
                </a:solidFill>
              </a:rPr>
              <a:t>based upon the custom developed card that allows to offload most of the VM Hypervisor functions to HW.</a:t>
            </a:r>
            <a:endParaRPr lang="en-US" dirty="0">
              <a:solidFill>
                <a:schemeClr val="bg1"/>
              </a:solidFill>
            </a:endParaRP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Network – 25, 50, 100 Gbps</a:t>
            </a:r>
          </a:p>
          <a:p>
            <a:pPr marL="285750" indent="-285750">
              <a:buFont typeface="Arial" panose="020B0604020202020204" pitchFamily="34" charset="0"/>
              <a:buChar char="•"/>
            </a:pPr>
            <a:r>
              <a:rPr lang="en-US" dirty="0">
                <a:solidFill>
                  <a:schemeClr val="bg1"/>
                </a:solidFill>
              </a:rPr>
              <a:t>EBS – up to 14Gbps</a:t>
            </a:r>
          </a:p>
          <a:p>
            <a:pPr marL="285750" indent="-285750">
              <a:buFont typeface="Arial" panose="020B0604020202020204" pitchFamily="34" charset="0"/>
              <a:buChar char="•"/>
            </a:pPr>
            <a:r>
              <a:rPr lang="en-US" dirty="0">
                <a:solidFill>
                  <a:schemeClr val="bg1"/>
                </a:solidFill>
              </a:rPr>
              <a:t>EBS – up to 80,000 IOPS</a:t>
            </a:r>
          </a:p>
          <a:p>
            <a:pPr marL="285750" indent="-285750">
              <a:buFont typeface="Arial" panose="020B0604020202020204" pitchFamily="34" charset="0"/>
              <a:buChar char="•"/>
            </a:pPr>
            <a:r>
              <a:rPr lang="en-US" dirty="0">
                <a:solidFill>
                  <a:schemeClr val="bg1"/>
                </a:solidFill>
              </a:rPr>
              <a:t>S3 – up to 25 Gbps</a:t>
            </a:r>
          </a:p>
        </p:txBody>
      </p:sp>
      <p:sp>
        <p:nvSpPr>
          <p:cNvPr id="5" name="TextBox 4">
            <a:extLst>
              <a:ext uri="{FF2B5EF4-FFF2-40B4-BE49-F238E27FC236}">
                <a16:creationId xmlns:a16="http://schemas.microsoft.com/office/drawing/2014/main" id="{23D37001-F825-41E6-894D-56836671876E}"/>
              </a:ext>
            </a:extLst>
          </p:cNvPr>
          <p:cNvSpPr txBox="1"/>
          <p:nvPr/>
        </p:nvSpPr>
        <p:spPr>
          <a:xfrm>
            <a:off x="270928" y="4411126"/>
            <a:ext cx="6515758" cy="307777"/>
          </a:xfrm>
          <a:prstGeom prst="rect">
            <a:avLst/>
          </a:prstGeom>
          <a:noFill/>
        </p:spPr>
        <p:txBody>
          <a:bodyPr wrap="none" rtlCol="0">
            <a:spAutoFit/>
          </a:bodyPr>
          <a:lstStyle/>
          <a:p>
            <a:r>
              <a:rPr lang="en-US" sz="1400" dirty="0">
                <a:hlinkClick r:id="rId5"/>
              </a:rPr>
              <a:t>http://www.brendangregg.com/blog/2017-11-29/aws-ec2-virtualization-2017.html</a:t>
            </a:r>
            <a:endParaRPr lang="en-US" sz="1400" dirty="0"/>
          </a:p>
        </p:txBody>
      </p:sp>
    </p:spTree>
    <p:extLst>
      <p:ext uri="{BB962C8B-B14F-4D97-AF65-F5344CB8AC3E}">
        <p14:creationId xmlns:p14="http://schemas.microsoft.com/office/powerpoint/2010/main" val="22519107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789" y="274734"/>
            <a:ext cx="8205304" cy="545192"/>
          </a:xfrm>
        </p:spPr>
        <p:txBody>
          <a:bodyPr/>
          <a:lstStyle/>
          <a:p>
            <a:r>
              <a:rPr lang="en-US" dirty="0">
                <a:solidFill>
                  <a:schemeClr val="accent1"/>
                </a:solidFill>
              </a:rPr>
              <a:t>Summary: </a:t>
            </a:r>
            <a:r>
              <a:rPr lang="en-US" dirty="0"/>
              <a:t>Why Microsoft SQL Server on AWS</a:t>
            </a:r>
            <a:br>
              <a:rPr lang="en-US" dirty="0"/>
            </a:br>
            <a:endParaRPr lang="en-US" dirty="0"/>
          </a:p>
        </p:txBody>
      </p:sp>
      <p:sp>
        <p:nvSpPr>
          <p:cNvPr id="6" name="Content Placeholder 2"/>
          <p:cNvSpPr>
            <a:spLocks noGrp="1"/>
          </p:cNvSpPr>
          <p:nvPr/>
        </p:nvSpPr>
        <p:spPr>
          <a:xfrm>
            <a:off x="336789" y="1017590"/>
            <a:ext cx="5547154" cy="3121594"/>
          </a:xfrm>
          <a:prstGeom prst="rect">
            <a:avLst/>
          </a:prstGeom>
        </p:spPr>
        <p:txBody>
          <a:bodyPr vert="horz" lIns="91440" tIns="45720" rIns="91440" bIns="45720" rtlCol="0" anchor="t">
            <a:noAutofit/>
          </a:bodyPr>
          <a:lstStyle>
            <a:lvl1pPr marL="231775" indent="-231775" algn="l" defTabSz="457200" rtl="0" eaLnBrk="1" latinLnBrk="0" hangingPunct="1">
              <a:spcBef>
                <a:spcPct val="20000"/>
              </a:spcBef>
              <a:buClr>
                <a:schemeClr val="accent1"/>
              </a:buClr>
              <a:buFont typeface="Wingdings" panose="05000000000000000000" pitchFamily="2" charset="2"/>
              <a:buChar char="§"/>
              <a:defRPr sz="2000" b="0" i="0" kern="1200">
                <a:solidFill>
                  <a:schemeClr val="tx1"/>
                </a:solidFill>
                <a:latin typeface="+mn-lt"/>
                <a:ea typeface="+mn-ea"/>
                <a:cs typeface="Arial"/>
              </a:defRPr>
            </a:lvl1pPr>
            <a:lvl2pPr marL="457200" indent="-225425" algn="l" defTabSz="457200" rtl="0" eaLnBrk="1" latinLnBrk="0" hangingPunct="1">
              <a:spcBef>
                <a:spcPct val="20000"/>
              </a:spcBef>
              <a:buClr>
                <a:schemeClr val="accent1"/>
              </a:buClr>
              <a:buFont typeface="Arial"/>
              <a:buChar char="–"/>
              <a:defRPr sz="1800" b="0" i="0" kern="1200">
                <a:solidFill>
                  <a:schemeClr val="tx1"/>
                </a:solidFill>
                <a:latin typeface="+mn-lt"/>
                <a:ea typeface="+mn-ea"/>
                <a:cs typeface="Arial"/>
              </a:defRPr>
            </a:lvl2pPr>
            <a:lvl3pPr marL="688975" indent="-231775" algn="l" defTabSz="457200" rtl="0" eaLnBrk="1" latinLnBrk="0" hangingPunct="1">
              <a:spcBef>
                <a:spcPct val="20000"/>
              </a:spcBef>
              <a:buClr>
                <a:schemeClr val="accent1"/>
              </a:buClr>
              <a:buFont typeface="Wingdings" panose="05000000000000000000" pitchFamily="2" charset="2"/>
              <a:buChar char="§"/>
              <a:tabLst/>
              <a:defRPr sz="1600" b="0" i="0" kern="1200">
                <a:solidFill>
                  <a:schemeClr val="tx1"/>
                </a:solidFill>
                <a:latin typeface="+mn-lt"/>
                <a:ea typeface="+mn-ea"/>
                <a:cs typeface="Arial"/>
              </a:defRPr>
            </a:lvl3pPr>
            <a:lvl4pPr marL="914400" indent="-225425" algn="l" defTabSz="457200" rtl="0" eaLnBrk="1" latinLnBrk="0" hangingPunct="1">
              <a:spcBef>
                <a:spcPct val="20000"/>
              </a:spcBef>
              <a:buClr>
                <a:schemeClr val="accent1"/>
              </a:buClr>
              <a:buFont typeface="Arial"/>
              <a:buChar char="–"/>
              <a:defRPr sz="1400" b="0" i="0" kern="1200">
                <a:solidFill>
                  <a:schemeClr val="tx1"/>
                </a:solidFill>
                <a:latin typeface="+mn-lt"/>
                <a:ea typeface="+mn-ea"/>
                <a:cs typeface="Arial"/>
              </a:defRPr>
            </a:lvl4pPr>
            <a:lvl5pPr marL="1146175" indent="-231775" algn="l" defTabSz="457200" rtl="0" eaLnBrk="1" latinLnBrk="0" hangingPunct="1">
              <a:spcBef>
                <a:spcPct val="20000"/>
              </a:spcBef>
              <a:buClr>
                <a:schemeClr val="accent1"/>
              </a:buClr>
              <a:buFont typeface="Arial"/>
              <a:buChar char="»"/>
              <a:defRPr sz="1200" b="0" i="0" kern="1200">
                <a:solidFill>
                  <a:schemeClr val="tx1"/>
                </a:solidFill>
                <a:latin typeface="+mn-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Best performance in the Cloud</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Largest number of Instance Types</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Cost benefits through license optimizations</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Every region with multiple Availability Zones </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Largest Global Reach </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Increase innovation and flexibility for future</a:t>
            </a:r>
          </a:p>
          <a:p>
            <a:pPr>
              <a:spcBef>
                <a:spcPts val="1200"/>
              </a:spcBef>
              <a:buFont typeface="Arial" panose="020B0604020202020204" pitchFamily="34" charset="0"/>
              <a:buChar char="•"/>
            </a:pPr>
            <a:r>
              <a:rPr lang="en-US" sz="1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Improve security posture</a:t>
            </a:r>
            <a:endParaRPr lang="en-US" dirty="0">
              <a:solidFill>
                <a:schemeClr val="bg1"/>
              </a:solidFill>
            </a:endParaRPr>
          </a:p>
          <a:p>
            <a:pPr marL="231775" lvl="1" indent="0">
              <a:spcBef>
                <a:spcPts val="1200"/>
              </a:spcBef>
              <a:buNone/>
            </a:pPr>
            <a:endParaRPr lang="en-US" sz="2000" dirty="0">
              <a:solidFill>
                <a:schemeClr val="bg1"/>
              </a:solidFill>
            </a:endParaRPr>
          </a:p>
          <a:p>
            <a:pPr marL="231775" lvl="1" indent="0">
              <a:spcBef>
                <a:spcPts val="1200"/>
              </a:spcBef>
              <a:buNone/>
            </a:pPr>
            <a:endParaRPr lang="en-US" sz="2000" dirty="0">
              <a:solidFill>
                <a:schemeClr val="bg1"/>
              </a:solidFill>
            </a:endParaRP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64240" y="1487270"/>
            <a:ext cx="2577853" cy="2577853"/>
          </a:xfrm>
          <a:prstGeom prst="rect">
            <a:avLst/>
          </a:prstGeom>
        </p:spPr>
      </p:pic>
    </p:spTree>
    <p:extLst>
      <p:ext uri="{BB962C8B-B14F-4D97-AF65-F5344CB8AC3E}">
        <p14:creationId xmlns:p14="http://schemas.microsoft.com/office/powerpoint/2010/main" val="33395570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35366" y="1783333"/>
            <a:ext cx="7679125" cy="1968776"/>
            <a:chOff x="735366" y="1635619"/>
            <a:chExt cx="7679125" cy="1968776"/>
          </a:xfrm>
        </p:grpSpPr>
        <p:sp>
          <p:nvSpPr>
            <p:cNvPr id="2" name="Rectangle 1"/>
            <p:cNvSpPr/>
            <p:nvPr/>
          </p:nvSpPr>
          <p:spPr>
            <a:xfrm>
              <a:off x="735366" y="1635619"/>
              <a:ext cx="7679125" cy="923330"/>
            </a:xfrm>
            <a:prstGeom prst="rect">
              <a:avLst/>
            </a:prstGeom>
            <a:noFill/>
          </p:spPr>
          <p:txBody>
            <a:bodyPr wrap="square" lIns="91440" tIns="45720" rIns="91440" bIns="45720">
              <a:spAutoFit/>
            </a:bodyPr>
            <a:lstStyle/>
            <a:p>
              <a:pPr algn="ctr"/>
              <a:r>
                <a:rPr lang="en-US" sz="5400" b="1" dirty="0">
                  <a:ln w="12700">
                    <a:noFill/>
                    <a:prstDash val="solid"/>
                  </a:ln>
                  <a:solidFill>
                    <a:schemeClr val="tx1">
                      <a:lumMod val="60000"/>
                      <a:lumOff val="40000"/>
                    </a:schemeClr>
                  </a:solidFill>
                </a:rPr>
                <a:t>Questions</a:t>
              </a:r>
              <a:r>
                <a:rPr lang="en-US" sz="5400" b="1" dirty="0">
                  <a:ln w="12700">
                    <a:noFill/>
                    <a:prstDash val="solid"/>
                  </a:ln>
                  <a:solidFill>
                    <a:schemeClr val="accent1"/>
                  </a:solidFill>
                </a:rPr>
                <a:t>  </a:t>
              </a:r>
              <a:r>
                <a:rPr lang="en-US" sz="5400" b="1" dirty="0">
                  <a:solidFill>
                    <a:schemeClr val="accent1"/>
                  </a:solidFill>
                </a:rPr>
                <a:t>Answers</a:t>
              </a:r>
              <a:endParaRPr lang="en-US" sz="5400" b="1" cap="none" spc="0" dirty="0">
                <a:solidFill>
                  <a:schemeClr val="accent1"/>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V="1">
              <a:off x="3030634" y="2750983"/>
              <a:ext cx="3082732" cy="853412"/>
            </a:xfrm>
            <a:prstGeom prst="rect">
              <a:avLst/>
            </a:prstGeom>
          </p:spPr>
        </p:pic>
      </p:grpSp>
    </p:spTree>
    <p:extLst>
      <p:ext uri="{BB962C8B-B14F-4D97-AF65-F5344CB8AC3E}">
        <p14:creationId xmlns:p14="http://schemas.microsoft.com/office/powerpoint/2010/main" val="401994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DeckTemplate-AWS">
  <a:themeElements>
    <a:clrScheme name="AWS extended color">
      <a:dk1>
        <a:srgbClr val="002D43"/>
      </a:dk1>
      <a:lt1>
        <a:srgbClr val="FFFFFF"/>
      </a:lt1>
      <a:dk2>
        <a:srgbClr val="002D43"/>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50000"/>
          </a:schemeClr>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ckTemplate_Dark_Confidential_template" id="{58A4D2CF-F951-4711-B193-725DC9042B68}" vid="{50638EE2-9D9B-4BC3-B13C-8C918D732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0</TotalTime>
  <Words>5634</Words>
  <Application>Microsoft Office PowerPoint</Application>
  <PresentationFormat>On-screen Show (16:9)</PresentationFormat>
  <Paragraphs>983</Paragraphs>
  <Slides>68</Slides>
  <Notes>54</Notes>
  <HiddenSlides>0</HiddenSlides>
  <MMClips>1</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68</vt:i4>
      </vt:variant>
    </vt:vector>
  </HeadingPairs>
  <TitlesOfParts>
    <vt:vector size="83" baseType="lpstr">
      <vt:lpstr>Amazon Ember</vt:lpstr>
      <vt:lpstr>Amazon Ember Heavy</vt:lpstr>
      <vt:lpstr>Amazon Ember Light</vt:lpstr>
      <vt:lpstr>Amazon Ember Regular</vt:lpstr>
      <vt:lpstr>Arial</vt:lpstr>
      <vt:lpstr>Calibri</vt:lpstr>
      <vt:lpstr>Courier</vt:lpstr>
      <vt:lpstr>Courier New</vt:lpstr>
      <vt:lpstr>Helvetica Neue</vt:lpstr>
      <vt:lpstr>Segoe UI</vt:lpstr>
      <vt:lpstr>Times New Roman</vt:lpstr>
      <vt:lpstr>Verdana</vt:lpstr>
      <vt:lpstr>Wingdings</vt:lpstr>
      <vt:lpstr>Wingdings 2</vt:lpstr>
      <vt:lpstr>1_DeckTemplate-AWS</vt:lpstr>
      <vt:lpstr>PowerPoint Presentation</vt:lpstr>
      <vt:lpstr>Agenda</vt:lpstr>
      <vt:lpstr>PowerPoint Presentation</vt:lpstr>
      <vt:lpstr>Where can I run my SQL Server workloads on AWS?</vt:lpstr>
      <vt:lpstr>Options for Deploying SQL Server on AWS</vt:lpstr>
      <vt:lpstr>Multi-AZ SQL Server on Amazon RDS</vt:lpstr>
      <vt:lpstr>Multi-AZ SQL Server on Amazon RDS – Managed Solution</vt:lpstr>
      <vt:lpstr>SQL Server Features at a Glance</vt:lpstr>
      <vt:lpstr>What about the rest of SQL Server?</vt:lpstr>
      <vt:lpstr>SQL Server EC2 vs. RDS: Which should I use? </vt:lpstr>
      <vt:lpstr>RDS SQL Server Pace of Innovation – 2018</vt:lpstr>
      <vt:lpstr>RDS SQL Server Pace of Innovation – 2019</vt:lpstr>
      <vt:lpstr>Selecting the Right Service – RDS Recent Releases</vt:lpstr>
      <vt:lpstr>Selecting the Right Service – RDS Recent Releases</vt:lpstr>
      <vt:lpstr>Selecting the Right Service – RDS Roadmap (2020)</vt:lpstr>
      <vt:lpstr>Selecting the Right Service – RDS Backlog</vt:lpstr>
      <vt:lpstr>PowerPoint Presentation</vt:lpstr>
      <vt:lpstr>Amazon Elastic Block Storage</vt:lpstr>
      <vt:lpstr>Amazon EBS Volume Types (Cost)</vt:lpstr>
      <vt:lpstr>Amazon EBS Volume Types (Performance)</vt:lpstr>
      <vt:lpstr>Amazon EC2 Instance Storage</vt:lpstr>
      <vt:lpstr>Choosing an Amazon Storage Volume type</vt:lpstr>
      <vt:lpstr>Storage Considerations and Sample Layout for SQL Server on EC2</vt:lpstr>
      <vt:lpstr>tempdb on Instance Storage</vt:lpstr>
      <vt:lpstr>SQL Server Instant File Initialization</vt:lpstr>
      <vt:lpstr>Enabling Instant Database File Initialization</vt:lpstr>
      <vt:lpstr>PowerPoint Presentation</vt:lpstr>
      <vt:lpstr>SQL Server Instance Type Selection Criteria</vt:lpstr>
      <vt:lpstr>Amazon EC2: Flexible Compute Options</vt:lpstr>
      <vt:lpstr>PowerPoint Presentation</vt:lpstr>
      <vt:lpstr>SQL Server HA/DR on EC2</vt:lpstr>
      <vt:lpstr>SQL Server 2016+ Enterprise vs. Standard Edition</vt:lpstr>
      <vt:lpstr>Basic Availability Group (SQL Server Standard)</vt:lpstr>
      <vt:lpstr>Always On Availability Group (SQL Server Enterprise)</vt:lpstr>
      <vt:lpstr>Always On Failover Cluster Instance</vt:lpstr>
      <vt:lpstr>Always On FCI in Availability Group</vt:lpstr>
      <vt:lpstr>Always On Availability Group Special Configurations (starting with SQL 2016/Windows 2016)</vt:lpstr>
      <vt:lpstr>Always On Availability Group Issues of Concern</vt:lpstr>
      <vt:lpstr>PowerPoint Presentation</vt:lpstr>
      <vt:lpstr>DB Migration Options</vt:lpstr>
      <vt:lpstr>SQL Server Backup/Restore (with log shipping)</vt:lpstr>
      <vt:lpstr>PowerPoint Presentation</vt:lpstr>
      <vt:lpstr>AWS Database Migration Service</vt:lpstr>
      <vt:lpstr>Initial Data Load (table by table)</vt:lpstr>
      <vt:lpstr>Change Data Capture (CDC) and Apply to Target</vt:lpstr>
      <vt:lpstr>Keep your apps running during the migration</vt:lpstr>
      <vt:lpstr>Keep your apps running during the migration</vt:lpstr>
      <vt:lpstr>What else can DMS do? – Take it all, or Not</vt:lpstr>
      <vt:lpstr>What else can DMS do? – Consolidate DBs</vt:lpstr>
      <vt:lpstr>What else can DMS do? – Split DB</vt:lpstr>
      <vt:lpstr>Summary of Migration Considerations</vt:lpstr>
      <vt:lpstr>PowerPoint Presentation</vt:lpstr>
      <vt:lpstr>Modernize  with Amazon Aurora RDS</vt:lpstr>
      <vt:lpstr>Amazon Aurora RDS Features</vt:lpstr>
      <vt:lpstr>Amazon Aurora RDS Features (cont’d)</vt:lpstr>
      <vt:lpstr>AWS Schema Conversion Tool (SCT)</vt:lpstr>
      <vt:lpstr>SCT helps with converting Tables, Views, and Code</vt:lpstr>
      <vt:lpstr>PowerPoint Presentation</vt:lpstr>
      <vt:lpstr>Microsoft based AWS Quick Starts</vt:lpstr>
      <vt:lpstr>Always On Availability Group Quick Start</vt:lpstr>
      <vt:lpstr>PowerPoint Presentation</vt:lpstr>
      <vt:lpstr>Flexible Licensing Options for SQL Server Deployment in the AWS Cloud</vt:lpstr>
      <vt:lpstr>License Optimization with Optimize CPUs</vt:lpstr>
      <vt:lpstr>PowerPoint Presentation</vt:lpstr>
      <vt:lpstr>SQL Server on AWS performance versus Azure</vt:lpstr>
      <vt:lpstr>Why Microsoft SQL Server on AWS</vt:lpstr>
      <vt:lpstr>Summary: Why Microsoft SQL Server on AWS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2020-02-20T14:03:49Z</dcterms:created>
  <dcterms:modified xsi:type="dcterms:W3CDTF">2020-02-20T14:05:20Z</dcterms:modified>
</cp:coreProperties>
</file>